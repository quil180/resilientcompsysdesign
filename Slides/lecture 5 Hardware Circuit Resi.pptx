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22.wmf" ContentType="image/x-wmf"/>
  <Override PartName="/ppt/media/image18.wmf" ContentType="image/x-wmf"/>
  <Override PartName="/ppt/media/image17.wmf" ContentType="image/x-wmf"/>
  <Override PartName="/ppt/media/image16.wmf" ContentType="image/x-wmf"/>
  <Override PartName="/ppt/media/image2.wmf" ContentType="image/x-wmf"/>
  <Override PartName="/ppt/slides/slide29.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4.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20.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36.xml" ContentType="application/vnd.openxmlformats-officedocument.presentationml.notesSlide+xml"/>
  <Override PartName="/ppt/notesSlides/notesSlide27.xml" ContentType="application/vnd.openxmlformats-officedocument.presentationml.notesSlide+xml"/>
  <Override PartName="/ppt/notesSlides/notesSlide35.xml" ContentType="application/vnd.openxmlformats-officedocument.presentationml.notesSlide+xml"/>
  <Override PartName="/ppt/notesSlides/notesSlide45.xml" ContentType="application/vnd.openxmlformats-officedocument.presentationml.notesSlide+xml"/>
  <Override PartName="/ppt/notesSlides/notesSlide30.xml" ContentType="application/vnd.openxmlformats-officedocument.presentationml.notesSlide+xml"/>
  <Override PartName="/ppt/notesSlides/notesSlide18.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44.xml" ContentType="application/vnd.openxmlformats-officedocument.presentationml.notesSlide+xml"/>
  <Override PartName="/ppt/notesSlides/notesSlide29.xml" ContentType="application/vnd.openxmlformats-officedocument.presentationml.notesSlide+xml"/>
  <Override PartName="/ppt/notesSlides/notesSlide17.xml" ContentType="application/vnd.openxmlformats-officedocument.presentationml.notesSlide+xml"/>
  <Override PartName="/ppt/notesSlides/notesSlide38.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6.xml" ContentType="application/vnd.openxmlformats-officedocument.presentationml.notesSlide+xml"/>
  <Override PartName="/ppt/notesSlides/notesSlide32.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0.xml" ContentType="application/vnd.openxmlformats-officedocument.presentationml.notesSlide+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47.xml" ContentType="application/vnd.openxmlformats-officedocument.presentationml.notesSlide+xml"/>
  <Override PartName="/ppt/notesSlides/notesSlide2.xml" ContentType="application/vnd.openxmlformats-officedocument.presentationml.notesSlide+xml"/>
  <Override PartName="/ppt/notesSlides/notesSlide48.xml" ContentType="application/vnd.openxmlformats-officedocument.presentationml.notesSlide+xml"/>
  <Override PartName="/ppt/notesSlides/notesSlide11.xml" ContentType="application/vnd.openxmlformats-officedocument.presentationml.notesSlide+xml"/>
  <Override PartName="/ppt/notesSlides/notesSlide31.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9144000" cy="6858000"/>
  <p:notesSz cx="6858000" cy="9294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
          <p:cNvSpPr/>
          <p:nvPr/>
        </p:nvSpPr>
        <p:spPr>
          <a:xfrm>
            <a:off x="0" y="0"/>
            <a:ext cx="6858000" cy="9295200"/>
          </a:xfrm>
          <a:prstGeom prst="rect">
            <a:avLst/>
          </a:prstGeom>
          <a:solidFill>
            <a:srgbClr val="FFFFFF"/>
          </a:solidFill>
          <a:ln w="38160">
            <a:noFill/>
          </a:ln>
        </p:spPr>
        <p:txBody>
          <a:bodyPr lIns="90000" tIns="45000" rIns="90000" bIns="45000" anchor="ctr" anchorCtr="1">
            <a:noAutofit/>
          </a:bodyPr>
          <a:p>
            <a:endParaRPr lang="en-US" sz="2400" b="0" u="none" strike="noStrike">
              <a:solidFill>
                <a:srgbClr val="000000"/>
              </a:solidFill>
              <a:effectLst/>
              <a:uFillTx/>
              <a:latin typeface="Times New Roman"/>
            </a:endParaRPr>
          </a:p>
        </p:txBody>
      </p:sp>
      <p:sp>
        <p:nvSpPr>
          <p:cNvPr id="6" name="PlaceHolder 1"/>
          <p:cNvSpPr>
            <a:spLocks noGrp="1"/>
          </p:cNvSpPr>
          <p:nvPr>
            <p:ph type="hdr"/>
          </p:nvPr>
        </p:nvSpPr>
        <p:spPr>
          <a:xfrm>
            <a:off x="-360" y="-360"/>
            <a:ext cx="2971800" cy="463320"/>
          </a:xfrm>
          <a:prstGeom prst="rect">
            <a:avLst/>
          </a:prstGeom>
          <a:noFill/>
          <a:ln w="38160">
            <a:noFill/>
          </a:ln>
        </p:spPr>
        <p:txBody>
          <a:bodyPr lIns="92160" tIns="46080" rIns="92160" bIns="4608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 name="PlaceHolder 2"/>
          <p:cNvSpPr>
            <a:spLocks noGrp="1"/>
          </p:cNvSpPr>
          <p:nvPr>
            <p:ph type="dt" idx="2"/>
          </p:nvPr>
        </p:nvSpPr>
        <p:spPr>
          <a:xfrm>
            <a:off x="3885840" y="-360"/>
            <a:ext cx="2971800" cy="463320"/>
          </a:xfrm>
          <a:prstGeom prst="rect">
            <a:avLst/>
          </a:prstGeom>
          <a:noFill/>
          <a:ln w="38160">
            <a:noFill/>
          </a:ln>
        </p:spPr>
        <p:txBody>
          <a:bodyPr lIns="92160" tIns="46080" rIns="92160" bIns="4608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8" name="PlaceHolder 3"/>
          <p:cNvSpPr>
            <a:spLocks noGrp="1"/>
          </p:cNvSpPr>
          <p:nvPr>
            <p:ph type="sldImg"/>
          </p:nvPr>
        </p:nvSpPr>
        <p:spPr>
          <a:xfrm>
            <a:off x="1105920" y="698400"/>
            <a:ext cx="4646520" cy="3486240"/>
          </a:xfrm>
          <a:prstGeom prst="rect">
            <a:avLst/>
          </a:prstGeom>
          <a:noFill/>
          <a:ln w="9360">
            <a:solidFill>
              <a:srgbClr val="000000"/>
            </a:solidFill>
            <a:miter/>
          </a:ln>
        </p:spPr>
        <p:txBody>
          <a:bodyPr lIns="92160" tIns="46080" rIns="92160" bIns="4608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9" name="PlaceHolder 4"/>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Click to edit the notes format</a:t>
            </a:r>
            <a:endParaRPr lang="en-US" sz="1200" b="0" u="none" strike="noStrike">
              <a:solidFill>
                <a:srgbClr val="000000"/>
              </a:solidFill>
              <a:effectLst/>
              <a:uFillTx/>
              <a:latin typeface="Times New Roman"/>
            </a:endParaRPr>
          </a:p>
        </p:txBody>
      </p:sp>
      <p:sp>
        <p:nvSpPr>
          <p:cNvPr id="10" name="PlaceHolder 5"/>
          <p:cNvSpPr>
            <a:spLocks noGrp="1"/>
          </p:cNvSpPr>
          <p:nvPr>
            <p:ph type="ftr" idx="3"/>
          </p:nvPr>
        </p:nvSpPr>
        <p:spPr>
          <a:xfrm>
            <a:off x="-360" y="8832600"/>
            <a:ext cx="2971800" cy="463680"/>
          </a:xfrm>
          <a:prstGeom prst="rect">
            <a:avLst/>
          </a:prstGeom>
          <a:noFill/>
          <a:ln w="38160">
            <a:noFill/>
          </a:ln>
        </p:spPr>
        <p:txBody>
          <a:bodyPr lIns="92160" tIns="46080" rIns="92160" bIns="4608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1" name="PlaceHolder 6"/>
          <p:cNvSpPr>
            <a:spLocks noGrp="1"/>
          </p:cNvSpPr>
          <p:nvPr>
            <p:ph type="sldNum" idx="4"/>
          </p:nvPr>
        </p:nvSpPr>
        <p:spPr>
          <a:xfrm>
            <a:off x="3885840" y="8832600"/>
            <a:ext cx="2971800" cy="463680"/>
          </a:xfrm>
          <a:prstGeom prst="rect">
            <a:avLst/>
          </a:prstGeom>
          <a:noFill/>
          <a:ln w="38160">
            <a:noFill/>
          </a:ln>
        </p:spPr>
        <p:txBody>
          <a:bodyPr lIns="92160" tIns="46080" rIns="92160" bIns="4608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000000"/>
                </a:solidFill>
                <a:effectLst/>
                <a:uFillTx/>
                <a:latin typeface="Times New Roma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08D9981-97CC-4459-92E7-890FE08BAAF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1"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B73C7AB-750C-458D-885D-AD0CD92B20F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22" name="PlaceHolder 1"/>
          <p:cNvSpPr>
            <a:spLocks noGrp="1"/>
          </p:cNvSpPr>
          <p:nvPr>
            <p:ph type="sldImg"/>
          </p:nvPr>
        </p:nvSpPr>
        <p:spPr>
          <a:xfrm>
            <a:off x="1106280" y="698400"/>
            <a:ext cx="4646520" cy="3486240"/>
          </a:xfrm>
          <a:prstGeom prst="rect">
            <a:avLst/>
          </a:prstGeom>
          <a:ln w="0">
            <a:noFill/>
          </a:ln>
        </p:spPr>
      </p:sp>
      <p:sp>
        <p:nvSpPr>
          <p:cNvPr id="1323"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4"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AA4EA22-22F9-430E-8B71-AE6A68068F0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25" name="PlaceHolder 1"/>
          <p:cNvSpPr>
            <a:spLocks noGrp="1"/>
          </p:cNvSpPr>
          <p:nvPr>
            <p:ph type="sldImg"/>
          </p:nvPr>
        </p:nvSpPr>
        <p:spPr>
          <a:xfrm>
            <a:off x="1106280" y="698400"/>
            <a:ext cx="4646520" cy="3486240"/>
          </a:xfrm>
          <a:prstGeom prst="rect">
            <a:avLst/>
          </a:prstGeom>
          <a:ln w="0">
            <a:noFill/>
          </a:ln>
        </p:spPr>
      </p:sp>
      <p:sp>
        <p:nvSpPr>
          <p:cNvPr id="1326"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7"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E43F3C7-DDF2-44FB-9E26-A90A1917F9A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28" name="PlaceHolder 1"/>
          <p:cNvSpPr>
            <a:spLocks noGrp="1"/>
          </p:cNvSpPr>
          <p:nvPr>
            <p:ph type="sldImg"/>
          </p:nvPr>
        </p:nvSpPr>
        <p:spPr>
          <a:xfrm>
            <a:off x="1106280" y="698400"/>
            <a:ext cx="4646520" cy="3486240"/>
          </a:xfrm>
          <a:prstGeom prst="rect">
            <a:avLst/>
          </a:prstGeom>
          <a:ln w="0">
            <a:noFill/>
          </a:ln>
        </p:spPr>
      </p:sp>
      <p:sp>
        <p:nvSpPr>
          <p:cNvPr id="1329"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Parhami, B., “A Multi-Level View of Dependable Computing,” </a:t>
            </a:r>
            <a:r>
              <a:rPr lang="en-US" sz="1200" b="0" i="1" u="none" strike="noStrike">
                <a:solidFill>
                  <a:srgbClr val="000000"/>
                </a:solidFill>
                <a:effectLst/>
                <a:uFillTx/>
                <a:latin typeface="Times New Roman"/>
              </a:rPr>
              <a:t>Computers &amp; Electrical Engineering</a:t>
            </a:r>
            <a:r>
              <a:rPr lang="en-US" sz="1200" b="0" u="none" strike="noStrike">
                <a:solidFill>
                  <a:srgbClr val="000000"/>
                </a:solidFill>
                <a:effectLst/>
                <a:uFillTx/>
                <a:latin typeface="Times New Roman"/>
              </a:rPr>
              <a:t>, Vol. 20, No. 4, pp. 347-368, 1994. </a:t>
            </a:r>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0"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44BEE1F-675C-4E0B-BCCE-9C99AA51570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31" name="PlaceHolder 1"/>
          <p:cNvSpPr>
            <a:spLocks noGrp="1"/>
          </p:cNvSpPr>
          <p:nvPr>
            <p:ph type="sldImg"/>
          </p:nvPr>
        </p:nvSpPr>
        <p:spPr>
          <a:xfrm>
            <a:off x="1106280" y="698400"/>
            <a:ext cx="4646520" cy="3486240"/>
          </a:xfrm>
          <a:prstGeom prst="rect">
            <a:avLst/>
          </a:prstGeom>
          <a:ln w="0">
            <a:noFill/>
          </a:ln>
        </p:spPr>
      </p:sp>
      <p:sp>
        <p:nvSpPr>
          <p:cNvPr id="1332"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Fujiwara, H., </a:t>
            </a:r>
            <a:r>
              <a:rPr lang="en-US" sz="1200" b="0" i="1" u="none" strike="noStrike">
                <a:solidFill>
                  <a:srgbClr val="000000"/>
                </a:solidFill>
                <a:effectLst/>
                <a:uFillTx/>
                <a:latin typeface="Times New Roman"/>
              </a:rPr>
              <a:t>Logic Testing and Design for Testability</a:t>
            </a:r>
            <a:r>
              <a:rPr lang="en-US" sz="1200" b="0" u="none" strike="noStrike">
                <a:solidFill>
                  <a:srgbClr val="000000"/>
                </a:solidFill>
                <a:effectLst/>
                <a:uFillTx/>
                <a:latin typeface="Times New Roman"/>
              </a:rPr>
              <a:t>, MIT Press, 1985.</a:t>
            </a:r>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3"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D955637-C156-4887-B07B-FAE263C0CA9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34" name="PlaceHolder 1"/>
          <p:cNvSpPr>
            <a:spLocks noGrp="1"/>
          </p:cNvSpPr>
          <p:nvPr>
            <p:ph type="sldImg"/>
          </p:nvPr>
        </p:nvSpPr>
        <p:spPr>
          <a:xfrm>
            <a:off x="1106280" y="698400"/>
            <a:ext cx="4646520" cy="3486240"/>
          </a:xfrm>
          <a:prstGeom prst="rect">
            <a:avLst/>
          </a:prstGeom>
          <a:ln w="0">
            <a:noFill/>
          </a:ln>
        </p:spPr>
      </p:sp>
      <p:sp>
        <p:nvSpPr>
          <p:cNvPr id="1335"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6"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61921FD-7A2C-430C-A760-C5AA9E985AB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37" name="PlaceHolder 1"/>
          <p:cNvSpPr>
            <a:spLocks noGrp="1"/>
          </p:cNvSpPr>
          <p:nvPr>
            <p:ph type="sldImg"/>
          </p:nvPr>
        </p:nvSpPr>
        <p:spPr>
          <a:xfrm>
            <a:off x="1106280" y="698400"/>
            <a:ext cx="4646520" cy="3486240"/>
          </a:xfrm>
          <a:prstGeom prst="rect">
            <a:avLst/>
          </a:prstGeom>
          <a:ln w="0">
            <a:noFill/>
          </a:ln>
        </p:spPr>
      </p:sp>
      <p:sp>
        <p:nvSpPr>
          <p:cNvPr id="1338"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9"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B280500-EA80-4ED3-A07F-3E85578029B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40" name="PlaceHolder 1"/>
          <p:cNvSpPr>
            <a:spLocks noGrp="1"/>
          </p:cNvSpPr>
          <p:nvPr>
            <p:ph type="sldImg"/>
          </p:nvPr>
        </p:nvSpPr>
        <p:spPr>
          <a:xfrm>
            <a:off x="1106280" y="698400"/>
            <a:ext cx="4646520" cy="3486240"/>
          </a:xfrm>
          <a:prstGeom prst="rect">
            <a:avLst/>
          </a:prstGeom>
          <a:ln w="0">
            <a:noFill/>
          </a:ln>
        </p:spPr>
      </p:sp>
      <p:sp>
        <p:nvSpPr>
          <p:cNvPr id="1341"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2"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A166447-CD10-47E2-B7A9-F01935B09C0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43" name="PlaceHolder 1"/>
          <p:cNvSpPr>
            <a:spLocks noGrp="1"/>
          </p:cNvSpPr>
          <p:nvPr>
            <p:ph type="sldImg"/>
          </p:nvPr>
        </p:nvSpPr>
        <p:spPr>
          <a:xfrm>
            <a:off x="1106280" y="698400"/>
            <a:ext cx="4646520" cy="3486240"/>
          </a:xfrm>
          <a:prstGeom prst="rect">
            <a:avLst/>
          </a:prstGeom>
          <a:ln w="0">
            <a:noFill/>
          </a:ln>
        </p:spPr>
      </p:sp>
      <p:sp>
        <p:nvSpPr>
          <p:cNvPr id="1344"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Fujiwara, H., </a:t>
            </a:r>
            <a:r>
              <a:rPr lang="en-US" sz="1200" b="0" i="1" u="none" strike="noStrike">
                <a:solidFill>
                  <a:srgbClr val="000000"/>
                </a:solidFill>
                <a:effectLst/>
                <a:uFillTx/>
                <a:latin typeface="Times New Roman"/>
              </a:rPr>
              <a:t>Logic Testing and Design for Testability</a:t>
            </a:r>
            <a:r>
              <a:rPr lang="en-US" sz="1200" b="0" u="none" strike="noStrike">
                <a:solidFill>
                  <a:srgbClr val="000000"/>
                </a:solidFill>
                <a:effectLst/>
                <a:uFillTx/>
                <a:latin typeface="Times New Roman"/>
              </a:rPr>
              <a:t>, MIT Press, 1985.</a:t>
            </a:r>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5"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A16C0B1-76D0-4C5C-991E-4D02F76A363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46" name="PlaceHolder 1"/>
          <p:cNvSpPr>
            <a:spLocks noGrp="1"/>
          </p:cNvSpPr>
          <p:nvPr>
            <p:ph type="sldImg"/>
          </p:nvPr>
        </p:nvSpPr>
        <p:spPr>
          <a:xfrm>
            <a:off x="1106280" y="698400"/>
            <a:ext cx="4646520" cy="3486240"/>
          </a:xfrm>
          <a:prstGeom prst="rect">
            <a:avLst/>
          </a:prstGeom>
          <a:ln w="0">
            <a:noFill/>
          </a:ln>
        </p:spPr>
      </p:sp>
      <p:sp>
        <p:nvSpPr>
          <p:cNvPr id="1347"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Fujiwara, H., </a:t>
            </a:r>
            <a:r>
              <a:rPr lang="en-US" sz="1200" b="0" i="1" u="none" strike="noStrike">
                <a:solidFill>
                  <a:srgbClr val="000000"/>
                </a:solidFill>
                <a:effectLst/>
                <a:uFillTx/>
                <a:latin typeface="Times New Roman"/>
              </a:rPr>
              <a:t>Logic Testing and Design for Testability</a:t>
            </a:r>
            <a:r>
              <a:rPr lang="en-US" sz="1200" b="0" u="none" strike="noStrike">
                <a:solidFill>
                  <a:srgbClr val="000000"/>
                </a:solidFill>
                <a:effectLst/>
                <a:uFillTx/>
                <a:latin typeface="Times New Roman"/>
              </a:rPr>
              <a:t>, MIT Press, 1985.</a:t>
            </a:r>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8"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AC4A91B-1C18-499F-BF51-D779B1D5CD2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49" name="PlaceHolder 1"/>
          <p:cNvSpPr>
            <a:spLocks noGrp="1"/>
          </p:cNvSpPr>
          <p:nvPr>
            <p:ph type="sldImg"/>
          </p:nvPr>
        </p:nvSpPr>
        <p:spPr>
          <a:xfrm>
            <a:off x="1106280" y="698400"/>
            <a:ext cx="4646520" cy="3486240"/>
          </a:xfrm>
          <a:prstGeom prst="rect">
            <a:avLst/>
          </a:prstGeom>
          <a:ln w="0">
            <a:noFill/>
          </a:ln>
        </p:spPr>
      </p:sp>
      <p:sp>
        <p:nvSpPr>
          <p:cNvPr id="1350"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1"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2F8E5ED-8AB8-479A-B2B3-61CA6044B4A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52" name="PlaceHolder 1"/>
          <p:cNvSpPr>
            <a:spLocks noGrp="1"/>
          </p:cNvSpPr>
          <p:nvPr>
            <p:ph type="sldImg"/>
          </p:nvPr>
        </p:nvSpPr>
        <p:spPr>
          <a:xfrm>
            <a:off x="1106280" y="698400"/>
            <a:ext cx="4646520" cy="3486240"/>
          </a:xfrm>
          <a:prstGeom prst="rect">
            <a:avLst/>
          </a:prstGeom>
          <a:ln w="0">
            <a:noFill/>
          </a:ln>
        </p:spPr>
      </p:sp>
      <p:sp>
        <p:nvSpPr>
          <p:cNvPr id="1353"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Fujiwara, H., </a:t>
            </a:r>
            <a:r>
              <a:rPr lang="en-US" sz="1200" b="0" i="1" u="none" strike="noStrike">
                <a:solidFill>
                  <a:srgbClr val="000000"/>
                </a:solidFill>
                <a:effectLst/>
                <a:uFillTx/>
                <a:latin typeface="Times New Roman"/>
              </a:rPr>
              <a:t>Logic Testing and Design for Testability</a:t>
            </a:r>
            <a:r>
              <a:rPr lang="en-US" sz="1200" b="0" u="none" strike="noStrike">
                <a:solidFill>
                  <a:srgbClr val="000000"/>
                </a:solidFill>
                <a:effectLst/>
                <a:uFillTx/>
                <a:latin typeface="Times New Roman"/>
              </a:rPr>
              <a:t>, MIT Press, 1985.</a:t>
            </a:r>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4"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ACA2183-C7C7-4A68-A0B5-146397275FD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55" name="PlaceHolder 1"/>
          <p:cNvSpPr>
            <a:spLocks noGrp="1"/>
          </p:cNvSpPr>
          <p:nvPr>
            <p:ph type="sldImg"/>
          </p:nvPr>
        </p:nvSpPr>
        <p:spPr>
          <a:xfrm>
            <a:off x="1106280" y="698400"/>
            <a:ext cx="4646520" cy="3486240"/>
          </a:xfrm>
          <a:prstGeom prst="rect">
            <a:avLst/>
          </a:prstGeom>
          <a:ln w="0">
            <a:noFill/>
          </a:ln>
        </p:spPr>
      </p:sp>
      <p:sp>
        <p:nvSpPr>
          <p:cNvPr id="1356"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Fujiwara, H., </a:t>
            </a:r>
            <a:r>
              <a:rPr lang="en-US" sz="1200" b="0" i="1" u="none" strike="noStrike">
                <a:solidFill>
                  <a:srgbClr val="000000"/>
                </a:solidFill>
                <a:effectLst/>
                <a:uFillTx/>
                <a:latin typeface="Times New Roman"/>
              </a:rPr>
              <a:t>Logic Testing and Design for Testability</a:t>
            </a:r>
            <a:r>
              <a:rPr lang="en-US" sz="1200" b="0" u="none" strike="noStrike">
                <a:solidFill>
                  <a:srgbClr val="000000"/>
                </a:solidFill>
                <a:effectLst/>
                <a:uFillTx/>
                <a:latin typeface="Times New Roman"/>
              </a:rPr>
              <a:t>, MIT Press, 1985.</a:t>
            </a:r>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7"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C2ADE1E-7C9E-4CA1-8337-E6441523084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58" name="PlaceHolder 1"/>
          <p:cNvSpPr>
            <a:spLocks noGrp="1"/>
          </p:cNvSpPr>
          <p:nvPr>
            <p:ph type="sldImg"/>
          </p:nvPr>
        </p:nvSpPr>
        <p:spPr>
          <a:xfrm>
            <a:off x="1106280" y="698400"/>
            <a:ext cx="4646520" cy="3486240"/>
          </a:xfrm>
          <a:prstGeom prst="rect">
            <a:avLst/>
          </a:prstGeom>
          <a:ln w="0">
            <a:noFill/>
          </a:ln>
        </p:spPr>
      </p:sp>
      <p:sp>
        <p:nvSpPr>
          <p:cNvPr id="1359"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Fujiwara, H., </a:t>
            </a:r>
            <a:r>
              <a:rPr lang="en-US" sz="1200" b="0" i="1" u="none" strike="noStrike">
                <a:solidFill>
                  <a:srgbClr val="000000"/>
                </a:solidFill>
                <a:effectLst/>
                <a:uFillTx/>
                <a:latin typeface="Times New Roman"/>
              </a:rPr>
              <a:t>Logic Testing and Design for Testability</a:t>
            </a:r>
            <a:r>
              <a:rPr lang="en-US" sz="1200" b="0" u="none" strike="noStrike">
                <a:solidFill>
                  <a:srgbClr val="000000"/>
                </a:solidFill>
                <a:effectLst/>
                <a:uFillTx/>
                <a:latin typeface="Times New Roman"/>
              </a:rPr>
              <a:t>, MIT Press, 1985.</a:t>
            </a:r>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0"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C1A9FD0-A6B6-46B3-B859-4EAF3C04E0E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61" name="PlaceHolder 1"/>
          <p:cNvSpPr>
            <a:spLocks noGrp="1"/>
          </p:cNvSpPr>
          <p:nvPr>
            <p:ph type="sldImg"/>
          </p:nvPr>
        </p:nvSpPr>
        <p:spPr>
          <a:xfrm>
            <a:off x="1106280" y="698400"/>
            <a:ext cx="4646520" cy="3486240"/>
          </a:xfrm>
          <a:prstGeom prst="rect">
            <a:avLst/>
          </a:prstGeom>
          <a:ln w="0">
            <a:noFill/>
          </a:ln>
        </p:spPr>
      </p:sp>
      <p:sp>
        <p:nvSpPr>
          <p:cNvPr id="1362"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3"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08FFDED-A3F0-4EBC-A35A-ADD7C8095C8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64" name="PlaceHolder 1"/>
          <p:cNvSpPr>
            <a:spLocks noGrp="1"/>
          </p:cNvSpPr>
          <p:nvPr>
            <p:ph type="sldImg"/>
          </p:nvPr>
        </p:nvSpPr>
        <p:spPr>
          <a:xfrm>
            <a:off x="1106280" y="698400"/>
            <a:ext cx="4646520" cy="3486240"/>
          </a:xfrm>
          <a:prstGeom prst="rect">
            <a:avLst/>
          </a:prstGeom>
          <a:ln w="0">
            <a:noFill/>
          </a:ln>
        </p:spPr>
      </p:sp>
      <p:sp>
        <p:nvSpPr>
          <p:cNvPr id="1365"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Consider the extreme case of the decoder always selecting the same memory word (all decoder outputs stuck on 0, say). Then, what you will be testing is the proper functioning of a single memory word.</a:t>
            </a:r>
            <a:endParaRPr lang="en-US" sz="1200" b="0" u="none" strike="noStrike">
              <a:solidFill>
                <a:srgbClr val="000000"/>
              </a:solidFill>
              <a:effectLst/>
              <a:uFillTx/>
              <a:latin typeface="Times New Roman"/>
            </a:endParaRPr>
          </a:p>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Hamdioui, S., and G. Gaydadjiev, “Future Challenges in Memory Testing”</a:t>
            </a:r>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6"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06A2A22-6F4F-417F-AB6A-8C5C93BC749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67" name="PlaceHolder 1"/>
          <p:cNvSpPr>
            <a:spLocks noGrp="1"/>
          </p:cNvSpPr>
          <p:nvPr>
            <p:ph type="sldImg"/>
          </p:nvPr>
        </p:nvSpPr>
        <p:spPr>
          <a:xfrm>
            <a:off x="1106280" y="698400"/>
            <a:ext cx="4646520" cy="3486240"/>
          </a:xfrm>
          <a:prstGeom prst="rect">
            <a:avLst/>
          </a:prstGeom>
          <a:ln w="0">
            <a:noFill/>
          </a:ln>
        </p:spPr>
      </p:sp>
      <p:sp>
        <p:nvSpPr>
          <p:cNvPr id="1368"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9"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5DEDFC7-FD3E-4C24-88CF-60E74101860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70" name="PlaceHolder 1"/>
          <p:cNvSpPr>
            <a:spLocks noGrp="1"/>
          </p:cNvSpPr>
          <p:nvPr>
            <p:ph type="sldImg"/>
          </p:nvPr>
        </p:nvSpPr>
        <p:spPr>
          <a:xfrm>
            <a:off x="1106280" y="698400"/>
            <a:ext cx="4646520" cy="3486240"/>
          </a:xfrm>
          <a:prstGeom prst="rect">
            <a:avLst/>
          </a:prstGeom>
          <a:ln w="0">
            <a:noFill/>
          </a:ln>
        </p:spPr>
      </p:sp>
      <p:sp>
        <p:nvSpPr>
          <p:cNvPr id="1371"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2"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8F9D893-E5C2-41CE-8BBF-AB502994D1B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73" name="PlaceHolder 1"/>
          <p:cNvSpPr>
            <a:spLocks noGrp="1"/>
          </p:cNvSpPr>
          <p:nvPr>
            <p:ph type="sldImg"/>
          </p:nvPr>
        </p:nvSpPr>
        <p:spPr>
          <a:xfrm>
            <a:off x="1106280" y="698400"/>
            <a:ext cx="4646520" cy="3486240"/>
          </a:xfrm>
          <a:prstGeom prst="rect">
            <a:avLst/>
          </a:prstGeom>
          <a:ln w="0">
            <a:noFill/>
          </a:ln>
        </p:spPr>
      </p:sp>
      <p:sp>
        <p:nvSpPr>
          <p:cNvPr id="1374"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5"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4AEBAD4-174A-4F86-B2AC-6C869A044DD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76" name="PlaceHolder 1"/>
          <p:cNvSpPr>
            <a:spLocks noGrp="1"/>
          </p:cNvSpPr>
          <p:nvPr>
            <p:ph type="sldImg"/>
          </p:nvPr>
        </p:nvSpPr>
        <p:spPr>
          <a:xfrm>
            <a:off x="1106280" y="698400"/>
            <a:ext cx="4646520" cy="3486240"/>
          </a:xfrm>
          <a:prstGeom prst="rect">
            <a:avLst/>
          </a:prstGeom>
          <a:ln w="0">
            <a:noFill/>
          </a:ln>
        </p:spPr>
      </p:sp>
      <p:sp>
        <p:nvSpPr>
          <p:cNvPr id="1377"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8"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496EFFB-AE7E-47C9-B1C2-EEA6FA47255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79" name="PlaceHolder 1"/>
          <p:cNvSpPr>
            <a:spLocks noGrp="1"/>
          </p:cNvSpPr>
          <p:nvPr>
            <p:ph type="sldImg"/>
          </p:nvPr>
        </p:nvSpPr>
        <p:spPr>
          <a:xfrm>
            <a:off x="1106280" y="698400"/>
            <a:ext cx="4646520" cy="3486240"/>
          </a:xfrm>
          <a:prstGeom prst="rect">
            <a:avLst/>
          </a:prstGeom>
          <a:ln w="0">
            <a:noFill/>
          </a:ln>
        </p:spPr>
      </p:sp>
      <p:sp>
        <p:nvSpPr>
          <p:cNvPr id="1380"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1"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4AD0CEC-40D3-43CA-A008-8C940D2E548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82" name="PlaceHolder 1"/>
          <p:cNvSpPr>
            <a:spLocks noGrp="1"/>
          </p:cNvSpPr>
          <p:nvPr>
            <p:ph type="sldImg"/>
          </p:nvPr>
        </p:nvSpPr>
        <p:spPr>
          <a:xfrm>
            <a:off x="1106280" y="698400"/>
            <a:ext cx="4646520" cy="3486240"/>
          </a:xfrm>
          <a:prstGeom prst="rect">
            <a:avLst/>
          </a:prstGeom>
          <a:ln w="0">
            <a:noFill/>
          </a:ln>
        </p:spPr>
      </p:sp>
      <p:sp>
        <p:nvSpPr>
          <p:cNvPr id="1383"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Fujiwara, H., </a:t>
            </a:r>
            <a:r>
              <a:rPr lang="en-US" sz="1200" b="0" i="1" u="none" strike="noStrike">
                <a:solidFill>
                  <a:srgbClr val="000000"/>
                </a:solidFill>
                <a:effectLst/>
                <a:uFillTx/>
                <a:latin typeface="Times New Roman"/>
              </a:rPr>
              <a:t>Logic Testing and Design for Testability</a:t>
            </a:r>
            <a:r>
              <a:rPr lang="en-US" sz="1200" b="0" u="none" strike="noStrike">
                <a:solidFill>
                  <a:srgbClr val="000000"/>
                </a:solidFill>
                <a:effectLst/>
                <a:uFillTx/>
                <a:latin typeface="Times New Roman"/>
              </a:rPr>
              <a:t>, MIT Press, 1985.</a:t>
            </a:r>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4"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1B1D5D6-EBFE-4672-BE4A-F4F705E3F8D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85" name="PlaceHolder 1"/>
          <p:cNvSpPr>
            <a:spLocks noGrp="1"/>
          </p:cNvSpPr>
          <p:nvPr>
            <p:ph type="sldImg"/>
          </p:nvPr>
        </p:nvSpPr>
        <p:spPr>
          <a:xfrm>
            <a:off x="1106280" y="698400"/>
            <a:ext cx="4646520" cy="3486240"/>
          </a:xfrm>
          <a:prstGeom prst="rect">
            <a:avLst/>
          </a:prstGeom>
          <a:ln w="0">
            <a:noFill/>
          </a:ln>
        </p:spPr>
      </p:sp>
      <p:sp>
        <p:nvSpPr>
          <p:cNvPr id="1386"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7"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E8D8D87-BDC3-4A88-B5D3-9CA09FFA88E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88" name="PlaceHolder 1"/>
          <p:cNvSpPr>
            <a:spLocks noGrp="1"/>
          </p:cNvSpPr>
          <p:nvPr>
            <p:ph type="sldImg"/>
          </p:nvPr>
        </p:nvSpPr>
        <p:spPr>
          <a:xfrm>
            <a:off x="1106280" y="698400"/>
            <a:ext cx="4646520" cy="3486240"/>
          </a:xfrm>
          <a:prstGeom prst="rect">
            <a:avLst/>
          </a:prstGeom>
          <a:ln w="0">
            <a:noFill/>
          </a:ln>
        </p:spPr>
      </p:sp>
      <p:sp>
        <p:nvSpPr>
          <p:cNvPr id="1389"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0"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6D47B2A-B117-4A81-B972-0E0EAC0FB9D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91" name="PlaceHolder 1"/>
          <p:cNvSpPr>
            <a:spLocks noGrp="1"/>
          </p:cNvSpPr>
          <p:nvPr>
            <p:ph type="sldImg"/>
          </p:nvPr>
        </p:nvSpPr>
        <p:spPr>
          <a:xfrm>
            <a:off x="1106280" y="698400"/>
            <a:ext cx="4646520" cy="3486240"/>
          </a:xfrm>
          <a:prstGeom prst="rect">
            <a:avLst/>
          </a:prstGeom>
          <a:ln w="0">
            <a:noFill/>
          </a:ln>
        </p:spPr>
      </p:sp>
      <p:sp>
        <p:nvSpPr>
          <p:cNvPr id="1392"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3"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751D442-0619-41D8-82D4-22C9374E7EC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94" name="PlaceHolder 1"/>
          <p:cNvSpPr>
            <a:spLocks noGrp="1"/>
          </p:cNvSpPr>
          <p:nvPr>
            <p:ph type="sldImg"/>
          </p:nvPr>
        </p:nvSpPr>
        <p:spPr>
          <a:xfrm>
            <a:off x="1106280" y="698400"/>
            <a:ext cx="4646520" cy="3486240"/>
          </a:xfrm>
          <a:prstGeom prst="rect">
            <a:avLst/>
          </a:prstGeom>
          <a:ln w="0">
            <a:noFill/>
          </a:ln>
        </p:spPr>
      </p:sp>
      <p:sp>
        <p:nvSpPr>
          <p:cNvPr id="1395"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6"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EB3AC14-D3FF-4DCF-8D55-4EFD9517DF6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397" name="PlaceHolder 1"/>
          <p:cNvSpPr>
            <a:spLocks noGrp="1"/>
          </p:cNvSpPr>
          <p:nvPr>
            <p:ph type="sldImg"/>
          </p:nvPr>
        </p:nvSpPr>
        <p:spPr>
          <a:xfrm>
            <a:off x="1106280" y="698400"/>
            <a:ext cx="4646520" cy="3486240"/>
          </a:xfrm>
          <a:prstGeom prst="rect">
            <a:avLst/>
          </a:prstGeom>
          <a:ln w="0">
            <a:noFill/>
          </a:ln>
        </p:spPr>
      </p:sp>
      <p:sp>
        <p:nvSpPr>
          <p:cNvPr id="1398"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9"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84A7896-EDB7-4D2A-97F7-B414E911029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00" name="PlaceHolder 1"/>
          <p:cNvSpPr>
            <a:spLocks noGrp="1"/>
          </p:cNvSpPr>
          <p:nvPr>
            <p:ph type="sldImg"/>
          </p:nvPr>
        </p:nvSpPr>
        <p:spPr>
          <a:xfrm>
            <a:off x="1106280" y="698400"/>
            <a:ext cx="4646520" cy="3486240"/>
          </a:xfrm>
          <a:prstGeom prst="rect">
            <a:avLst/>
          </a:prstGeom>
          <a:ln w="0">
            <a:noFill/>
          </a:ln>
        </p:spPr>
      </p:sp>
      <p:sp>
        <p:nvSpPr>
          <p:cNvPr id="1401"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2"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C93F162-25E9-4DEA-AE0F-C3B753FEE63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03" name="PlaceHolder 1"/>
          <p:cNvSpPr>
            <a:spLocks noGrp="1"/>
          </p:cNvSpPr>
          <p:nvPr>
            <p:ph type="sldImg"/>
          </p:nvPr>
        </p:nvSpPr>
        <p:spPr>
          <a:xfrm>
            <a:off x="1106280" y="698400"/>
            <a:ext cx="4646520" cy="3486240"/>
          </a:xfrm>
          <a:prstGeom prst="rect">
            <a:avLst/>
          </a:prstGeom>
          <a:ln w="0">
            <a:noFill/>
          </a:ln>
        </p:spPr>
      </p:sp>
      <p:sp>
        <p:nvSpPr>
          <p:cNvPr id="1404"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5"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677B714-00BD-47C6-9709-7AE41695DBC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06" name="PlaceHolder 1"/>
          <p:cNvSpPr>
            <a:spLocks noGrp="1"/>
          </p:cNvSpPr>
          <p:nvPr>
            <p:ph type="sldImg"/>
          </p:nvPr>
        </p:nvSpPr>
        <p:spPr>
          <a:xfrm>
            <a:off x="1106280" y="698400"/>
            <a:ext cx="4646520" cy="3486240"/>
          </a:xfrm>
          <a:prstGeom prst="rect">
            <a:avLst/>
          </a:prstGeom>
          <a:ln w="0">
            <a:noFill/>
          </a:ln>
        </p:spPr>
      </p:sp>
      <p:sp>
        <p:nvSpPr>
          <p:cNvPr id="1407"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8"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107988D-F26E-4543-892F-917EF97659B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09" name="PlaceHolder 1"/>
          <p:cNvSpPr>
            <a:spLocks noGrp="1"/>
          </p:cNvSpPr>
          <p:nvPr>
            <p:ph type="sldImg"/>
          </p:nvPr>
        </p:nvSpPr>
        <p:spPr>
          <a:xfrm>
            <a:off x="1106280" y="698400"/>
            <a:ext cx="4646520" cy="3486240"/>
          </a:xfrm>
          <a:prstGeom prst="rect">
            <a:avLst/>
          </a:prstGeom>
          <a:ln w="0">
            <a:noFill/>
          </a:ln>
        </p:spPr>
      </p:sp>
      <p:sp>
        <p:nvSpPr>
          <p:cNvPr id="1410"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1"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989B2B3-BF14-46FA-AE06-174AE41A957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12" name="PlaceHolder 1"/>
          <p:cNvSpPr>
            <a:spLocks noGrp="1"/>
          </p:cNvSpPr>
          <p:nvPr>
            <p:ph type="sldImg"/>
          </p:nvPr>
        </p:nvSpPr>
        <p:spPr>
          <a:xfrm>
            <a:off x="1106280" y="698400"/>
            <a:ext cx="4646520" cy="3486240"/>
          </a:xfrm>
          <a:prstGeom prst="rect">
            <a:avLst/>
          </a:prstGeom>
          <a:ln w="0">
            <a:noFill/>
          </a:ln>
        </p:spPr>
      </p:sp>
      <p:sp>
        <p:nvSpPr>
          <p:cNvPr id="1413"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4"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CC75282-D57E-4793-B800-FAC3C92863D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15" name="PlaceHolder 1"/>
          <p:cNvSpPr>
            <a:spLocks noGrp="1"/>
          </p:cNvSpPr>
          <p:nvPr>
            <p:ph type="sldImg"/>
          </p:nvPr>
        </p:nvSpPr>
        <p:spPr>
          <a:xfrm>
            <a:off x="1106280" y="698400"/>
            <a:ext cx="4646520" cy="3486240"/>
          </a:xfrm>
          <a:prstGeom prst="rect">
            <a:avLst/>
          </a:prstGeom>
          <a:ln w="0">
            <a:noFill/>
          </a:ln>
        </p:spPr>
      </p:sp>
      <p:sp>
        <p:nvSpPr>
          <p:cNvPr id="1416"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7"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D01DFBB-50BF-4EF2-BCED-5B4666ED1FC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18" name="PlaceHolder 1"/>
          <p:cNvSpPr>
            <a:spLocks noGrp="1"/>
          </p:cNvSpPr>
          <p:nvPr>
            <p:ph type="sldImg"/>
          </p:nvPr>
        </p:nvSpPr>
        <p:spPr>
          <a:xfrm>
            <a:off x="1106280" y="698400"/>
            <a:ext cx="4646520" cy="3486240"/>
          </a:xfrm>
          <a:prstGeom prst="rect">
            <a:avLst/>
          </a:prstGeom>
          <a:ln w="0">
            <a:noFill/>
          </a:ln>
        </p:spPr>
      </p:sp>
      <p:sp>
        <p:nvSpPr>
          <p:cNvPr id="1419"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0"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78D1B11-61E0-4BB5-87AC-8DEA64CFD9A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21" name="PlaceHolder 1"/>
          <p:cNvSpPr>
            <a:spLocks noGrp="1"/>
          </p:cNvSpPr>
          <p:nvPr>
            <p:ph type="sldImg"/>
          </p:nvPr>
        </p:nvSpPr>
        <p:spPr>
          <a:xfrm>
            <a:off x="1106280" y="698400"/>
            <a:ext cx="4646520" cy="3486240"/>
          </a:xfrm>
          <a:prstGeom prst="rect">
            <a:avLst/>
          </a:prstGeom>
          <a:ln w="0">
            <a:noFill/>
          </a:ln>
        </p:spPr>
      </p:sp>
      <p:sp>
        <p:nvSpPr>
          <p:cNvPr id="1422"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3"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181C55A-B220-4D33-BC2E-6AD45F67E3E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24" name="PlaceHolder 1"/>
          <p:cNvSpPr>
            <a:spLocks noGrp="1"/>
          </p:cNvSpPr>
          <p:nvPr>
            <p:ph type="sldImg"/>
          </p:nvPr>
        </p:nvSpPr>
        <p:spPr>
          <a:xfrm>
            <a:off x="1106280" y="698400"/>
            <a:ext cx="4646520" cy="3486240"/>
          </a:xfrm>
          <a:prstGeom prst="rect">
            <a:avLst/>
          </a:prstGeom>
          <a:ln w="0">
            <a:noFill/>
          </a:ln>
        </p:spPr>
      </p:sp>
      <p:sp>
        <p:nvSpPr>
          <p:cNvPr id="1425"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6"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C7772E1-C0C9-44B2-B552-AB72D7F1374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27" name="PlaceHolder 1"/>
          <p:cNvSpPr>
            <a:spLocks noGrp="1"/>
          </p:cNvSpPr>
          <p:nvPr>
            <p:ph type="sldImg"/>
          </p:nvPr>
        </p:nvSpPr>
        <p:spPr>
          <a:xfrm>
            <a:off x="1106280" y="698400"/>
            <a:ext cx="4646520" cy="3486240"/>
          </a:xfrm>
          <a:prstGeom prst="rect">
            <a:avLst/>
          </a:prstGeom>
          <a:ln w="0">
            <a:noFill/>
          </a:ln>
        </p:spPr>
      </p:sp>
      <p:sp>
        <p:nvSpPr>
          <p:cNvPr id="1428"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9"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B97FDE7-9ABB-4127-96A2-E31243507C5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30" name="PlaceHolder 1"/>
          <p:cNvSpPr>
            <a:spLocks noGrp="1"/>
          </p:cNvSpPr>
          <p:nvPr>
            <p:ph type="sldImg"/>
          </p:nvPr>
        </p:nvSpPr>
        <p:spPr>
          <a:xfrm>
            <a:off x="1106280" y="698400"/>
            <a:ext cx="4646520" cy="3486240"/>
          </a:xfrm>
          <a:prstGeom prst="rect">
            <a:avLst/>
          </a:prstGeom>
          <a:ln w="0">
            <a:noFill/>
          </a:ln>
        </p:spPr>
      </p:sp>
      <p:sp>
        <p:nvSpPr>
          <p:cNvPr id="1431"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2"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60C684E-F653-47F6-A27F-480523C27C5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33" name="PlaceHolder 1"/>
          <p:cNvSpPr>
            <a:spLocks noGrp="1"/>
          </p:cNvSpPr>
          <p:nvPr>
            <p:ph type="sldImg"/>
          </p:nvPr>
        </p:nvSpPr>
        <p:spPr>
          <a:xfrm>
            <a:off x="1106280" y="698400"/>
            <a:ext cx="4646520" cy="3486240"/>
          </a:xfrm>
          <a:prstGeom prst="rect">
            <a:avLst/>
          </a:prstGeom>
          <a:ln w="0">
            <a:noFill/>
          </a:ln>
        </p:spPr>
      </p:sp>
      <p:sp>
        <p:nvSpPr>
          <p:cNvPr id="1434"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5"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99A40A1-46FA-4E9B-A3AA-42A2C0E544F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36" name="PlaceHolder 1"/>
          <p:cNvSpPr>
            <a:spLocks noGrp="1"/>
          </p:cNvSpPr>
          <p:nvPr>
            <p:ph type="sldImg"/>
          </p:nvPr>
        </p:nvSpPr>
        <p:spPr>
          <a:xfrm>
            <a:off x="1106280" y="698400"/>
            <a:ext cx="4646520" cy="3486240"/>
          </a:xfrm>
          <a:prstGeom prst="rect">
            <a:avLst/>
          </a:prstGeom>
          <a:ln w="0">
            <a:noFill/>
          </a:ln>
        </p:spPr>
      </p:sp>
      <p:sp>
        <p:nvSpPr>
          <p:cNvPr id="1437"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8"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D51E248-9C49-4012-9906-9393F7EE91A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39" name="PlaceHolder 1"/>
          <p:cNvSpPr>
            <a:spLocks noGrp="1"/>
          </p:cNvSpPr>
          <p:nvPr>
            <p:ph type="sldImg"/>
          </p:nvPr>
        </p:nvSpPr>
        <p:spPr>
          <a:xfrm>
            <a:off x="1106280" y="698400"/>
            <a:ext cx="4646520" cy="3486240"/>
          </a:xfrm>
          <a:prstGeom prst="rect">
            <a:avLst/>
          </a:prstGeom>
          <a:ln w="0">
            <a:noFill/>
          </a:ln>
        </p:spPr>
      </p:sp>
      <p:sp>
        <p:nvSpPr>
          <p:cNvPr id="1440"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1"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B694C29-3430-4ABD-92DE-48F7FE7C386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42" name="PlaceHolder 1"/>
          <p:cNvSpPr>
            <a:spLocks noGrp="1"/>
          </p:cNvSpPr>
          <p:nvPr>
            <p:ph type="sldImg"/>
          </p:nvPr>
        </p:nvSpPr>
        <p:spPr>
          <a:xfrm>
            <a:off x="1106280" y="698400"/>
            <a:ext cx="4646520" cy="3486240"/>
          </a:xfrm>
          <a:prstGeom prst="rect">
            <a:avLst/>
          </a:prstGeom>
          <a:ln w="0">
            <a:noFill/>
          </a:ln>
        </p:spPr>
      </p:sp>
      <p:sp>
        <p:nvSpPr>
          <p:cNvPr id="1443"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4"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32E0FAB-B6E1-48B1-A6C9-D6C822FF428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45" name="PlaceHolder 1"/>
          <p:cNvSpPr>
            <a:spLocks noGrp="1"/>
          </p:cNvSpPr>
          <p:nvPr>
            <p:ph type="sldImg"/>
          </p:nvPr>
        </p:nvSpPr>
        <p:spPr>
          <a:xfrm>
            <a:off x="1106280" y="698400"/>
            <a:ext cx="4646520" cy="3486240"/>
          </a:xfrm>
          <a:prstGeom prst="rect">
            <a:avLst/>
          </a:prstGeom>
          <a:ln w="0">
            <a:noFill/>
          </a:ln>
        </p:spPr>
      </p:sp>
      <p:sp>
        <p:nvSpPr>
          <p:cNvPr id="1446"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7"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9593F02-852B-4C09-B3F7-7327176F1CE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48" name="PlaceHolder 1"/>
          <p:cNvSpPr>
            <a:spLocks noGrp="1"/>
          </p:cNvSpPr>
          <p:nvPr>
            <p:ph type="sldImg"/>
          </p:nvPr>
        </p:nvSpPr>
        <p:spPr>
          <a:xfrm>
            <a:off x="1106280" y="698400"/>
            <a:ext cx="4646520" cy="3486240"/>
          </a:xfrm>
          <a:prstGeom prst="rect">
            <a:avLst/>
          </a:prstGeom>
          <a:ln w="0">
            <a:noFill/>
          </a:ln>
        </p:spPr>
      </p:sp>
      <p:sp>
        <p:nvSpPr>
          <p:cNvPr id="1449"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0"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D27CEC1-CA21-457D-928B-B2BF0A98E6F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51" name="PlaceHolder 1"/>
          <p:cNvSpPr>
            <a:spLocks noGrp="1"/>
          </p:cNvSpPr>
          <p:nvPr>
            <p:ph type="sldImg"/>
          </p:nvPr>
        </p:nvSpPr>
        <p:spPr>
          <a:xfrm>
            <a:off x="1106280" y="698400"/>
            <a:ext cx="4646520" cy="3486240"/>
          </a:xfrm>
          <a:prstGeom prst="rect">
            <a:avLst/>
          </a:prstGeom>
          <a:ln w="0">
            <a:noFill/>
          </a:ln>
        </p:spPr>
      </p:sp>
      <p:sp>
        <p:nvSpPr>
          <p:cNvPr id="1452"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3"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EAD3650-EC46-4CD5-B55D-C179B99F5D4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54" name="PlaceHolder 1"/>
          <p:cNvSpPr>
            <a:spLocks noGrp="1"/>
          </p:cNvSpPr>
          <p:nvPr>
            <p:ph type="sldImg"/>
          </p:nvPr>
        </p:nvSpPr>
        <p:spPr>
          <a:xfrm>
            <a:off x="1106280" y="698400"/>
            <a:ext cx="4646520" cy="3486240"/>
          </a:xfrm>
          <a:prstGeom prst="rect">
            <a:avLst/>
          </a:prstGeom>
          <a:ln w="0">
            <a:noFill/>
          </a:ln>
        </p:spPr>
      </p:sp>
      <p:sp>
        <p:nvSpPr>
          <p:cNvPr id="1455" name="PlaceHolder 2"/>
          <p:cNvSpPr>
            <a:spLocks noGrp="1"/>
          </p:cNvSpPr>
          <p:nvPr>
            <p:ph type="body"/>
          </p:nvPr>
        </p:nvSpPr>
        <p:spPr>
          <a:xfrm>
            <a:off x="914400" y="4416120"/>
            <a:ext cx="5029200" cy="4181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6" name="Rectangle 7"/>
          <p:cNvSpPr/>
          <p:nvPr/>
        </p:nvSpPr>
        <p:spPr>
          <a:xfrm>
            <a:off x="3886200" y="8832600"/>
            <a:ext cx="2971800" cy="463680"/>
          </a:xfrm>
          <a:prstGeom prst="rect">
            <a:avLst/>
          </a:prstGeom>
          <a:noFill/>
          <a:ln w="38160">
            <a:noFill/>
          </a:ln>
        </p:spPr>
        <p:style>
          <a:lnRef idx="0"/>
          <a:fillRef idx="0"/>
          <a:effectRef idx="0"/>
          <a:fontRef idx="minor"/>
        </p:style>
        <p:txBody>
          <a:bodyPr lIns="92160" tIns="46080" rIns="92160" bIns="4608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A1A19A2-4A53-4277-9EBA-B5CC7FD28AA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
        <p:nvSpPr>
          <p:cNvPr id="1457" name="PlaceHolder 1"/>
          <p:cNvSpPr>
            <a:spLocks noGrp="1"/>
          </p:cNvSpPr>
          <p:nvPr>
            <p:ph type="sldImg"/>
          </p:nvPr>
        </p:nvSpPr>
        <p:spPr>
          <a:xfrm>
            <a:off x="1106280" y="698400"/>
            <a:ext cx="4646520" cy="3486240"/>
          </a:xfrm>
          <a:prstGeom prst="rect">
            <a:avLst/>
          </a:prstGeom>
          <a:ln w="0">
            <a:noFill/>
          </a:ln>
        </p:spPr>
      </p:sp>
      <p:sp>
        <p:nvSpPr>
          <p:cNvPr id="1458" name="PlaceHolder 2"/>
          <p:cNvSpPr>
            <a:spLocks noGrp="1"/>
          </p:cNvSpPr>
          <p:nvPr>
            <p:ph type="body"/>
          </p:nvPr>
        </p:nvSpPr>
        <p:spPr>
          <a:xfrm>
            <a:off x="914400" y="4416120"/>
            <a:ext cx="5029200" cy="4181760"/>
          </a:xfrm>
          <a:prstGeom prst="rect">
            <a:avLst/>
          </a:prstGeom>
          <a:noFill/>
          <a:ln w="0">
            <a:noFill/>
          </a:ln>
        </p:spPr>
        <p:txBody>
          <a:bodyPr lIns="92160" tIns="46080" rIns="92160" bIns="460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Whitney J. Townsend, Jacob A. Abraham, and Earl E. Swartzlander, Jr., “Quadruple Time Redundancy Adders [Error Correcting Adder],” </a:t>
            </a:r>
            <a:r>
              <a:rPr lang="en-US" sz="1200" b="0" i="1" u="none" strike="noStrike">
                <a:solidFill>
                  <a:srgbClr val="000000"/>
                </a:solidFill>
                <a:effectLst/>
                <a:uFillTx/>
                <a:latin typeface="Times New Roman"/>
              </a:rPr>
              <a:t>Proc. 18th IEEE Int’l Symp. Defect and Fault Tolerance in VLSI Systems</a:t>
            </a:r>
            <a:r>
              <a:rPr lang="en-US" sz="1200" b="0" u="none" strike="noStrike">
                <a:solidFill>
                  <a:srgbClr val="000000"/>
                </a:solidFill>
                <a:effectLst/>
                <a:uFillTx/>
                <a:latin typeface="Times New Roman"/>
              </a:rPr>
              <a:t>, pp. 250-256, 2003.</a:t>
            </a:r>
            <a:endParaRPr lang="en-US" sz="1200" b="0" u="none" strike="noStrike">
              <a:solidFill>
                <a:srgbClr val="000000"/>
              </a:solidFill>
              <a:effectLst/>
              <a:uFillTx/>
              <a:latin typeface="Times New Roman"/>
            </a:endParaRPr>
          </a:p>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7BBF50D1-01EB-47FC-BB2F-7C7FFE98C1DF}" type="slidenum">
              <a:t>&lt;#&gt;</a:t>
            </a:fld>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609120"/>
            <a:ext cx="777240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000000"/>
                </a:solidFill>
                <a:effectLst/>
                <a:uFillTx/>
                <a:latin typeface="Arial"/>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685800" y="1981080"/>
            <a:ext cx="7772400" cy="4114800"/>
          </a:xfrm>
          <a:prstGeom prst="rect">
            <a:avLst/>
          </a:prstGeom>
          <a:noFill/>
          <a:ln w="0">
            <a:noFill/>
          </a:ln>
        </p:spPr>
        <p:txBody>
          <a:bodyPr lIns="90000" tIns="46800" rIns="90000" bIns="46800" anchor="t">
            <a:normAutofit/>
          </a:bodyPr>
          <a:lstStyle>
            <a:lvl1pPr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1pPr>
            <a:lvl2pPr lvl="1"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2pPr>
            <a:lvl3pPr lvl="2"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3pPr>
            <a:lvl4pPr lvl="3"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4pPr>
            <a:lvl5pPr lvl="4"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5pPr>
            <a:lvl6pPr lvl="5"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6pPr>
            <a:lvl7pPr lvl="6"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7pPr>
          </a:lstStyle>
          <a:p>
            <a:pPr marL="343080" indent="-34308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743040" lvl="1" indent="-28584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143000" lvl="2"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600200" lvl="3"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057400" lvl="4"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057400" lvl="5"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2057400" lvl="6"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4" name="PlaceHolder 3"/>
          <p:cNvSpPr>
            <a:spLocks noGrp="1"/>
          </p:cNvSpPr>
          <p:nvPr>
            <p:ph type="sldNum" idx="1"/>
          </p:nvPr>
        </p:nvSpPr>
        <p:spPr>
          <a:xfrm>
            <a:off x="7467480" y="6248160"/>
            <a:ext cx="990720" cy="457200"/>
          </a:xfrm>
          <a:prstGeom prst="rect">
            <a:avLst/>
          </a:prstGeom>
          <a:noFill/>
          <a:ln w="38160">
            <a:noFill/>
          </a:ln>
        </p:spPr>
        <p:txBody>
          <a:bodyPr lIns="90000" tIns="46800" rIns="90000" bIns="46800" anchor="t">
            <a:noAutofit/>
          </a:bodyPr>
          <a:lstStyle>
            <a:lvl1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000000"/>
                </a:solidFill>
                <a:effectLst/>
                <a:uFillTx/>
                <a:latin typeface="Arial"/>
              </a:defRPr>
            </a:lvl1pPr>
          </a:lstStyle>
          <a:p>
            <a: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BD41FA7B-8637-4EFE-BCAA-79C0E4FB446E}"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wmf"/><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6.wmf"/><Relationship Id="rId2" Type="http://schemas.openxmlformats.org/officeDocument/2006/relationships/image" Target="../media/image17.wmf"/><Relationship Id="rId3" Type="http://schemas.openxmlformats.org/officeDocument/2006/relationships/slideLayout" Target="../slideLayouts/slideLayout1.xml"/><Relationship Id="rId4"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18.wmf"/><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22.wmf"/><Relationship Id="rId2" Type="http://schemas.openxmlformats.org/officeDocument/2006/relationships/slideLayout" Target="../slideLayouts/slideLayout1.xml"/><Relationship Id="rId3" Type="http://schemas.openxmlformats.org/officeDocument/2006/relationships/notesSlide" Target="../notesSlides/notesSlide4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type="title"/>
          </p:nvPr>
        </p:nvSpPr>
        <p:spPr>
          <a:xfrm>
            <a:off x="0" y="1066320"/>
            <a:ext cx="9144000" cy="10666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1" u="none" strike="noStrike">
                <a:solidFill>
                  <a:srgbClr val="CC3300"/>
                </a:solidFill>
                <a:effectLst/>
                <a:uFillTx/>
                <a:latin typeface="Arial"/>
                <a:ea typeface="Arial"/>
              </a:rPr>
              <a:t>ECE 5706: Resilient Computer System Design</a:t>
            </a:r>
            <a:endParaRPr lang="en-US" sz="4000" b="0" u="none" strike="noStrike">
              <a:solidFill>
                <a:srgbClr val="000000"/>
              </a:solidFill>
              <a:effectLst/>
              <a:uFillTx/>
              <a:latin typeface="Arial"/>
            </a:endParaRPr>
          </a:p>
        </p:txBody>
      </p:sp>
      <p:sp>
        <p:nvSpPr>
          <p:cNvPr id="13" name="AutoShape 3"/>
          <p:cNvSpPr/>
          <p:nvPr/>
        </p:nvSpPr>
        <p:spPr>
          <a:xfrm>
            <a:off x="1376280" y="1452240"/>
            <a:ext cx="6629400" cy="4218120"/>
          </a:xfrm>
          <a:prstGeom prst="rect">
            <a:avLst/>
          </a:prstGeom>
          <a:no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4" name="Text Box 6"/>
          <p:cNvSpPr/>
          <p:nvPr/>
        </p:nvSpPr>
        <p:spPr>
          <a:xfrm>
            <a:off x="2590560" y="2590560"/>
            <a:ext cx="4186440" cy="265176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Resilient Hardware Design – </a:t>
            </a:r>
            <a:r>
              <a:rPr lang="en-US" sz="2400" b="0" u="none" strike="noStrike">
                <a:solidFill>
                  <a:srgbClr val="000000"/>
                </a:solidFill>
                <a:effectLst/>
                <a:uFillTx/>
                <a:latin typeface="Arial"/>
                <a:ea typeface="宋体"/>
              </a:rPr>
              <a:t>Circuit Level</a:t>
            </a: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Xin Xin </a:t>
            </a: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Assistant Professor</a:t>
            </a: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Electrical and Computer Engineering </a:t>
            </a:r>
            <a:endParaRPr lang="en-US" sz="2400" b="0" u="none" strike="noStrike">
              <a:solidFill>
                <a:srgbClr val="000000"/>
              </a:solidFill>
              <a:effectLst/>
              <a:uFillTx/>
              <a:latin typeface="Times New Roman"/>
            </a:endParaRPr>
          </a:p>
        </p:txBody>
      </p:sp>
      <p:sp>
        <p:nvSpPr>
          <p:cNvPr id="15" name="TextBox 2"/>
          <p:cNvSpPr/>
          <p:nvPr/>
        </p:nvSpPr>
        <p:spPr>
          <a:xfrm>
            <a:off x="2604960" y="5562360"/>
            <a:ext cx="4419720" cy="119016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ACKNOWLEDGEMENT: </a:t>
            </a: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Prof. Behrooz Parhami at UCSB </a:t>
            </a:r>
            <a:endParaRPr lang="en-US" sz="2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Prof. Ronald F. DeMara at UCF</a:t>
            </a:r>
            <a:endParaRPr lang="en-US" sz="2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E0FFFBC4-1B08-4844-A561-B05C0F5D32F5}"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pic>
        <p:nvPicPr>
          <p:cNvPr id="17" name="Picture 4" descr="Fault%20Balakot"/>
          <p:cNvPicPr/>
          <p:nvPr/>
        </p:nvPicPr>
        <p:blipFill>
          <a:blip r:embed="rId1"/>
          <a:srcRect l="1250" t="1667" r="0" b="10000"/>
          <a:stretch/>
        </p:blipFill>
        <p:spPr>
          <a:xfrm>
            <a:off x="838080" y="1143000"/>
            <a:ext cx="7467480" cy="4897080"/>
          </a:xfrm>
          <a:prstGeom prst="rect">
            <a:avLst/>
          </a:prstGeom>
          <a:noFill/>
          <a:ln w="28440">
            <a:solidFill>
              <a:srgbClr val="CC6600"/>
            </a:solidFill>
            <a:miter/>
          </a:ln>
        </p:spPr>
      </p:pic>
      <p:sp>
        <p:nvSpPr>
          <p:cNvPr id="18" name="PlaceHolder 1"/>
          <p:cNvSpPr>
            <a:spLocks noGrp="1"/>
          </p:cNvSpPr>
          <p:nvPr>
            <p:ph type="title"/>
          </p:nvPr>
        </p:nvSpPr>
        <p:spPr>
          <a:xfrm>
            <a:off x="304200" y="228600"/>
            <a:ext cx="8534520" cy="9144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1" u="none" strike="noStrike">
                <a:solidFill>
                  <a:srgbClr val="0033CC"/>
                </a:solidFill>
                <a:effectLst/>
                <a:uFillTx/>
                <a:latin typeface="Arial"/>
                <a:ea typeface="Arial"/>
              </a:rPr>
              <a:t>1  Fault Testing</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2FC81D44-466E-4B11-876B-DD5CB220514C}"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0" name="Freeform 2"/>
          <p:cNvSpPr/>
          <p:nvPr/>
        </p:nvSpPr>
        <p:spPr>
          <a:xfrm>
            <a:off x="533160" y="2895480"/>
            <a:ext cx="3149640" cy="3294000"/>
          </a:xfrm>
          <a:custGeom>
            <a:avLst/>
            <a:gdLst>
              <a:gd name="GluePoint1X" fmla="*/ 2147483646 w 1984"/>
              <a:gd name="GluePoint1Y" fmla="*/ 2147483646 h 2075"/>
              <a:gd name="GluePoint2X" fmla="*/ 2147483646 w 1984"/>
              <a:gd name="GluePoint2Y" fmla="*/ 2147483646 h 2075"/>
              <a:gd name="GluePoint3X" fmla="*/ 2147483646 w 1984"/>
              <a:gd name="GluePoint3Y" fmla="*/ 2147483646 h 2075"/>
              <a:gd name="GluePoint4X" fmla="*/ 2147483646 w 1984"/>
              <a:gd name="GluePoint4Y" fmla="*/ 2147483646 h 2075"/>
              <a:gd name="GluePoint5X" fmla="*/ 2147483646 w 1984"/>
              <a:gd name="GluePoint5Y" fmla="*/ 2147483646 h 2075"/>
              <a:gd name="GluePoint6X" fmla="*/ 2147483646 w 1984"/>
              <a:gd name="GluePoint6Y" fmla="*/ 2147483646 h 2075"/>
              <a:gd name="GluePoint7X" fmla="*/ 2147483646 w 1984"/>
              <a:gd name="GluePoint7Y" fmla="*/ 2147483646 h 2075"/>
              <a:gd name="GluePoint8X" fmla="*/ 2147483646 w 1984"/>
              <a:gd name="GluePoint8Y" fmla="*/ 2147483646 h 2075"/>
              <a:gd name="GluePoint9X" fmla="*/ 2147483646 w 1984"/>
              <a:gd name="GluePoint9Y" fmla="*/ 2147483646 h 2075"/>
              <a:gd name="GluePoint10X" fmla="*/ 2147483646 w 1984"/>
              <a:gd name="GluePoint10Y" fmla="*/ 2147483646 h 2075"/>
              <a:gd name="GluePoint11X" fmla="*/ 2147483646 w 1984"/>
              <a:gd name="GluePoint11Y" fmla="*/ 2147483646 h 2075"/>
              <a:gd name="GluePoint12X" fmla="*/ 2147483646 w 1984"/>
              <a:gd name="GluePoint12Y" fmla="*/ 2147483646 h 2075"/>
              <a:gd name="GluePoint13X" fmla="*/ 2147483646 w 1984"/>
              <a:gd name="GluePoint13Y" fmla="*/ 2147483646 h 20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l" t="t" r="r" b="b"/>
            <a:pathLst>
              <a:path w="1984" h="2075">
                <a:moveTo>
                  <a:pt x="1476" y="24"/>
                </a:moveTo>
                <a:cubicBezTo>
                  <a:pt x="1567" y="48"/>
                  <a:pt x="1593" y="73"/>
                  <a:pt x="1652" y="160"/>
                </a:cubicBezTo>
                <a:cubicBezTo>
                  <a:pt x="1711" y="247"/>
                  <a:pt x="1780" y="407"/>
                  <a:pt x="1828" y="544"/>
                </a:cubicBezTo>
                <a:cubicBezTo>
                  <a:pt x="1876" y="681"/>
                  <a:pt x="1928" y="788"/>
                  <a:pt x="1940" y="984"/>
                </a:cubicBezTo>
                <a:cubicBezTo>
                  <a:pt x="1952" y="1180"/>
                  <a:pt x="1984" y="1552"/>
                  <a:pt x="1900" y="1720"/>
                </a:cubicBezTo>
                <a:cubicBezTo>
                  <a:pt x="1816" y="1888"/>
                  <a:pt x="1679" y="1936"/>
                  <a:pt x="1436" y="1992"/>
                </a:cubicBezTo>
                <a:cubicBezTo>
                  <a:pt x="1193" y="2048"/>
                  <a:pt x="667" y="2075"/>
                  <a:pt x="444" y="2056"/>
                </a:cubicBezTo>
                <a:cubicBezTo>
                  <a:pt x="221" y="2037"/>
                  <a:pt x="169" y="2011"/>
                  <a:pt x="100" y="1880"/>
                </a:cubicBezTo>
                <a:cubicBezTo>
                  <a:pt x="31" y="1749"/>
                  <a:pt x="0" y="1453"/>
                  <a:pt x="28" y="1272"/>
                </a:cubicBezTo>
                <a:cubicBezTo>
                  <a:pt x="56" y="1091"/>
                  <a:pt x="119" y="960"/>
                  <a:pt x="268" y="792"/>
                </a:cubicBezTo>
                <a:cubicBezTo>
                  <a:pt x="417" y="624"/>
                  <a:pt x="776" y="389"/>
                  <a:pt x="924" y="264"/>
                </a:cubicBezTo>
                <a:cubicBezTo>
                  <a:pt x="1072" y="139"/>
                  <a:pt x="1064" y="80"/>
                  <a:pt x="1156" y="40"/>
                </a:cubicBezTo>
                <a:cubicBezTo>
                  <a:pt x="1248" y="0"/>
                  <a:pt x="1409" y="27"/>
                  <a:pt x="1476" y="24"/>
                </a:cubicBezTo>
                <a:close/>
              </a:path>
            </a:pathLst>
          </a:custGeom>
          <a:solidFill>
            <a:srgbClr val="FFFF66"/>
          </a:solidFill>
          <a:ln w="3816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1" name="Rectangle 3"/>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pic>
        <p:nvPicPr>
          <p:cNvPr id="22" name="Picture 5"/>
          <p:cNvPicPr/>
          <p:nvPr/>
        </p:nvPicPr>
        <p:blipFill>
          <a:blip r:embed="rId1"/>
          <a:stretch/>
        </p:blipFill>
        <p:spPr>
          <a:xfrm>
            <a:off x="793440" y="177480"/>
            <a:ext cx="7772400" cy="5867640"/>
          </a:xfrm>
          <a:prstGeom prst="rect">
            <a:avLst/>
          </a:prstGeom>
          <a:noFill/>
          <a:ln w="38160">
            <a:noFill/>
          </a:ln>
        </p:spPr>
      </p:pic>
      <p:sp>
        <p:nvSpPr>
          <p:cNvPr id="23" name="Rectangle 7"/>
          <p:cNvSpPr/>
          <p:nvPr/>
        </p:nvSpPr>
        <p:spPr>
          <a:xfrm>
            <a:off x="5638680" y="4952880"/>
            <a:ext cx="1905120" cy="22860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4" name="AutoShape 8"/>
          <p:cNvSpPr/>
          <p:nvPr/>
        </p:nvSpPr>
        <p:spPr>
          <a:xfrm rot="16200000">
            <a:off x="6514920" y="4152240"/>
            <a:ext cx="228600" cy="1828800"/>
          </a:xfrm>
          <a:custGeom>
            <a:avLst/>
            <a:gdLst>
              <a:gd name="textAreaLeft" fmla="*/ 146160 w 228600"/>
              <a:gd name="textAreaRight" fmla="*/ 228960 w 228600"/>
              <a:gd name="textAreaTop" fmla="*/ 77760 h 1828800"/>
              <a:gd name="textAreaBottom" fmla="*/ 1751040 h 1828800"/>
              <a:gd name="GluePoint1X" fmla="*/ 21600 w 21600"/>
              <a:gd name="GluePoint1Y" fmla="*/ 0 h 21600"/>
              <a:gd name="GluePoint2X" fmla="*/ 0 w 21600"/>
              <a:gd name="GluePoint2Y" fmla="*/ 10800 h 21600"/>
              <a:gd name="GluePoint3X" fmla="*/ 21600 w 21600"/>
              <a:gd name="GluePoint3Y" fmla="*/ 216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21600" y="0"/>
                </a:moveTo>
                <a:cubicBezTo>
                  <a:pt x="16200" y="0"/>
                  <a:pt x="10800" y="1473"/>
                  <a:pt x="10800" y="2945"/>
                </a:cubicBezTo>
                <a:lnTo>
                  <a:pt x="10800" y="7855"/>
                </a:lnTo>
                <a:cubicBezTo>
                  <a:pt x="10800" y="9328"/>
                  <a:pt x="5400" y="10800"/>
                  <a:pt x="0" y="10800"/>
                </a:cubicBezTo>
                <a:cubicBezTo>
                  <a:pt x="5400" y="10800"/>
                  <a:pt x="10800" y="12273"/>
                  <a:pt x="10800" y="13745"/>
                </a:cubicBezTo>
                <a:lnTo>
                  <a:pt x="10800" y="18655"/>
                </a:lnTo>
                <a:cubicBezTo>
                  <a:pt x="10800" y="20128"/>
                  <a:pt x="16200" y="21600"/>
                  <a:pt x="21600" y="21600"/>
                </a:cubicBezTo>
              </a:path>
            </a:pathLst>
          </a:cu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5" name="Rectangle 15"/>
          <p:cNvSpPr/>
          <p:nvPr/>
        </p:nvSpPr>
        <p:spPr>
          <a:xfrm>
            <a:off x="2895480" y="0"/>
            <a:ext cx="3200400" cy="60948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6" name="Text Box 6"/>
          <p:cNvSpPr/>
          <p:nvPr/>
        </p:nvSpPr>
        <p:spPr>
          <a:xfrm>
            <a:off x="3888720" y="304560"/>
            <a:ext cx="1366200" cy="276840"/>
          </a:xfrm>
          <a:prstGeom prst="rect">
            <a:avLst/>
          </a:prstGeom>
          <a:solidFill>
            <a:srgbClr val="FFFFFF"/>
          </a:solid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ea typeface="Arial"/>
              </a:rPr>
              <a:t>FAULT TESTING</a:t>
            </a:r>
            <a:endParaRPr lang="en-US" sz="1200" b="0" u="none" strike="noStrike">
              <a:solidFill>
                <a:srgbClr val="000000"/>
              </a:solidFill>
              <a:effectLst/>
              <a:uFillTx/>
              <a:latin typeface="Times New Roman"/>
            </a:endParaRPr>
          </a:p>
        </p:txBody>
      </p:sp>
      <p:sp>
        <p:nvSpPr>
          <p:cNvPr id="27" name="PlaceHolder 1"/>
          <p:cNvSpPr>
            <a:spLocks noGrp="1"/>
          </p:cNvSpPr>
          <p:nvPr>
            <p:ph type="title"/>
          </p:nvPr>
        </p:nvSpPr>
        <p:spPr>
          <a:xfrm>
            <a:off x="228240" y="152280"/>
            <a:ext cx="2971800" cy="99072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A Taxonomy of Fault Testing</a:t>
            </a:r>
            <a:endParaRPr lang="en-US" sz="3200" b="0" u="none" strike="noStrike">
              <a:solidFill>
                <a:srgbClr val="000000"/>
              </a:solidFill>
              <a:effectLst/>
              <a:uFillTx/>
              <a:latin typeface="Arial"/>
            </a:endParaRPr>
          </a:p>
        </p:txBody>
      </p:sp>
      <p:sp>
        <p:nvSpPr>
          <p:cNvPr id="28" name="Text Box 14"/>
          <p:cNvSpPr/>
          <p:nvPr/>
        </p:nvSpPr>
        <p:spPr>
          <a:xfrm>
            <a:off x="6861960" y="152280"/>
            <a:ext cx="2106360" cy="733320"/>
          </a:xfrm>
          <a:prstGeom prst="rect">
            <a:avLst/>
          </a:prstGeom>
          <a:solidFill>
            <a:srgbClr val="FFFFFF"/>
          </a:solid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F0000"/>
                </a:solidFill>
                <a:effectLst/>
                <a:uFillTx/>
                <a:latin typeface="Arial"/>
                <a:ea typeface="Arial"/>
              </a:rPr>
              <a:t>Correct design?</a:t>
            </a:r>
            <a:endParaRPr lang="en-US" sz="14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F0000"/>
                </a:solidFill>
                <a:effectLst/>
                <a:uFillTx/>
                <a:latin typeface="Arial"/>
                <a:ea typeface="Arial"/>
              </a:rPr>
              <a:t>Correct implementation?</a:t>
            </a:r>
            <a:endParaRPr lang="en-US" sz="14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F0000"/>
                </a:solidFill>
                <a:effectLst/>
                <a:uFillTx/>
                <a:latin typeface="Arial"/>
                <a:ea typeface="Arial"/>
              </a:rPr>
              <a:t>Correct operation?</a:t>
            </a:r>
            <a:endParaRPr lang="en-US" sz="1400" b="0" u="none" strike="noStrike">
              <a:solidFill>
                <a:srgbClr val="000000"/>
              </a:solidFill>
              <a:effectLst/>
              <a:uFillTx/>
              <a:latin typeface="Times New Roman"/>
            </a:endParaRPr>
          </a:p>
        </p:txBody>
      </p:sp>
      <p:sp>
        <p:nvSpPr>
          <p:cNvPr id="29" name="Text Box 16"/>
          <p:cNvSpPr/>
          <p:nvPr/>
        </p:nvSpPr>
        <p:spPr>
          <a:xfrm>
            <a:off x="5564880" y="152280"/>
            <a:ext cx="1301040" cy="733320"/>
          </a:xfrm>
          <a:prstGeom prst="rect">
            <a:avLst/>
          </a:prstGeom>
          <a:solidFill>
            <a:srgbClr val="FFFFFF"/>
          </a:solidFill>
          <a:ln w="38160">
            <a:noFill/>
          </a:ln>
        </p:spPr>
        <p:style>
          <a:lnRef idx="0"/>
          <a:fillRef idx="0"/>
          <a:effectRef idx="0"/>
          <a:fontRef idx="minor"/>
        </p:style>
        <p:txBody>
          <a:bodyPr wrap="none"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33CC"/>
                </a:solidFill>
                <a:effectLst/>
                <a:uFillTx/>
                <a:latin typeface="Arial"/>
                <a:ea typeface="Arial"/>
              </a:rPr>
              <a:t>Engineering</a:t>
            </a:r>
            <a:endParaRPr lang="en-US" sz="1400" b="0" u="none" strike="noStrike">
              <a:solidFill>
                <a:srgbClr val="000000"/>
              </a:solidFill>
              <a:effectLst/>
              <a:uFillTx/>
              <a:latin typeface="Times New Roman"/>
            </a:endParaRPr>
          </a:p>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33CC"/>
                </a:solidFill>
                <a:effectLst/>
                <a:uFillTx/>
                <a:latin typeface="Arial"/>
                <a:ea typeface="Arial"/>
              </a:rPr>
              <a:t>Manufacturing</a:t>
            </a:r>
            <a:endParaRPr lang="en-US" sz="1400" b="0" u="none" strike="noStrike">
              <a:solidFill>
                <a:srgbClr val="000000"/>
              </a:solidFill>
              <a:effectLst/>
              <a:uFillTx/>
              <a:latin typeface="Times New Roman"/>
            </a:endParaRPr>
          </a:p>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33CC"/>
                </a:solidFill>
                <a:effectLst/>
                <a:uFillTx/>
                <a:latin typeface="Arial"/>
                <a:ea typeface="Arial"/>
              </a:rPr>
              <a:t>Maintenance</a:t>
            </a:r>
            <a:endParaRPr lang="en-US" sz="1400" b="0" u="none" strike="noStrike">
              <a:solidFill>
                <a:srgbClr val="000000"/>
              </a:solidFill>
              <a:effectLst/>
              <a:uFillTx/>
              <a:latin typeface="Times New Roman"/>
            </a:endParaRPr>
          </a:p>
        </p:txBody>
      </p:sp>
      <p:sp>
        <p:nvSpPr>
          <p:cNvPr id="30" name="Text Box 17"/>
          <p:cNvSpPr/>
          <p:nvPr/>
        </p:nvSpPr>
        <p:spPr>
          <a:xfrm>
            <a:off x="6062040" y="5206680"/>
            <a:ext cx="996120" cy="245880"/>
          </a:xfrm>
          <a:prstGeom prst="rect">
            <a:avLst/>
          </a:prstGeom>
          <a:solidFill>
            <a:srgbClr val="FFFFFF"/>
          </a:solid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000000"/>
                </a:solidFill>
                <a:effectLst/>
                <a:uFillTx/>
                <a:latin typeface="Arial"/>
                <a:ea typeface="Arial"/>
              </a:rPr>
              <a:t>Off-line testing</a:t>
            </a:r>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A3EFFD8B-9417-4682-9185-0204DA3E93A6}"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32"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33" name="PlaceHolder 1"/>
          <p:cNvSpPr>
            <a:spLocks noGrp="1"/>
          </p:cNvSpPr>
          <p:nvPr>
            <p:ph type="title"/>
          </p:nvPr>
        </p:nvSpPr>
        <p:spPr>
          <a:xfrm>
            <a:off x="685800" y="228240"/>
            <a:ext cx="77724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Requirements and Setup for Testing</a:t>
            </a:r>
            <a:endParaRPr lang="en-US" sz="3200" b="0" u="none" strike="noStrike">
              <a:solidFill>
                <a:srgbClr val="000000"/>
              </a:solidFill>
              <a:effectLst/>
              <a:uFillTx/>
              <a:latin typeface="Arial"/>
            </a:endParaRPr>
          </a:p>
        </p:txBody>
      </p:sp>
      <p:sp>
        <p:nvSpPr>
          <p:cNvPr id="34" name="Text Box 4"/>
          <p:cNvSpPr/>
          <p:nvPr/>
        </p:nvSpPr>
        <p:spPr>
          <a:xfrm>
            <a:off x="5410080" y="990360"/>
            <a:ext cx="213372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Reference value</a:t>
            </a:r>
            <a:endParaRPr lang="en-US" sz="1800" b="0" u="none" strike="noStrike">
              <a:solidFill>
                <a:srgbClr val="000000"/>
              </a:solidFill>
              <a:effectLst/>
              <a:uFillTx/>
              <a:latin typeface="Times New Roman"/>
            </a:endParaRPr>
          </a:p>
        </p:txBody>
      </p:sp>
      <p:sp>
        <p:nvSpPr>
          <p:cNvPr id="35" name="Rectangle 5"/>
          <p:cNvSpPr/>
          <p:nvPr/>
        </p:nvSpPr>
        <p:spPr>
          <a:xfrm>
            <a:off x="838080" y="1447560"/>
            <a:ext cx="1447920" cy="121932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Test pattern</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source</a:t>
            </a:r>
            <a:endParaRPr lang="en-US" sz="1800" b="0" u="none" strike="noStrike">
              <a:solidFill>
                <a:srgbClr val="000000"/>
              </a:solidFill>
              <a:effectLst/>
              <a:uFillTx/>
              <a:latin typeface="Times New Roman"/>
            </a:endParaRPr>
          </a:p>
        </p:txBody>
      </p:sp>
      <p:sp>
        <p:nvSpPr>
          <p:cNvPr id="36" name="Rectangle 6"/>
          <p:cNvSpPr/>
          <p:nvPr/>
        </p:nvSpPr>
        <p:spPr>
          <a:xfrm>
            <a:off x="2971800" y="1447560"/>
            <a:ext cx="2057400" cy="121932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Circuit under test</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(CUT)</a:t>
            </a:r>
            <a:endParaRPr lang="en-US" sz="1800" b="0" u="none" strike="noStrike">
              <a:solidFill>
                <a:srgbClr val="000000"/>
              </a:solidFill>
              <a:effectLst/>
              <a:uFillTx/>
              <a:latin typeface="Times New Roman"/>
            </a:endParaRPr>
          </a:p>
        </p:txBody>
      </p:sp>
      <p:sp>
        <p:nvSpPr>
          <p:cNvPr id="37" name="Rectangle 7"/>
          <p:cNvSpPr/>
          <p:nvPr/>
        </p:nvSpPr>
        <p:spPr>
          <a:xfrm>
            <a:off x="5715000" y="1752480"/>
            <a:ext cx="1447560" cy="60948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Comparator</a:t>
            </a:r>
            <a:endParaRPr lang="en-US" sz="1800" b="0" u="none" strike="noStrike">
              <a:solidFill>
                <a:srgbClr val="000000"/>
              </a:solidFill>
              <a:effectLst/>
              <a:uFillTx/>
              <a:latin typeface="Times New Roman"/>
            </a:endParaRPr>
          </a:p>
        </p:txBody>
      </p:sp>
      <p:sp>
        <p:nvSpPr>
          <p:cNvPr id="38" name="Line 8"/>
          <p:cNvSpPr/>
          <p:nvPr/>
        </p:nvSpPr>
        <p:spPr>
          <a:xfrm>
            <a:off x="6400800" y="1295280"/>
            <a:ext cx="0" cy="45720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9" name="Line 9"/>
          <p:cNvSpPr/>
          <p:nvPr/>
        </p:nvSpPr>
        <p:spPr>
          <a:xfrm>
            <a:off x="2286000" y="2057400"/>
            <a:ext cx="6858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 name="Line 10"/>
          <p:cNvSpPr/>
          <p:nvPr/>
        </p:nvSpPr>
        <p:spPr>
          <a:xfrm>
            <a:off x="5029200" y="2057400"/>
            <a:ext cx="6858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1" name="Line 11"/>
          <p:cNvSpPr/>
          <p:nvPr/>
        </p:nvSpPr>
        <p:spPr>
          <a:xfrm>
            <a:off x="7162560" y="2057400"/>
            <a:ext cx="4572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2" name="Text Box 12"/>
          <p:cNvSpPr/>
          <p:nvPr/>
        </p:nvSpPr>
        <p:spPr>
          <a:xfrm>
            <a:off x="7315200" y="2057400"/>
            <a:ext cx="121896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Pass/Fail</a:t>
            </a:r>
            <a:endParaRPr lang="en-US" sz="1800" b="0" u="none" strike="noStrike">
              <a:solidFill>
                <a:srgbClr val="000000"/>
              </a:solidFill>
              <a:effectLst/>
              <a:uFillTx/>
              <a:latin typeface="Times New Roman"/>
            </a:endParaRPr>
          </a:p>
        </p:txBody>
      </p:sp>
      <p:grpSp>
        <p:nvGrpSpPr>
          <p:cNvPr id="43" name="Group 13"/>
          <p:cNvGrpSpPr/>
          <p:nvPr/>
        </p:nvGrpSpPr>
        <p:grpSpPr>
          <a:xfrm>
            <a:off x="761760" y="2438280"/>
            <a:ext cx="7848720" cy="1160280"/>
            <a:chOff x="761760" y="2438280"/>
            <a:chExt cx="7848720" cy="1160280"/>
          </a:xfrm>
        </p:grpSpPr>
        <p:sp>
          <p:nvSpPr>
            <p:cNvPr id="44" name="Text Box 14"/>
            <p:cNvSpPr/>
            <p:nvPr/>
          </p:nvSpPr>
          <p:spPr>
            <a:xfrm>
              <a:off x="761760" y="2895480"/>
              <a:ext cx="78487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Testability requires </a:t>
              </a:r>
              <a:r>
                <a:rPr lang="en-US" sz="2000" b="1" u="none" strike="noStrike">
                  <a:solidFill>
                    <a:srgbClr val="FF0000"/>
                  </a:solidFill>
                  <a:effectLst/>
                  <a:uFillTx/>
                  <a:latin typeface="Arial"/>
                  <a:ea typeface="Times New Roman"/>
                </a:rPr>
                <a:t>controllability</a:t>
              </a:r>
              <a:r>
                <a:rPr lang="en-US" sz="2000" b="0" u="none" strike="noStrike">
                  <a:solidFill>
                    <a:srgbClr val="000000"/>
                  </a:solidFill>
                  <a:effectLst/>
                  <a:uFillTx/>
                  <a:latin typeface="Arial"/>
                  <a:ea typeface="Times New Roman"/>
                </a:rPr>
                <a:t> and </a:t>
              </a:r>
              <a:r>
                <a:rPr lang="en-US" sz="2000" b="1" u="none" strike="noStrike">
                  <a:solidFill>
                    <a:srgbClr val="0033CC"/>
                  </a:solidFill>
                  <a:effectLst/>
                  <a:uFillTx/>
                  <a:latin typeface="Arial"/>
                  <a:ea typeface="Times New Roman"/>
                </a:rPr>
                <a:t>observability</a:t>
              </a:r>
              <a:r>
                <a:rPr lang="en-US" sz="2000" b="0" u="none" strike="noStrike">
                  <a:solidFill>
                    <a:srgbClr val="0033CC"/>
                  </a:solidFill>
                  <a:effectLst/>
                  <a:uFillTx/>
                  <a:latin typeface="Arial"/>
                  <a:ea typeface="Times New Roman"/>
                </a:rPr>
                <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(redundancy may reduce testability if we are not careful; e.g., TMR)</a:t>
              </a:r>
              <a:endParaRPr lang="en-US" sz="2000" b="0" u="none" strike="noStrike">
                <a:solidFill>
                  <a:srgbClr val="000000"/>
                </a:solidFill>
                <a:effectLst/>
                <a:uFillTx/>
                <a:latin typeface="Times New Roman"/>
              </a:endParaRPr>
            </a:p>
          </p:txBody>
        </p:sp>
        <p:sp>
          <p:nvSpPr>
            <p:cNvPr id="45" name="Oval 15"/>
            <p:cNvSpPr/>
            <p:nvPr/>
          </p:nvSpPr>
          <p:spPr>
            <a:xfrm>
              <a:off x="3886200" y="2438280"/>
              <a:ext cx="152280" cy="152280"/>
            </a:xfrm>
            <a:prstGeom prst="ellipse">
              <a:avLst/>
            </a:prstGeom>
            <a:solidFill>
              <a:srgbClr val="00FF00"/>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sp>
        <p:nvSpPr>
          <p:cNvPr id="46" name="Freeform 16"/>
          <p:cNvSpPr/>
          <p:nvPr/>
        </p:nvSpPr>
        <p:spPr>
          <a:xfrm>
            <a:off x="2971800" y="2031840"/>
            <a:ext cx="914400" cy="571320"/>
          </a:xfrm>
          <a:custGeom>
            <a:avLst/>
            <a:gdLst>
              <a:gd name="GluePoint1X" fmla="*/ 0 w 576"/>
              <a:gd name="GluePoint1Y" fmla="*/ 2147483646 h 360"/>
              <a:gd name="GluePoint2X" fmla="*/ 2147483646 w 576"/>
              <a:gd name="GluePoint2Y" fmla="*/ 2147483646 h 360"/>
              <a:gd name="GluePoint3X" fmla="*/ 2147483646 w 576"/>
              <a:gd name="GluePoint3Y" fmla="*/ 2147483646 h 360"/>
              <a:gd name="GluePoint4X" fmla="*/ 2147483646 w 576"/>
              <a:gd name="GluePoint4Y" fmla="*/ 2147483646 h 360"/>
              <a:gd name="GluePoint5X" fmla="*/ 2147483646 w 576"/>
              <a:gd name="GluePoint5Y" fmla="*/ 2147483646 h 360"/>
              <a:gd name="GluePoint6X" fmla="*/ 2147483646 w 576"/>
              <a:gd name="GluePoint6Y" fmla="*/ 2147483646 h 360"/>
              <a:gd name="GluePoint7X" fmla="*/ 2147483646 w 576"/>
              <a:gd name="GluePoint7Y" fmla="*/ 2147483646 h 360"/>
              <a:gd name="GluePoint8X" fmla="*/ 2147483646 w 576"/>
              <a:gd name="GluePoint8Y" fmla="*/ 2147483646 h 360"/>
              <a:gd name="GluePoint9X" fmla="*/ 2147483646 w 576"/>
              <a:gd name="GluePoint9Y" fmla="*/ 2147483646 h 360"/>
              <a:gd name="GluePoint10X" fmla="*/ 2147483646 w 576"/>
              <a:gd name="GluePoint10Y" fmla="*/ 2147483646 h 3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576" h="360">
                <a:moveTo>
                  <a:pt x="0" y="16"/>
                </a:moveTo>
                <a:cubicBezTo>
                  <a:pt x="15" y="16"/>
                  <a:pt x="64" y="0"/>
                  <a:pt x="88" y="16"/>
                </a:cubicBezTo>
                <a:cubicBezTo>
                  <a:pt x="112" y="32"/>
                  <a:pt x="119" y="96"/>
                  <a:pt x="144" y="112"/>
                </a:cubicBezTo>
                <a:cubicBezTo>
                  <a:pt x="169" y="128"/>
                  <a:pt x="232" y="88"/>
                  <a:pt x="240" y="112"/>
                </a:cubicBezTo>
                <a:cubicBezTo>
                  <a:pt x="248" y="136"/>
                  <a:pt x="168" y="240"/>
                  <a:pt x="192" y="256"/>
                </a:cubicBezTo>
                <a:cubicBezTo>
                  <a:pt x="216" y="272"/>
                  <a:pt x="344" y="208"/>
                  <a:pt x="384" y="208"/>
                </a:cubicBezTo>
                <a:cubicBezTo>
                  <a:pt x="424" y="208"/>
                  <a:pt x="424" y="232"/>
                  <a:pt x="432" y="256"/>
                </a:cubicBezTo>
                <a:cubicBezTo>
                  <a:pt x="440" y="280"/>
                  <a:pt x="416" y="344"/>
                  <a:pt x="432" y="352"/>
                </a:cubicBezTo>
                <a:cubicBezTo>
                  <a:pt x="448" y="360"/>
                  <a:pt x="504" y="312"/>
                  <a:pt x="528" y="304"/>
                </a:cubicBezTo>
                <a:cubicBezTo>
                  <a:pt x="552" y="296"/>
                  <a:pt x="568" y="304"/>
                  <a:pt x="576" y="304"/>
                </a:cubicBezTo>
              </a:path>
            </a:pathLst>
          </a:custGeom>
          <a:noFill/>
          <a:ln w="18720">
            <a:solidFill>
              <a:srgbClr val="FF0000"/>
            </a:solidFill>
            <a:prstDash val="dash"/>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7" name="Freeform 17"/>
          <p:cNvSpPr/>
          <p:nvPr/>
        </p:nvSpPr>
        <p:spPr>
          <a:xfrm>
            <a:off x="4038480" y="2033280"/>
            <a:ext cx="990720" cy="574920"/>
          </a:xfrm>
          <a:custGeom>
            <a:avLst/>
            <a:gdLst>
              <a:gd name="GluePoint1X" fmla="*/ 0 w 624"/>
              <a:gd name="GluePoint1Y" fmla="*/ 2147483646 h 362"/>
              <a:gd name="GluePoint2X" fmla="*/ 2147483646 w 624"/>
              <a:gd name="GluePoint2Y" fmla="*/ 2147483646 h 362"/>
              <a:gd name="GluePoint3X" fmla="*/ 2147483646 w 624"/>
              <a:gd name="GluePoint3Y" fmla="*/ 2147483646 h 362"/>
              <a:gd name="GluePoint4X" fmla="*/ 2147483646 w 624"/>
              <a:gd name="GluePoint4Y" fmla="*/ 2147483646 h 362"/>
              <a:gd name="GluePoint5X" fmla="*/ 2147483646 w 624"/>
              <a:gd name="GluePoint5Y" fmla="*/ 2147483646 h 362"/>
              <a:gd name="GluePoint6X" fmla="*/ 2147483646 w 624"/>
              <a:gd name="GluePoint6Y" fmla="*/ 2147483646 h 362"/>
              <a:gd name="GluePoint7X" fmla="*/ 2147483646 w 624"/>
              <a:gd name="GluePoint7Y" fmla="*/ 2147483646 h 362"/>
              <a:gd name="GluePoint8X" fmla="*/ 2147483646 w 624"/>
              <a:gd name="GluePoint8Y" fmla="*/ 2147483646 h 362"/>
              <a:gd name="GluePoint9X" fmla="*/ 2147483646 w 624"/>
              <a:gd name="GluePoint9Y" fmla="*/ 2147483646 h 362"/>
              <a:gd name="GluePoint10X" fmla="*/ 2147483646 w 624"/>
              <a:gd name="GluePoint10Y" fmla="*/ 2147483646 h 3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624" h="362">
                <a:moveTo>
                  <a:pt x="0" y="303"/>
                </a:moveTo>
                <a:cubicBezTo>
                  <a:pt x="60" y="275"/>
                  <a:pt x="116" y="247"/>
                  <a:pt x="144" y="255"/>
                </a:cubicBezTo>
                <a:cubicBezTo>
                  <a:pt x="172" y="263"/>
                  <a:pt x="151" y="340"/>
                  <a:pt x="168" y="351"/>
                </a:cubicBezTo>
                <a:cubicBezTo>
                  <a:pt x="185" y="362"/>
                  <a:pt x="220" y="343"/>
                  <a:pt x="248" y="319"/>
                </a:cubicBezTo>
                <a:cubicBezTo>
                  <a:pt x="276" y="295"/>
                  <a:pt x="312" y="235"/>
                  <a:pt x="336" y="207"/>
                </a:cubicBezTo>
                <a:cubicBezTo>
                  <a:pt x="360" y="179"/>
                  <a:pt x="376" y="139"/>
                  <a:pt x="392" y="151"/>
                </a:cubicBezTo>
                <a:cubicBezTo>
                  <a:pt x="408" y="163"/>
                  <a:pt x="413" y="263"/>
                  <a:pt x="432" y="279"/>
                </a:cubicBezTo>
                <a:cubicBezTo>
                  <a:pt x="451" y="295"/>
                  <a:pt x="493" y="287"/>
                  <a:pt x="504" y="247"/>
                </a:cubicBezTo>
                <a:cubicBezTo>
                  <a:pt x="515" y="207"/>
                  <a:pt x="476" y="78"/>
                  <a:pt x="496" y="39"/>
                </a:cubicBezTo>
                <a:cubicBezTo>
                  <a:pt x="516" y="0"/>
                  <a:pt x="597" y="20"/>
                  <a:pt x="624" y="15"/>
                </a:cubicBezTo>
              </a:path>
            </a:pathLst>
          </a:custGeom>
          <a:noFill/>
          <a:ln w="18720">
            <a:solidFill>
              <a:srgbClr val="0033CC"/>
            </a:solidFill>
            <a:prstDash val="dash"/>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8" name="Text Box 18"/>
          <p:cNvSpPr/>
          <p:nvPr/>
        </p:nvSpPr>
        <p:spPr>
          <a:xfrm>
            <a:off x="761760" y="3733560"/>
            <a:ext cx="75438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Reference value can come from a “gold” version or from a table</a:t>
            </a:r>
            <a:endParaRPr lang="en-US" sz="2000" b="0" u="none" strike="noStrike">
              <a:solidFill>
                <a:srgbClr val="000000"/>
              </a:solidFill>
              <a:effectLst/>
              <a:uFillTx/>
              <a:latin typeface="Times New Roman"/>
            </a:endParaRPr>
          </a:p>
        </p:txBody>
      </p:sp>
      <p:sp>
        <p:nvSpPr>
          <p:cNvPr id="49" name="Text Box 19"/>
          <p:cNvSpPr/>
          <p:nvPr/>
        </p:nvSpPr>
        <p:spPr>
          <a:xfrm>
            <a:off x="761760" y="4267080"/>
            <a:ext cx="792504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Test patterns may be randomly generated, come from a preset list, or be selected according to previous test outcomes</a:t>
            </a:r>
            <a:endParaRPr lang="en-US" sz="2000" b="0" u="none" strike="noStrike">
              <a:solidFill>
                <a:srgbClr val="000000"/>
              </a:solidFill>
              <a:effectLst/>
              <a:uFillTx/>
              <a:latin typeface="Times New Roman"/>
            </a:endParaRPr>
          </a:p>
        </p:txBody>
      </p:sp>
      <p:sp>
        <p:nvSpPr>
          <p:cNvPr id="50" name="Text Box 20"/>
          <p:cNvSpPr/>
          <p:nvPr/>
        </p:nvSpPr>
        <p:spPr>
          <a:xfrm>
            <a:off x="761760" y="5105160"/>
            <a:ext cx="792504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Test results may be compressed into a “signature” before comparing</a:t>
            </a:r>
            <a:endParaRPr lang="en-US" sz="2000" b="0" u="none" strike="noStrike">
              <a:solidFill>
                <a:srgbClr val="000000"/>
              </a:solidFill>
              <a:effectLst/>
              <a:uFillTx/>
              <a:latin typeface="Times New Roman"/>
            </a:endParaRPr>
          </a:p>
        </p:txBody>
      </p:sp>
      <p:sp>
        <p:nvSpPr>
          <p:cNvPr id="51" name="Text Box 21"/>
          <p:cNvSpPr/>
          <p:nvPr/>
        </p:nvSpPr>
        <p:spPr>
          <a:xfrm>
            <a:off x="761760" y="5638680"/>
            <a:ext cx="792504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Test application may be off-line or on-line (concurrent)</a:t>
            </a:r>
            <a:endParaRPr lang="en-US" sz="2000" b="0" u="none" strike="noStrike">
              <a:solidFill>
                <a:srgbClr val="000000"/>
              </a:solidFill>
              <a:effectLst/>
              <a:uFillTx/>
              <a:latin typeface="Times New Roman"/>
            </a:endParaRPr>
          </a:p>
        </p:txBody>
      </p:sp>
      <p:sp>
        <p:nvSpPr>
          <p:cNvPr id="52" name="Text Box 22"/>
          <p:cNvSpPr/>
          <p:nvPr/>
        </p:nvSpPr>
        <p:spPr>
          <a:xfrm>
            <a:off x="2590560" y="914400"/>
            <a:ext cx="2971800" cy="520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ea typeface="Times New Roman"/>
              </a:rPr>
              <a:t>Easier to test if direct access to </a:t>
            </a:r>
            <a:endParaRPr lang="en-US" sz="14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ea typeface="Times New Roman"/>
              </a:rPr>
              <a:t>some inner points is possible</a:t>
            </a:r>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5E67B062-0E93-441C-B617-DE0DD79921B7}"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54"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55" name="PlaceHolder 1"/>
          <p:cNvSpPr>
            <a:spLocks noGrp="1"/>
          </p:cNvSpPr>
          <p:nvPr>
            <p:ph type="title"/>
          </p:nvPr>
        </p:nvSpPr>
        <p:spPr>
          <a:xfrm>
            <a:off x="685800" y="228240"/>
            <a:ext cx="77724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Importance and Limitations of Testing</a:t>
            </a:r>
            <a:endParaRPr lang="en-US" sz="3200" b="0" u="none" strike="noStrike">
              <a:solidFill>
                <a:srgbClr val="000000"/>
              </a:solidFill>
              <a:effectLst/>
              <a:uFillTx/>
              <a:latin typeface="Arial"/>
            </a:endParaRPr>
          </a:p>
        </p:txBody>
      </p:sp>
      <p:sp>
        <p:nvSpPr>
          <p:cNvPr id="56" name="Text Box 4"/>
          <p:cNvSpPr/>
          <p:nvPr/>
        </p:nvSpPr>
        <p:spPr>
          <a:xfrm>
            <a:off x="609480" y="4190760"/>
            <a:ext cx="7848720" cy="1768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“Trying to improve software quality by increasing the amount of testing is like trying to lose weight by weighing yourself more often.”</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Steve C. McConnell</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“Program testing can be used to show the presence of bugs,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but never to show their absence!”  Edsger W. Dijkstra</a:t>
            </a:r>
            <a:endParaRPr lang="en-US" sz="2000" b="0" u="none" strike="noStrike">
              <a:solidFill>
                <a:srgbClr val="000000"/>
              </a:solidFill>
              <a:effectLst/>
              <a:uFillTx/>
              <a:latin typeface="Times New Roman"/>
            </a:endParaRPr>
          </a:p>
        </p:txBody>
      </p:sp>
      <p:sp>
        <p:nvSpPr>
          <p:cNvPr id="57" name="Text Box 5"/>
          <p:cNvSpPr/>
          <p:nvPr/>
        </p:nvSpPr>
        <p:spPr>
          <a:xfrm>
            <a:off x="609480" y="3200400"/>
            <a:ext cx="792468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Test coverage may be well below 100% (model inaccuracies and impossibility of dealing with all combinations of the modeled faults)</a:t>
            </a:r>
            <a:endParaRPr lang="en-US" sz="2000" b="0" u="none" strike="noStrike">
              <a:solidFill>
                <a:srgbClr val="000000"/>
              </a:solidFill>
              <a:effectLst/>
              <a:uFillTx/>
              <a:latin typeface="Times New Roman"/>
            </a:endParaRPr>
          </a:p>
        </p:txBody>
      </p:sp>
      <p:sp>
        <p:nvSpPr>
          <p:cNvPr id="58" name="Text Box 6"/>
          <p:cNvSpPr/>
          <p:nvPr/>
        </p:nvSpPr>
        <p:spPr>
          <a:xfrm>
            <a:off x="609480" y="990360"/>
            <a:ext cx="7848720" cy="19213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2286000" algn="dec"/>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Important to detect faults as early as possible</a:t>
            </a:r>
            <a:endParaRPr lang="en-US" sz="2000" b="0" u="none" strike="noStrike">
              <a:solidFill>
                <a:srgbClr val="000000"/>
              </a:solidFill>
              <a:effectLst/>
              <a:uFillTx/>
              <a:latin typeface="Times New Roman"/>
            </a:endParaRPr>
          </a:p>
          <a:p>
            <a:pPr>
              <a:lnSpc>
                <a:spcPct val="100000"/>
              </a:lnSpc>
              <a:tabLst>
                <a:tab pos="0" algn="l"/>
                <a:tab pos="2286000" algn="dec"/>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Approximate cost of catching a fault at various levels</a:t>
            </a:r>
            <a:endParaRPr lang="en-US" sz="2000" b="0" u="none" strike="noStrike">
              <a:solidFill>
                <a:srgbClr val="000000"/>
              </a:solidFill>
              <a:effectLst/>
              <a:uFillTx/>
              <a:latin typeface="Times New Roman"/>
            </a:endParaRPr>
          </a:p>
          <a:p>
            <a:pPr>
              <a:lnSpc>
                <a:spcPct val="100000"/>
              </a:lnSpc>
              <a:tabLst>
                <a:tab pos="0" algn="l"/>
                <a:tab pos="2286000" algn="dec"/>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Component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$1</a:t>
            </a:r>
            <a:endParaRPr lang="en-US" sz="2000" b="0" u="none" strike="noStrike">
              <a:solidFill>
                <a:srgbClr val="000000"/>
              </a:solidFill>
              <a:effectLst/>
              <a:uFillTx/>
              <a:latin typeface="Times New Roman"/>
            </a:endParaRPr>
          </a:p>
          <a:p>
            <a:pPr>
              <a:lnSpc>
                <a:spcPct val="100000"/>
              </a:lnSpc>
              <a:tabLst>
                <a:tab pos="0" algn="l"/>
                <a:tab pos="2286000" algn="dec"/>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Board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$10</a:t>
            </a:r>
            <a:endParaRPr lang="en-US" sz="2000" b="0" u="none" strike="noStrike">
              <a:solidFill>
                <a:srgbClr val="000000"/>
              </a:solidFill>
              <a:effectLst/>
              <a:uFillTx/>
              <a:latin typeface="Times New Roman"/>
            </a:endParaRPr>
          </a:p>
          <a:p>
            <a:pPr>
              <a:lnSpc>
                <a:spcPct val="100000"/>
              </a:lnSpc>
              <a:tabLst>
                <a:tab pos="0" algn="l"/>
                <a:tab pos="2286000" algn="dec"/>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System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$100</a:t>
            </a:r>
            <a:endParaRPr lang="en-US" sz="2000" b="0" u="none" strike="noStrike">
              <a:solidFill>
                <a:srgbClr val="000000"/>
              </a:solidFill>
              <a:effectLst/>
              <a:uFillTx/>
              <a:latin typeface="Times New Roman"/>
            </a:endParaRPr>
          </a:p>
          <a:p>
            <a:pPr>
              <a:lnSpc>
                <a:spcPct val="100000"/>
              </a:lnSpc>
              <a:tabLst>
                <a:tab pos="0" algn="l"/>
                <a:tab pos="2286000" algn="dec"/>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Field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$1000</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D57C409A-0ABA-464F-BCEA-962CDCAC6F5C}"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60"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61" name="PlaceHolder 1"/>
          <p:cNvSpPr>
            <a:spLocks noGrp="1"/>
          </p:cNvSpPr>
          <p:nvPr>
            <p:ph type="title"/>
          </p:nvPr>
        </p:nvSpPr>
        <p:spPr>
          <a:xfrm>
            <a:off x="304200" y="228240"/>
            <a:ext cx="853452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Fault Models at Different Abstraction Levels</a:t>
            </a:r>
            <a:endParaRPr lang="en-US" sz="3200" b="0" u="none" strike="noStrike">
              <a:solidFill>
                <a:srgbClr val="000000"/>
              </a:solidFill>
              <a:effectLst/>
              <a:uFillTx/>
              <a:latin typeface="Arial"/>
            </a:endParaRPr>
          </a:p>
        </p:txBody>
      </p:sp>
      <p:sp>
        <p:nvSpPr>
          <p:cNvPr id="62" name="Text Box 4"/>
          <p:cNvSpPr/>
          <p:nvPr/>
        </p:nvSpPr>
        <p:spPr>
          <a:xfrm>
            <a:off x="609480" y="990360"/>
            <a:ext cx="8077320" cy="11595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Fault model is an abstract specification of the types of deviations in logic values that one expects in the circuit under test</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Can be specified at various levels: transistor, </a:t>
            </a:r>
            <a:r>
              <a:rPr lang="en-US" sz="2000" b="1" u="none" strike="noStrike">
                <a:solidFill>
                  <a:srgbClr val="FF0000"/>
                </a:solidFill>
                <a:effectLst/>
                <a:uFillTx/>
                <a:latin typeface="Arial"/>
                <a:ea typeface="Times New Roman"/>
              </a:rPr>
              <a:t>gate</a:t>
            </a:r>
            <a:r>
              <a:rPr lang="en-US" sz="2000" b="0" u="none" strike="noStrike">
                <a:solidFill>
                  <a:srgbClr val="000000"/>
                </a:solidFill>
                <a:effectLst/>
                <a:uFillTx/>
                <a:latin typeface="Arial"/>
                <a:ea typeface="Times New Roman"/>
              </a:rPr>
              <a:t>, function, system</a:t>
            </a:r>
            <a:endParaRPr lang="en-US" sz="2000" b="0" u="none" strike="noStrike">
              <a:solidFill>
                <a:srgbClr val="000000"/>
              </a:solidFill>
              <a:effectLst/>
              <a:uFillTx/>
              <a:latin typeface="Times New Roman"/>
            </a:endParaRPr>
          </a:p>
        </p:txBody>
      </p:sp>
      <p:sp>
        <p:nvSpPr>
          <p:cNvPr id="63" name="Text Box 5"/>
          <p:cNvSpPr/>
          <p:nvPr/>
        </p:nvSpPr>
        <p:spPr>
          <a:xfrm>
            <a:off x="609480" y="2361960"/>
            <a:ext cx="8077320" cy="16167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Transistor-level faults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Caused by defects, shorts/opens, electromigration, transients, . .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May lead to high current, incorrect output, intermediate voltage, . .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Modeled as stuck-on/off, bridging, delay, coupling, crosstalk faults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Quickly become intractable because of the large model space</a:t>
            </a:r>
            <a:endParaRPr lang="en-US" sz="2000" b="0" u="none" strike="noStrike">
              <a:solidFill>
                <a:srgbClr val="000000"/>
              </a:solidFill>
              <a:effectLst/>
              <a:uFillTx/>
              <a:latin typeface="Times New Roman"/>
            </a:endParaRPr>
          </a:p>
        </p:txBody>
      </p:sp>
      <p:sp>
        <p:nvSpPr>
          <p:cNvPr id="64" name="Text Box 6"/>
          <p:cNvSpPr/>
          <p:nvPr/>
        </p:nvSpPr>
        <p:spPr>
          <a:xfrm>
            <a:off x="609480" y="4114800"/>
            <a:ext cx="807732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Function-level faults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Selected in an ad hoc manner based on the function of a block</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(decoder, ALU, memory)</a:t>
            </a:r>
            <a:endParaRPr lang="en-US" sz="2000" b="0" u="none" strike="noStrike">
              <a:solidFill>
                <a:srgbClr val="000000"/>
              </a:solidFill>
              <a:effectLst/>
              <a:uFillTx/>
              <a:latin typeface="Times New Roman"/>
            </a:endParaRPr>
          </a:p>
        </p:txBody>
      </p:sp>
      <p:sp>
        <p:nvSpPr>
          <p:cNvPr id="65" name="Text Box 7"/>
          <p:cNvSpPr/>
          <p:nvPr/>
        </p:nvSpPr>
        <p:spPr>
          <a:xfrm>
            <a:off x="609480" y="5257800"/>
            <a:ext cx="80773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System-level faults (malfunctions, in our terminology)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Will discuss in future lectures</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26639C05-D65A-42A1-92A8-AFE584A80F52}"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67"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68"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Gate- or Logic-Level Fault Models</a:t>
            </a:r>
            <a:endParaRPr lang="en-US" sz="3200" b="0" u="none" strike="noStrike">
              <a:solidFill>
                <a:srgbClr val="000000"/>
              </a:solidFill>
              <a:effectLst/>
              <a:uFillTx/>
              <a:latin typeface="Arial"/>
            </a:endParaRPr>
          </a:p>
        </p:txBody>
      </p:sp>
      <p:sp>
        <p:nvSpPr>
          <p:cNvPr id="69" name="Text Box 4"/>
          <p:cNvSpPr/>
          <p:nvPr/>
        </p:nvSpPr>
        <p:spPr>
          <a:xfrm>
            <a:off x="609480" y="990360"/>
            <a:ext cx="807732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Most popular models (due to their accuracy and relative tractability)</a:t>
            </a:r>
            <a:endParaRPr lang="en-US" sz="2000" b="0" u="none" strike="noStrike">
              <a:solidFill>
                <a:srgbClr val="000000"/>
              </a:solidFill>
              <a:effectLst/>
              <a:uFillTx/>
              <a:latin typeface="Times New Roman"/>
            </a:endParaRPr>
          </a:p>
        </p:txBody>
      </p:sp>
      <p:sp>
        <p:nvSpPr>
          <p:cNvPr id="70" name="Text Box 5"/>
          <p:cNvSpPr/>
          <p:nvPr/>
        </p:nvSpPr>
        <p:spPr>
          <a:xfrm>
            <a:off x="609480" y="1523880"/>
            <a:ext cx="350532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8000"/>
                </a:solidFill>
                <a:effectLst/>
                <a:uFillTx/>
                <a:latin typeface="Arial"/>
                <a:ea typeface="Times New Roman"/>
              </a:rPr>
              <a:t>Line stuck faults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8000"/>
                </a:solidFill>
                <a:effectLst/>
                <a:uFillTx/>
                <a:latin typeface="Arial"/>
                <a:ea typeface="Times New Roman"/>
              </a:rPr>
              <a:t>    Stuck-at-0 (s-a-0)</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8000"/>
                </a:solidFill>
                <a:effectLst/>
                <a:uFillTx/>
                <a:latin typeface="Arial"/>
                <a:ea typeface="Times New Roman"/>
              </a:rPr>
              <a:t>    Stuck-at-1 (s-a-1)</a:t>
            </a:r>
            <a:endParaRPr lang="en-US" sz="2000" b="0" u="none" strike="noStrike">
              <a:solidFill>
                <a:srgbClr val="000000"/>
              </a:solidFill>
              <a:effectLst/>
              <a:uFillTx/>
              <a:latin typeface="Times New Roman"/>
            </a:endParaRPr>
          </a:p>
        </p:txBody>
      </p:sp>
      <p:sp>
        <p:nvSpPr>
          <p:cNvPr id="71" name="Text Box 6"/>
          <p:cNvSpPr/>
          <p:nvPr/>
        </p:nvSpPr>
        <p:spPr>
          <a:xfrm>
            <a:off x="609480" y="3657600"/>
            <a:ext cx="80773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3333CC"/>
                </a:solidFill>
                <a:effectLst/>
                <a:uFillTx/>
                <a:latin typeface="Arial"/>
                <a:ea typeface="Times New Roman"/>
              </a:rPr>
              <a:t>Line open faults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3333CC"/>
                </a:solidFill>
                <a:effectLst/>
                <a:uFillTx/>
                <a:latin typeface="Arial"/>
                <a:ea typeface="Times New Roman"/>
              </a:rPr>
              <a:t>    Often can be modeled as s-a-0 or s-a-1</a:t>
            </a:r>
            <a:endParaRPr lang="en-US" sz="2000" b="0" u="none" strike="noStrike">
              <a:solidFill>
                <a:srgbClr val="000000"/>
              </a:solidFill>
              <a:effectLst/>
              <a:uFillTx/>
              <a:latin typeface="Times New Roman"/>
            </a:endParaRPr>
          </a:p>
        </p:txBody>
      </p:sp>
      <p:sp>
        <p:nvSpPr>
          <p:cNvPr id="72" name="Text Box 7"/>
          <p:cNvSpPr/>
          <p:nvPr/>
        </p:nvSpPr>
        <p:spPr>
          <a:xfrm>
            <a:off x="609480" y="4419360"/>
            <a:ext cx="80773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A50021"/>
                </a:solidFill>
                <a:effectLst/>
                <a:uFillTx/>
                <a:latin typeface="Arial"/>
                <a:ea typeface="Times New Roman"/>
              </a:rPr>
              <a:t>Delay faults (less tractable than the previous fault types)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A50021"/>
                </a:solidFill>
                <a:effectLst/>
                <a:uFillTx/>
                <a:latin typeface="Arial"/>
                <a:ea typeface="Times New Roman"/>
              </a:rPr>
              <a:t>    Signals experience unusual delays</a:t>
            </a:r>
            <a:endParaRPr lang="en-US" sz="2000" b="0" u="none" strike="noStrike">
              <a:solidFill>
                <a:srgbClr val="000000"/>
              </a:solidFill>
              <a:effectLst/>
              <a:uFillTx/>
              <a:latin typeface="Times New Roman"/>
            </a:endParaRPr>
          </a:p>
        </p:txBody>
      </p:sp>
      <p:grpSp>
        <p:nvGrpSpPr>
          <p:cNvPr id="73" name="Group 8"/>
          <p:cNvGrpSpPr/>
          <p:nvPr/>
        </p:nvGrpSpPr>
        <p:grpSpPr>
          <a:xfrm>
            <a:off x="4190760" y="1523880"/>
            <a:ext cx="4647960" cy="2538360"/>
            <a:chOff x="4190760" y="1523880"/>
            <a:chExt cx="4647960" cy="2538360"/>
          </a:xfrm>
        </p:grpSpPr>
        <p:pic>
          <p:nvPicPr>
            <p:cNvPr id="74" name="Picture 9" descr="circuit05"/>
            <p:cNvPicPr/>
            <p:nvPr/>
          </p:nvPicPr>
          <p:blipFill>
            <a:blip r:embed="rId1"/>
            <a:stretch/>
          </p:blipFill>
          <p:spPr>
            <a:xfrm>
              <a:off x="4266720" y="1523880"/>
              <a:ext cx="4572000" cy="2538360"/>
            </a:xfrm>
            <a:prstGeom prst="rect">
              <a:avLst/>
            </a:prstGeom>
            <a:noFill/>
            <a:ln w="38160">
              <a:noFill/>
            </a:ln>
          </p:spPr>
        </p:pic>
        <p:sp>
          <p:nvSpPr>
            <p:cNvPr id="75" name="Text Box 10"/>
            <p:cNvSpPr/>
            <p:nvPr/>
          </p:nvSpPr>
          <p:spPr>
            <a:xfrm>
              <a:off x="4190760" y="152388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A</a:t>
              </a:r>
              <a:endParaRPr lang="en-US" sz="1800" b="0" u="none" strike="noStrike">
                <a:solidFill>
                  <a:srgbClr val="000000"/>
                </a:solidFill>
                <a:effectLst/>
                <a:uFillTx/>
                <a:latin typeface="Times New Roman"/>
              </a:endParaRPr>
            </a:p>
          </p:txBody>
        </p:sp>
        <p:sp>
          <p:nvSpPr>
            <p:cNvPr id="76" name="Text Box 11"/>
            <p:cNvSpPr/>
            <p:nvPr/>
          </p:nvSpPr>
          <p:spPr>
            <a:xfrm>
              <a:off x="4190760" y="220968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B</a:t>
              </a:r>
              <a:endParaRPr lang="en-US" sz="1800" b="0" u="none" strike="noStrike">
                <a:solidFill>
                  <a:srgbClr val="000000"/>
                </a:solidFill>
                <a:effectLst/>
                <a:uFillTx/>
                <a:latin typeface="Times New Roman"/>
              </a:endParaRPr>
            </a:p>
          </p:txBody>
        </p:sp>
        <p:sp>
          <p:nvSpPr>
            <p:cNvPr id="77" name="Text Box 12"/>
            <p:cNvSpPr/>
            <p:nvPr/>
          </p:nvSpPr>
          <p:spPr>
            <a:xfrm>
              <a:off x="4190760" y="289548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C</a:t>
              </a:r>
              <a:endParaRPr lang="en-US" sz="1800" b="0" u="none" strike="noStrike">
                <a:solidFill>
                  <a:srgbClr val="000000"/>
                </a:solidFill>
                <a:effectLst/>
                <a:uFillTx/>
                <a:latin typeface="Times New Roman"/>
              </a:endParaRPr>
            </a:p>
          </p:txBody>
        </p:sp>
        <p:sp>
          <p:nvSpPr>
            <p:cNvPr id="78" name="Text Box 13"/>
            <p:cNvSpPr/>
            <p:nvPr/>
          </p:nvSpPr>
          <p:spPr>
            <a:xfrm>
              <a:off x="8119800" y="175248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S</a:t>
              </a:r>
              <a:endParaRPr lang="en-US" sz="1800" b="0" u="none" strike="noStrike">
                <a:solidFill>
                  <a:srgbClr val="000000"/>
                </a:solidFill>
                <a:effectLst/>
                <a:uFillTx/>
                <a:latin typeface="Times New Roman"/>
              </a:endParaRPr>
            </a:p>
          </p:txBody>
        </p:sp>
        <p:sp>
          <p:nvSpPr>
            <p:cNvPr id="79" name="Rectangle 14"/>
            <p:cNvSpPr/>
            <p:nvPr/>
          </p:nvSpPr>
          <p:spPr>
            <a:xfrm>
              <a:off x="8000640" y="2971440"/>
              <a:ext cx="457200" cy="22860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80" name="Text Box 15"/>
            <p:cNvSpPr/>
            <p:nvPr/>
          </p:nvSpPr>
          <p:spPr>
            <a:xfrm>
              <a:off x="8210160" y="304776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K</a:t>
              </a:r>
              <a:endParaRPr lang="en-US" sz="1800" b="0" u="none" strike="noStrike">
                <a:solidFill>
                  <a:srgbClr val="000000"/>
                </a:solidFill>
                <a:effectLst/>
                <a:uFillTx/>
                <a:latin typeface="Times New Roman"/>
              </a:endParaRPr>
            </a:p>
          </p:txBody>
        </p:sp>
      </p:grpSp>
      <p:grpSp>
        <p:nvGrpSpPr>
          <p:cNvPr id="81" name="Group 16"/>
          <p:cNvGrpSpPr/>
          <p:nvPr/>
        </p:nvGrpSpPr>
        <p:grpSpPr>
          <a:xfrm>
            <a:off x="6248160" y="2438280"/>
            <a:ext cx="838440" cy="380880"/>
            <a:chOff x="6248160" y="2438280"/>
            <a:chExt cx="838440" cy="380880"/>
          </a:xfrm>
        </p:grpSpPr>
        <p:sp>
          <p:nvSpPr>
            <p:cNvPr id="82" name="Line 17"/>
            <p:cNvSpPr/>
            <p:nvPr/>
          </p:nvSpPr>
          <p:spPr>
            <a:xfrm flipH="1">
              <a:off x="6476760" y="2743200"/>
              <a:ext cx="76320" cy="75960"/>
            </a:xfrm>
            <a:prstGeom prst="line">
              <a:avLst/>
            </a:prstGeom>
            <a:ln w="28440">
              <a:solidFill>
                <a:srgbClr val="008000"/>
              </a:solidFill>
              <a:miter/>
            </a:ln>
          </p:spPr>
          <p:style>
            <a:lnRef idx="0"/>
            <a:fillRef idx="0"/>
            <a:effectRef idx="0"/>
            <a:fontRef idx="minor"/>
          </p:style>
          <p:txBody>
            <a:bodyPr lIns="90000" tIns="29160" rIns="90000" bIns="29160" anchor="t">
              <a:noAutofit/>
            </a:bodyPr>
            <a:p>
              <a:endParaRPr lang="en-US" sz="2400" b="0" u="none" strike="noStrike">
                <a:solidFill>
                  <a:srgbClr val="000000"/>
                </a:solidFill>
                <a:effectLst/>
                <a:uFillTx/>
                <a:latin typeface="Times New Roman"/>
              </a:endParaRPr>
            </a:p>
          </p:txBody>
        </p:sp>
        <p:sp>
          <p:nvSpPr>
            <p:cNvPr id="83" name="Text Box 18"/>
            <p:cNvSpPr/>
            <p:nvPr/>
          </p:nvSpPr>
          <p:spPr>
            <a:xfrm>
              <a:off x="6248160" y="2438280"/>
              <a:ext cx="83844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8000"/>
                  </a:solidFill>
                  <a:effectLst/>
                  <a:uFillTx/>
                  <a:latin typeface="Arial"/>
                  <a:ea typeface="Times New Roman"/>
                </a:rPr>
                <a:t>s-a-0</a:t>
              </a:r>
              <a:endParaRPr lang="en-US" sz="1600" b="0" u="none" strike="noStrike">
                <a:solidFill>
                  <a:srgbClr val="000000"/>
                </a:solidFill>
                <a:effectLst/>
                <a:uFillTx/>
                <a:latin typeface="Times New Roman"/>
              </a:endParaRPr>
            </a:p>
          </p:txBody>
        </p:sp>
      </p:grpSp>
      <p:sp>
        <p:nvSpPr>
          <p:cNvPr id="84" name="Text Box 19"/>
          <p:cNvSpPr/>
          <p:nvPr/>
        </p:nvSpPr>
        <p:spPr>
          <a:xfrm>
            <a:off x="609480" y="2590560"/>
            <a:ext cx="350532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Times New Roman"/>
              </a:rPr>
              <a:t>Line bridging faults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Times New Roman"/>
              </a:rPr>
              <a:t>    Unintended connection</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Times New Roman"/>
              </a:rPr>
              <a:t>    (wired OR/AND)</a:t>
            </a:r>
            <a:endParaRPr lang="en-US" sz="2000" b="0" u="none" strike="noStrike">
              <a:solidFill>
                <a:srgbClr val="000000"/>
              </a:solidFill>
              <a:effectLst/>
              <a:uFillTx/>
              <a:latin typeface="Times New Roman"/>
            </a:endParaRPr>
          </a:p>
        </p:txBody>
      </p:sp>
      <p:grpSp>
        <p:nvGrpSpPr>
          <p:cNvPr id="85" name="Group 20"/>
          <p:cNvGrpSpPr/>
          <p:nvPr/>
        </p:nvGrpSpPr>
        <p:grpSpPr>
          <a:xfrm>
            <a:off x="5029200" y="2438280"/>
            <a:ext cx="914400" cy="581400"/>
            <a:chOff x="5029200" y="2438280"/>
            <a:chExt cx="914400" cy="581400"/>
          </a:xfrm>
        </p:grpSpPr>
        <p:sp>
          <p:nvSpPr>
            <p:cNvPr id="86" name="Line 21"/>
            <p:cNvSpPr/>
            <p:nvPr/>
          </p:nvSpPr>
          <p:spPr>
            <a:xfrm>
              <a:off x="5029200" y="2819160"/>
              <a:ext cx="152280" cy="0"/>
            </a:xfrm>
            <a:prstGeom prst="line">
              <a:avLst/>
            </a:prstGeom>
            <a:ln w="28440">
              <a:solidFill>
                <a:srgbClr val="FF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7" name="Text Box 22"/>
            <p:cNvSpPr/>
            <p:nvPr/>
          </p:nvSpPr>
          <p:spPr>
            <a:xfrm>
              <a:off x="5029200" y="2438280"/>
              <a:ext cx="914400" cy="5814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0000"/>
                  </a:solidFill>
                  <a:effectLst/>
                  <a:uFillTx/>
                  <a:latin typeface="Arial"/>
                  <a:ea typeface="Times New Roman"/>
                </a:rPr>
                <a:t>Short</a:t>
              </a:r>
              <a:endParaRPr lang="en-US" sz="16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0000"/>
                  </a:solidFill>
                  <a:effectLst/>
                  <a:uFillTx/>
                  <a:latin typeface="Arial"/>
                  <a:ea typeface="Times New Roman"/>
                </a:rPr>
                <a:t>(OR)</a:t>
              </a:r>
              <a:endParaRPr lang="en-US" sz="1600" b="0" u="none" strike="noStrike">
                <a:solidFill>
                  <a:srgbClr val="000000"/>
                </a:solidFill>
                <a:effectLst/>
                <a:uFillTx/>
                <a:latin typeface="Times New Roman"/>
              </a:endParaRPr>
            </a:p>
          </p:txBody>
        </p:sp>
      </p:grpSp>
      <p:grpSp>
        <p:nvGrpSpPr>
          <p:cNvPr id="88" name="Group 23"/>
          <p:cNvGrpSpPr/>
          <p:nvPr/>
        </p:nvGrpSpPr>
        <p:grpSpPr>
          <a:xfrm>
            <a:off x="6172200" y="3429000"/>
            <a:ext cx="838080" cy="413640"/>
            <a:chOff x="6172200" y="3429000"/>
            <a:chExt cx="838080" cy="413640"/>
          </a:xfrm>
        </p:grpSpPr>
        <p:sp>
          <p:nvSpPr>
            <p:cNvPr id="89" name="Rectangle 24"/>
            <p:cNvSpPr/>
            <p:nvPr/>
          </p:nvSpPr>
          <p:spPr>
            <a:xfrm>
              <a:off x="6476760" y="3429000"/>
              <a:ext cx="228600" cy="15228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90" name="Text Box 25"/>
            <p:cNvSpPr/>
            <p:nvPr/>
          </p:nvSpPr>
          <p:spPr>
            <a:xfrm>
              <a:off x="6172200" y="3504960"/>
              <a:ext cx="83808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3333CC"/>
                  </a:solidFill>
                  <a:effectLst/>
                  <a:uFillTx/>
                  <a:latin typeface="Arial"/>
                  <a:ea typeface="Times New Roman"/>
                </a:rPr>
                <a:t>Open</a:t>
              </a:r>
              <a:endParaRPr lang="en-US" sz="1600" b="0" u="none" strike="noStrike">
                <a:solidFill>
                  <a:srgbClr val="000000"/>
                </a:solidFill>
                <a:effectLst/>
                <a:uFillTx/>
                <a:latin typeface="Times New Roman"/>
              </a:endParaRPr>
            </a:p>
          </p:txBody>
        </p:sp>
      </p:grpSp>
      <p:sp>
        <p:nvSpPr>
          <p:cNvPr id="91" name="Text Box 26"/>
          <p:cNvSpPr/>
          <p:nvPr/>
        </p:nvSpPr>
        <p:spPr>
          <a:xfrm>
            <a:off x="609480" y="5181480"/>
            <a:ext cx="80773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Other faults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Coupling, crosstalk</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Slide Number Placeholder 3"/>
          <p:cNvSpPr/>
          <p:nvPr/>
        </p:nvSpPr>
        <p:spPr>
          <a:xfrm>
            <a:off x="7467480" y="6248160"/>
            <a:ext cx="9907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873DCF0B-6075-4EF9-B96E-497667D57271}"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grpSp>
        <p:nvGrpSpPr>
          <p:cNvPr id="93" name="Group 5"/>
          <p:cNvGrpSpPr/>
          <p:nvPr/>
        </p:nvGrpSpPr>
        <p:grpSpPr>
          <a:xfrm>
            <a:off x="2469960" y="1600200"/>
            <a:ext cx="4647960" cy="2538360"/>
            <a:chOff x="2469960" y="1600200"/>
            <a:chExt cx="4647960" cy="2538360"/>
          </a:xfrm>
        </p:grpSpPr>
        <p:pic>
          <p:nvPicPr>
            <p:cNvPr id="94" name="Picture 6" descr="circuit05"/>
            <p:cNvPicPr/>
            <p:nvPr/>
          </p:nvPicPr>
          <p:blipFill>
            <a:blip r:embed="rId1"/>
            <a:stretch/>
          </p:blipFill>
          <p:spPr>
            <a:xfrm>
              <a:off x="2545920" y="1600200"/>
              <a:ext cx="4572000" cy="2538360"/>
            </a:xfrm>
            <a:prstGeom prst="rect">
              <a:avLst/>
            </a:prstGeom>
            <a:noFill/>
            <a:ln w="38160">
              <a:noFill/>
            </a:ln>
          </p:spPr>
        </p:pic>
        <p:sp>
          <p:nvSpPr>
            <p:cNvPr id="95" name="Text Box 7"/>
            <p:cNvSpPr/>
            <p:nvPr/>
          </p:nvSpPr>
          <p:spPr>
            <a:xfrm>
              <a:off x="2469960" y="16002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A</a:t>
              </a:r>
              <a:endParaRPr lang="en-US" sz="1800" b="0" u="none" strike="noStrike">
                <a:solidFill>
                  <a:srgbClr val="000000"/>
                </a:solidFill>
                <a:effectLst/>
                <a:uFillTx/>
                <a:latin typeface="Times New Roman"/>
              </a:endParaRPr>
            </a:p>
          </p:txBody>
        </p:sp>
        <p:sp>
          <p:nvSpPr>
            <p:cNvPr id="96" name="Text Box 8"/>
            <p:cNvSpPr/>
            <p:nvPr/>
          </p:nvSpPr>
          <p:spPr>
            <a:xfrm>
              <a:off x="2469960" y="22860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B</a:t>
              </a:r>
              <a:endParaRPr lang="en-US" sz="1800" b="0" u="none" strike="noStrike">
                <a:solidFill>
                  <a:srgbClr val="000000"/>
                </a:solidFill>
                <a:effectLst/>
                <a:uFillTx/>
                <a:latin typeface="Times New Roman"/>
              </a:endParaRPr>
            </a:p>
          </p:txBody>
        </p:sp>
        <p:sp>
          <p:nvSpPr>
            <p:cNvPr id="97" name="Text Box 9"/>
            <p:cNvSpPr/>
            <p:nvPr/>
          </p:nvSpPr>
          <p:spPr>
            <a:xfrm>
              <a:off x="2469960" y="29718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C</a:t>
              </a:r>
              <a:endParaRPr lang="en-US" sz="1800" b="0" u="none" strike="noStrike">
                <a:solidFill>
                  <a:srgbClr val="000000"/>
                </a:solidFill>
                <a:effectLst/>
                <a:uFillTx/>
                <a:latin typeface="Times New Roman"/>
              </a:endParaRPr>
            </a:p>
          </p:txBody>
        </p:sp>
        <p:sp>
          <p:nvSpPr>
            <p:cNvPr id="98" name="Text Box 10"/>
            <p:cNvSpPr/>
            <p:nvPr/>
          </p:nvSpPr>
          <p:spPr>
            <a:xfrm>
              <a:off x="6399000" y="18288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S</a:t>
              </a:r>
              <a:endParaRPr lang="en-US" sz="1800" b="0" u="none" strike="noStrike">
                <a:solidFill>
                  <a:srgbClr val="000000"/>
                </a:solidFill>
                <a:effectLst/>
                <a:uFillTx/>
                <a:latin typeface="Times New Roman"/>
              </a:endParaRPr>
            </a:p>
          </p:txBody>
        </p:sp>
        <p:sp>
          <p:nvSpPr>
            <p:cNvPr id="99" name="Rectangle 11"/>
            <p:cNvSpPr/>
            <p:nvPr/>
          </p:nvSpPr>
          <p:spPr>
            <a:xfrm>
              <a:off x="6279840" y="3047760"/>
              <a:ext cx="457200" cy="22860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00" name="Text Box 12"/>
            <p:cNvSpPr/>
            <p:nvPr/>
          </p:nvSpPr>
          <p:spPr>
            <a:xfrm>
              <a:off x="6489360" y="312408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K</a:t>
              </a:r>
              <a:endParaRPr lang="en-US" sz="1800" b="0" u="none" strike="noStrike">
                <a:solidFill>
                  <a:srgbClr val="000000"/>
                </a:solidFill>
                <a:effectLst/>
                <a:uFillTx/>
                <a:latin typeface="Times New Roman"/>
              </a:endParaRPr>
            </a:p>
          </p:txBody>
        </p:sp>
      </p:grpSp>
      <p:sp>
        <p:nvSpPr>
          <p:cNvPr id="101"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Automatic test pattern generation (ATPG)</a:t>
            </a:r>
            <a:endParaRPr lang="en-US" sz="3200" b="0" u="none" strike="noStrike">
              <a:solidFill>
                <a:srgbClr val="000000"/>
              </a:solidFill>
              <a:effectLst/>
              <a:uFillTx/>
              <a:latin typeface="Arial"/>
            </a:endParaRPr>
          </a:p>
        </p:txBody>
      </p:sp>
      <p:sp>
        <p:nvSpPr>
          <p:cNvPr id="102" name="TextBox 16"/>
          <p:cNvSpPr/>
          <p:nvPr/>
        </p:nvSpPr>
        <p:spPr>
          <a:xfrm>
            <a:off x="679320" y="4422600"/>
            <a:ext cx="8229600" cy="1312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 fault is said to be detected by a test pattern if the output of that test pattern, when testing a device that has only that one fault, is different than the expected output. The ATPG process for a targeted fault consists of two phases: fault activation and fault propagation.</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F1525E37-CDE6-48A2-9D15-5048AB768036}"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04"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05" name="PlaceHolder 1"/>
          <p:cNvSpPr>
            <a:spLocks noGrp="1"/>
          </p:cNvSpPr>
          <p:nvPr>
            <p:ph type="title"/>
          </p:nvPr>
        </p:nvSpPr>
        <p:spPr>
          <a:xfrm>
            <a:off x="304200" y="152280"/>
            <a:ext cx="853452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1.2  Path Sensitization and D-Algorithm</a:t>
            </a:r>
            <a:endParaRPr lang="en-US" sz="3600" b="0" u="none" strike="noStrike">
              <a:solidFill>
                <a:srgbClr val="000000"/>
              </a:solidFill>
              <a:effectLst/>
              <a:uFillTx/>
              <a:latin typeface="Arial"/>
            </a:endParaRPr>
          </a:p>
        </p:txBody>
      </p:sp>
      <p:sp>
        <p:nvSpPr>
          <p:cNvPr id="106" name="Text Box 4"/>
          <p:cNvSpPr/>
          <p:nvPr/>
        </p:nvSpPr>
        <p:spPr>
          <a:xfrm>
            <a:off x="609480" y="990360"/>
            <a:ext cx="80773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The main idea behind test design: control the faulty point from inputs and propagate its behavior to some output</a:t>
            </a:r>
            <a:endParaRPr lang="en-US" sz="2000" b="0" u="none" strike="noStrike">
              <a:solidFill>
                <a:srgbClr val="000000"/>
              </a:solidFill>
              <a:effectLst/>
              <a:uFillTx/>
              <a:latin typeface="Times New Roman"/>
            </a:endParaRPr>
          </a:p>
        </p:txBody>
      </p:sp>
      <p:sp>
        <p:nvSpPr>
          <p:cNvPr id="107" name="Text Box 5"/>
          <p:cNvSpPr/>
          <p:nvPr/>
        </p:nvSpPr>
        <p:spPr>
          <a:xfrm>
            <a:off x="609480" y="1904760"/>
            <a:ext cx="35053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8000"/>
                </a:solidFill>
                <a:effectLst/>
                <a:uFillTx/>
                <a:latin typeface="Arial"/>
                <a:ea typeface="Times New Roman"/>
              </a:rPr>
              <a:t>Example: s-a-0 fault</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8000"/>
                </a:solidFill>
                <a:effectLst/>
                <a:uFillTx/>
                <a:latin typeface="Arial"/>
                <a:ea typeface="Times New Roman"/>
              </a:rPr>
              <a:t>Test must force the line to 1</a:t>
            </a:r>
            <a:endParaRPr lang="en-US" sz="2000" b="0" u="none" strike="noStrike">
              <a:solidFill>
                <a:srgbClr val="000000"/>
              </a:solidFill>
              <a:effectLst/>
              <a:uFillTx/>
              <a:latin typeface="Times New Roman"/>
            </a:endParaRPr>
          </a:p>
        </p:txBody>
      </p:sp>
      <p:sp>
        <p:nvSpPr>
          <p:cNvPr id="108" name="Text Box 6"/>
          <p:cNvSpPr/>
          <p:nvPr/>
        </p:nvSpPr>
        <p:spPr>
          <a:xfrm>
            <a:off x="609480" y="3657600"/>
            <a:ext cx="37339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A50021"/>
                </a:solidFill>
                <a:effectLst/>
                <a:uFillTx/>
                <a:latin typeface="Arial"/>
                <a:ea typeface="Times New Roman"/>
              </a:rPr>
              <a:t>This method is formalized in the </a:t>
            </a:r>
            <a:r>
              <a:rPr lang="en-US" sz="2000" b="0" i="1" u="none" strike="noStrike">
                <a:solidFill>
                  <a:srgbClr val="A50021"/>
                </a:solidFill>
                <a:effectLst/>
                <a:uFillTx/>
                <a:latin typeface="Arial"/>
                <a:ea typeface="Times New Roman"/>
              </a:rPr>
              <a:t>D</a:t>
            </a:r>
            <a:r>
              <a:rPr lang="en-US" sz="2000" b="0" u="none" strike="noStrike">
                <a:solidFill>
                  <a:srgbClr val="A50021"/>
                </a:solidFill>
                <a:effectLst/>
                <a:uFillTx/>
                <a:latin typeface="Arial"/>
                <a:ea typeface="Times New Roman"/>
              </a:rPr>
              <a:t>-algorithm</a:t>
            </a:r>
            <a:endParaRPr lang="en-US" sz="2000" b="0" u="none" strike="noStrike">
              <a:solidFill>
                <a:srgbClr val="000000"/>
              </a:solidFill>
              <a:effectLst/>
              <a:uFillTx/>
              <a:latin typeface="Times New Roman"/>
            </a:endParaRPr>
          </a:p>
        </p:txBody>
      </p:sp>
      <p:grpSp>
        <p:nvGrpSpPr>
          <p:cNvPr id="109" name="Group 7"/>
          <p:cNvGrpSpPr/>
          <p:nvPr/>
        </p:nvGrpSpPr>
        <p:grpSpPr>
          <a:xfrm>
            <a:off x="4190760" y="1828800"/>
            <a:ext cx="4647960" cy="2538360"/>
            <a:chOff x="4190760" y="1828800"/>
            <a:chExt cx="4647960" cy="2538360"/>
          </a:xfrm>
        </p:grpSpPr>
        <p:pic>
          <p:nvPicPr>
            <p:cNvPr id="110" name="Picture 8" descr="circuit05"/>
            <p:cNvPicPr/>
            <p:nvPr/>
          </p:nvPicPr>
          <p:blipFill>
            <a:blip r:embed="rId1"/>
            <a:stretch/>
          </p:blipFill>
          <p:spPr>
            <a:xfrm>
              <a:off x="4266720" y="1828800"/>
              <a:ext cx="4572000" cy="2538360"/>
            </a:xfrm>
            <a:prstGeom prst="rect">
              <a:avLst/>
            </a:prstGeom>
            <a:noFill/>
            <a:ln w="38160">
              <a:noFill/>
            </a:ln>
          </p:spPr>
        </p:pic>
        <p:sp>
          <p:nvSpPr>
            <p:cNvPr id="111" name="Text Box 9"/>
            <p:cNvSpPr/>
            <p:nvPr/>
          </p:nvSpPr>
          <p:spPr>
            <a:xfrm>
              <a:off x="4190760" y="18288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A</a:t>
              </a:r>
              <a:endParaRPr lang="en-US" sz="1800" b="0" u="none" strike="noStrike">
                <a:solidFill>
                  <a:srgbClr val="000000"/>
                </a:solidFill>
                <a:effectLst/>
                <a:uFillTx/>
                <a:latin typeface="Times New Roman"/>
              </a:endParaRPr>
            </a:p>
          </p:txBody>
        </p:sp>
        <p:sp>
          <p:nvSpPr>
            <p:cNvPr id="112" name="Text Box 10"/>
            <p:cNvSpPr/>
            <p:nvPr/>
          </p:nvSpPr>
          <p:spPr>
            <a:xfrm>
              <a:off x="4190760" y="25146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B</a:t>
              </a:r>
              <a:endParaRPr lang="en-US" sz="1800" b="0" u="none" strike="noStrike">
                <a:solidFill>
                  <a:srgbClr val="000000"/>
                </a:solidFill>
                <a:effectLst/>
                <a:uFillTx/>
                <a:latin typeface="Times New Roman"/>
              </a:endParaRPr>
            </a:p>
          </p:txBody>
        </p:sp>
        <p:sp>
          <p:nvSpPr>
            <p:cNvPr id="113" name="Text Box 11"/>
            <p:cNvSpPr/>
            <p:nvPr/>
          </p:nvSpPr>
          <p:spPr>
            <a:xfrm>
              <a:off x="4190760" y="32004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C</a:t>
              </a:r>
              <a:endParaRPr lang="en-US" sz="1800" b="0" u="none" strike="noStrike">
                <a:solidFill>
                  <a:srgbClr val="000000"/>
                </a:solidFill>
                <a:effectLst/>
                <a:uFillTx/>
                <a:latin typeface="Times New Roman"/>
              </a:endParaRPr>
            </a:p>
          </p:txBody>
        </p:sp>
        <p:sp>
          <p:nvSpPr>
            <p:cNvPr id="114" name="Text Box 12"/>
            <p:cNvSpPr/>
            <p:nvPr/>
          </p:nvSpPr>
          <p:spPr>
            <a:xfrm>
              <a:off x="8119800" y="20574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S</a:t>
              </a:r>
              <a:endParaRPr lang="en-US" sz="1800" b="0" u="none" strike="noStrike">
                <a:solidFill>
                  <a:srgbClr val="000000"/>
                </a:solidFill>
                <a:effectLst/>
                <a:uFillTx/>
                <a:latin typeface="Times New Roman"/>
              </a:endParaRPr>
            </a:p>
          </p:txBody>
        </p:sp>
        <p:sp>
          <p:nvSpPr>
            <p:cNvPr id="115" name="Rectangle 13"/>
            <p:cNvSpPr/>
            <p:nvPr/>
          </p:nvSpPr>
          <p:spPr>
            <a:xfrm>
              <a:off x="8000640" y="3276360"/>
              <a:ext cx="457200" cy="22860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16" name="Text Box 14"/>
            <p:cNvSpPr/>
            <p:nvPr/>
          </p:nvSpPr>
          <p:spPr>
            <a:xfrm>
              <a:off x="8210160" y="335268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K</a:t>
              </a:r>
              <a:endParaRPr lang="en-US" sz="1800" b="0" u="none" strike="noStrike">
                <a:solidFill>
                  <a:srgbClr val="000000"/>
                </a:solidFill>
                <a:effectLst/>
                <a:uFillTx/>
                <a:latin typeface="Times New Roman"/>
              </a:endParaRPr>
            </a:p>
          </p:txBody>
        </p:sp>
      </p:grpSp>
      <p:grpSp>
        <p:nvGrpSpPr>
          <p:cNvPr id="117" name="Group 15"/>
          <p:cNvGrpSpPr/>
          <p:nvPr/>
        </p:nvGrpSpPr>
        <p:grpSpPr>
          <a:xfrm>
            <a:off x="6248160" y="2743200"/>
            <a:ext cx="838440" cy="380880"/>
            <a:chOff x="6248160" y="2743200"/>
            <a:chExt cx="838440" cy="380880"/>
          </a:xfrm>
        </p:grpSpPr>
        <p:sp>
          <p:nvSpPr>
            <p:cNvPr id="118" name="Line 16"/>
            <p:cNvSpPr/>
            <p:nvPr/>
          </p:nvSpPr>
          <p:spPr>
            <a:xfrm flipH="1">
              <a:off x="6476760" y="3048120"/>
              <a:ext cx="76320" cy="75960"/>
            </a:xfrm>
            <a:prstGeom prst="line">
              <a:avLst/>
            </a:prstGeom>
            <a:ln w="28440">
              <a:solidFill>
                <a:srgbClr val="008000"/>
              </a:solidFill>
              <a:miter/>
            </a:ln>
          </p:spPr>
          <p:style>
            <a:lnRef idx="0"/>
            <a:fillRef idx="0"/>
            <a:effectRef idx="0"/>
            <a:fontRef idx="minor"/>
          </p:style>
          <p:txBody>
            <a:bodyPr lIns="90000" tIns="29160" rIns="90000" bIns="29160" anchor="t">
              <a:noAutofit/>
            </a:bodyPr>
            <a:p>
              <a:endParaRPr lang="en-US" sz="2400" b="0" u="none" strike="noStrike">
                <a:solidFill>
                  <a:srgbClr val="000000"/>
                </a:solidFill>
                <a:effectLst/>
                <a:uFillTx/>
                <a:latin typeface="Times New Roman"/>
              </a:endParaRPr>
            </a:p>
          </p:txBody>
        </p:sp>
        <p:sp>
          <p:nvSpPr>
            <p:cNvPr id="119" name="Text Box 17"/>
            <p:cNvSpPr/>
            <p:nvPr/>
          </p:nvSpPr>
          <p:spPr>
            <a:xfrm>
              <a:off x="6248160" y="2743200"/>
              <a:ext cx="83844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8000"/>
                  </a:solidFill>
                  <a:effectLst/>
                  <a:uFillTx/>
                  <a:latin typeface="Arial"/>
                  <a:ea typeface="Times New Roman"/>
                </a:rPr>
                <a:t>s-a-0</a:t>
              </a:r>
              <a:endParaRPr lang="en-US" sz="1600" b="0" u="none" strike="noStrike">
                <a:solidFill>
                  <a:srgbClr val="000000"/>
                </a:solidFill>
                <a:effectLst/>
                <a:uFillTx/>
                <a:latin typeface="Times New Roman"/>
              </a:endParaRPr>
            </a:p>
          </p:txBody>
        </p:sp>
      </p:grpSp>
      <p:sp>
        <p:nvSpPr>
          <p:cNvPr id="120" name="Text Box 18"/>
          <p:cNvSpPr/>
          <p:nvPr/>
        </p:nvSpPr>
        <p:spPr>
          <a:xfrm>
            <a:off x="6400800" y="2514600"/>
            <a:ext cx="60948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Times New Roman"/>
              </a:rPr>
              <a:t>1/0</a:t>
            </a:r>
            <a:endParaRPr lang="en-US" sz="2000" b="0" u="none" strike="noStrike">
              <a:solidFill>
                <a:srgbClr val="000000"/>
              </a:solidFill>
              <a:effectLst/>
              <a:uFillTx/>
              <a:latin typeface="Times New Roman"/>
            </a:endParaRPr>
          </a:p>
        </p:txBody>
      </p:sp>
      <p:sp>
        <p:nvSpPr>
          <p:cNvPr id="121" name="Text Box 19"/>
          <p:cNvSpPr/>
          <p:nvPr/>
        </p:nvSpPr>
        <p:spPr>
          <a:xfrm>
            <a:off x="5943600" y="1828800"/>
            <a:ext cx="4572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Times New Roman"/>
              </a:rPr>
              <a:t>1</a:t>
            </a:r>
            <a:endParaRPr lang="en-US" sz="2000" b="0" u="none" strike="noStrike">
              <a:solidFill>
                <a:srgbClr val="000000"/>
              </a:solidFill>
              <a:effectLst/>
              <a:uFillTx/>
              <a:latin typeface="Times New Roman"/>
            </a:endParaRPr>
          </a:p>
        </p:txBody>
      </p:sp>
      <p:sp>
        <p:nvSpPr>
          <p:cNvPr id="122" name="Text Box 20"/>
          <p:cNvSpPr/>
          <p:nvPr/>
        </p:nvSpPr>
        <p:spPr>
          <a:xfrm>
            <a:off x="6400800" y="3276360"/>
            <a:ext cx="4572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Times New Roman"/>
              </a:rPr>
              <a:t>1</a:t>
            </a:r>
            <a:endParaRPr lang="en-US" sz="2000" b="0" u="none" strike="noStrike">
              <a:solidFill>
                <a:srgbClr val="000000"/>
              </a:solidFill>
              <a:effectLst/>
              <a:uFillTx/>
              <a:latin typeface="Times New Roman"/>
            </a:endParaRPr>
          </a:p>
        </p:txBody>
      </p:sp>
      <p:sp>
        <p:nvSpPr>
          <p:cNvPr id="123" name="Text Box 21"/>
          <p:cNvSpPr/>
          <p:nvPr/>
        </p:nvSpPr>
        <p:spPr>
          <a:xfrm>
            <a:off x="7238880" y="2895480"/>
            <a:ext cx="6858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Times New Roman"/>
              </a:rPr>
              <a:t>1/0</a:t>
            </a:r>
            <a:endParaRPr lang="en-US" sz="2000" b="0" u="none" strike="noStrike">
              <a:solidFill>
                <a:srgbClr val="000000"/>
              </a:solidFill>
              <a:effectLst/>
              <a:uFillTx/>
              <a:latin typeface="Times New Roman"/>
            </a:endParaRPr>
          </a:p>
        </p:txBody>
      </p:sp>
      <p:sp>
        <p:nvSpPr>
          <p:cNvPr id="124" name="Text Box 22"/>
          <p:cNvSpPr/>
          <p:nvPr/>
        </p:nvSpPr>
        <p:spPr>
          <a:xfrm>
            <a:off x="7238880" y="3809880"/>
            <a:ext cx="4572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Times New Roman"/>
              </a:rPr>
              <a:t>0</a:t>
            </a:r>
            <a:endParaRPr lang="en-US" sz="2000" b="0" u="none" strike="noStrike">
              <a:solidFill>
                <a:srgbClr val="000000"/>
              </a:solidFill>
              <a:effectLst/>
              <a:uFillTx/>
              <a:latin typeface="Times New Roman"/>
            </a:endParaRPr>
          </a:p>
        </p:txBody>
      </p:sp>
      <p:sp>
        <p:nvSpPr>
          <p:cNvPr id="125" name="Text Box 23"/>
          <p:cNvSpPr/>
          <p:nvPr/>
        </p:nvSpPr>
        <p:spPr>
          <a:xfrm>
            <a:off x="7848360" y="3124080"/>
            <a:ext cx="60984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Times New Roman"/>
              </a:rPr>
              <a:t>1/0</a:t>
            </a:r>
            <a:endParaRPr lang="en-US" sz="2000" b="0" u="none" strike="noStrike">
              <a:solidFill>
                <a:srgbClr val="000000"/>
              </a:solidFill>
              <a:effectLst/>
              <a:uFillTx/>
              <a:latin typeface="Times New Roman"/>
            </a:endParaRPr>
          </a:p>
        </p:txBody>
      </p:sp>
      <p:sp>
        <p:nvSpPr>
          <p:cNvPr id="126" name="Text Box 24"/>
          <p:cNvSpPr/>
          <p:nvPr/>
        </p:nvSpPr>
        <p:spPr>
          <a:xfrm>
            <a:off x="609480" y="2743200"/>
            <a:ext cx="35053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Times New Roman"/>
              </a:rPr>
              <a:t>Two possible tests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Arial"/>
                <a:ea typeface="Times New Roman"/>
              </a:rPr>
              <a:t>(</a:t>
            </a:r>
            <a:r>
              <a:rPr lang="en-US" sz="2000" b="0" i="1" u="none" strike="noStrike">
                <a:solidFill>
                  <a:srgbClr val="FF0000"/>
                </a:solidFill>
                <a:effectLst/>
                <a:uFillTx/>
                <a:latin typeface="Arial"/>
                <a:ea typeface="Times New Roman"/>
              </a:rPr>
              <a:t>A</a:t>
            </a:r>
            <a:r>
              <a:rPr lang="en-US" sz="2000" b="0" u="none" strike="noStrike">
                <a:solidFill>
                  <a:srgbClr val="FF0000"/>
                </a:solidFill>
                <a:effectLst/>
                <a:uFillTx/>
                <a:latin typeface="Arial"/>
                <a:ea typeface="Times New Roman"/>
              </a:rPr>
              <a:t>, </a:t>
            </a:r>
            <a:r>
              <a:rPr lang="en-US" sz="2000" b="0" i="1" u="none" strike="noStrike">
                <a:solidFill>
                  <a:srgbClr val="FF0000"/>
                </a:solidFill>
                <a:effectLst/>
                <a:uFillTx/>
                <a:latin typeface="Arial"/>
                <a:ea typeface="Times New Roman"/>
              </a:rPr>
              <a:t>B</a:t>
            </a:r>
            <a:r>
              <a:rPr lang="en-US" sz="2000" b="0" u="none" strike="noStrike">
                <a:solidFill>
                  <a:srgbClr val="FF0000"/>
                </a:solidFill>
                <a:effectLst/>
                <a:uFillTx/>
                <a:latin typeface="Arial"/>
                <a:ea typeface="Times New Roman"/>
              </a:rPr>
              <a:t>, </a:t>
            </a:r>
            <a:r>
              <a:rPr lang="en-US" sz="2000" b="0" i="1" u="none" strike="noStrike">
                <a:solidFill>
                  <a:srgbClr val="FF0000"/>
                </a:solidFill>
                <a:effectLst/>
                <a:uFillTx/>
                <a:latin typeface="Arial"/>
                <a:ea typeface="Times New Roman"/>
              </a:rPr>
              <a:t>C</a:t>
            </a:r>
            <a:r>
              <a:rPr lang="en-US" sz="2000" b="0" u="none" strike="noStrike">
                <a:solidFill>
                  <a:srgbClr val="FF0000"/>
                </a:solidFill>
                <a:effectLst/>
                <a:uFillTx/>
                <a:latin typeface="Arial"/>
                <a:ea typeface="Times New Roman"/>
              </a:rPr>
              <a:t>) = (0 1 1)  or  (1 0 1)</a:t>
            </a:r>
            <a:endParaRPr lang="en-US" sz="2000" b="0" u="none" strike="noStrike">
              <a:solidFill>
                <a:srgbClr val="000000"/>
              </a:solidFill>
              <a:effectLst/>
              <a:uFillTx/>
              <a:latin typeface="Times New Roman"/>
            </a:endParaRPr>
          </a:p>
        </p:txBody>
      </p:sp>
      <p:grpSp>
        <p:nvGrpSpPr>
          <p:cNvPr id="127" name="Group 25"/>
          <p:cNvGrpSpPr/>
          <p:nvPr/>
        </p:nvGrpSpPr>
        <p:grpSpPr>
          <a:xfrm>
            <a:off x="6781680" y="4190760"/>
            <a:ext cx="1828800" cy="642600"/>
            <a:chOff x="6781680" y="4190760"/>
            <a:chExt cx="1828800" cy="642600"/>
          </a:xfrm>
        </p:grpSpPr>
        <p:sp>
          <p:nvSpPr>
            <p:cNvPr id="128" name="Text Box 26"/>
            <p:cNvSpPr/>
            <p:nvPr/>
          </p:nvSpPr>
          <p:spPr>
            <a:xfrm>
              <a:off x="6781680" y="4190760"/>
              <a:ext cx="1828800" cy="6426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Forward trace</a:t>
              </a:r>
              <a:endParaRPr lang="en-US" sz="18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(sensitization)</a:t>
              </a:r>
              <a:endParaRPr lang="en-US" sz="1800" b="0" u="none" strike="noStrike">
                <a:solidFill>
                  <a:srgbClr val="000000"/>
                </a:solidFill>
                <a:effectLst/>
                <a:uFillTx/>
                <a:latin typeface="Times New Roman"/>
              </a:endParaRPr>
            </a:p>
          </p:txBody>
        </p:sp>
        <p:sp>
          <p:nvSpPr>
            <p:cNvPr id="129" name="Line 27"/>
            <p:cNvSpPr/>
            <p:nvPr/>
          </p:nvSpPr>
          <p:spPr>
            <a:xfrm>
              <a:off x="6858000" y="4190760"/>
              <a:ext cx="1523880" cy="0"/>
            </a:xfrm>
            <a:prstGeom prst="line">
              <a:avLst/>
            </a:prstGeom>
            <a:ln w="3780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130" name="Group 28"/>
          <p:cNvGrpSpPr/>
          <p:nvPr/>
        </p:nvGrpSpPr>
        <p:grpSpPr>
          <a:xfrm>
            <a:off x="4876560" y="4190760"/>
            <a:ext cx="2057400" cy="368280"/>
            <a:chOff x="4876560" y="4190760"/>
            <a:chExt cx="2057400" cy="368280"/>
          </a:xfrm>
        </p:grpSpPr>
        <p:sp>
          <p:nvSpPr>
            <p:cNvPr id="131" name="Text Box 29"/>
            <p:cNvSpPr/>
            <p:nvPr/>
          </p:nvSpPr>
          <p:spPr>
            <a:xfrm>
              <a:off x="4876560" y="4190760"/>
              <a:ext cx="2057400" cy="368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Backward trace</a:t>
              </a:r>
              <a:endParaRPr lang="en-US" sz="1800" b="0" u="none" strike="noStrike">
                <a:solidFill>
                  <a:srgbClr val="000000"/>
                </a:solidFill>
                <a:effectLst/>
                <a:uFillTx/>
                <a:latin typeface="Times New Roman"/>
              </a:endParaRPr>
            </a:p>
          </p:txBody>
        </p:sp>
        <p:sp>
          <p:nvSpPr>
            <p:cNvPr id="132" name="Line 30"/>
            <p:cNvSpPr/>
            <p:nvPr/>
          </p:nvSpPr>
          <p:spPr>
            <a:xfrm>
              <a:off x="5029200" y="4190760"/>
              <a:ext cx="1523880" cy="0"/>
            </a:xfrm>
            <a:prstGeom prst="line">
              <a:avLst/>
            </a:prstGeom>
            <a:ln w="37800">
              <a:solidFill>
                <a:srgbClr val="000000"/>
              </a:solidFill>
              <a:miter/>
              <a:head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133" name="Group 31"/>
          <p:cNvGrpSpPr/>
          <p:nvPr/>
        </p:nvGrpSpPr>
        <p:grpSpPr>
          <a:xfrm>
            <a:off x="609480" y="4572000"/>
            <a:ext cx="8077320" cy="1007640"/>
            <a:chOff x="609480" y="4572000"/>
            <a:chExt cx="8077320" cy="1007640"/>
          </a:xfrm>
        </p:grpSpPr>
        <p:sp>
          <p:nvSpPr>
            <p:cNvPr id="134" name="Text Box 32"/>
            <p:cNvSpPr/>
            <p:nvPr/>
          </p:nvSpPr>
          <p:spPr>
            <a:xfrm>
              <a:off x="609480" y="4572000"/>
              <a:ext cx="807732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i="1" u="none" strike="noStrike">
                  <a:solidFill>
                    <a:srgbClr val="000000"/>
                  </a:solidFill>
                  <a:effectLst/>
                  <a:uFillTx/>
                  <a:latin typeface="Arial"/>
                  <a:ea typeface="Times New Roman"/>
                </a:rPr>
                <a:t>D</a:t>
              </a:r>
              <a:r>
                <a:rPr lang="en-US" sz="2000" b="1" u="none" strike="noStrike">
                  <a:solidFill>
                    <a:srgbClr val="000000"/>
                  </a:solidFill>
                  <a:effectLst/>
                  <a:uFillTx/>
                  <a:latin typeface="Arial"/>
                  <a:ea typeface="Times New Roman"/>
                </a:rPr>
                <a:t>-calculus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1/0 on the diagram above is represented as </a:t>
              </a:r>
              <a:r>
                <a:rPr lang="en-US" sz="2000" b="0" i="1" u="none" strike="noStrike">
                  <a:solidFill>
                    <a:srgbClr val="000000"/>
                  </a:solidFill>
                  <a:effectLst/>
                  <a:uFillTx/>
                  <a:latin typeface="Arial"/>
                  <a:ea typeface="Times New Roman"/>
                </a:rPr>
                <a:t>D</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0/1 is represented as </a:t>
              </a:r>
              <a:r>
                <a:rPr lang="en-US" sz="2000" b="0" i="1" u="none" strike="noStrike">
                  <a:solidFill>
                    <a:srgbClr val="000000"/>
                  </a:solidFill>
                  <a:effectLst/>
                  <a:uFillTx/>
                  <a:latin typeface="Arial"/>
                  <a:ea typeface="Times New Roman"/>
                </a:rPr>
                <a:t>D</a:t>
              </a:r>
              <a:endParaRPr lang="en-US" sz="2000" b="0" u="none" strike="noStrike">
                <a:solidFill>
                  <a:srgbClr val="000000"/>
                </a:solidFill>
                <a:effectLst/>
                <a:uFillTx/>
                <a:latin typeface="Times New Roman"/>
              </a:endParaRPr>
            </a:p>
          </p:txBody>
        </p:sp>
        <p:sp>
          <p:nvSpPr>
            <p:cNvPr id="135" name="Line 33"/>
            <p:cNvSpPr/>
            <p:nvPr/>
          </p:nvSpPr>
          <p:spPr>
            <a:xfrm>
              <a:off x="3152520" y="5236920"/>
              <a:ext cx="136440" cy="0"/>
            </a:xfrm>
            <a:prstGeom prst="line">
              <a:avLst/>
            </a:prstGeom>
            <a:ln w="1872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5A66FFA3-4FB6-403B-BBE2-1365CFF8D6C4}"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37"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38" name="PlaceHolder 1"/>
          <p:cNvSpPr>
            <a:spLocks noGrp="1"/>
          </p:cNvSpPr>
          <p:nvPr>
            <p:ph type="title"/>
          </p:nvPr>
        </p:nvSpPr>
        <p:spPr>
          <a:xfrm>
            <a:off x="304200" y="152280"/>
            <a:ext cx="853452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D-Algorithm</a:t>
            </a:r>
            <a:endParaRPr lang="en-US" sz="3600" b="0" u="none" strike="noStrike">
              <a:solidFill>
                <a:srgbClr val="000000"/>
              </a:solidFill>
              <a:effectLst/>
              <a:uFillTx/>
              <a:latin typeface="Arial"/>
            </a:endParaRPr>
          </a:p>
        </p:txBody>
      </p:sp>
      <p:sp>
        <p:nvSpPr>
          <p:cNvPr id="139" name="TextBox 10"/>
          <p:cNvSpPr/>
          <p:nvPr/>
        </p:nvSpPr>
        <p:spPr>
          <a:xfrm>
            <a:off x="5486400" y="1807920"/>
            <a:ext cx="3429000" cy="5814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Propagation D-cube (PDC)</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Primitive D-cube of a fault (PDCF)</a:t>
            </a:r>
            <a:endParaRPr lang="en-US" sz="1600" b="0" u="none" strike="noStrike">
              <a:solidFill>
                <a:srgbClr val="000000"/>
              </a:solidFill>
              <a:effectLst/>
              <a:uFillTx/>
              <a:latin typeface="Times New Roman"/>
            </a:endParaRPr>
          </a:p>
        </p:txBody>
      </p:sp>
      <p:pic>
        <p:nvPicPr>
          <p:cNvPr id="140" name="Picture 11"/>
          <p:cNvPicPr/>
          <p:nvPr/>
        </p:nvPicPr>
        <p:blipFill>
          <a:blip r:embed="rId1"/>
          <a:srcRect l="0" t="7986" r="0" b="12125"/>
          <a:stretch/>
        </p:blipFill>
        <p:spPr>
          <a:xfrm>
            <a:off x="457200" y="1257120"/>
            <a:ext cx="4419360" cy="1523880"/>
          </a:xfrm>
          <a:prstGeom prst="rect">
            <a:avLst/>
          </a:prstGeom>
          <a:noFill/>
          <a:ln w="38160">
            <a:noFill/>
          </a:ln>
        </p:spPr>
      </p:pic>
      <p:pic>
        <p:nvPicPr>
          <p:cNvPr id="141" name="Picture 13"/>
          <p:cNvPicPr/>
          <p:nvPr/>
        </p:nvPicPr>
        <p:blipFill>
          <a:blip r:embed="rId2"/>
          <a:stretch/>
        </p:blipFill>
        <p:spPr>
          <a:xfrm>
            <a:off x="133200" y="3047760"/>
            <a:ext cx="8986680" cy="2908440"/>
          </a:xfrm>
          <a:prstGeom prst="rect">
            <a:avLst/>
          </a:prstGeom>
          <a:noFill/>
          <a:ln w="3816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6B03A417-CD80-4594-B3BA-89BC7E1B7C25}"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43"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44"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Selection of a Minimal Test Set</a:t>
            </a:r>
            <a:endParaRPr lang="en-US" sz="3200" b="0" u="none" strike="noStrike">
              <a:solidFill>
                <a:srgbClr val="000000"/>
              </a:solidFill>
              <a:effectLst/>
              <a:uFillTx/>
              <a:latin typeface="Arial"/>
            </a:endParaRPr>
          </a:p>
        </p:txBody>
      </p:sp>
      <p:sp>
        <p:nvSpPr>
          <p:cNvPr id="145" name="Text Box 4"/>
          <p:cNvSpPr/>
          <p:nvPr/>
        </p:nvSpPr>
        <p:spPr>
          <a:xfrm>
            <a:off x="609480" y="990360"/>
            <a:ext cx="80773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Each input pattern detects a subset of all possible faults of interest (according to our fault model)</a:t>
            </a:r>
            <a:endParaRPr lang="en-US" sz="2000" b="0" u="none" strike="noStrike">
              <a:solidFill>
                <a:srgbClr val="000000"/>
              </a:solidFill>
              <a:effectLst/>
              <a:uFillTx/>
              <a:latin typeface="Times New Roman"/>
            </a:endParaRPr>
          </a:p>
        </p:txBody>
      </p:sp>
      <p:grpSp>
        <p:nvGrpSpPr>
          <p:cNvPr id="146" name="Group 5"/>
          <p:cNvGrpSpPr/>
          <p:nvPr/>
        </p:nvGrpSpPr>
        <p:grpSpPr>
          <a:xfrm>
            <a:off x="4190760" y="1828800"/>
            <a:ext cx="4647960" cy="2538360"/>
            <a:chOff x="4190760" y="1828800"/>
            <a:chExt cx="4647960" cy="2538360"/>
          </a:xfrm>
        </p:grpSpPr>
        <p:pic>
          <p:nvPicPr>
            <p:cNvPr id="147" name="Picture 6" descr="circuit05"/>
            <p:cNvPicPr/>
            <p:nvPr/>
          </p:nvPicPr>
          <p:blipFill>
            <a:blip r:embed="rId1"/>
            <a:stretch/>
          </p:blipFill>
          <p:spPr>
            <a:xfrm>
              <a:off x="4266720" y="1828800"/>
              <a:ext cx="4572000" cy="2538360"/>
            </a:xfrm>
            <a:prstGeom prst="rect">
              <a:avLst/>
            </a:prstGeom>
            <a:noFill/>
            <a:ln w="38160">
              <a:noFill/>
            </a:ln>
          </p:spPr>
        </p:pic>
        <p:sp>
          <p:nvSpPr>
            <p:cNvPr id="148" name="Text Box 7"/>
            <p:cNvSpPr/>
            <p:nvPr/>
          </p:nvSpPr>
          <p:spPr>
            <a:xfrm>
              <a:off x="4190760" y="18288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A</a:t>
              </a:r>
              <a:endParaRPr lang="en-US" sz="1800" b="0" u="none" strike="noStrike">
                <a:solidFill>
                  <a:srgbClr val="000000"/>
                </a:solidFill>
                <a:effectLst/>
                <a:uFillTx/>
                <a:latin typeface="Times New Roman"/>
              </a:endParaRPr>
            </a:p>
          </p:txBody>
        </p:sp>
        <p:sp>
          <p:nvSpPr>
            <p:cNvPr id="149" name="Text Box 8"/>
            <p:cNvSpPr/>
            <p:nvPr/>
          </p:nvSpPr>
          <p:spPr>
            <a:xfrm>
              <a:off x="4190760" y="25146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B</a:t>
              </a:r>
              <a:endParaRPr lang="en-US" sz="1800" b="0" u="none" strike="noStrike">
                <a:solidFill>
                  <a:srgbClr val="000000"/>
                </a:solidFill>
                <a:effectLst/>
                <a:uFillTx/>
                <a:latin typeface="Times New Roman"/>
              </a:endParaRPr>
            </a:p>
          </p:txBody>
        </p:sp>
        <p:sp>
          <p:nvSpPr>
            <p:cNvPr id="150" name="Text Box 9"/>
            <p:cNvSpPr/>
            <p:nvPr/>
          </p:nvSpPr>
          <p:spPr>
            <a:xfrm>
              <a:off x="4190760" y="32004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C</a:t>
              </a:r>
              <a:endParaRPr lang="en-US" sz="1800" b="0" u="none" strike="noStrike">
                <a:solidFill>
                  <a:srgbClr val="000000"/>
                </a:solidFill>
                <a:effectLst/>
                <a:uFillTx/>
                <a:latin typeface="Times New Roman"/>
              </a:endParaRPr>
            </a:p>
          </p:txBody>
        </p:sp>
        <p:sp>
          <p:nvSpPr>
            <p:cNvPr id="151" name="Text Box 10"/>
            <p:cNvSpPr/>
            <p:nvPr/>
          </p:nvSpPr>
          <p:spPr>
            <a:xfrm>
              <a:off x="8119800" y="20574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S</a:t>
              </a:r>
              <a:endParaRPr lang="en-US" sz="1800" b="0" u="none" strike="noStrike">
                <a:solidFill>
                  <a:srgbClr val="000000"/>
                </a:solidFill>
                <a:effectLst/>
                <a:uFillTx/>
                <a:latin typeface="Times New Roman"/>
              </a:endParaRPr>
            </a:p>
          </p:txBody>
        </p:sp>
        <p:sp>
          <p:nvSpPr>
            <p:cNvPr id="152" name="Rectangle 11"/>
            <p:cNvSpPr/>
            <p:nvPr/>
          </p:nvSpPr>
          <p:spPr>
            <a:xfrm>
              <a:off x="8000640" y="3276360"/>
              <a:ext cx="457200" cy="22860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53" name="Text Box 12"/>
            <p:cNvSpPr/>
            <p:nvPr/>
          </p:nvSpPr>
          <p:spPr>
            <a:xfrm>
              <a:off x="8210160" y="335268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K</a:t>
              </a:r>
              <a:endParaRPr lang="en-US" sz="1800" b="0" u="none" strike="noStrike">
                <a:solidFill>
                  <a:srgbClr val="000000"/>
                </a:solidFill>
                <a:effectLst/>
                <a:uFillTx/>
                <a:latin typeface="Times New Roman"/>
              </a:endParaRPr>
            </a:p>
          </p:txBody>
        </p:sp>
      </p:grpSp>
      <p:sp>
        <p:nvSpPr>
          <p:cNvPr id="154" name="Text Box 13"/>
          <p:cNvSpPr/>
          <p:nvPr/>
        </p:nvSpPr>
        <p:spPr>
          <a:xfrm>
            <a:off x="5105160" y="175248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E</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55" name="Text Box 14"/>
          <p:cNvSpPr/>
          <p:nvPr/>
        </p:nvSpPr>
        <p:spPr>
          <a:xfrm>
            <a:off x="5105160" y="342900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F</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56" name="Text Box 15"/>
          <p:cNvSpPr/>
          <p:nvPr/>
        </p:nvSpPr>
        <p:spPr>
          <a:xfrm>
            <a:off x="5105160" y="228600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G</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57" name="Text Box 16"/>
          <p:cNvSpPr/>
          <p:nvPr/>
        </p:nvSpPr>
        <p:spPr>
          <a:xfrm>
            <a:off x="5105160" y="396216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H</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58" name="Text Box 17"/>
          <p:cNvSpPr/>
          <p:nvPr/>
        </p:nvSpPr>
        <p:spPr>
          <a:xfrm>
            <a:off x="6324480" y="236196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J</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59" name="Text Box 18"/>
          <p:cNvSpPr/>
          <p:nvPr/>
        </p:nvSpPr>
        <p:spPr>
          <a:xfrm>
            <a:off x="6324480" y="327636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L</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60" name="Text Box 19"/>
          <p:cNvSpPr/>
          <p:nvPr/>
        </p:nvSpPr>
        <p:spPr>
          <a:xfrm>
            <a:off x="6324480" y="182880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N</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61" name="Text Box 20"/>
          <p:cNvSpPr/>
          <p:nvPr/>
        </p:nvSpPr>
        <p:spPr>
          <a:xfrm>
            <a:off x="5943600" y="182880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M</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62" name="Text Box 21"/>
          <p:cNvSpPr/>
          <p:nvPr/>
        </p:nvSpPr>
        <p:spPr>
          <a:xfrm>
            <a:off x="6324480" y="274320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P</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63" name="Text Box 22"/>
          <p:cNvSpPr/>
          <p:nvPr/>
        </p:nvSpPr>
        <p:spPr>
          <a:xfrm>
            <a:off x="7238880" y="373356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R</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64" name="Text Box 23"/>
          <p:cNvSpPr/>
          <p:nvPr/>
        </p:nvSpPr>
        <p:spPr>
          <a:xfrm>
            <a:off x="7162560" y="289548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Q</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65" name="Text Box 24"/>
          <p:cNvSpPr/>
          <p:nvPr/>
        </p:nvSpPr>
        <p:spPr>
          <a:xfrm>
            <a:off x="609480" y="4267080"/>
            <a:ext cx="807732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Choosing a minimal test set is a covering problem</a:t>
            </a:r>
            <a:endParaRPr lang="en-US" sz="2000" b="0" u="none" strike="noStrike">
              <a:solidFill>
                <a:srgbClr val="000000"/>
              </a:solidFill>
              <a:effectLst/>
              <a:uFillTx/>
              <a:latin typeface="Times New Roman"/>
            </a:endParaRPr>
          </a:p>
        </p:txBody>
      </p:sp>
      <p:grpSp>
        <p:nvGrpSpPr>
          <p:cNvPr id="166" name="Group 25"/>
          <p:cNvGrpSpPr/>
          <p:nvPr/>
        </p:nvGrpSpPr>
        <p:grpSpPr>
          <a:xfrm>
            <a:off x="533160" y="1981080"/>
            <a:ext cx="3505320" cy="1951560"/>
            <a:chOff x="533160" y="1981080"/>
            <a:chExt cx="3505320" cy="1951560"/>
          </a:xfrm>
        </p:grpSpPr>
        <p:sp>
          <p:nvSpPr>
            <p:cNvPr id="167" name="Text Box 26"/>
            <p:cNvSpPr/>
            <p:nvPr/>
          </p:nvSpPr>
          <p:spPr>
            <a:xfrm>
              <a:off x="533160" y="1981080"/>
              <a:ext cx="3505320" cy="19515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228600" algn="ctr"/>
                  <a:tab pos="571680" algn="ctr"/>
                  <a:tab pos="914400" algn="ctr"/>
                  <a:tab pos="1828800" algn="ctr"/>
                  <a:tab pos="2743200" algn="ctr"/>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A</a:t>
              </a:r>
              <a:r>
                <a:rPr lang="en-US" sz="2000" b="0" i="1"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B</a:t>
              </a:r>
              <a:r>
                <a:rPr lang="en-US" sz="2000" b="0" i="1"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t>
              </a:r>
              <a:r>
                <a:rPr lang="en-US" sz="2000" b="0" i="1"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P</a:t>
              </a:r>
              <a:r>
                <a:rPr lang="en-US" sz="2000" b="0" i="1"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Q</a:t>
              </a:r>
              <a:endParaRPr lang="en-US" sz="2000" b="0" u="none" strike="noStrike">
                <a:solidFill>
                  <a:srgbClr val="000000"/>
                </a:solidFill>
                <a:effectLst/>
                <a:uFillTx/>
                <a:latin typeface="Times New Roman"/>
              </a:endParaRPr>
            </a:p>
            <a:p>
              <a:pPr>
                <a:lnSpc>
                  <a:spcPct val="100000"/>
                </a:lnSpc>
                <a:tabLst>
                  <a:tab pos="0" algn="l"/>
                  <a:tab pos="228600" algn="ctr"/>
                  <a:tab pos="571680" algn="ctr"/>
                  <a:tab pos="914400" algn="ctr"/>
                  <a:tab pos="1828800" algn="ctr"/>
                  <a:tab pos="2743200" algn="ctr"/>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ea typeface="Times New Roman"/>
                </a:rPr>
                <a:t>	</a:t>
              </a:r>
              <a:r>
                <a:rPr lang="en-US" sz="1200" b="0" u="none" strike="noStrike">
                  <a:solidFill>
                    <a:srgbClr val="000000"/>
                  </a:solidFill>
                  <a:effectLst/>
                  <a:uFillTx/>
                  <a:latin typeface="Arial"/>
                  <a:ea typeface="Times New Roman"/>
                </a:rPr>
                <a:t>	</a:t>
              </a:r>
              <a:r>
                <a:rPr lang="en-US" sz="1200" b="0" u="none" strike="noStrike">
                  <a:solidFill>
                    <a:srgbClr val="000000"/>
                  </a:solidFill>
                  <a:effectLst/>
                  <a:uFillTx/>
                  <a:latin typeface="Arial"/>
                  <a:ea typeface="Times New Roman"/>
                </a:rPr>
                <a:t>	</a:t>
              </a:r>
              <a:r>
                <a:rPr lang="en-US" sz="1200" b="0" u="none" strike="noStrike">
                  <a:solidFill>
                    <a:srgbClr val="000000"/>
                  </a:solidFill>
                  <a:effectLst/>
                  <a:uFillTx/>
                  <a:latin typeface="Arial"/>
                  <a:ea typeface="Times New Roman"/>
                </a:rPr>
                <a:t>	</a:t>
              </a:r>
              <a:r>
                <a:rPr lang="en-US" sz="1200" b="0" u="none" strike="noStrike">
                  <a:solidFill>
                    <a:srgbClr val="000000"/>
                  </a:solidFill>
                  <a:effectLst/>
                  <a:uFillTx/>
                  <a:latin typeface="Arial"/>
                  <a:ea typeface="Times New Roman"/>
                </a:rPr>
                <a:t>s-a-0  s-a-1</a:t>
              </a:r>
              <a:r>
                <a:rPr lang="en-US" sz="1200" b="0" u="none" strike="noStrike">
                  <a:solidFill>
                    <a:srgbClr val="000000"/>
                  </a:solidFill>
                  <a:effectLst/>
                  <a:uFillTx/>
                  <a:latin typeface="Arial"/>
                  <a:ea typeface="Times New Roman"/>
                </a:rPr>
                <a:t>	</a:t>
              </a:r>
              <a:r>
                <a:rPr lang="en-US" sz="1200" b="0" u="none" strike="noStrike">
                  <a:solidFill>
                    <a:srgbClr val="000000"/>
                  </a:solidFill>
                  <a:effectLst/>
                  <a:uFillTx/>
                  <a:latin typeface="Arial"/>
                  <a:ea typeface="Times New Roman"/>
                </a:rPr>
                <a:t> s-a-0  s-a-1</a:t>
              </a:r>
              <a:endParaRPr lang="en-US" sz="1200" b="0" u="none" strike="noStrike">
                <a:solidFill>
                  <a:srgbClr val="000000"/>
                </a:solidFill>
                <a:effectLst/>
                <a:uFillTx/>
                <a:latin typeface="Times New Roman"/>
              </a:endParaRPr>
            </a:p>
            <a:p>
              <a:pPr>
                <a:lnSpc>
                  <a:spcPct val="100000"/>
                </a:lnSpc>
                <a:tabLst>
                  <a:tab pos="0" algn="l"/>
                  <a:tab pos="228600" algn="ctr"/>
                  <a:tab pos="571680" algn="ctr"/>
                  <a:tab pos="914400" algn="ctr"/>
                  <a:tab pos="1828800" algn="ctr"/>
                  <a:tab pos="2743200" algn="ctr"/>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228600" algn="ctr"/>
                  <a:tab pos="571680" algn="ctr"/>
                  <a:tab pos="914400" algn="ctr"/>
                  <a:tab pos="1828800" algn="ctr"/>
                  <a:tab pos="2743200" algn="ctr"/>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0</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0</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0</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x</a:t>
              </a:r>
              <a:endParaRPr lang="en-US" sz="2000" b="0" u="none" strike="noStrike">
                <a:solidFill>
                  <a:srgbClr val="000000"/>
                </a:solidFill>
                <a:effectLst/>
                <a:uFillTx/>
                <a:latin typeface="Times New Roman"/>
              </a:endParaRPr>
            </a:p>
            <a:p>
              <a:pPr>
                <a:lnSpc>
                  <a:spcPct val="100000"/>
                </a:lnSpc>
                <a:tabLst>
                  <a:tab pos="0" algn="l"/>
                  <a:tab pos="228600" algn="ctr"/>
                  <a:tab pos="571680" algn="ctr"/>
                  <a:tab pos="914400" algn="ctr"/>
                  <a:tab pos="1828800" algn="ctr"/>
                  <a:tab pos="2743200" algn="ctr"/>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0</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0</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x</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x</a:t>
              </a:r>
              <a:endParaRPr lang="en-US" sz="2000" b="0" u="none" strike="noStrike">
                <a:solidFill>
                  <a:srgbClr val="000000"/>
                </a:solidFill>
                <a:effectLst/>
                <a:uFillTx/>
                <a:latin typeface="Times New Roman"/>
              </a:endParaRPr>
            </a:p>
            <a:p>
              <a:pPr>
                <a:lnSpc>
                  <a:spcPct val="100000"/>
                </a:lnSpc>
                <a:tabLst>
                  <a:tab pos="0" algn="l"/>
                  <a:tab pos="228600" algn="ctr"/>
                  <a:tab pos="571680" algn="ctr"/>
                  <a:tab pos="914400" algn="ctr"/>
                  <a:tab pos="1828800" algn="ctr"/>
                  <a:tab pos="2743200" algn="ctr"/>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0</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x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x    -</a:t>
              </a:r>
              <a:endParaRPr lang="en-US" sz="2000" b="0" u="none" strike="noStrike">
                <a:solidFill>
                  <a:srgbClr val="000000"/>
                </a:solidFill>
                <a:effectLst/>
                <a:uFillTx/>
                <a:latin typeface="Times New Roman"/>
              </a:endParaRPr>
            </a:p>
            <a:p>
              <a:pPr>
                <a:lnSpc>
                  <a:spcPct val="100000"/>
                </a:lnSpc>
                <a:tabLst>
                  <a:tab pos="0" algn="l"/>
                  <a:tab pos="228600" algn="ctr"/>
                  <a:tab pos="571680" algn="ctr"/>
                  <a:tab pos="914400" algn="ctr"/>
                  <a:tab pos="1828800" algn="ctr"/>
                  <a:tab pos="2743200" algn="ctr"/>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0</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x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x    -</a:t>
              </a:r>
              <a:endParaRPr lang="en-US" sz="2000" b="0" u="none" strike="noStrike">
                <a:solidFill>
                  <a:srgbClr val="000000"/>
                </a:solidFill>
                <a:effectLst/>
                <a:uFillTx/>
                <a:latin typeface="Times New Roman"/>
              </a:endParaRPr>
            </a:p>
          </p:txBody>
        </p:sp>
        <p:sp>
          <p:nvSpPr>
            <p:cNvPr id="168" name="Line 27"/>
            <p:cNvSpPr/>
            <p:nvPr/>
          </p:nvSpPr>
          <p:spPr>
            <a:xfrm>
              <a:off x="761760" y="2590560"/>
              <a:ext cx="29718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169" name="Text Box 28"/>
          <p:cNvSpPr/>
          <p:nvPr/>
        </p:nvSpPr>
        <p:spPr>
          <a:xfrm>
            <a:off x="609480" y="487656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Equivalent faults:  e.g.,</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P</a:t>
            </a:r>
            <a:r>
              <a:rPr lang="en-US" sz="2000" b="0" u="none" strike="noStrike">
                <a:solidFill>
                  <a:srgbClr val="000000"/>
                </a:solidFill>
                <a:effectLst/>
                <a:uFillTx/>
                <a:latin typeface="Arial"/>
                <a:ea typeface="Times New Roman"/>
              </a:rPr>
              <a:t> s-a-0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L</a:t>
            </a:r>
            <a:r>
              <a:rPr lang="en-US" sz="2000" b="0" u="none" strike="noStrike">
                <a:solidFill>
                  <a:srgbClr val="000000"/>
                </a:solidFill>
                <a:effectLst/>
                <a:uFillTx/>
                <a:latin typeface="Arial"/>
                <a:ea typeface="Times New Roman"/>
              </a:rPr>
              <a:t> s-a-0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Q</a:t>
            </a:r>
            <a:r>
              <a:rPr lang="en-US" sz="2000" b="0" u="none" strike="noStrike">
                <a:solidFill>
                  <a:srgbClr val="000000"/>
                </a:solidFill>
                <a:effectLst/>
                <a:uFillTx/>
                <a:latin typeface="Arial"/>
                <a:ea typeface="Times New Roman"/>
              </a:rPr>
              <a:t> s-a-0</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Q</a:t>
            </a:r>
            <a:r>
              <a:rPr lang="en-US" sz="2000" b="0" u="none" strike="noStrike">
                <a:solidFill>
                  <a:srgbClr val="000000"/>
                </a:solidFill>
                <a:effectLst/>
                <a:uFillTx/>
                <a:latin typeface="Arial"/>
                <a:ea typeface="Times New Roman"/>
              </a:rPr>
              <a:t> s-a-1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R</a:t>
            </a:r>
            <a:r>
              <a:rPr lang="en-US" sz="2000" b="0" u="none" strike="noStrike">
                <a:solidFill>
                  <a:srgbClr val="000000"/>
                </a:solidFill>
                <a:effectLst/>
                <a:uFillTx/>
                <a:latin typeface="Arial"/>
                <a:ea typeface="Times New Roman"/>
              </a:rPr>
              <a:t> s-a-1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K</a:t>
            </a:r>
            <a:r>
              <a:rPr lang="en-US" sz="2000" b="0" u="none" strike="noStrike">
                <a:solidFill>
                  <a:srgbClr val="000000"/>
                </a:solidFill>
                <a:effectLst/>
                <a:uFillTx/>
                <a:latin typeface="Arial"/>
                <a:ea typeface="Times New Roman"/>
              </a:rPr>
              <a:t> s-a-1</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16252024-AF23-4562-A78C-EA7808D6102C}"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71"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72"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1.3  Boolean Difference Methods</a:t>
            </a:r>
            <a:endParaRPr lang="en-US" sz="3600" b="0" u="none" strike="noStrike">
              <a:solidFill>
                <a:srgbClr val="000000"/>
              </a:solidFill>
              <a:effectLst/>
              <a:uFillTx/>
              <a:latin typeface="Arial"/>
            </a:endParaRPr>
          </a:p>
        </p:txBody>
      </p:sp>
      <p:sp>
        <p:nvSpPr>
          <p:cNvPr id="173" name="Text Box 4"/>
          <p:cNvSpPr/>
          <p:nvPr/>
        </p:nvSpPr>
        <p:spPr>
          <a:xfrm>
            <a:off x="380880" y="990360"/>
            <a:ext cx="4038480" cy="14641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K</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B</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AB</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BC</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dK</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dB</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0,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1,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t>
            </a:r>
            <a:endParaRPr lang="en-US" sz="2000" b="0" u="none" strike="noStrike">
              <a:solidFill>
                <a:srgbClr val="000000"/>
              </a:solidFill>
              <a:effectLst/>
              <a:uFillTx/>
              <a:latin typeface="Times New Roman"/>
            </a:endParaRPr>
          </a:p>
        </p:txBody>
      </p:sp>
      <p:grpSp>
        <p:nvGrpSpPr>
          <p:cNvPr id="174" name="Group 5"/>
          <p:cNvGrpSpPr/>
          <p:nvPr/>
        </p:nvGrpSpPr>
        <p:grpSpPr>
          <a:xfrm>
            <a:off x="4343400" y="1143000"/>
            <a:ext cx="4647960" cy="2538360"/>
            <a:chOff x="4343400" y="1143000"/>
            <a:chExt cx="4647960" cy="2538360"/>
          </a:xfrm>
        </p:grpSpPr>
        <p:pic>
          <p:nvPicPr>
            <p:cNvPr id="175" name="Picture 6" descr="circuit05"/>
            <p:cNvPicPr/>
            <p:nvPr/>
          </p:nvPicPr>
          <p:blipFill>
            <a:blip r:embed="rId1"/>
            <a:stretch/>
          </p:blipFill>
          <p:spPr>
            <a:xfrm>
              <a:off x="4419360" y="1143000"/>
              <a:ext cx="4572000" cy="2538360"/>
            </a:xfrm>
            <a:prstGeom prst="rect">
              <a:avLst/>
            </a:prstGeom>
            <a:noFill/>
            <a:ln w="38160">
              <a:noFill/>
            </a:ln>
          </p:spPr>
        </p:pic>
        <p:sp>
          <p:nvSpPr>
            <p:cNvPr id="176" name="Text Box 7"/>
            <p:cNvSpPr/>
            <p:nvPr/>
          </p:nvSpPr>
          <p:spPr>
            <a:xfrm>
              <a:off x="4343400" y="11430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A</a:t>
              </a:r>
              <a:endParaRPr lang="en-US" sz="1800" b="0" u="none" strike="noStrike">
                <a:solidFill>
                  <a:srgbClr val="000000"/>
                </a:solidFill>
                <a:effectLst/>
                <a:uFillTx/>
                <a:latin typeface="Times New Roman"/>
              </a:endParaRPr>
            </a:p>
          </p:txBody>
        </p:sp>
        <p:sp>
          <p:nvSpPr>
            <p:cNvPr id="177" name="Text Box 8"/>
            <p:cNvSpPr/>
            <p:nvPr/>
          </p:nvSpPr>
          <p:spPr>
            <a:xfrm>
              <a:off x="4343400" y="18288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B</a:t>
              </a:r>
              <a:endParaRPr lang="en-US" sz="1800" b="0" u="none" strike="noStrike">
                <a:solidFill>
                  <a:srgbClr val="000000"/>
                </a:solidFill>
                <a:effectLst/>
                <a:uFillTx/>
                <a:latin typeface="Times New Roman"/>
              </a:endParaRPr>
            </a:p>
          </p:txBody>
        </p:sp>
        <p:sp>
          <p:nvSpPr>
            <p:cNvPr id="178" name="Text Box 9"/>
            <p:cNvSpPr/>
            <p:nvPr/>
          </p:nvSpPr>
          <p:spPr>
            <a:xfrm>
              <a:off x="4343400" y="25146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C</a:t>
              </a:r>
              <a:endParaRPr lang="en-US" sz="1800" b="0" u="none" strike="noStrike">
                <a:solidFill>
                  <a:srgbClr val="000000"/>
                </a:solidFill>
                <a:effectLst/>
                <a:uFillTx/>
                <a:latin typeface="Times New Roman"/>
              </a:endParaRPr>
            </a:p>
          </p:txBody>
        </p:sp>
        <p:sp>
          <p:nvSpPr>
            <p:cNvPr id="179" name="Text Box 10"/>
            <p:cNvSpPr/>
            <p:nvPr/>
          </p:nvSpPr>
          <p:spPr>
            <a:xfrm>
              <a:off x="8272440" y="137160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S</a:t>
              </a:r>
              <a:endParaRPr lang="en-US" sz="1800" b="0" u="none" strike="noStrike">
                <a:solidFill>
                  <a:srgbClr val="000000"/>
                </a:solidFill>
                <a:effectLst/>
                <a:uFillTx/>
                <a:latin typeface="Times New Roman"/>
              </a:endParaRPr>
            </a:p>
          </p:txBody>
        </p:sp>
        <p:sp>
          <p:nvSpPr>
            <p:cNvPr id="180" name="Rectangle 11"/>
            <p:cNvSpPr/>
            <p:nvPr/>
          </p:nvSpPr>
          <p:spPr>
            <a:xfrm>
              <a:off x="8153280" y="2590560"/>
              <a:ext cx="457200" cy="22860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81" name="Text Box 12"/>
            <p:cNvSpPr/>
            <p:nvPr/>
          </p:nvSpPr>
          <p:spPr>
            <a:xfrm>
              <a:off x="8362800" y="2666880"/>
              <a:ext cx="457200" cy="368280"/>
            </a:xfrm>
            <a:prstGeom prst="rect">
              <a:avLst/>
            </a:prstGeom>
            <a:solidFill>
              <a:srgbClr val="FFFFFF"/>
            </a:solid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K</a:t>
              </a:r>
              <a:endParaRPr lang="en-US" sz="1800" b="0" u="none" strike="noStrike">
                <a:solidFill>
                  <a:srgbClr val="000000"/>
                </a:solidFill>
                <a:effectLst/>
                <a:uFillTx/>
                <a:latin typeface="Times New Roman"/>
              </a:endParaRPr>
            </a:p>
          </p:txBody>
        </p:sp>
      </p:grpSp>
      <p:sp>
        <p:nvSpPr>
          <p:cNvPr id="182" name="Text Box 13"/>
          <p:cNvSpPr/>
          <p:nvPr/>
        </p:nvSpPr>
        <p:spPr>
          <a:xfrm>
            <a:off x="5257800" y="106668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E</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83" name="Text Box 14"/>
          <p:cNvSpPr/>
          <p:nvPr/>
        </p:nvSpPr>
        <p:spPr>
          <a:xfrm>
            <a:off x="5257800" y="274320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F</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84" name="Text Box 15"/>
          <p:cNvSpPr/>
          <p:nvPr/>
        </p:nvSpPr>
        <p:spPr>
          <a:xfrm>
            <a:off x="5257800" y="160020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G</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85" name="Text Box 16"/>
          <p:cNvSpPr/>
          <p:nvPr/>
        </p:nvSpPr>
        <p:spPr>
          <a:xfrm>
            <a:off x="5257800" y="327636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H</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86" name="Text Box 17"/>
          <p:cNvSpPr/>
          <p:nvPr/>
        </p:nvSpPr>
        <p:spPr>
          <a:xfrm>
            <a:off x="6476760" y="167616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J</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87" name="Text Box 18"/>
          <p:cNvSpPr/>
          <p:nvPr/>
        </p:nvSpPr>
        <p:spPr>
          <a:xfrm>
            <a:off x="6400800" y="259056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L</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88" name="Text Box 19"/>
          <p:cNvSpPr/>
          <p:nvPr/>
        </p:nvSpPr>
        <p:spPr>
          <a:xfrm>
            <a:off x="6476760" y="114300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N</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89" name="Text Box 20"/>
          <p:cNvSpPr/>
          <p:nvPr/>
        </p:nvSpPr>
        <p:spPr>
          <a:xfrm>
            <a:off x="6095880" y="114300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M</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90" name="Text Box 21"/>
          <p:cNvSpPr/>
          <p:nvPr/>
        </p:nvSpPr>
        <p:spPr>
          <a:xfrm>
            <a:off x="6400800" y="236196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P</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91" name="Text Box 22"/>
          <p:cNvSpPr/>
          <p:nvPr/>
        </p:nvSpPr>
        <p:spPr>
          <a:xfrm>
            <a:off x="7391160" y="304776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R</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sp>
        <p:nvSpPr>
          <p:cNvPr id="192" name="Text Box 23"/>
          <p:cNvSpPr/>
          <p:nvPr/>
        </p:nvSpPr>
        <p:spPr>
          <a:xfrm>
            <a:off x="7315200" y="2209680"/>
            <a:ext cx="45720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Q</a:t>
            </a:r>
            <a:r>
              <a:rPr lang="en-US" sz="1800" b="0" u="none" strike="noStrike">
                <a:solidFill>
                  <a:srgbClr val="000000"/>
                </a:solidFill>
                <a:effectLst/>
                <a:uFillTx/>
                <a:latin typeface="Arial"/>
                <a:ea typeface="Times New Roman"/>
              </a:rPr>
              <a:t>  </a:t>
            </a:r>
            <a:endParaRPr lang="en-US" sz="1800" b="0" u="none" strike="noStrike">
              <a:solidFill>
                <a:srgbClr val="000000"/>
              </a:solidFill>
              <a:effectLst/>
              <a:uFillTx/>
              <a:latin typeface="Times New Roman"/>
            </a:endParaRPr>
          </a:p>
        </p:txBody>
      </p:sp>
      <p:grpSp>
        <p:nvGrpSpPr>
          <p:cNvPr id="193" name="Group 24"/>
          <p:cNvGrpSpPr/>
          <p:nvPr/>
        </p:nvGrpSpPr>
        <p:grpSpPr>
          <a:xfrm>
            <a:off x="6400800" y="2057400"/>
            <a:ext cx="838080" cy="380880"/>
            <a:chOff x="6400800" y="2057400"/>
            <a:chExt cx="838080" cy="380880"/>
          </a:xfrm>
        </p:grpSpPr>
        <p:sp>
          <p:nvSpPr>
            <p:cNvPr id="194" name="Line 25"/>
            <p:cNvSpPr/>
            <p:nvPr/>
          </p:nvSpPr>
          <p:spPr>
            <a:xfrm flipH="1">
              <a:off x="6628680" y="2362320"/>
              <a:ext cx="75960" cy="75960"/>
            </a:xfrm>
            <a:prstGeom prst="line">
              <a:avLst/>
            </a:prstGeom>
            <a:ln w="28440">
              <a:solidFill>
                <a:srgbClr val="008000"/>
              </a:solidFill>
              <a:miter/>
            </a:ln>
          </p:spPr>
          <p:style>
            <a:lnRef idx="0"/>
            <a:fillRef idx="0"/>
            <a:effectRef idx="0"/>
            <a:fontRef idx="minor"/>
          </p:style>
          <p:txBody>
            <a:bodyPr lIns="90000" tIns="29160" rIns="90000" bIns="29160" anchor="t">
              <a:noAutofit/>
            </a:bodyPr>
            <a:p>
              <a:endParaRPr lang="en-US" sz="2400" b="0" u="none" strike="noStrike">
                <a:solidFill>
                  <a:srgbClr val="000000"/>
                </a:solidFill>
                <a:effectLst/>
                <a:uFillTx/>
                <a:latin typeface="Times New Roman"/>
              </a:endParaRPr>
            </a:p>
          </p:txBody>
        </p:sp>
        <p:sp>
          <p:nvSpPr>
            <p:cNvPr id="195" name="Text Box 26"/>
            <p:cNvSpPr/>
            <p:nvPr/>
          </p:nvSpPr>
          <p:spPr>
            <a:xfrm>
              <a:off x="6400800" y="2057400"/>
              <a:ext cx="83808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8000"/>
                  </a:solidFill>
                  <a:effectLst/>
                  <a:uFillTx/>
                  <a:latin typeface="Arial"/>
                  <a:ea typeface="Times New Roman"/>
                </a:rPr>
                <a:t>s-a-0</a:t>
              </a:r>
              <a:endParaRPr lang="en-US" sz="1600" b="0" u="none" strike="noStrike">
                <a:solidFill>
                  <a:srgbClr val="000000"/>
                </a:solidFill>
                <a:effectLst/>
                <a:uFillTx/>
                <a:latin typeface="Times New Roman"/>
              </a:endParaRPr>
            </a:p>
          </p:txBody>
        </p:sp>
      </p:grpSp>
      <p:grpSp>
        <p:nvGrpSpPr>
          <p:cNvPr id="196" name="Group 27"/>
          <p:cNvGrpSpPr/>
          <p:nvPr/>
        </p:nvGrpSpPr>
        <p:grpSpPr>
          <a:xfrm>
            <a:off x="380880" y="2590560"/>
            <a:ext cx="4038480" cy="855000"/>
            <a:chOff x="380880" y="2590560"/>
            <a:chExt cx="4038480" cy="855000"/>
          </a:xfrm>
        </p:grpSpPr>
        <p:sp>
          <p:nvSpPr>
            <p:cNvPr id="197" name="Text Box 28"/>
            <p:cNvSpPr/>
            <p:nvPr/>
          </p:nvSpPr>
          <p:spPr>
            <a:xfrm>
              <a:off x="380880" y="2590560"/>
              <a:ext cx="4038480" cy="8550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K</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PC</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AB</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dK</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dP</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AB</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AB</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AB</a:t>
              </a:r>
              <a:r>
                <a:rPr lang="en-US" sz="2000" b="0" u="none" strike="noStrike">
                  <a:solidFill>
                    <a:srgbClr val="000000"/>
                  </a:solidFill>
                  <a:effectLst/>
                  <a:uFillTx/>
                  <a:latin typeface="Arial"/>
                  <a:ea typeface="Times New Roman"/>
                </a:rPr>
                <a:t>)</a:t>
              </a:r>
              <a:endParaRPr lang="en-US" sz="2000" b="0" u="none" strike="noStrike">
                <a:solidFill>
                  <a:srgbClr val="000000"/>
                </a:solidFill>
                <a:effectLst/>
                <a:uFillTx/>
                <a:latin typeface="Times New Roman"/>
              </a:endParaRPr>
            </a:p>
          </p:txBody>
        </p:sp>
        <p:sp>
          <p:nvSpPr>
            <p:cNvPr id="198" name="Line 29"/>
            <p:cNvSpPr/>
            <p:nvPr/>
          </p:nvSpPr>
          <p:spPr>
            <a:xfrm>
              <a:off x="3962160" y="3106440"/>
              <a:ext cx="228600" cy="0"/>
            </a:xfrm>
            <a:prstGeom prst="line">
              <a:avLst/>
            </a:prstGeom>
            <a:ln w="1872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199" name="Group 30"/>
          <p:cNvGrpSpPr/>
          <p:nvPr/>
        </p:nvGrpSpPr>
        <p:grpSpPr>
          <a:xfrm>
            <a:off x="380880" y="3886200"/>
            <a:ext cx="8229600" cy="763920"/>
            <a:chOff x="380880" y="3886200"/>
            <a:chExt cx="8229600" cy="763920"/>
          </a:xfrm>
        </p:grpSpPr>
        <p:sp>
          <p:nvSpPr>
            <p:cNvPr id="200" name="Text Box 31"/>
            <p:cNvSpPr/>
            <p:nvPr/>
          </p:nvSpPr>
          <p:spPr>
            <a:xfrm>
              <a:off x="380880" y="3886200"/>
              <a:ext cx="8229600" cy="7639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Tests that detect </a:t>
              </a:r>
              <a:r>
                <a:rPr lang="en-US" sz="2000" b="0" i="1" u="none" strike="noStrike">
                  <a:solidFill>
                    <a:srgbClr val="000000"/>
                  </a:solidFill>
                  <a:effectLst/>
                  <a:uFillTx/>
                  <a:latin typeface="Arial"/>
                  <a:ea typeface="Times New Roman"/>
                </a:rPr>
                <a:t>P</a:t>
              </a:r>
              <a:r>
                <a:rPr lang="en-US" sz="2000" b="0" u="none" strike="noStrike">
                  <a:solidFill>
                    <a:srgbClr val="000000"/>
                  </a:solidFill>
                  <a:effectLst/>
                  <a:uFillTx/>
                  <a:latin typeface="Arial"/>
                  <a:ea typeface="Times New Roman"/>
                </a:rPr>
                <a:t> s-a-0 are solutions to the equation </a:t>
              </a:r>
              <a:r>
                <a:rPr lang="en-US" sz="2000" b="0" i="1" u="none" strike="noStrike">
                  <a:solidFill>
                    <a:srgbClr val="000000"/>
                  </a:solidFill>
                  <a:effectLst/>
                  <a:uFillTx/>
                  <a:latin typeface="Arial"/>
                  <a:ea typeface="Times New Roman"/>
                </a:rPr>
                <a:t>P dK</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dP</a:t>
              </a:r>
              <a:r>
                <a:rPr lang="en-US" sz="2000" b="0" u="none" strike="noStrike">
                  <a:solidFill>
                    <a:srgbClr val="000000"/>
                  </a:solidFill>
                  <a:effectLst/>
                  <a:uFillTx/>
                  <a:latin typeface="Arial"/>
                  <a:ea typeface="Times New Roman"/>
                </a:rPr>
                <a:t> = 1</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B</a:t>
              </a:r>
              <a:r>
                <a:rPr lang="en-US" sz="2000" b="0" u="none" strike="noStrike">
                  <a:solidFill>
                    <a:srgbClr val="000000"/>
                  </a:solidFill>
                  <a:effectLst/>
                  <a:uFillTx/>
                  <a:latin typeface="Arial"/>
                  <a:ea typeface="Times New Roman"/>
                </a:rPr>
                <a:t>)</a:t>
              </a:r>
              <a:r>
                <a:rPr lang="en-US" sz="1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AB</a:t>
              </a:r>
              <a:r>
                <a:rPr lang="en-US" sz="2000" b="0" u="none" strike="noStrike">
                  <a:solidFill>
                    <a:srgbClr val="000000"/>
                  </a:solidFill>
                  <a:effectLst/>
                  <a:uFillTx/>
                  <a:latin typeface="Arial"/>
                  <a:ea typeface="Times New Roman"/>
                </a:rPr>
                <a:t>) = 1 </a:t>
              </a:r>
              <a:r>
                <a:rPr lang="en-US" sz="2000" b="0" u="none" strike="noStrike">
                  <a:solidFill>
                    <a:srgbClr val="000000"/>
                  </a:solidFill>
                  <a:effectLst/>
                  <a:uFillTx/>
                  <a:latin typeface="Arial"/>
                  <a:ea typeface="Times New Roman"/>
                </a:rPr>
                <a:t>	</a:t>
              </a:r>
              <a:r>
                <a:rPr lang="en-US" sz="24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 = 1, </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B</a:t>
              </a:r>
              <a:endParaRPr lang="en-US" sz="2000" b="0" u="none" strike="noStrike">
                <a:solidFill>
                  <a:srgbClr val="000000"/>
                </a:solidFill>
                <a:effectLst/>
                <a:uFillTx/>
                <a:latin typeface="Times New Roman"/>
              </a:endParaRPr>
            </a:p>
          </p:txBody>
        </p:sp>
        <p:sp>
          <p:nvSpPr>
            <p:cNvPr id="201" name="Line 32"/>
            <p:cNvSpPr/>
            <p:nvPr/>
          </p:nvSpPr>
          <p:spPr>
            <a:xfrm>
              <a:off x="1736640" y="4267080"/>
              <a:ext cx="182520" cy="0"/>
            </a:xfrm>
            <a:prstGeom prst="line">
              <a:avLst/>
            </a:prstGeom>
            <a:ln w="1872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202" name="Group 33"/>
          <p:cNvGrpSpPr/>
          <p:nvPr/>
        </p:nvGrpSpPr>
        <p:grpSpPr>
          <a:xfrm>
            <a:off x="380880" y="4952880"/>
            <a:ext cx="8229600" cy="763920"/>
            <a:chOff x="380880" y="4952880"/>
            <a:chExt cx="8229600" cy="763920"/>
          </a:xfrm>
        </p:grpSpPr>
        <p:sp>
          <p:nvSpPr>
            <p:cNvPr id="203" name="Line 34"/>
            <p:cNvSpPr/>
            <p:nvPr/>
          </p:nvSpPr>
          <p:spPr>
            <a:xfrm>
              <a:off x="6553080" y="5008320"/>
              <a:ext cx="136440" cy="0"/>
            </a:xfrm>
            <a:prstGeom prst="line">
              <a:avLst/>
            </a:prstGeom>
            <a:ln w="1872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04" name="Text Box 35"/>
            <p:cNvSpPr/>
            <p:nvPr/>
          </p:nvSpPr>
          <p:spPr>
            <a:xfrm>
              <a:off x="380880" y="4952880"/>
              <a:ext cx="8229600" cy="7639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Tests that detect</a:t>
              </a:r>
              <a:r>
                <a:rPr lang="en-US" sz="14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P</a:t>
              </a:r>
              <a:r>
                <a:rPr lang="en-US" sz="2000" b="0" u="none" strike="noStrike">
                  <a:solidFill>
                    <a:srgbClr val="000000"/>
                  </a:solidFill>
                  <a:effectLst/>
                  <a:uFillTx/>
                  <a:latin typeface="Arial"/>
                  <a:ea typeface="Times New Roman"/>
                </a:rPr>
                <a:t> s-a-1</a:t>
              </a:r>
              <a:r>
                <a:rPr lang="en-US" sz="14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are solutions to the equation </a:t>
              </a:r>
              <a:r>
                <a:rPr lang="en-US" sz="2000" b="0" i="1" u="none" strike="noStrike">
                  <a:solidFill>
                    <a:srgbClr val="000000"/>
                  </a:solidFill>
                  <a:effectLst/>
                  <a:uFillTx/>
                  <a:latin typeface="Arial"/>
                  <a:ea typeface="Times New Roman"/>
                </a:rPr>
                <a:t>P</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dK</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dP</a:t>
              </a:r>
              <a:r>
                <a:rPr lang="en-US" sz="2000" b="0" u="none" strike="noStrike">
                  <a:solidFill>
                    <a:srgbClr val="000000"/>
                  </a:solidFill>
                  <a:effectLst/>
                  <a:uFillTx/>
                  <a:latin typeface="Arial"/>
                  <a:ea typeface="Times New Roman"/>
                </a:rPr>
                <a:t> = 1</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B</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AB</a:t>
              </a:r>
              <a:r>
                <a:rPr lang="en-US" sz="2000" b="0" u="none" strike="noStrike">
                  <a:solidFill>
                    <a:srgbClr val="000000"/>
                  </a:solidFill>
                  <a:effectLst/>
                  <a:uFillTx/>
                  <a:latin typeface="Arial"/>
                  <a:ea typeface="Times New Roman"/>
                </a:rPr>
                <a:t>) = 1 </a:t>
              </a:r>
              <a:r>
                <a:rPr lang="en-US" sz="2000" b="0" u="none" strike="noStrike">
                  <a:solidFill>
                    <a:srgbClr val="000000"/>
                  </a:solidFill>
                  <a:effectLst/>
                  <a:uFillTx/>
                  <a:latin typeface="Arial"/>
                  <a:ea typeface="Times New Roman"/>
                </a:rPr>
                <a:t>	</a:t>
              </a:r>
              <a:r>
                <a:rPr lang="en-US" sz="24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 = 1, </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B</a:t>
              </a:r>
              <a:r>
                <a:rPr lang="en-US" sz="2000" b="0" u="none" strike="noStrike">
                  <a:solidFill>
                    <a:srgbClr val="000000"/>
                  </a:solidFill>
                  <a:effectLst/>
                  <a:uFillTx/>
                  <a:latin typeface="Arial"/>
                  <a:ea typeface="Times New Roman"/>
                </a:rPr>
                <a:t> = 0</a:t>
              </a:r>
              <a:endParaRPr lang="en-US" sz="2000" b="0" u="none" strike="noStrike">
                <a:solidFill>
                  <a:srgbClr val="000000"/>
                </a:solidFill>
                <a:effectLst/>
                <a:uFillTx/>
                <a:latin typeface="Times New Roman"/>
              </a:endParaRPr>
            </a:p>
          </p:txBody>
        </p:sp>
        <p:sp>
          <p:nvSpPr>
            <p:cNvPr id="205" name="Line 36"/>
            <p:cNvSpPr/>
            <p:nvPr/>
          </p:nvSpPr>
          <p:spPr>
            <a:xfrm>
              <a:off x="609480" y="5333760"/>
              <a:ext cx="609480" cy="0"/>
            </a:xfrm>
            <a:prstGeom prst="line">
              <a:avLst/>
            </a:prstGeom>
            <a:ln w="1872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06" name="Line 37"/>
            <p:cNvSpPr/>
            <p:nvPr/>
          </p:nvSpPr>
          <p:spPr>
            <a:xfrm>
              <a:off x="1736640" y="5333760"/>
              <a:ext cx="228600" cy="0"/>
            </a:xfrm>
            <a:prstGeom prst="line">
              <a:avLst/>
            </a:prstGeom>
            <a:ln w="1872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C3C8DF4F-8860-4245-8155-EF4A756F72C8}"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08"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1.4  The Complexity of Fault Testing</a:t>
            </a:r>
            <a:endParaRPr lang="en-US" sz="3600" b="0" u="none" strike="noStrike">
              <a:solidFill>
                <a:srgbClr val="000000"/>
              </a:solidFill>
              <a:effectLst/>
              <a:uFillTx/>
              <a:latin typeface="Arial"/>
            </a:endParaRPr>
          </a:p>
        </p:txBody>
      </p:sp>
      <p:sp>
        <p:nvSpPr>
          <p:cNvPr id="209" name="Text Box 4"/>
          <p:cNvSpPr/>
          <p:nvPr/>
        </p:nvSpPr>
        <p:spPr>
          <a:xfrm>
            <a:off x="609480" y="990360"/>
            <a:ext cx="800100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Times New Roman"/>
              </a:rPr>
              <a:t>The satisfiability problem (SAT)</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Decision problem: Is a Boolean expression satisfiable?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(i.e., can we assign values to the variables to make the result 1?)</a:t>
            </a:r>
            <a:endParaRPr lang="en-US" sz="2000" b="0" u="none" strike="noStrike">
              <a:solidFill>
                <a:srgbClr val="000000"/>
              </a:solidFill>
              <a:effectLst/>
              <a:uFillTx/>
              <a:latin typeface="Times New Roman"/>
            </a:endParaRPr>
          </a:p>
        </p:txBody>
      </p:sp>
      <p:sp>
        <p:nvSpPr>
          <p:cNvPr id="210" name="Text Box 5"/>
          <p:cNvSpPr/>
          <p:nvPr/>
        </p:nvSpPr>
        <p:spPr>
          <a:xfrm>
            <a:off x="609480" y="2133360"/>
            <a:ext cx="8001000" cy="14641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Theorem (Cook, 1971): SAT is NP-complete</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In fact, even restricted versions of SAT remain NP-complete</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Theorem (Cook, 1971): 3SAT is NP-complete</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In 3SAT, the logic expression is a product of 3-term OR clauses</a:t>
            </a:r>
            <a:endParaRPr lang="en-US" sz="2000" b="0" u="none" strike="noStrike">
              <a:solidFill>
                <a:srgbClr val="000000"/>
              </a:solidFill>
              <a:effectLst/>
              <a:uFillTx/>
              <a:latin typeface="Times New Roman"/>
            </a:endParaRPr>
          </a:p>
        </p:txBody>
      </p:sp>
      <p:sp>
        <p:nvSpPr>
          <p:cNvPr id="211" name="Text Box 6"/>
          <p:cNvSpPr/>
          <p:nvPr/>
        </p:nvSpPr>
        <p:spPr>
          <a:xfrm>
            <a:off x="609480" y="3809880"/>
            <a:ext cx="7772400" cy="22251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According to the Boolean difference formulation, fault detection can be converted to SAT (find the solutions to </a:t>
            </a:r>
            <a:r>
              <a:rPr lang="en-US" sz="2000" b="0" i="1" u="none" strike="noStrike">
                <a:solidFill>
                  <a:srgbClr val="000000"/>
                </a:solidFill>
                <a:effectLst/>
                <a:uFillTx/>
                <a:latin typeface="Arial"/>
                <a:ea typeface="Times New Roman"/>
              </a:rPr>
              <a:t>P</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dK</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dP</a:t>
            </a:r>
            <a:r>
              <a:rPr lang="en-US" sz="2000" b="0" u="none" strike="noStrike">
                <a:solidFill>
                  <a:srgbClr val="000000"/>
                </a:solidFill>
                <a:effectLst/>
                <a:uFillTx/>
                <a:latin typeface="Arial"/>
                <a:ea typeface="Times New Roman"/>
              </a:rPr>
              <a:t> = 1)</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To prove the NP-completeness of fault detection, we need to show that SAT (or another NP-complete problem) can be converted to it</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Proof of NP-completeness is due to Ibarra and Sahni [Ibar75]</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 simple alternate proof by Fujiwara [Fuji82] is in the textbook</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8AF4161A-6988-47E3-95F1-229C8CBF0D42}"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13"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14"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Proof that Fault Detection is NP-Complete</a:t>
            </a:r>
            <a:endParaRPr lang="en-US" sz="3200" b="0" u="none" strike="noStrike">
              <a:solidFill>
                <a:srgbClr val="000000"/>
              </a:solidFill>
              <a:effectLst/>
              <a:uFillTx/>
              <a:latin typeface="Arial"/>
            </a:endParaRPr>
          </a:p>
        </p:txBody>
      </p:sp>
      <p:sp>
        <p:nvSpPr>
          <p:cNvPr id="215" name="Text Box 5"/>
          <p:cNvSpPr/>
          <p:nvPr/>
        </p:nvSpPr>
        <p:spPr>
          <a:xfrm>
            <a:off x="228600" y="914400"/>
            <a:ext cx="80010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Theorem (Cook, 1971): 3SAT is NP-complete</a:t>
            </a:r>
            <a:endParaRPr lang="en-US" sz="2000" b="0" u="none" strike="noStrike">
              <a:solidFill>
                <a:srgbClr val="000000"/>
              </a:solidFill>
              <a:effectLst/>
              <a:uFillTx/>
              <a:latin typeface="Times New Roman"/>
            </a:endParaRPr>
          </a:p>
        </p:txBody>
      </p:sp>
      <p:sp>
        <p:nvSpPr>
          <p:cNvPr id="216" name="Text Box 6"/>
          <p:cNvSpPr/>
          <p:nvPr/>
        </p:nvSpPr>
        <p:spPr>
          <a:xfrm>
            <a:off x="228600" y="3733560"/>
            <a:ext cx="8610480" cy="2377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Clause-monotone SAT can be converted to fault detection in a circuit</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First level has ANDs for all clauses with complemented variables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Second level has ORs for all clauses with uncomplemented variables, plus an OR gate with level-1 outputs as its inputs (one input to this gate is </a:t>
            </a:r>
            <a:r>
              <a:rPr lang="en-US" sz="2000" b="0" i="1" u="none" strike="noStrike">
                <a:solidFill>
                  <a:srgbClr val="000000"/>
                </a:solidFill>
                <a:effectLst/>
                <a:uFillTx/>
                <a:latin typeface="Arial"/>
                <a:ea typeface="Times New Roman"/>
              </a:rPr>
              <a:t>y</a:t>
            </a:r>
            <a:r>
              <a:rPr lang="en-US" sz="2000" b="0" u="none" strike="noStrike">
                <a:solidFill>
                  <a:srgbClr val="000000"/>
                </a:solidFill>
                <a:effectLst/>
                <a:uFillTx/>
                <a:latin typeface="Arial"/>
                <a:ea typeface="Times New Roman"/>
              </a:rPr>
              <a:t>)</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Third level has one AND gate that receives all level-2 outputs as its inputs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 test for y s-a-1 satisfies the original clause-monotone expression</a:t>
            </a:r>
            <a:endParaRPr lang="en-US" sz="2000" b="0" u="none" strike="noStrike">
              <a:solidFill>
                <a:srgbClr val="000000"/>
              </a:solidFill>
              <a:effectLst/>
              <a:uFillTx/>
              <a:latin typeface="Times New Roman"/>
            </a:endParaRPr>
          </a:p>
        </p:txBody>
      </p:sp>
      <p:sp>
        <p:nvSpPr>
          <p:cNvPr id="217" name="Text Box 7"/>
          <p:cNvSpPr/>
          <p:nvPr/>
        </p:nvSpPr>
        <p:spPr>
          <a:xfrm>
            <a:off x="228600" y="1371600"/>
            <a:ext cx="8610480" cy="22669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Theorem: Clause-monotone SAT (CM-SAT) is NP-complete</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CM-SAT has OR clauses each of which consists entirely of complemented or uncomplemented variables, but not both</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3SAT can be converted to CM-SAT by replacing each mixed OR clause with the product of two clauses involving a new variable</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Example: (</a:t>
            </a:r>
            <a:r>
              <a:rPr lang="en-US" sz="2000" b="0" i="1" u="none" strike="noStrike">
                <a:solidFill>
                  <a:srgbClr val="000000"/>
                </a:solidFill>
                <a:effectLst/>
                <a:uFillTx/>
                <a:latin typeface="Arial"/>
                <a:ea typeface="Times New Roman"/>
              </a:rPr>
              <a:t>x</a:t>
            </a:r>
            <a:r>
              <a:rPr lang="en-US" sz="2000" b="0" i="1" u="none" strike="noStrike" baseline="-25000">
                <a:solidFill>
                  <a:srgbClr val="000000"/>
                </a:solidFill>
                <a:effectLst/>
                <a:uFillTx/>
                <a:latin typeface="Arial"/>
                <a:ea typeface="Times New Roman"/>
              </a:rPr>
              <a:t>i</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2000" b="0" i="1" u="none" strike="noStrike" baseline="-25000">
                <a:solidFill>
                  <a:srgbClr val="000000"/>
                </a:solidFill>
                <a:effectLst/>
                <a:uFillTx/>
                <a:latin typeface="Arial"/>
                <a:ea typeface="Times New Roman"/>
              </a:rPr>
              <a:t>j</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900" b="0" i="1"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i="1" u="none" strike="noStrike" baseline="-25000">
                <a:solidFill>
                  <a:srgbClr val="000000"/>
                </a:solidFill>
                <a:effectLst/>
                <a:uFillTx/>
                <a:latin typeface="Arial"/>
                <a:ea typeface="Times New Roman"/>
              </a:rPr>
              <a:t>k</a:t>
            </a:r>
            <a:r>
              <a:rPr lang="en-US" sz="2000" b="0" u="none" strike="noStrike">
                <a:solidFill>
                  <a:srgbClr val="000000"/>
                </a:solidFill>
                <a:effectLst/>
                <a:uFillTx/>
                <a:latin typeface="Arial"/>
                <a:ea typeface="Times New Roman"/>
              </a:rPr>
              <a:t>) is replaced by (</a:t>
            </a:r>
            <a:r>
              <a:rPr lang="en-US" sz="2000" b="0" i="1" u="none" strike="noStrike">
                <a:solidFill>
                  <a:srgbClr val="000000"/>
                </a:solidFill>
                <a:effectLst/>
                <a:uFillTx/>
                <a:latin typeface="Arial"/>
                <a:ea typeface="Times New Roman"/>
              </a:rPr>
              <a:t>x</a:t>
            </a:r>
            <a:r>
              <a:rPr lang="en-US" sz="2000" b="0" i="1" u="none" strike="noStrike" baseline="-25000">
                <a:solidFill>
                  <a:srgbClr val="000000"/>
                </a:solidFill>
                <a:effectLst/>
                <a:uFillTx/>
                <a:latin typeface="Arial"/>
                <a:ea typeface="Times New Roman"/>
              </a:rPr>
              <a:t>i</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2000" b="0" i="1" u="none" strike="noStrike" baseline="-25000">
                <a:solidFill>
                  <a:srgbClr val="000000"/>
                </a:solidFill>
                <a:effectLst/>
                <a:uFillTx/>
                <a:latin typeface="Arial"/>
                <a:ea typeface="Times New Roman"/>
              </a:rPr>
              <a:t>j</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v</a:t>
            </a:r>
            <a:r>
              <a:rPr lang="en-US" sz="2000" b="0" i="1" u="none" strike="noStrike" baseline="-25000">
                <a:solidFill>
                  <a:srgbClr val="000000"/>
                </a:solidFill>
                <a:effectLst/>
                <a:uFillTx/>
                <a:latin typeface="Arial"/>
                <a:ea typeface="Times New Roman"/>
              </a:rPr>
              <a:t>k</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v</a:t>
            </a:r>
            <a:r>
              <a:rPr lang="en-US" sz="900" b="0" i="1"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i="1" u="none" strike="noStrike" baseline="-25000">
                <a:solidFill>
                  <a:srgbClr val="000000"/>
                </a:solidFill>
                <a:effectLst/>
                <a:uFillTx/>
                <a:latin typeface="Arial"/>
                <a:ea typeface="Times New Roman"/>
              </a:rPr>
              <a:t>k</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900" b="0" i="1"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i="1" u="none" strike="noStrike" baseline="-25000">
                <a:solidFill>
                  <a:srgbClr val="000000"/>
                </a:solidFill>
                <a:effectLst/>
                <a:uFillTx/>
                <a:latin typeface="Arial"/>
                <a:ea typeface="Times New Roman"/>
              </a:rPr>
              <a:t>k</a:t>
            </a:r>
            <a:r>
              <a:rPr lang="en-US" sz="2000" b="0" u="none" strike="noStrike">
                <a:solidFill>
                  <a:srgbClr val="000000"/>
                </a:solidFill>
                <a:effectLst/>
                <a:uFillTx/>
                <a:latin typeface="Arial"/>
                <a:ea typeface="Times New Roman"/>
              </a:rPr>
              <a:t>)</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35E0EA7E-A936-4C0C-A1BD-4381E3AB6903}"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19"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20"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1.5  Testing of Units with Memory</a:t>
            </a:r>
            <a:endParaRPr lang="en-US" sz="3600" b="0" u="none" strike="noStrike">
              <a:solidFill>
                <a:srgbClr val="000000"/>
              </a:solidFill>
              <a:effectLst/>
              <a:uFillTx/>
              <a:latin typeface="Arial"/>
            </a:endParaRPr>
          </a:p>
        </p:txBody>
      </p:sp>
      <p:sp>
        <p:nvSpPr>
          <p:cNvPr id="221" name="Text Box 4"/>
          <p:cNvSpPr/>
          <p:nvPr/>
        </p:nvSpPr>
        <p:spPr>
          <a:xfrm>
            <a:off x="609480" y="990360"/>
            <a:ext cx="80010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The presence of memory expands the number of required test cases</a:t>
            </a:r>
            <a:endParaRPr lang="en-US" sz="2000" b="0" u="none" strike="noStrike">
              <a:solidFill>
                <a:srgbClr val="000000"/>
              </a:solidFill>
              <a:effectLst/>
              <a:uFillTx/>
              <a:latin typeface="Times New Roman"/>
            </a:endParaRPr>
          </a:p>
        </p:txBody>
      </p:sp>
      <p:sp>
        <p:nvSpPr>
          <p:cNvPr id="222" name="Text Box 10"/>
          <p:cNvSpPr/>
          <p:nvPr/>
        </p:nvSpPr>
        <p:spPr>
          <a:xfrm>
            <a:off x="609480" y="1676160"/>
            <a:ext cx="8001000" cy="19213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To test a sequential machine, we may need to apply different input sequences for each possible initial state</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Exponentially many possible input sequences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Exponentially many possible machine states</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7667253B-175F-4394-BF60-178700B279B4}"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24"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25"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Testing of Memory</a:t>
            </a:r>
            <a:endParaRPr lang="en-US" sz="3200" b="0" u="none" strike="noStrike">
              <a:solidFill>
                <a:srgbClr val="000000"/>
              </a:solidFill>
              <a:effectLst/>
              <a:uFillTx/>
              <a:latin typeface="Arial"/>
            </a:endParaRPr>
          </a:p>
        </p:txBody>
      </p:sp>
      <p:sp>
        <p:nvSpPr>
          <p:cNvPr id="226" name="Text Box 4"/>
          <p:cNvSpPr/>
          <p:nvPr/>
        </p:nvSpPr>
        <p:spPr>
          <a:xfrm>
            <a:off x="609480" y="990360"/>
            <a:ext cx="80010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Simple-minded approach: Write 000 . . . 00 and 111 . . . 11 into every memory word and read out to verify proper storage and retrieval</a:t>
            </a:r>
            <a:endParaRPr lang="en-US" sz="2000" b="0" u="none" strike="noStrike">
              <a:solidFill>
                <a:srgbClr val="000000"/>
              </a:solidFill>
              <a:effectLst/>
              <a:uFillTx/>
              <a:latin typeface="Times New Roman"/>
            </a:endParaRPr>
          </a:p>
        </p:txBody>
      </p:sp>
      <p:sp>
        <p:nvSpPr>
          <p:cNvPr id="227" name="Text Box 5"/>
          <p:cNvSpPr/>
          <p:nvPr/>
        </p:nvSpPr>
        <p:spPr>
          <a:xfrm>
            <a:off x="609480" y="1828800"/>
            <a:ext cx="80010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Problems with the simple-minded approach:</a:t>
            </a:r>
            <a:endParaRPr lang="en-US" sz="2000" b="0" u="none" strike="noStrike">
              <a:solidFill>
                <a:srgbClr val="000000"/>
              </a:solidFill>
              <a:effectLst/>
              <a:uFillTx/>
              <a:latin typeface="Times New Roman"/>
            </a:endParaRPr>
          </a:p>
        </p:txBody>
      </p:sp>
      <p:sp>
        <p:nvSpPr>
          <p:cNvPr id="228" name="Text Box 6"/>
          <p:cNvSpPr/>
          <p:nvPr/>
        </p:nvSpPr>
        <p:spPr>
          <a:xfrm>
            <a:off x="609480" y="2286000"/>
            <a:ext cx="77724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Wingdings"/>
                <a:ea typeface="Wingdings"/>
              </a:rPr>
              <a:t></a:t>
            </a:r>
            <a:r>
              <a:rPr lang="en-US" sz="2000" b="0" u="none" strike="noStrike">
                <a:solidFill>
                  <a:srgbClr val="000000"/>
                </a:solidFill>
                <a:effectLst/>
                <a:uFillTx/>
                <a:latin typeface="Arial"/>
                <a:ea typeface="Times New Roman"/>
              </a:rPr>
              <a:t> Does not test access/decoding mechanism – How do you know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the intended word was written into and read from?</a:t>
            </a:r>
            <a:endParaRPr lang="en-US" sz="2000" b="0" u="none" strike="noStrike">
              <a:solidFill>
                <a:srgbClr val="000000"/>
              </a:solidFill>
              <a:effectLst/>
              <a:uFillTx/>
              <a:latin typeface="Times New Roman"/>
            </a:endParaRPr>
          </a:p>
        </p:txBody>
      </p:sp>
      <p:sp>
        <p:nvSpPr>
          <p:cNvPr id="229" name="Text Box 7"/>
          <p:cNvSpPr/>
          <p:nvPr/>
        </p:nvSpPr>
        <p:spPr>
          <a:xfrm>
            <a:off x="609480" y="2971800"/>
            <a:ext cx="77724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Wingdings"/>
                <a:ea typeface="Wingdings"/>
              </a:rPr>
              <a:t></a:t>
            </a:r>
            <a:r>
              <a:rPr lang="en-US" sz="2000" b="0" u="none" strike="noStrike">
                <a:solidFill>
                  <a:srgbClr val="000000"/>
                </a:solidFill>
                <a:effectLst/>
                <a:uFillTx/>
                <a:latin typeface="Arial"/>
                <a:ea typeface="Times New Roman"/>
              </a:rPr>
              <a:t> Many memory faults are pattern-sensitive, where cell operation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is affected by the values stored in nearby cells</a:t>
            </a:r>
            <a:endParaRPr lang="en-US" sz="2000" b="0" u="none" strike="noStrike">
              <a:solidFill>
                <a:srgbClr val="000000"/>
              </a:solidFill>
              <a:effectLst/>
              <a:uFillTx/>
              <a:latin typeface="Times New Roman"/>
            </a:endParaRPr>
          </a:p>
        </p:txBody>
      </p:sp>
      <p:sp>
        <p:nvSpPr>
          <p:cNvPr id="230" name="Text Box 8"/>
          <p:cNvSpPr/>
          <p:nvPr/>
        </p:nvSpPr>
        <p:spPr>
          <a:xfrm>
            <a:off x="609480" y="3657600"/>
            <a:ext cx="77724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Wingdings"/>
                <a:ea typeface="Wingdings"/>
              </a:rPr>
              <a:t></a:t>
            </a:r>
            <a:r>
              <a:rPr lang="en-US" sz="2000" b="0" u="none" strike="noStrike">
                <a:solidFill>
                  <a:srgbClr val="000000"/>
                </a:solidFill>
                <a:effectLst/>
                <a:uFillTx/>
                <a:latin typeface="Arial"/>
                <a:ea typeface="Times New Roman"/>
              </a:rPr>
              <a:t> Modern high-density memories experience dynamic faults that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are exposed only for specific access sequences</a:t>
            </a:r>
            <a:endParaRPr lang="en-US" sz="2000" b="0" u="none" strike="noStrike">
              <a:solidFill>
                <a:srgbClr val="000000"/>
              </a:solidFill>
              <a:effectLst/>
              <a:uFillTx/>
              <a:latin typeface="Times New Roman"/>
            </a:endParaRPr>
          </a:p>
        </p:txBody>
      </p:sp>
      <p:sp>
        <p:nvSpPr>
          <p:cNvPr id="231" name="Text Box 9"/>
          <p:cNvSpPr/>
          <p:nvPr/>
        </p:nvSpPr>
        <p:spPr>
          <a:xfrm>
            <a:off x="609480" y="4495680"/>
            <a:ext cx="80010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Memory testing continues to be an active research area</a:t>
            </a:r>
            <a:endParaRPr lang="en-US" sz="2000" b="0" u="none" strike="noStrike">
              <a:solidFill>
                <a:srgbClr val="000000"/>
              </a:solidFill>
              <a:effectLst/>
              <a:uFillTx/>
              <a:latin typeface="Times New Roman"/>
            </a:endParaRPr>
          </a:p>
        </p:txBody>
      </p:sp>
      <p:sp>
        <p:nvSpPr>
          <p:cNvPr id="232" name="Text Box 10"/>
          <p:cNvSpPr/>
          <p:nvPr/>
        </p:nvSpPr>
        <p:spPr>
          <a:xfrm>
            <a:off x="609480" y="5029200"/>
            <a:ext cx="8001000" cy="8247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Built-in self test is the only viable approach in the long term</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Challenge: Any run time testing consumes some memory bandwidth</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DB8197BF-B6B9-4A5A-BD17-E608ACE0C650}"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34" name="PlaceHolder 1"/>
          <p:cNvSpPr>
            <a:spLocks noGrp="1"/>
          </p:cNvSpPr>
          <p:nvPr>
            <p:ph type="title"/>
          </p:nvPr>
        </p:nvSpPr>
        <p:spPr>
          <a:xfrm>
            <a:off x="304200" y="151920"/>
            <a:ext cx="8534520" cy="76212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1" u="none" strike="noStrike">
                <a:solidFill>
                  <a:srgbClr val="0033CC"/>
                </a:solidFill>
                <a:effectLst/>
                <a:uFillTx/>
                <a:latin typeface="Arial"/>
                <a:ea typeface="Arial"/>
              </a:rPr>
              <a:t>2  Design for Testability</a:t>
            </a:r>
            <a:endParaRPr lang="en-US" sz="4400" b="0" u="none" strike="noStrike">
              <a:solidFill>
                <a:srgbClr val="000000"/>
              </a:solidFill>
              <a:effectLst/>
              <a:uFillTx/>
              <a:latin typeface="Arial"/>
            </a:endParaRPr>
          </a:p>
        </p:txBody>
      </p:sp>
      <p:pic>
        <p:nvPicPr>
          <p:cNvPr id="235" name="Picture 12" descr="VLSI Test Principles and Architectures: Design for Testability"/>
          <p:cNvPicPr/>
          <p:nvPr/>
        </p:nvPicPr>
        <p:blipFill>
          <a:blip r:embed="rId1"/>
          <a:srcRect l="0" t="15999" r="0" b="35210"/>
          <a:stretch/>
        </p:blipFill>
        <p:spPr>
          <a:xfrm>
            <a:off x="533160" y="990360"/>
            <a:ext cx="8077320" cy="5091120"/>
          </a:xfrm>
          <a:prstGeom prst="rect">
            <a:avLst/>
          </a:prstGeom>
          <a:noFill/>
          <a:ln w="3816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31E477CE-F600-4A30-A33E-93788397E333}"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37"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38" name="PlaceHolder 1"/>
          <p:cNvSpPr>
            <a:spLocks noGrp="1"/>
          </p:cNvSpPr>
          <p:nvPr>
            <p:ph type="title"/>
          </p:nvPr>
        </p:nvSpPr>
        <p:spPr>
          <a:xfrm>
            <a:off x="228600" y="152280"/>
            <a:ext cx="86868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2.1  The Importance of Testability</a:t>
            </a:r>
            <a:endParaRPr lang="en-US" sz="3600" b="0" u="none" strike="noStrike">
              <a:solidFill>
                <a:srgbClr val="000000"/>
              </a:solidFill>
              <a:effectLst/>
              <a:uFillTx/>
              <a:latin typeface="Arial"/>
            </a:endParaRPr>
          </a:p>
        </p:txBody>
      </p:sp>
      <p:sp>
        <p:nvSpPr>
          <p:cNvPr id="239" name="Text Box 4"/>
          <p:cNvSpPr/>
          <p:nvPr/>
        </p:nvSpPr>
        <p:spPr>
          <a:xfrm>
            <a:off x="609480" y="1066680"/>
            <a:ext cx="80010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 small circuit with a limited number of inputs and outputs can be tested with a reasonable amount of effort and time</a:t>
            </a:r>
            <a:endParaRPr lang="en-US" sz="2000" b="0" u="none" strike="noStrike">
              <a:solidFill>
                <a:srgbClr val="000000"/>
              </a:solidFill>
              <a:effectLst/>
              <a:uFillTx/>
              <a:latin typeface="Times New Roman"/>
            </a:endParaRPr>
          </a:p>
        </p:txBody>
      </p:sp>
      <p:sp>
        <p:nvSpPr>
          <p:cNvPr id="240" name="Text Box 5"/>
          <p:cNvSpPr/>
          <p:nvPr/>
        </p:nvSpPr>
        <p:spPr>
          <a:xfrm>
            <a:off x="609480" y="2057400"/>
            <a:ext cx="80010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 complex unit, such as a microprocessor, cannot be tested solely based on its input/output behavior</a:t>
            </a:r>
            <a:endParaRPr lang="en-US" sz="2000" b="0" u="none" strike="noStrike">
              <a:solidFill>
                <a:srgbClr val="000000"/>
              </a:solidFill>
              <a:effectLst/>
              <a:uFillTx/>
              <a:latin typeface="Times New Roman"/>
            </a:endParaRPr>
          </a:p>
        </p:txBody>
      </p:sp>
      <p:sp>
        <p:nvSpPr>
          <p:cNvPr id="241" name="Text Box 6"/>
          <p:cNvSpPr/>
          <p:nvPr/>
        </p:nvSpPr>
        <p:spPr>
          <a:xfrm>
            <a:off x="609480" y="2895480"/>
            <a:ext cx="80010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Hence, the  need for provisions in the design to facilitate testing</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9C1722E1-CD40-4A61-8AC2-D18153EEC17E}"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43"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44" name="PlaceHolder 1"/>
          <p:cNvSpPr>
            <a:spLocks noGrp="1"/>
          </p:cNvSpPr>
          <p:nvPr>
            <p:ph type="title"/>
          </p:nvPr>
        </p:nvSpPr>
        <p:spPr>
          <a:xfrm>
            <a:off x="228600" y="152280"/>
            <a:ext cx="86868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2.2  Testability Modeling</a:t>
            </a:r>
            <a:endParaRPr lang="en-US" sz="3600" b="0" u="none" strike="noStrike">
              <a:solidFill>
                <a:srgbClr val="000000"/>
              </a:solidFill>
              <a:effectLst/>
              <a:uFillTx/>
              <a:latin typeface="Arial"/>
            </a:endParaRPr>
          </a:p>
        </p:txBody>
      </p:sp>
      <p:sp>
        <p:nvSpPr>
          <p:cNvPr id="245" name="Text Box 4"/>
          <p:cNvSpPr/>
          <p:nvPr/>
        </p:nvSpPr>
        <p:spPr>
          <a:xfrm>
            <a:off x="533160" y="1371600"/>
            <a:ext cx="80010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To allow detection of a fault in point A of a logic circuit, we need to:</a:t>
            </a:r>
            <a:endParaRPr lang="en-US" sz="2000" b="0" u="none" strike="noStrike">
              <a:solidFill>
                <a:srgbClr val="000000"/>
              </a:solidFill>
              <a:effectLst/>
              <a:uFillTx/>
              <a:latin typeface="Times New Roman"/>
            </a:endParaRPr>
          </a:p>
        </p:txBody>
      </p:sp>
      <p:sp>
        <p:nvSpPr>
          <p:cNvPr id="246" name="Text Box 5"/>
          <p:cNvSpPr/>
          <p:nvPr/>
        </p:nvSpPr>
        <p:spPr>
          <a:xfrm>
            <a:off x="533160" y="1904760"/>
            <a:ext cx="80010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Be able to control that point from the primary inputs</a:t>
            </a:r>
            <a:endParaRPr lang="en-US" sz="2000" b="0" u="none" strike="noStrike">
              <a:solidFill>
                <a:srgbClr val="000000"/>
              </a:solidFill>
              <a:effectLst/>
              <a:uFillTx/>
              <a:latin typeface="Times New Roman"/>
            </a:endParaRPr>
          </a:p>
        </p:txBody>
      </p:sp>
      <p:sp>
        <p:nvSpPr>
          <p:cNvPr id="247" name="Text Box 6"/>
          <p:cNvSpPr/>
          <p:nvPr/>
        </p:nvSpPr>
        <p:spPr>
          <a:xfrm>
            <a:off x="533160" y="2438280"/>
            <a:ext cx="80010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Be able to observe that point from the primary outputs</a:t>
            </a:r>
            <a:endParaRPr lang="en-US" sz="2000" b="0" u="none" strike="noStrike">
              <a:solidFill>
                <a:srgbClr val="000000"/>
              </a:solidFill>
              <a:effectLst/>
              <a:uFillTx/>
              <a:latin typeface="Times New Roman"/>
            </a:endParaRPr>
          </a:p>
        </p:txBody>
      </p:sp>
      <p:sp>
        <p:nvSpPr>
          <p:cNvPr id="248" name="Text Box 11"/>
          <p:cNvSpPr/>
          <p:nvPr/>
        </p:nvSpPr>
        <p:spPr>
          <a:xfrm>
            <a:off x="533160" y="3352680"/>
            <a:ext cx="4419720" cy="1312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Thus, good </a:t>
            </a:r>
            <a:r>
              <a:rPr lang="en-US" sz="2000" b="1" u="none" strike="noStrike">
                <a:solidFill>
                  <a:srgbClr val="FF0000"/>
                </a:solidFill>
                <a:effectLst/>
                <a:uFillTx/>
                <a:latin typeface="Arial"/>
                <a:ea typeface="Times New Roman"/>
              </a:rPr>
              <a:t>testability</a:t>
            </a:r>
            <a:r>
              <a:rPr lang="en-US" sz="2000" b="0" u="none" strike="noStrike">
                <a:solidFill>
                  <a:srgbClr val="000000"/>
                </a:solidFill>
                <a:effectLst/>
                <a:uFillTx/>
                <a:latin typeface="Arial"/>
                <a:ea typeface="Times New Roman"/>
              </a:rPr>
              <a:t> requires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good </a:t>
            </a:r>
            <a:r>
              <a:rPr lang="en-US" sz="2000" b="1" u="none" strike="noStrike">
                <a:solidFill>
                  <a:srgbClr val="008000"/>
                </a:solidFill>
                <a:effectLst/>
                <a:uFillTx/>
                <a:latin typeface="Arial"/>
                <a:ea typeface="Times New Roman"/>
              </a:rPr>
              <a:t>controllability</a:t>
            </a:r>
            <a:r>
              <a:rPr lang="en-US" sz="2000" b="0" u="none" strike="noStrike">
                <a:solidFill>
                  <a:srgbClr val="008000"/>
                </a:solidFill>
                <a:effectLst/>
                <a:uFillTx/>
                <a:latin typeface="Arial"/>
                <a:ea typeface="Times New Roman"/>
              </a:rPr>
              <a:t> </a:t>
            </a:r>
            <a:r>
              <a:rPr lang="en-US" sz="2000" b="0" u="none" strike="noStrike">
                <a:solidFill>
                  <a:srgbClr val="000000"/>
                </a:solidFill>
                <a:effectLst/>
                <a:uFillTx/>
                <a:latin typeface="Arial"/>
                <a:ea typeface="Times New Roman"/>
              </a:rPr>
              <a:t>and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good </a:t>
            </a:r>
            <a:r>
              <a:rPr lang="en-US" sz="2000" b="1" u="none" strike="noStrike">
                <a:solidFill>
                  <a:srgbClr val="0033CC"/>
                </a:solidFill>
                <a:effectLst/>
                <a:uFillTx/>
                <a:latin typeface="Arial"/>
                <a:ea typeface="Times New Roman"/>
              </a:rPr>
              <a:t>observability</a:t>
            </a:r>
            <a:r>
              <a:rPr lang="en-US" sz="2000" b="1"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for every node in the circuit</a:t>
            </a:r>
            <a:endParaRPr lang="en-US" sz="2000" b="0" u="none" strike="noStrike">
              <a:solidFill>
                <a:srgbClr val="000000"/>
              </a:solidFill>
              <a:effectLst/>
              <a:uFillTx/>
              <a:latin typeface="Times New Roman"/>
            </a:endParaRPr>
          </a:p>
        </p:txBody>
      </p:sp>
      <p:sp>
        <p:nvSpPr>
          <p:cNvPr id="249" name="Rectangle 13"/>
          <p:cNvSpPr/>
          <p:nvPr/>
        </p:nvSpPr>
        <p:spPr>
          <a:xfrm>
            <a:off x="5486400" y="3612960"/>
            <a:ext cx="2514600" cy="1676520"/>
          </a:xfrm>
          <a:prstGeom prst="rect">
            <a:avLst/>
          </a:prstGeom>
          <a:solidFill>
            <a:srgbClr val="CCECFF"/>
          </a:solidFill>
          <a:ln w="9360">
            <a:solidFill>
              <a:srgbClr val="000000"/>
            </a:solidFill>
            <a:prstDash val="dash"/>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50" name="Rectangle 14"/>
          <p:cNvSpPr/>
          <p:nvPr/>
        </p:nvSpPr>
        <p:spPr>
          <a:xfrm>
            <a:off x="5715000" y="3841560"/>
            <a:ext cx="2057400" cy="121932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51" name="Line 15"/>
          <p:cNvSpPr/>
          <p:nvPr/>
        </p:nvSpPr>
        <p:spPr>
          <a:xfrm>
            <a:off x="5029200" y="4451040"/>
            <a:ext cx="685800" cy="0"/>
          </a:xfrm>
          <a:prstGeom prst="line">
            <a:avLst/>
          </a:prstGeom>
          <a:ln w="3780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52" name="Line 16"/>
          <p:cNvSpPr/>
          <p:nvPr/>
        </p:nvSpPr>
        <p:spPr>
          <a:xfrm>
            <a:off x="7772400" y="4451040"/>
            <a:ext cx="685800" cy="0"/>
          </a:xfrm>
          <a:prstGeom prst="line">
            <a:avLst/>
          </a:prstGeom>
          <a:ln w="3780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53" name="Text Box 17"/>
          <p:cNvSpPr/>
          <p:nvPr/>
        </p:nvSpPr>
        <p:spPr>
          <a:xfrm>
            <a:off x="5638680" y="3581280"/>
            <a:ext cx="2971800" cy="307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ea typeface="Times New Roman"/>
              </a:rPr>
              <a:t>Circuit under test (CUT)</a:t>
            </a:r>
            <a:endParaRPr lang="en-US" sz="1400" b="0" u="none" strike="noStrike">
              <a:solidFill>
                <a:srgbClr val="000000"/>
              </a:solidFill>
              <a:effectLst/>
              <a:uFillTx/>
              <a:latin typeface="Times New Roman"/>
            </a:endParaRPr>
          </a:p>
        </p:txBody>
      </p:sp>
      <p:sp>
        <p:nvSpPr>
          <p:cNvPr id="254" name="Oval 18"/>
          <p:cNvSpPr/>
          <p:nvPr/>
        </p:nvSpPr>
        <p:spPr>
          <a:xfrm>
            <a:off x="6933960" y="4527360"/>
            <a:ext cx="76320" cy="76320"/>
          </a:xfrm>
          <a:prstGeom prst="ellipse">
            <a:avLst/>
          </a:prstGeom>
          <a:solidFill>
            <a:srgbClr val="FFFF00"/>
          </a:solidFill>
          <a:ln w="9360">
            <a:solidFill>
              <a:srgbClr val="000000"/>
            </a:solidFill>
            <a:miter/>
          </a:ln>
        </p:spPr>
        <p:style>
          <a:lnRef idx="0"/>
          <a:fillRef idx="0"/>
          <a:effectRef idx="0"/>
          <a:fontRef idx="minor"/>
        </p:style>
        <p:txBody>
          <a:bodyPr wrap="none" lIns="90000" tIns="7200" rIns="90000" bIns="72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55" name="Text Box 12"/>
          <p:cNvSpPr/>
          <p:nvPr/>
        </p:nvSpPr>
        <p:spPr>
          <a:xfrm>
            <a:off x="6783120" y="4555800"/>
            <a:ext cx="384120" cy="4593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0000"/>
                </a:solidFill>
                <a:effectLst/>
                <a:uFillTx/>
                <a:latin typeface="Arial"/>
              </a:rPr>
              <a:t>A</a:t>
            </a:r>
            <a:endParaRPr lang="en-US" sz="2400" b="0" u="none" strike="noStrike">
              <a:solidFill>
                <a:srgbClr val="000000"/>
              </a:solidFill>
              <a:effectLst/>
              <a:uFillTx/>
              <a:latin typeface="Times New Roman"/>
            </a:endParaRPr>
          </a:p>
        </p:txBody>
      </p:sp>
      <p:sp>
        <p:nvSpPr>
          <p:cNvPr id="256" name="Freeform 19"/>
          <p:cNvSpPr/>
          <p:nvPr/>
        </p:nvSpPr>
        <p:spPr>
          <a:xfrm>
            <a:off x="5715000" y="4179600"/>
            <a:ext cx="1218960" cy="615960"/>
          </a:xfrm>
          <a:custGeom>
            <a:avLst/>
            <a:gdLst>
              <a:gd name="GluePoint1X" fmla="*/ 0 w 768"/>
              <a:gd name="GluePoint1Y" fmla="*/ 2147483646 h 388"/>
              <a:gd name="GluePoint2X" fmla="*/ 2147483646 w 768"/>
              <a:gd name="GluePoint2Y" fmla="*/ 2147483646 h 388"/>
              <a:gd name="GluePoint3X" fmla="*/ 2147483646 w 768"/>
              <a:gd name="GluePoint3Y" fmla="*/ 2147483646 h 388"/>
              <a:gd name="GluePoint4X" fmla="*/ 2147483646 w 768"/>
              <a:gd name="GluePoint4Y" fmla="*/ 2147483646 h 388"/>
              <a:gd name="GluePoint5X" fmla="*/ 2147483646 w 768"/>
              <a:gd name="GluePoint5Y" fmla="*/ 2147483646 h 388"/>
              <a:gd name="GluePoint6X" fmla="*/ 2147483646 w 768"/>
              <a:gd name="GluePoint6Y" fmla="*/ 2147483646 h 3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768" h="388">
                <a:moveTo>
                  <a:pt x="0" y="171"/>
                </a:moveTo>
                <a:cubicBezTo>
                  <a:pt x="19" y="171"/>
                  <a:pt x="68" y="162"/>
                  <a:pt x="112" y="173"/>
                </a:cubicBezTo>
                <a:cubicBezTo>
                  <a:pt x="156" y="184"/>
                  <a:pt x="214" y="263"/>
                  <a:pt x="267" y="237"/>
                </a:cubicBezTo>
                <a:cubicBezTo>
                  <a:pt x="320" y="211"/>
                  <a:pt x="380" y="0"/>
                  <a:pt x="432" y="18"/>
                </a:cubicBezTo>
                <a:cubicBezTo>
                  <a:pt x="484" y="36"/>
                  <a:pt x="522" y="306"/>
                  <a:pt x="578" y="347"/>
                </a:cubicBezTo>
                <a:cubicBezTo>
                  <a:pt x="634" y="388"/>
                  <a:pt x="729" y="284"/>
                  <a:pt x="768" y="267"/>
                </a:cubicBezTo>
              </a:path>
            </a:pathLst>
          </a:custGeom>
          <a:noFill/>
          <a:ln w="37800">
            <a:solidFill>
              <a:srgbClr val="008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57" name="Freeform 20"/>
          <p:cNvSpPr/>
          <p:nvPr/>
        </p:nvSpPr>
        <p:spPr>
          <a:xfrm>
            <a:off x="7010280" y="4336920"/>
            <a:ext cx="762120" cy="431640"/>
          </a:xfrm>
          <a:custGeom>
            <a:avLst/>
            <a:gdLst>
              <a:gd name="GluePoint1X" fmla="*/ 0 w 480"/>
              <a:gd name="GluePoint1Y" fmla="*/ 2147483646 h 272"/>
              <a:gd name="GluePoint2X" fmla="*/ 2147483646 w 480"/>
              <a:gd name="GluePoint2Y" fmla="*/ 2147483646 h 272"/>
              <a:gd name="GluePoint3X" fmla="*/ 2147483646 w 480"/>
              <a:gd name="GluePoint3Y" fmla="*/ 2147483646 h 272"/>
              <a:gd name="GluePoint4X" fmla="*/ 2147483646 w 480"/>
              <a:gd name="GluePoint4Y" fmla="*/ 2147483646 h 272"/>
              <a:gd name="GluePoint5X" fmla="*/ 2147483646 w 480"/>
              <a:gd name="GluePoint5Y" fmla="*/ 2147483646 h 272"/>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480" h="272">
                <a:moveTo>
                  <a:pt x="0" y="120"/>
                </a:moveTo>
                <a:cubicBezTo>
                  <a:pt x="32" y="60"/>
                  <a:pt x="64" y="0"/>
                  <a:pt x="96" y="24"/>
                </a:cubicBezTo>
                <a:cubicBezTo>
                  <a:pt x="128" y="48"/>
                  <a:pt x="152" y="256"/>
                  <a:pt x="192" y="264"/>
                </a:cubicBezTo>
                <a:cubicBezTo>
                  <a:pt x="232" y="272"/>
                  <a:pt x="288" y="104"/>
                  <a:pt x="336" y="72"/>
                </a:cubicBezTo>
                <a:cubicBezTo>
                  <a:pt x="384" y="40"/>
                  <a:pt x="456" y="72"/>
                  <a:pt x="480" y="72"/>
                </a:cubicBezTo>
              </a:path>
            </a:pathLst>
          </a:custGeom>
          <a:noFill/>
          <a:ln w="37800">
            <a:solidFill>
              <a:srgbClr val="0033CC"/>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9E0784E4-0A5F-431F-8667-94CF81FB6BC0}"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59"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60" name="PlaceHolder 1"/>
          <p:cNvSpPr>
            <a:spLocks noGrp="1"/>
          </p:cNvSpPr>
          <p:nvPr>
            <p:ph type="title"/>
          </p:nvPr>
        </p:nvSpPr>
        <p:spPr>
          <a:xfrm>
            <a:off x="228600" y="152280"/>
            <a:ext cx="86868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2.3  DFT</a:t>
            </a:r>
            <a:endParaRPr lang="en-US" sz="3600" b="0" u="none" strike="noStrike">
              <a:solidFill>
                <a:srgbClr val="000000"/>
              </a:solidFill>
              <a:effectLst/>
              <a:uFillTx/>
              <a:latin typeface="Arial"/>
            </a:endParaRPr>
          </a:p>
        </p:txBody>
      </p:sp>
      <p:pic>
        <p:nvPicPr>
          <p:cNvPr id="261" name="Picture 2"/>
          <p:cNvPicPr/>
          <p:nvPr/>
        </p:nvPicPr>
        <p:blipFill>
          <a:blip r:embed="rId1"/>
          <a:stretch/>
        </p:blipFill>
        <p:spPr>
          <a:xfrm>
            <a:off x="1477800" y="1157040"/>
            <a:ext cx="6207120" cy="2397240"/>
          </a:xfrm>
          <a:prstGeom prst="rect">
            <a:avLst/>
          </a:prstGeom>
          <a:noFill/>
          <a:ln w="38160">
            <a:noFill/>
          </a:ln>
        </p:spPr>
      </p:pic>
      <p:pic>
        <p:nvPicPr>
          <p:cNvPr id="262" name="Picture 4"/>
          <p:cNvPicPr/>
          <p:nvPr/>
        </p:nvPicPr>
        <p:blipFill>
          <a:blip r:embed="rId2"/>
          <a:srcRect l="8822" t="0" r="0" b="0"/>
          <a:stretch/>
        </p:blipFill>
        <p:spPr>
          <a:xfrm>
            <a:off x="228600" y="4109760"/>
            <a:ext cx="4724280" cy="1474920"/>
          </a:xfrm>
          <a:prstGeom prst="rect">
            <a:avLst/>
          </a:prstGeom>
          <a:noFill/>
          <a:ln w="38160">
            <a:noFill/>
          </a:ln>
        </p:spPr>
      </p:pic>
      <p:pic>
        <p:nvPicPr>
          <p:cNvPr id="263" name="Picture 6"/>
          <p:cNvPicPr/>
          <p:nvPr/>
        </p:nvPicPr>
        <p:blipFill>
          <a:blip r:embed="rId3"/>
          <a:stretch/>
        </p:blipFill>
        <p:spPr>
          <a:xfrm>
            <a:off x="5640120" y="4140000"/>
            <a:ext cx="3318120" cy="1316160"/>
          </a:xfrm>
          <a:prstGeom prst="rect">
            <a:avLst/>
          </a:prstGeom>
          <a:noFill/>
          <a:ln w="3816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7D8A0C8F-DD4B-48DE-A8F6-100D5D2CC7DD}"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65" name="PlaceHolder 1"/>
          <p:cNvSpPr>
            <a:spLocks noGrp="1"/>
          </p:cNvSpPr>
          <p:nvPr>
            <p:ph type="title"/>
          </p:nvPr>
        </p:nvSpPr>
        <p:spPr>
          <a:xfrm>
            <a:off x="228600" y="152280"/>
            <a:ext cx="86868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2.3  DFT</a:t>
            </a:r>
            <a:endParaRPr lang="en-US" sz="3600" b="0" u="none" strike="noStrike">
              <a:solidFill>
                <a:srgbClr val="000000"/>
              </a:solidFill>
              <a:effectLst/>
              <a:uFillTx/>
              <a:latin typeface="Arial"/>
            </a:endParaRPr>
          </a:p>
        </p:txBody>
      </p:sp>
      <p:pic>
        <p:nvPicPr>
          <p:cNvPr id="266" name="Picture 11"/>
          <p:cNvPicPr/>
          <p:nvPr/>
        </p:nvPicPr>
        <p:blipFill>
          <a:blip r:embed="rId1"/>
          <a:stretch/>
        </p:blipFill>
        <p:spPr>
          <a:xfrm>
            <a:off x="1547640" y="838080"/>
            <a:ext cx="6048360" cy="5181480"/>
          </a:xfrm>
          <a:prstGeom prst="rect">
            <a:avLst/>
          </a:prstGeom>
          <a:noFill/>
          <a:ln w="3816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Footer Placeholder 4"/>
          <p:cNvSpPr/>
          <p:nvPr/>
        </p:nvSpPr>
        <p:spPr>
          <a:xfrm>
            <a:off x="2209680" y="6248160"/>
            <a:ext cx="4572000" cy="457200"/>
          </a:xfrm>
          <a:prstGeom prst="rect">
            <a:avLst/>
          </a:prstGeom>
          <a:noFill/>
          <a:ln w="38160">
            <a:noFill/>
          </a:ln>
        </p:spPr>
        <p:style>
          <a:lnRef idx="0"/>
          <a:fillRef idx="0"/>
          <a:effectRef idx="0"/>
          <a:fontRef idx="minor"/>
        </p:style>
        <p:txBody>
          <a:bodyPr lIns="90000" tIns="46800" rIns="90000" bIns="46800" anchor="t">
            <a:norm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Part III – Faults: Logical Deviations</a:t>
            </a:r>
            <a:endParaRPr lang="en-US" sz="1200" b="0" u="none" strike="noStrike">
              <a:solidFill>
                <a:srgbClr val="000000"/>
              </a:solidFill>
              <a:effectLst/>
              <a:uFillTx/>
              <a:latin typeface="Times New Roman"/>
            </a:endParaRPr>
          </a:p>
        </p:txBody>
      </p:sp>
      <p:sp>
        <p:nvSpPr>
          <p:cNvPr id="268"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4E354288-ED5D-4C6E-992D-49661E5FA3B9}"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69" name="Rectangle 2"/>
          <p:cNvSpPr/>
          <p:nvPr/>
        </p:nvSpPr>
        <p:spPr>
          <a:xfrm>
            <a:off x="609480" y="3200400"/>
            <a:ext cx="6781680" cy="1676160"/>
          </a:xfrm>
          <a:prstGeom prst="rect">
            <a:avLst/>
          </a:prstGeom>
          <a:solidFill>
            <a:srgbClr val="FFFF66"/>
          </a:solidFill>
          <a:ln w="9360">
            <a:solidFill>
              <a:srgbClr val="000000"/>
            </a:solidFill>
            <a:prstDash val="dash"/>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70" name="Rectangle 3"/>
          <p:cNvSpPr/>
          <p:nvPr/>
        </p:nvSpPr>
        <p:spPr>
          <a:xfrm>
            <a:off x="2743200" y="1218960"/>
            <a:ext cx="2514600" cy="1676520"/>
          </a:xfrm>
          <a:prstGeom prst="rect">
            <a:avLst/>
          </a:prstGeom>
          <a:solidFill>
            <a:srgbClr val="CCECFF"/>
          </a:solidFill>
          <a:ln w="9360">
            <a:solidFill>
              <a:srgbClr val="000000"/>
            </a:solidFill>
            <a:prstDash val="dash"/>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71" name="Rectangle 4"/>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72" name="PlaceHolder 1"/>
          <p:cNvSpPr>
            <a:spLocks noGrp="1"/>
          </p:cNvSpPr>
          <p:nvPr>
            <p:ph type="title"/>
          </p:nvPr>
        </p:nvSpPr>
        <p:spPr>
          <a:xfrm>
            <a:off x="685800" y="228240"/>
            <a:ext cx="77724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2.4  Built-in Self-Test (BIST)</a:t>
            </a:r>
            <a:endParaRPr lang="en-US" sz="3600" b="0" u="none" strike="noStrike">
              <a:solidFill>
                <a:srgbClr val="000000"/>
              </a:solidFill>
              <a:effectLst/>
              <a:uFillTx/>
              <a:latin typeface="Arial"/>
            </a:endParaRPr>
          </a:p>
        </p:txBody>
      </p:sp>
      <p:sp>
        <p:nvSpPr>
          <p:cNvPr id="273" name="Text Box 6"/>
          <p:cNvSpPr/>
          <p:nvPr/>
        </p:nvSpPr>
        <p:spPr>
          <a:xfrm>
            <a:off x="5410080" y="990360"/>
            <a:ext cx="213372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Reference value</a:t>
            </a:r>
            <a:endParaRPr lang="en-US" sz="1800" b="0" u="none" strike="noStrike">
              <a:solidFill>
                <a:srgbClr val="000000"/>
              </a:solidFill>
              <a:effectLst/>
              <a:uFillTx/>
              <a:latin typeface="Times New Roman"/>
            </a:endParaRPr>
          </a:p>
        </p:txBody>
      </p:sp>
      <p:sp>
        <p:nvSpPr>
          <p:cNvPr id="274" name="Rectangle 7"/>
          <p:cNvSpPr/>
          <p:nvPr/>
        </p:nvSpPr>
        <p:spPr>
          <a:xfrm>
            <a:off x="838080" y="1447560"/>
            <a:ext cx="1447920" cy="121932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Test pattern</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source</a:t>
            </a:r>
            <a:endParaRPr lang="en-US" sz="1800" b="0" u="none" strike="noStrike">
              <a:solidFill>
                <a:srgbClr val="000000"/>
              </a:solidFill>
              <a:effectLst/>
              <a:uFillTx/>
              <a:latin typeface="Times New Roman"/>
            </a:endParaRPr>
          </a:p>
        </p:txBody>
      </p:sp>
      <p:sp>
        <p:nvSpPr>
          <p:cNvPr id="275" name="Rectangle 8"/>
          <p:cNvSpPr/>
          <p:nvPr/>
        </p:nvSpPr>
        <p:spPr>
          <a:xfrm>
            <a:off x="2971800" y="1447560"/>
            <a:ext cx="2057400" cy="121932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Circuit under test</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(CUT)</a:t>
            </a:r>
            <a:endParaRPr lang="en-US" sz="1800" b="0" u="none" strike="noStrike">
              <a:solidFill>
                <a:srgbClr val="000000"/>
              </a:solidFill>
              <a:effectLst/>
              <a:uFillTx/>
              <a:latin typeface="Times New Roman"/>
            </a:endParaRPr>
          </a:p>
        </p:txBody>
      </p:sp>
      <p:sp>
        <p:nvSpPr>
          <p:cNvPr id="276" name="Rectangle 9"/>
          <p:cNvSpPr/>
          <p:nvPr/>
        </p:nvSpPr>
        <p:spPr>
          <a:xfrm>
            <a:off x="5715000" y="1752480"/>
            <a:ext cx="1447560" cy="60948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Comparison</a:t>
            </a:r>
            <a:endParaRPr lang="en-US" sz="1800" b="0" u="none" strike="noStrike">
              <a:solidFill>
                <a:srgbClr val="000000"/>
              </a:solidFill>
              <a:effectLst/>
              <a:uFillTx/>
              <a:latin typeface="Times New Roman"/>
            </a:endParaRPr>
          </a:p>
        </p:txBody>
      </p:sp>
      <p:sp>
        <p:nvSpPr>
          <p:cNvPr id="277" name="Line 10"/>
          <p:cNvSpPr/>
          <p:nvPr/>
        </p:nvSpPr>
        <p:spPr>
          <a:xfrm>
            <a:off x="6400800" y="1295280"/>
            <a:ext cx="0" cy="45720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78" name="Line 11"/>
          <p:cNvSpPr/>
          <p:nvPr/>
        </p:nvSpPr>
        <p:spPr>
          <a:xfrm>
            <a:off x="2286000" y="2057400"/>
            <a:ext cx="6858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79" name="Line 12"/>
          <p:cNvSpPr/>
          <p:nvPr/>
        </p:nvSpPr>
        <p:spPr>
          <a:xfrm>
            <a:off x="5029200" y="2057400"/>
            <a:ext cx="6858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80" name="Line 13"/>
          <p:cNvSpPr/>
          <p:nvPr/>
        </p:nvSpPr>
        <p:spPr>
          <a:xfrm>
            <a:off x="7162560" y="2057400"/>
            <a:ext cx="8384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81" name="Text Box 14"/>
          <p:cNvSpPr/>
          <p:nvPr/>
        </p:nvSpPr>
        <p:spPr>
          <a:xfrm>
            <a:off x="7391160" y="2057400"/>
            <a:ext cx="121932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Pass/Fail</a:t>
            </a:r>
            <a:endParaRPr lang="en-US" sz="1800" b="0" u="none" strike="noStrike">
              <a:solidFill>
                <a:srgbClr val="000000"/>
              </a:solidFill>
              <a:effectLst/>
              <a:uFillTx/>
              <a:latin typeface="Times New Roman"/>
            </a:endParaRPr>
          </a:p>
        </p:txBody>
      </p:sp>
      <p:sp>
        <p:nvSpPr>
          <p:cNvPr id="282" name="Text Box 15"/>
          <p:cNvSpPr/>
          <p:nvPr/>
        </p:nvSpPr>
        <p:spPr>
          <a:xfrm>
            <a:off x="761760" y="5105160"/>
            <a:ext cx="792504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Test patterns may be generated (pseudo)randomly – e.g., via LFSRs</a:t>
            </a:r>
            <a:endParaRPr lang="en-US" sz="2000" b="0" u="none" strike="noStrike">
              <a:solidFill>
                <a:srgbClr val="000000"/>
              </a:solidFill>
              <a:effectLst/>
              <a:uFillTx/>
              <a:latin typeface="Times New Roman"/>
            </a:endParaRPr>
          </a:p>
        </p:txBody>
      </p:sp>
      <p:sp>
        <p:nvSpPr>
          <p:cNvPr id="283" name="Text Box 16"/>
          <p:cNvSpPr/>
          <p:nvPr/>
        </p:nvSpPr>
        <p:spPr>
          <a:xfrm>
            <a:off x="761760" y="5562360"/>
            <a:ext cx="792504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Decision may be based on compressed test results</a:t>
            </a:r>
            <a:endParaRPr lang="en-US" sz="2000" b="0" u="none" strike="noStrike">
              <a:solidFill>
                <a:srgbClr val="000000"/>
              </a:solidFill>
              <a:effectLst/>
              <a:uFillTx/>
              <a:latin typeface="Times New Roman"/>
            </a:endParaRPr>
          </a:p>
        </p:txBody>
      </p:sp>
      <p:sp>
        <p:nvSpPr>
          <p:cNvPr id="284" name="Text Box 17"/>
          <p:cNvSpPr/>
          <p:nvPr/>
        </p:nvSpPr>
        <p:spPr>
          <a:xfrm>
            <a:off x="2895480" y="1187280"/>
            <a:ext cx="2971800" cy="307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ea typeface="Times New Roman"/>
              </a:rPr>
              <a:t>Ordinary testing</a:t>
            </a:r>
            <a:endParaRPr lang="en-US" sz="1400" b="0" u="none" strike="noStrike">
              <a:solidFill>
                <a:srgbClr val="000000"/>
              </a:solidFill>
              <a:effectLst/>
              <a:uFillTx/>
              <a:latin typeface="Times New Roman"/>
            </a:endParaRPr>
          </a:p>
        </p:txBody>
      </p:sp>
      <p:sp>
        <p:nvSpPr>
          <p:cNvPr id="285" name="Rectangle 18"/>
          <p:cNvSpPr/>
          <p:nvPr/>
        </p:nvSpPr>
        <p:spPr>
          <a:xfrm>
            <a:off x="838080" y="3429000"/>
            <a:ext cx="1447920" cy="121896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Test pattern</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generation</a:t>
            </a:r>
            <a:endParaRPr lang="en-US" sz="1800" b="0" u="none" strike="noStrike">
              <a:solidFill>
                <a:srgbClr val="000000"/>
              </a:solidFill>
              <a:effectLst/>
              <a:uFillTx/>
              <a:latin typeface="Times New Roman"/>
            </a:endParaRPr>
          </a:p>
        </p:txBody>
      </p:sp>
      <p:sp>
        <p:nvSpPr>
          <p:cNvPr id="286" name="Rectangle 19"/>
          <p:cNvSpPr/>
          <p:nvPr/>
        </p:nvSpPr>
        <p:spPr>
          <a:xfrm>
            <a:off x="2971800" y="3429000"/>
            <a:ext cx="2057400" cy="121896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Circuit under test</a:t>
            </a:r>
            <a:endParaRPr lang="en-US" sz="18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(CUT)</a:t>
            </a:r>
            <a:endParaRPr lang="en-US" sz="1800" b="0" u="none" strike="noStrike">
              <a:solidFill>
                <a:srgbClr val="000000"/>
              </a:solidFill>
              <a:effectLst/>
              <a:uFillTx/>
              <a:latin typeface="Times New Roman"/>
            </a:endParaRPr>
          </a:p>
        </p:txBody>
      </p:sp>
      <p:sp>
        <p:nvSpPr>
          <p:cNvPr id="287" name="Rectangle 20"/>
          <p:cNvSpPr/>
          <p:nvPr/>
        </p:nvSpPr>
        <p:spPr>
          <a:xfrm>
            <a:off x="5715000" y="3581280"/>
            <a:ext cx="1447560" cy="91440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Decision</a:t>
            </a:r>
            <a:endParaRPr lang="en-US" sz="1800" b="0" u="none" strike="noStrike">
              <a:solidFill>
                <a:srgbClr val="000000"/>
              </a:solidFill>
              <a:effectLst/>
              <a:uFillTx/>
              <a:latin typeface="Times New Roman"/>
            </a:endParaRPr>
          </a:p>
        </p:txBody>
      </p:sp>
      <p:sp>
        <p:nvSpPr>
          <p:cNvPr id="288" name="Line 21"/>
          <p:cNvSpPr/>
          <p:nvPr/>
        </p:nvSpPr>
        <p:spPr>
          <a:xfrm>
            <a:off x="2286000" y="4038480"/>
            <a:ext cx="6858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89" name="Line 22"/>
          <p:cNvSpPr/>
          <p:nvPr/>
        </p:nvSpPr>
        <p:spPr>
          <a:xfrm>
            <a:off x="5029200" y="4038480"/>
            <a:ext cx="6858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90" name="Line 23"/>
          <p:cNvSpPr/>
          <p:nvPr/>
        </p:nvSpPr>
        <p:spPr>
          <a:xfrm>
            <a:off x="7162560" y="4038480"/>
            <a:ext cx="8384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91" name="Text Box 24"/>
          <p:cNvSpPr/>
          <p:nvPr/>
        </p:nvSpPr>
        <p:spPr>
          <a:xfrm>
            <a:off x="7391160" y="4038480"/>
            <a:ext cx="1219320" cy="368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Pass/Fail</a:t>
            </a:r>
            <a:endParaRPr lang="en-US" sz="1800" b="0" u="none" strike="noStrike">
              <a:solidFill>
                <a:srgbClr val="000000"/>
              </a:solidFill>
              <a:effectLst/>
              <a:uFillTx/>
              <a:latin typeface="Times New Roman"/>
            </a:endParaRPr>
          </a:p>
        </p:txBody>
      </p:sp>
      <p:sp>
        <p:nvSpPr>
          <p:cNvPr id="292" name="Text Box 25"/>
          <p:cNvSpPr/>
          <p:nvPr/>
        </p:nvSpPr>
        <p:spPr>
          <a:xfrm>
            <a:off x="761760" y="3171600"/>
            <a:ext cx="2971800" cy="307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ea typeface="Times New Roman"/>
              </a:rPr>
              <a:t>Built-in self-testing</a:t>
            </a:r>
            <a:endParaRPr lang="en-US"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300D3259-85C8-40A0-A1EF-2524880C22A3}"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94" name="PlaceHolder 1"/>
          <p:cNvSpPr>
            <a:spLocks noGrp="1"/>
          </p:cNvSpPr>
          <p:nvPr>
            <p:ph type="title"/>
          </p:nvPr>
        </p:nvSpPr>
        <p:spPr>
          <a:xfrm>
            <a:off x="304200" y="228600"/>
            <a:ext cx="8534520" cy="7617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1" u="none" strike="noStrike">
                <a:solidFill>
                  <a:srgbClr val="0033CC"/>
                </a:solidFill>
                <a:effectLst/>
                <a:uFillTx/>
                <a:latin typeface="Arial"/>
                <a:ea typeface="Arial"/>
              </a:rPr>
              <a:t>3  Replication and Voting</a:t>
            </a:r>
            <a:endParaRPr lang="en-US" sz="4400" b="0" u="none" strike="noStrike">
              <a:solidFill>
                <a:srgbClr val="000000"/>
              </a:solidFill>
              <a:effectLst/>
              <a:uFillTx/>
              <a:latin typeface="Arial"/>
            </a:endParaRPr>
          </a:p>
        </p:txBody>
      </p:sp>
      <p:pic>
        <p:nvPicPr>
          <p:cNvPr id="295" name="Picture 9" descr="139_voting-booths-usa1"/>
          <p:cNvPicPr/>
          <p:nvPr/>
        </p:nvPicPr>
        <p:blipFill>
          <a:blip r:embed="rId1"/>
          <a:srcRect l="0" t="7805" r="0" b="0"/>
          <a:stretch/>
        </p:blipFill>
        <p:spPr>
          <a:xfrm>
            <a:off x="457200" y="1066680"/>
            <a:ext cx="8229600" cy="5092560"/>
          </a:xfrm>
          <a:prstGeom prst="rect">
            <a:avLst/>
          </a:prstGeom>
          <a:noFill/>
          <a:ln w="3816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92D545B7-2F18-4592-AB14-7DFB8883C497}"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297"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298" name="PlaceHolder 1"/>
          <p:cNvSpPr>
            <a:spLocks noGrp="1"/>
          </p:cNvSpPr>
          <p:nvPr>
            <p:ph type="title"/>
          </p:nvPr>
        </p:nvSpPr>
        <p:spPr>
          <a:xfrm>
            <a:off x="151920" y="228240"/>
            <a:ext cx="8839080" cy="5331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3.1  Hardware Redundancy Overview</a:t>
            </a:r>
            <a:endParaRPr lang="en-US" sz="3600" b="0" u="none" strike="noStrike">
              <a:solidFill>
                <a:srgbClr val="000000"/>
              </a:solidFill>
              <a:effectLst/>
              <a:uFillTx/>
              <a:latin typeface="Arial"/>
            </a:endParaRPr>
          </a:p>
        </p:txBody>
      </p:sp>
      <p:sp>
        <p:nvSpPr>
          <p:cNvPr id="299" name="Text Box 4"/>
          <p:cNvSpPr/>
          <p:nvPr/>
        </p:nvSpPr>
        <p:spPr>
          <a:xfrm>
            <a:off x="533160" y="914400"/>
            <a:ext cx="3810240" cy="514620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33CC"/>
                </a:solidFill>
                <a:effectLst/>
                <a:uFillTx/>
                <a:latin typeface="Arial"/>
                <a:ea typeface="Times New Roman"/>
              </a:rPr>
              <a:t>Data path methods:</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Replication in space (costly)</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Duplicate and compare</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Triplicate and vote</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Pair-and-spare</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NMR/hybrid</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Replication in time (slow?)</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Recompute and compare</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Recompute and vote</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Alternating logic</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Recompute after shift</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Recompute after swap</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Replicate operand segments</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Mixed space-time replication</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Monitoring (imperfect coverage)</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Watchdog timer</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Activity monitor</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Low-redundancy coding</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Parity prediction</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Residue checking</a:t>
            </a:r>
            <a:endParaRPr lang="en-US" sz="1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Times New Roman"/>
              </a:rPr>
              <a:t>    Self-checking design</a:t>
            </a:r>
            <a:endParaRPr lang="en-US" sz="1800" b="0" u="none" strike="noStrike">
              <a:solidFill>
                <a:srgbClr val="000000"/>
              </a:solidFill>
              <a:effectLst/>
              <a:uFillTx/>
              <a:latin typeface="Times New Roman"/>
            </a:endParaRPr>
          </a:p>
        </p:txBody>
      </p:sp>
      <p:sp>
        <p:nvSpPr>
          <p:cNvPr id="300" name="Text Box 5"/>
          <p:cNvSpPr/>
          <p:nvPr/>
        </p:nvSpPr>
        <p:spPr>
          <a:xfrm>
            <a:off x="5181480" y="914400"/>
            <a:ext cx="3429000" cy="112932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990099"/>
                </a:solidFill>
                <a:effectLst/>
                <a:uFillTx/>
                <a:latin typeface="Arial"/>
                <a:ea typeface="Times New Roman"/>
              </a:rPr>
              <a:t>Control unit methods:</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Coding of control signals</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Control-flow watchdog</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Self-checking design</a:t>
            </a:r>
            <a:endParaRPr lang="en-US" sz="2000" b="0" u="none" strike="noStrike">
              <a:solidFill>
                <a:srgbClr val="000000"/>
              </a:solidFill>
              <a:effectLst/>
              <a:uFillTx/>
              <a:latin typeface="Times New Roman"/>
            </a:endParaRPr>
          </a:p>
        </p:txBody>
      </p:sp>
      <p:grpSp>
        <p:nvGrpSpPr>
          <p:cNvPr id="301" name="Group 6"/>
          <p:cNvGrpSpPr/>
          <p:nvPr/>
        </p:nvGrpSpPr>
        <p:grpSpPr>
          <a:xfrm>
            <a:off x="4343400" y="4647960"/>
            <a:ext cx="4495320" cy="1297800"/>
            <a:chOff x="4343400" y="4647960"/>
            <a:chExt cx="4495320" cy="1297800"/>
          </a:xfrm>
        </p:grpSpPr>
        <p:sp>
          <p:nvSpPr>
            <p:cNvPr id="302" name="Rectangle 7"/>
            <p:cNvSpPr/>
            <p:nvPr/>
          </p:nvSpPr>
          <p:spPr>
            <a:xfrm>
              <a:off x="5333760" y="4647960"/>
              <a:ext cx="2361960" cy="129564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303" name="Text Box 8"/>
            <p:cNvSpPr/>
            <p:nvPr/>
          </p:nvSpPr>
          <p:spPr>
            <a:xfrm>
              <a:off x="5336280" y="5638680"/>
              <a:ext cx="94716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Data path</a:t>
              </a:r>
              <a:endParaRPr lang="en-US" sz="1400" b="0" u="none" strike="noStrike">
                <a:solidFill>
                  <a:srgbClr val="000000"/>
                </a:solidFill>
                <a:effectLst/>
                <a:uFillTx/>
                <a:latin typeface="Times New Roman"/>
              </a:endParaRPr>
            </a:p>
          </p:txBody>
        </p:sp>
        <p:sp>
          <p:nvSpPr>
            <p:cNvPr id="304" name="Line 9"/>
            <p:cNvSpPr/>
            <p:nvPr/>
          </p:nvSpPr>
          <p:spPr>
            <a:xfrm>
              <a:off x="4876560" y="4800600"/>
              <a:ext cx="4568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05" name="Line 10"/>
            <p:cNvSpPr/>
            <p:nvPr/>
          </p:nvSpPr>
          <p:spPr>
            <a:xfrm>
              <a:off x="4876560" y="4952880"/>
              <a:ext cx="4568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06" name="Line 11"/>
            <p:cNvSpPr/>
            <p:nvPr/>
          </p:nvSpPr>
          <p:spPr>
            <a:xfrm>
              <a:off x="4876560" y="5638680"/>
              <a:ext cx="4568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07" name="Line 12"/>
            <p:cNvSpPr/>
            <p:nvPr/>
          </p:nvSpPr>
          <p:spPr>
            <a:xfrm>
              <a:off x="4876560" y="5790960"/>
              <a:ext cx="4568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08" name="Line 13"/>
            <p:cNvSpPr/>
            <p:nvPr/>
          </p:nvSpPr>
          <p:spPr>
            <a:xfrm>
              <a:off x="4876560" y="5105160"/>
              <a:ext cx="4568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09" name="Line 14"/>
            <p:cNvSpPr/>
            <p:nvPr/>
          </p:nvSpPr>
          <p:spPr>
            <a:xfrm>
              <a:off x="7696080" y="4800600"/>
              <a:ext cx="4568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10" name="Line 15"/>
            <p:cNvSpPr/>
            <p:nvPr/>
          </p:nvSpPr>
          <p:spPr>
            <a:xfrm>
              <a:off x="7696080" y="4952880"/>
              <a:ext cx="4568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11" name="Line 16"/>
            <p:cNvSpPr/>
            <p:nvPr/>
          </p:nvSpPr>
          <p:spPr>
            <a:xfrm>
              <a:off x="7696080" y="5638680"/>
              <a:ext cx="4568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12" name="Line 17"/>
            <p:cNvSpPr/>
            <p:nvPr/>
          </p:nvSpPr>
          <p:spPr>
            <a:xfrm>
              <a:off x="7696080" y="5790960"/>
              <a:ext cx="4568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13" name="Line 18"/>
            <p:cNvSpPr/>
            <p:nvPr/>
          </p:nvSpPr>
          <p:spPr>
            <a:xfrm>
              <a:off x="7696080" y="5105160"/>
              <a:ext cx="4568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14" name="Text Box 19"/>
            <p:cNvSpPr/>
            <p:nvPr/>
          </p:nvSpPr>
          <p:spPr>
            <a:xfrm>
              <a:off x="7773480" y="5097240"/>
              <a:ext cx="229680" cy="509760"/>
            </a:xfrm>
            <a:prstGeom prst="rect">
              <a:avLst/>
            </a:prstGeom>
            <a:noFill/>
            <a:ln w="38160">
              <a:noFill/>
            </a:ln>
          </p:spPr>
          <p:style>
            <a:lnRef idx="0"/>
            <a:fillRef idx="0"/>
            <a:effectRef idx="0"/>
            <a:fontRef idx="minor"/>
          </p:style>
          <p:txBody>
            <a:bodyPr wrap="none" lIns="90000" tIns="46800" rIns="90000" bIns="46800" anchor="t">
              <a:spAutoFit/>
            </a:bodyPr>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p:txBody>
        </p:sp>
        <p:sp>
          <p:nvSpPr>
            <p:cNvPr id="315" name="Text Box 20"/>
            <p:cNvSpPr/>
            <p:nvPr/>
          </p:nvSpPr>
          <p:spPr>
            <a:xfrm>
              <a:off x="4954320" y="5105160"/>
              <a:ext cx="229680" cy="509760"/>
            </a:xfrm>
            <a:prstGeom prst="rect">
              <a:avLst/>
            </a:prstGeom>
            <a:noFill/>
            <a:ln w="38160">
              <a:noFill/>
            </a:ln>
          </p:spPr>
          <p:style>
            <a:lnRef idx="0"/>
            <a:fillRef idx="0"/>
            <a:effectRef idx="0"/>
            <a:fontRef idx="minor"/>
          </p:style>
          <p:txBody>
            <a:bodyPr wrap="none" lIns="90000" tIns="46800" rIns="90000" bIns="46800" anchor="t">
              <a:spAutoFit/>
            </a:bodyPr>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p:txBody>
        </p:sp>
        <p:sp>
          <p:nvSpPr>
            <p:cNvPr id="316" name="Rectangle 21"/>
            <p:cNvSpPr/>
            <p:nvPr/>
          </p:nvSpPr>
          <p:spPr>
            <a:xfrm>
              <a:off x="6705360" y="5410080"/>
              <a:ext cx="38052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317" name="Rectangle 22"/>
            <p:cNvSpPr/>
            <p:nvPr/>
          </p:nvSpPr>
          <p:spPr>
            <a:xfrm>
              <a:off x="5943240" y="4876560"/>
              <a:ext cx="3808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318" name="Line 23"/>
            <p:cNvSpPr/>
            <p:nvPr/>
          </p:nvSpPr>
          <p:spPr>
            <a:xfrm>
              <a:off x="5714640" y="4952880"/>
              <a:ext cx="2282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19" name="Line 24"/>
            <p:cNvSpPr/>
            <p:nvPr/>
          </p:nvSpPr>
          <p:spPr>
            <a:xfrm>
              <a:off x="5714640" y="5105160"/>
              <a:ext cx="2282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20" name="Line 25"/>
            <p:cNvSpPr/>
            <p:nvPr/>
          </p:nvSpPr>
          <p:spPr>
            <a:xfrm>
              <a:off x="6476760" y="5486400"/>
              <a:ext cx="2282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21" name="Line 26"/>
            <p:cNvSpPr/>
            <p:nvPr/>
          </p:nvSpPr>
          <p:spPr>
            <a:xfrm>
              <a:off x="6476760" y="5638680"/>
              <a:ext cx="2282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22" name="Line 27"/>
            <p:cNvSpPr/>
            <p:nvPr/>
          </p:nvSpPr>
          <p:spPr>
            <a:xfrm>
              <a:off x="6324480" y="5029200"/>
              <a:ext cx="2282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23" name="Line 28"/>
            <p:cNvSpPr/>
            <p:nvPr/>
          </p:nvSpPr>
          <p:spPr>
            <a:xfrm>
              <a:off x="7086240" y="5562360"/>
              <a:ext cx="2282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24" name="Text Box 29"/>
            <p:cNvSpPr/>
            <p:nvPr/>
          </p:nvSpPr>
          <p:spPr>
            <a:xfrm>
              <a:off x="5411880" y="4800600"/>
              <a:ext cx="357480" cy="232560"/>
            </a:xfrm>
            <a:prstGeom prst="rect">
              <a:avLst/>
            </a:prstGeom>
            <a:noFill/>
            <a:ln w="38160">
              <a:noFill/>
            </a:ln>
          </p:spPr>
          <p:style>
            <a:lnRef idx="0"/>
            <a:fillRef idx="0"/>
            <a:effectRef idx="0"/>
            <a:fontRef idx="minor"/>
          </p:style>
          <p:txBody>
            <a:bodyPr wrap="none" lIns="90000" tIns="46800" rIns="90000" bIns="46800" anchor="t">
              <a:spAutoFit/>
            </a:bodyPr>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p:txBody>
        </p:sp>
        <p:sp>
          <p:nvSpPr>
            <p:cNvPr id="325" name="Text Box 30"/>
            <p:cNvSpPr/>
            <p:nvPr/>
          </p:nvSpPr>
          <p:spPr>
            <a:xfrm>
              <a:off x="5411880" y="4952880"/>
              <a:ext cx="357480" cy="232560"/>
            </a:xfrm>
            <a:prstGeom prst="rect">
              <a:avLst/>
            </a:prstGeom>
            <a:noFill/>
            <a:ln w="38160">
              <a:noFill/>
            </a:ln>
          </p:spPr>
          <p:style>
            <a:lnRef idx="0"/>
            <a:fillRef idx="0"/>
            <a:effectRef idx="0"/>
            <a:fontRef idx="minor"/>
          </p:style>
          <p:txBody>
            <a:bodyPr wrap="none" lIns="90000" tIns="46800" rIns="90000" bIns="46800" anchor="t">
              <a:spAutoFit/>
            </a:bodyPr>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p:txBody>
        </p:sp>
        <p:sp>
          <p:nvSpPr>
            <p:cNvPr id="326" name="Text Box 31"/>
            <p:cNvSpPr/>
            <p:nvPr/>
          </p:nvSpPr>
          <p:spPr>
            <a:xfrm>
              <a:off x="6174000" y="5333760"/>
              <a:ext cx="357480" cy="232560"/>
            </a:xfrm>
            <a:prstGeom prst="rect">
              <a:avLst/>
            </a:prstGeom>
            <a:noFill/>
            <a:ln w="38160">
              <a:noFill/>
            </a:ln>
          </p:spPr>
          <p:style>
            <a:lnRef idx="0"/>
            <a:fillRef idx="0"/>
            <a:effectRef idx="0"/>
            <a:fontRef idx="minor"/>
          </p:style>
          <p:txBody>
            <a:bodyPr wrap="none" lIns="90000" tIns="46800" rIns="90000" bIns="46800" anchor="t">
              <a:spAutoFit/>
            </a:bodyPr>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p:txBody>
        </p:sp>
        <p:sp>
          <p:nvSpPr>
            <p:cNvPr id="327" name="Text Box 32"/>
            <p:cNvSpPr/>
            <p:nvPr/>
          </p:nvSpPr>
          <p:spPr>
            <a:xfrm>
              <a:off x="6174000" y="5486400"/>
              <a:ext cx="357480" cy="232560"/>
            </a:xfrm>
            <a:prstGeom prst="rect">
              <a:avLst/>
            </a:prstGeom>
            <a:noFill/>
            <a:ln w="38160">
              <a:noFill/>
            </a:ln>
          </p:spPr>
          <p:style>
            <a:lnRef idx="0"/>
            <a:fillRef idx="0"/>
            <a:effectRef idx="0"/>
            <a:fontRef idx="minor"/>
          </p:style>
          <p:txBody>
            <a:bodyPr wrap="none" lIns="90000" tIns="46800" rIns="90000" bIns="46800" anchor="t">
              <a:spAutoFit/>
            </a:bodyPr>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p:txBody>
        </p:sp>
        <p:sp>
          <p:nvSpPr>
            <p:cNvPr id="328" name="Text Box 33"/>
            <p:cNvSpPr/>
            <p:nvPr/>
          </p:nvSpPr>
          <p:spPr>
            <a:xfrm>
              <a:off x="6478560" y="4876560"/>
              <a:ext cx="357480" cy="232560"/>
            </a:xfrm>
            <a:prstGeom prst="rect">
              <a:avLst/>
            </a:prstGeom>
            <a:noFill/>
            <a:ln w="38160">
              <a:noFill/>
            </a:ln>
          </p:spPr>
          <p:style>
            <a:lnRef idx="0"/>
            <a:fillRef idx="0"/>
            <a:effectRef idx="0"/>
            <a:fontRef idx="minor"/>
          </p:style>
          <p:txBody>
            <a:bodyPr wrap="none" lIns="90000" tIns="46800" rIns="90000" bIns="46800" anchor="t">
              <a:spAutoFit/>
            </a:bodyPr>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p:txBody>
        </p:sp>
        <p:sp>
          <p:nvSpPr>
            <p:cNvPr id="329" name="Text Box 34"/>
            <p:cNvSpPr/>
            <p:nvPr/>
          </p:nvSpPr>
          <p:spPr>
            <a:xfrm>
              <a:off x="7240680" y="5410080"/>
              <a:ext cx="357480" cy="232560"/>
            </a:xfrm>
            <a:prstGeom prst="rect">
              <a:avLst/>
            </a:prstGeom>
            <a:noFill/>
            <a:ln w="38160">
              <a:noFill/>
            </a:ln>
          </p:spPr>
          <p:style>
            <a:lnRef idx="0"/>
            <a:fillRef idx="0"/>
            <a:effectRef idx="0"/>
            <a:fontRef idx="minor"/>
          </p:style>
          <p:txBody>
            <a:bodyPr wrap="none" lIns="90000" tIns="46800" rIns="90000" bIns="46800" anchor="t">
              <a:spAutoFit/>
            </a:bodyPr>
            <a:p>
              <a:pPr>
                <a:lnSpc>
                  <a:spcPct val="6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a:t>
              </a:r>
              <a:endParaRPr lang="en-US" sz="1400" b="0" u="none" strike="noStrike">
                <a:solidFill>
                  <a:srgbClr val="000000"/>
                </a:solidFill>
                <a:effectLst/>
                <a:uFillTx/>
                <a:latin typeface="Times New Roman"/>
              </a:endParaRPr>
            </a:p>
          </p:txBody>
        </p:sp>
        <p:sp>
          <p:nvSpPr>
            <p:cNvPr id="330" name="Text Box 35"/>
            <p:cNvSpPr/>
            <p:nvPr/>
          </p:nvSpPr>
          <p:spPr>
            <a:xfrm>
              <a:off x="4343400" y="5181480"/>
              <a:ext cx="685440" cy="3070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Inputs</a:t>
              </a:r>
              <a:endParaRPr lang="en-US" sz="1400" b="0" u="none" strike="noStrike">
                <a:solidFill>
                  <a:srgbClr val="000000"/>
                </a:solidFill>
                <a:effectLst/>
                <a:uFillTx/>
                <a:latin typeface="Times New Roman"/>
              </a:endParaRPr>
            </a:p>
          </p:txBody>
        </p:sp>
        <p:sp>
          <p:nvSpPr>
            <p:cNvPr id="331" name="Text Box 36"/>
            <p:cNvSpPr/>
            <p:nvPr/>
          </p:nvSpPr>
          <p:spPr>
            <a:xfrm>
              <a:off x="8000640" y="5181480"/>
              <a:ext cx="838080" cy="3070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Outputs</a:t>
              </a:r>
              <a:endParaRPr lang="en-US" sz="1400" b="0" u="none" strike="noStrike">
                <a:solidFill>
                  <a:srgbClr val="000000"/>
                </a:solidFill>
                <a:effectLst/>
                <a:uFillTx/>
                <a:latin typeface="Times New Roman"/>
              </a:endParaRPr>
            </a:p>
          </p:txBody>
        </p:sp>
      </p:grpSp>
      <p:grpSp>
        <p:nvGrpSpPr>
          <p:cNvPr id="332" name="Group 37"/>
          <p:cNvGrpSpPr/>
          <p:nvPr/>
        </p:nvGrpSpPr>
        <p:grpSpPr>
          <a:xfrm>
            <a:off x="4724280" y="3504960"/>
            <a:ext cx="3733560" cy="1143000"/>
            <a:chOff x="4724280" y="3504960"/>
            <a:chExt cx="3733560" cy="1143000"/>
          </a:xfrm>
        </p:grpSpPr>
        <p:sp>
          <p:nvSpPr>
            <p:cNvPr id="333" name="Oval 38"/>
            <p:cNvSpPr/>
            <p:nvPr/>
          </p:nvSpPr>
          <p:spPr>
            <a:xfrm>
              <a:off x="5410080" y="3504960"/>
              <a:ext cx="2209680" cy="609840"/>
            </a:xfrm>
            <a:prstGeom prst="ellipse">
              <a:avLst/>
            </a:prstGeom>
            <a:solidFill>
              <a:srgbClr val="FF99CC"/>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334" name="Text Box 39"/>
            <p:cNvSpPr/>
            <p:nvPr/>
          </p:nvSpPr>
          <p:spPr>
            <a:xfrm>
              <a:off x="5790960" y="3657600"/>
              <a:ext cx="1447920" cy="3070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Control unit</a:t>
              </a:r>
              <a:endParaRPr lang="en-US" sz="1400" b="0" u="none" strike="noStrike">
                <a:solidFill>
                  <a:srgbClr val="000000"/>
                </a:solidFill>
                <a:effectLst/>
                <a:uFillTx/>
                <a:latin typeface="Times New Roman"/>
              </a:endParaRPr>
            </a:p>
          </p:txBody>
        </p:sp>
        <p:sp>
          <p:nvSpPr>
            <p:cNvPr id="335" name="Line 40"/>
            <p:cNvSpPr/>
            <p:nvPr/>
          </p:nvSpPr>
          <p:spPr>
            <a:xfrm>
              <a:off x="5562360" y="3962160"/>
              <a:ext cx="0" cy="68580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36" name="Line 41"/>
            <p:cNvSpPr/>
            <p:nvPr/>
          </p:nvSpPr>
          <p:spPr>
            <a:xfrm flipV="1">
              <a:off x="7467480" y="3961800"/>
              <a:ext cx="0" cy="68580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37" name="Text Box 42"/>
            <p:cNvSpPr/>
            <p:nvPr/>
          </p:nvSpPr>
          <p:spPr>
            <a:xfrm>
              <a:off x="4724280" y="4038480"/>
              <a:ext cx="914400" cy="5202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Control signals</a:t>
              </a:r>
              <a:endParaRPr lang="en-US" sz="1400" b="0" u="none" strike="noStrike">
                <a:solidFill>
                  <a:srgbClr val="000000"/>
                </a:solidFill>
                <a:effectLst/>
                <a:uFillTx/>
                <a:latin typeface="Times New Roman"/>
              </a:endParaRPr>
            </a:p>
          </p:txBody>
        </p:sp>
        <p:sp>
          <p:nvSpPr>
            <p:cNvPr id="338" name="Text Box 43"/>
            <p:cNvSpPr/>
            <p:nvPr/>
          </p:nvSpPr>
          <p:spPr>
            <a:xfrm>
              <a:off x="7391160" y="4038480"/>
              <a:ext cx="1066680" cy="5202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Condition signals</a:t>
              </a:r>
              <a:endParaRPr lang="en-US" sz="1400" b="0" u="none" strike="noStrike">
                <a:solidFill>
                  <a:srgbClr val="000000"/>
                </a:solidFill>
                <a:effectLst/>
                <a:uFillTx/>
                <a:latin typeface="Times New Roman"/>
              </a:endParaRPr>
            </a:p>
          </p:txBody>
        </p:sp>
      </p:grpSp>
      <p:grpSp>
        <p:nvGrpSpPr>
          <p:cNvPr id="339" name="Group 44"/>
          <p:cNvGrpSpPr/>
          <p:nvPr/>
        </p:nvGrpSpPr>
        <p:grpSpPr>
          <a:xfrm>
            <a:off x="5790960" y="3962160"/>
            <a:ext cx="1447920" cy="838440"/>
            <a:chOff x="5790960" y="3962160"/>
            <a:chExt cx="1447920" cy="838440"/>
          </a:xfrm>
        </p:grpSpPr>
        <p:sp>
          <p:nvSpPr>
            <p:cNvPr id="340" name="AutoShape 45"/>
            <p:cNvSpPr/>
            <p:nvPr/>
          </p:nvSpPr>
          <p:spPr>
            <a:xfrm>
              <a:off x="5790960" y="3962160"/>
              <a:ext cx="1447920" cy="838440"/>
            </a:xfrm>
            <a:prstGeom prst="irregularSeal1">
              <a:avLst/>
            </a:prstGeom>
            <a:solidFill>
              <a:srgbClr val="99FF99"/>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341" name="Text Box 46"/>
            <p:cNvSpPr/>
            <p:nvPr/>
          </p:nvSpPr>
          <p:spPr>
            <a:xfrm>
              <a:off x="6022440" y="4190760"/>
              <a:ext cx="96696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Glue logic</a:t>
              </a:r>
              <a:endParaRPr lang="en-US" sz="1400" b="0" u="none" strike="noStrike">
                <a:solidFill>
                  <a:srgbClr val="000000"/>
                </a:solidFill>
                <a:effectLst/>
                <a:uFillTx/>
                <a:latin typeface="Times New Roman"/>
              </a:endParaRPr>
            </a:p>
          </p:txBody>
        </p:sp>
      </p:grpSp>
      <p:sp>
        <p:nvSpPr>
          <p:cNvPr id="342" name="Text Box 47"/>
          <p:cNvSpPr/>
          <p:nvPr/>
        </p:nvSpPr>
        <p:spPr>
          <a:xfrm>
            <a:off x="5181480" y="2438280"/>
            <a:ext cx="3429000" cy="61164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8000"/>
                </a:solidFill>
                <a:effectLst/>
                <a:uFillTx/>
                <a:latin typeface="Arial"/>
                <a:ea typeface="Times New Roman"/>
              </a:rPr>
              <a:t>Glue logic methods:</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Self-checking design</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6099E870-2A9E-4822-AEF0-DB38182E9A89}"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344"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345" name="PlaceHolder 1"/>
          <p:cNvSpPr>
            <a:spLocks noGrp="1"/>
          </p:cNvSpPr>
          <p:nvPr>
            <p:ph type="title"/>
          </p:nvPr>
        </p:nvSpPr>
        <p:spPr>
          <a:xfrm>
            <a:off x="228600" y="228240"/>
            <a:ext cx="86868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3.2  Replication in Space</a:t>
            </a:r>
            <a:endParaRPr lang="en-US" sz="3600" b="0" u="none" strike="noStrike">
              <a:solidFill>
                <a:srgbClr val="000000"/>
              </a:solidFill>
              <a:effectLst/>
              <a:uFillTx/>
              <a:latin typeface="Arial"/>
            </a:endParaRPr>
          </a:p>
        </p:txBody>
      </p:sp>
      <p:sp>
        <p:nvSpPr>
          <p:cNvPr id="346" name="Text Box 4"/>
          <p:cNvSpPr/>
          <p:nvPr/>
        </p:nvSpPr>
        <p:spPr>
          <a:xfrm>
            <a:off x="5790960" y="3124080"/>
            <a:ext cx="2057400" cy="35280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Pair-and-spare</a:t>
            </a:r>
            <a:endParaRPr lang="en-US" sz="2000" b="0" u="none" strike="noStrike">
              <a:solidFill>
                <a:srgbClr val="000000"/>
              </a:solidFill>
              <a:effectLst/>
              <a:uFillTx/>
              <a:latin typeface="Times New Roman"/>
            </a:endParaRPr>
          </a:p>
        </p:txBody>
      </p:sp>
      <p:grpSp>
        <p:nvGrpSpPr>
          <p:cNvPr id="347" name="Group 5"/>
          <p:cNvGrpSpPr/>
          <p:nvPr/>
        </p:nvGrpSpPr>
        <p:grpSpPr>
          <a:xfrm>
            <a:off x="4724280" y="3809520"/>
            <a:ext cx="3627720" cy="1907640"/>
            <a:chOff x="4724280" y="3809520"/>
            <a:chExt cx="3627720" cy="1907640"/>
          </a:xfrm>
        </p:grpSpPr>
        <p:grpSp>
          <p:nvGrpSpPr>
            <p:cNvPr id="348" name="Group 6"/>
            <p:cNvGrpSpPr/>
            <p:nvPr/>
          </p:nvGrpSpPr>
          <p:grpSpPr>
            <a:xfrm>
              <a:off x="4724280" y="3885840"/>
              <a:ext cx="3505320" cy="1676520"/>
              <a:chOff x="4724280" y="3885840"/>
              <a:chExt cx="3505320" cy="1676520"/>
            </a:xfrm>
          </p:grpSpPr>
          <p:sp>
            <p:nvSpPr>
              <p:cNvPr id="349" name="Line 7"/>
              <p:cNvSpPr/>
              <p:nvPr/>
            </p:nvSpPr>
            <p:spPr>
              <a:xfrm>
                <a:off x="6781680" y="4724280"/>
                <a:ext cx="14479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0" name="Line 8"/>
              <p:cNvSpPr/>
              <p:nvPr/>
            </p:nvSpPr>
            <p:spPr>
              <a:xfrm>
                <a:off x="5257800" y="4038480"/>
                <a:ext cx="12189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1" name="Line 9"/>
              <p:cNvSpPr/>
              <p:nvPr/>
            </p:nvSpPr>
            <p:spPr>
              <a:xfrm>
                <a:off x="5257800" y="4952880"/>
                <a:ext cx="12189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2" name="Oval 10"/>
              <p:cNvSpPr/>
              <p:nvPr/>
            </p:nvSpPr>
            <p:spPr>
              <a:xfrm>
                <a:off x="7086600" y="4495680"/>
                <a:ext cx="457200" cy="45720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353" name="Line 11"/>
              <p:cNvSpPr/>
              <p:nvPr/>
            </p:nvSpPr>
            <p:spPr>
              <a:xfrm>
                <a:off x="5257800" y="4038480"/>
                <a:ext cx="0" cy="1371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4" name="Rectangle 12"/>
              <p:cNvSpPr/>
              <p:nvPr/>
            </p:nvSpPr>
            <p:spPr>
              <a:xfrm>
                <a:off x="6476760" y="3885840"/>
                <a:ext cx="304920" cy="167652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S</a:t>
                </a:r>
                <a:endParaRPr lang="en-US" sz="1800" b="0" u="none" strike="noStrike">
                  <a:solidFill>
                    <a:srgbClr val="000000"/>
                  </a:solidFill>
                  <a:effectLst/>
                  <a:uFillTx/>
                  <a:latin typeface="Times New Roman"/>
                </a:endParaRPr>
              </a:p>
            </p:txBody>
          </p:sp>
          <p:sp>
            <p:nvSpPr>
              <p:cNvPr id="355" name="Line 13"/>
              <p:cNvSpPr/>
              <p:nvPr/>
            </p:nvSpPr>
            <p:spPr>
              <a:xfrm>
                <a:off x="6781680" y="4267080"/>
                <a:ext cx="1522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6" name="Line 14"/>
              <p:cNvSpPr/>
              <p:nvPr/>
            </p:nvSpPr>
            <p:spPr>
              <a:xfrm>
                <a:off x="6933960" y="4267080"/>
                <a:ext cx="228600" cy="30456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7" name="Line 15"/>
              <p:cNvSpPr/>
              <p:nvPr/>
            </p:nvSpPr>
            <p:spPr>
              <a:xfrm>
                <a:off x="6781680" y="5181480"/>
                <a:ext cx="1522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8" name="Line 16"/>
              <p:cNvSpPr/>
              <p:nvPr/>
            </p:nvSpPr>
            <p:spPr>
              <a:xfrm flipV="1">
                <a:off x="6933960" y="4876200"/>
                <a:ext cx="228600" cy="3049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9" name="Line 17"/>
              <p:cNvSpPr/>
              <p:nvPr/>
            </p:nvSpPr>
            <p:spPr>
              <a:xfrm>
                <a:off x="5257800" y="4495680"/>
                <a:ext cx="12189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0" name="Line 18"/>
              <p:cNvSpPr/>
              <p:nvPr/>
            </p:nvSpPr>
            <p:spPr>
              <a:xfrm>
                <a:off x="5257800" y="5410080"/>
                <a:ext cx="12189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1" name="Line 19"/>
              <p:cNvSpPr/>
              <p:nvPr/>
            </p:nvSpPr>
            <p:spPr>
              <a:xfrm>
                <a:off x="4724280" y="4724280"/>
                <a:ext cx="5335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2" name="Rectangle 20"/>
              <p:cNvSpPr/>
              <p:nvPr/>
            </p:nvSpPr>
            <p:spPr>
              <a:xfrm>
                <a:off x="5638680" y="434304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363" name="Rectangle 21"/>
              <p:cNvSpPr/>
              <p:nvPr/>
            </p:nvSpPr>
            <p:spPr>
              <a:xfrm>
                <a:off x="5638680" y="480024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364" name="Rectangle 22"/>
              <p:cNvSpPr/>
              <p:nvPr/>
            </p:nvSpPr>
            <p:spPr>
              <a:xfrm>
                <a:off x="5638680" y="388584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sp>
            <p:nvSpPr>
              <p:cNvPr id="365" name="Rectangle 23"/>
              <p:cNvSpPr/>
              <p:nvPr/>
            </p:nvSpPr>
            <p:spPr>
              <a:xfrm>
                <a:off x="5638680" y="5257440"/>
                <a:ext cx="609480" cy="30492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4</a:t>
                </a:r>
                <a:endParaRPr lang="en-US" sz="2000" b="0" u="none" strike="noStrike">
                  <a:solidFill>
                    <a:srgbClr val="000000"/>
                  </a:solidFill>
                  <a:effectLst/>
                  <a:uFillTx/>
                  <a:latin typeface="Times New Roman"/>
                </a:endParaRPr>
              </a:p>
            </p:txBody>
          </p:sp>
        </p:grpSp>
        <p:sp>
          <p:nvSpPr>
            <p:cNvPr id="366" name="Line 24"/>
            <p:cNvSpPr/>
            <p:nvPr/>
          </p:nvSpPr>
          <p:spPr>
            <a:xfrm flipV="1">
              <a:off x="6629400" y="3809520"/>
              <a:ext cx="0" cy="75960"/>
            </a:xfrm>
            <a:prstGeom prst="line">
              <a:avLst/>
            </a:prstGeom>
            <a:ln w="9360">
              <a:solidFill>
                <a:srgbClr val="000000"/>
              </a:solidFill>
              <a:prstDash val="dash"/>
              <a:miter/>
            </a:ln>
          </p:spPr>
          <p:style>
            <a:lnRef idx="0"/>
            <a:fillRef idx="0"/>
            <a:effectRef idx="0"/>
            <a:fontRef idx="minor"/>
          </p:style>
          <p:txBody>
            <a:bodyPr lIns="90000" tIns="29160" rIns="90000" bIns="29160" anchor="t">
              <a:noAutofit/>
            </a:bodyPr>
            <a:p>
              <a:endParaRPr lang="en-US" sz="2400" b="0" u="none" strike="noStrike">
                <a:solidFill>
                  <a:srgbClr val="000000"/>
                </a:solidFill>
                <a:effectLst/>
                <a:uFillTx/>
                <a:latin typeface="Times New Roman"/>
              </a:endParaRPr>
            </a:p>
          </p:txBody>
        </p:sp>
        <p:sp>
          <p:nvSpPr>
            <p:cNvPr id="367" name="Line 25"/>
            <p:cNvSpPr/>
            <p:nvPr/>
          </p:nvSpPr>
          <p:spPr>
            <a:xfrm>
              <a:off x="6629400" y="3809880"/>
              <a:ext cx="106668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8" name="Line 26"/>
            <p:cNvSpPr/>
            <p:nvPr/>
          </p:nvSpPr>
          <p:spPr>
            <a:xfrm>
              <a:off x="7696080" y="3809880"/>
              <a:ext cx="0" cy="91440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9" name="Text Box 27"/>
            <p:cNvSpPr/>
            <p:nvPr/>
          </p:nvSpPr>
          <p:spPr>
            <a:xfrm>
              <a:off x="6786000" y="5257440"/>
              <a:ext cx="156600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Switch-voting unit</a:t>
              </a:r>
              <a:endParaRPr lang="en-US" sz="1400" b="0" u="none" strike="noStrike">
                <a:solidFill>
                  <a:srgbClr val="000000"/>
                </a:solidFill>
                <a:effectLst/>
                <a:uFillTx/>
                <a:latin typeface="Times New Roman"/>
              </a:endParaRPr>
            </a:p>
          </p:txBody>
        </p:sp>
        <p:sp>
          <p:nvSpPr>
            <p:cNvPr id="370" name="Text Box 28"/>
            <p:cNvSpPr/>
            <p:nvPr/>
          </p:nvSpPr>
          <p:spPr>
            <a:xfrm>
              <a:off x="4955040" y="5410080"/>
              <a:ext cx="7016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Spare</a:t>
              </a:r>
              <a:endParaRPr lang="en-US" sz="1400" b="0" u="none" strike="noStrike">
                <a:solidFill>
                  <a:srgbClr val="000000"/>
                </a:solidFill>
                <a:effectLst/>
                <a:uFillTx/>
                <a:latin typeface="Times New Roman"/>
              </a:endParaRPr>
            </a:p>
          </p:txBody>
        </p:sp>
      </p:grpSp>
      <p:grpSp>
        <p:nvGrpSpPr>
          <p:cNvPr id="371" name="Group 29"/>
          <p:cNvGrpSpPr/>
          <p:nvPr/>
        </p:nvGrpSpPr>
        <p:grpSpPr>
          <a:xfrm>
            <a:off x="533160" y="4419360"/>
            <a:ext cx="3354480" cy="1218960"/>
            <a:chOff x="533160" y="4419360"/>
            <a:chExt cx="3354480" cy="1218960"/>
          </a:xfrm>
        </p:grpSpPr>
        <p:grpSp>
          <p:nvGrpSpPr>
            <p:cNvPr id="372" name="Group 30"/>
            <p:cNvGrpSpPr/>
            <p:nvPr/>
          </p:nvGrpSpPr>
          <p:grpSpPr>
            <a:xfrm>
              <a:off x="533160" y="4419360"/>
              <a:ext cx="3047760" cy="1218960"/>
              <a:chOff x="533160" y="4419360"/>
              <a:chExt cx="3047760" cy="1218960"/>
            </a:xfrm>
          </p:grpSpPr>
          <p:sp>
            <p:nvSpPr>
              <p:cNvPr id="373" name="Line 31"/>
              <p:cNvSpPr/>
              <p:nvPr/>
            </p:nvSpPr>
            <p:spPr>
              <a:xfrm>
                <a:off x="533160" y="5028840"/>
                <a:ext cx="30477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74" name="Line 32"/>
              <p:cNvSpPr/>
              <p:nvPr/>
            </p:nvSpPr>
            <p:spPr>
              <a:xfrm>
                <a:off x="1066320" y="457164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75" name="Line 33"/>
              <p:cNvSpPr/>
              <p:nvPr/>
            </p:nvSpPr>
            <p:spPr>
              <a:xfrm>
                <a:off x="2285640" y="457164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76" name="Line 34"/>
              <p:cNvSpPr/>
              <p:nvPr/>
            </p:nvSpPr>
            <p:spPr>
              <a:xfrm>
                <a:off x="1066320" y="548604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77" name="Line 35"/>
              <p:cNvSpPr/>
              <p:nvPr/>
            </p:nvSpPr>
            <p:spPr>
              <a:xfrm flipH="1">
                <a:off x="2285640" y="502884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78" name="Oval 36"/>
              <p:cNvSpPr/>
              <p:nvPr/>
            </p:nvSpPr>
            <p:spPr>
              <a:xfrm>
                <a:off x="2590560" y="4800240"/>
                <a:ext cx="457200" cy="45720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379" name="Line 37"/>
              <p:cNvSpPr/>
              <p:nvPr/>
            </p:nvSpPr>
            <p:spPr>
              <a:xfrm>
                <a:off x="1066320" y="457164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80" name="Rectangle 38"/>
              <p:cNvSpPr/>
              <p:nvPr/>
            </p:nvSpPr>
            <p:spPr>
              <a:xfrm>
                <a:off x="1447560" y="48765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381" name="Rectangle 39"/>
              <p:cNvSpPr/>
              <p:nvPr/>
            </p:nvSpPr>
            <p:spPr>
              <a:xfrm>
                <a:off x="1447560" y="53337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382" name="Rectangle 40"/>
              <p:cNvSpPr/>
              <p:nvPr/>
            </p:nvSpPr>
            <p:spPr>
              <a:xfrm>
                <a:off x="1447560" y="44193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grpSp>
        <p:sp>
          <p:nvSpPr>
            <p:cNvPr id="383" name="Text Box 41"/>
            <p:cNvSpPr/>
            <p:nvPr/>
          </p:nvSpPr>
          <p:spPr>
            <a:xfrm>
              <a:off x="2822400" y="4572000"/>
              <a:ext cx="10652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Voting unit</a:t>
              </a:r>
              <a:endParaRPr lang="en-US" sz="1400" b="0" u="none" strike="noStrike">
                <a:solidFill>
                  <a:srgbClr val="000000"/>
                </a:solidFill>
                <a:effectLst/>
                <a:uFillTx/>
                <a:latin typeface="Times New Roman"/>
              </a:endParaRPr>
            </a:p>
          </p:txBody>
        </p:sp>
      </p:grpSp>
      <p:grpSp>
        <p:nvGrpSpPr>
          <p:cNvPr id="384" name="Group 42"/>
          <p:cNvGrpSpPr/>
          <p:nvPr/>
        </p:nvGrpSpPr>
        <p:grpSpPr>
          <a:xfrm>
            <a:off x="761760" y="2514600"/>
            <a:ext cx="2937600" cy="1069200"/>
            <a:chOff x="761760" y="2514600"/>
            <a:chExt cx="2937600" cy="1069200"/>
          </a:xfrm>
        </p:grpSpPr>
        <p:sp>
          <p:nvSpPr>
            <p:cNvPr id="385" name="Line 43"/>
            <p:cNvSpPr/>
            <p:nvPr/>
          </p:nvSpPr>
          <p:spPr>
            <a:xfrm>
              <a:off x="761760" y="2895480"/>
              <a:ext cx="3045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86" name="Line 44"/>
            <p:cNvSpPr/>
            <p:nvPr/>
          </p:nvSpPr>
          <p:spPr>
            <a:xfrm>
              <a:off x="1066320" y="2666880"/>
              <a:ext cx="3812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87" name="Line 45"/>
            <p:cNvSpPr/>
            <p:nvPr/>
          </p:nvSpPr>
          <p:spPr>
            <a:xfrm>
              <a:off x="1066320" y="3124080"/>
              <a:ext cx="3812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88" name="Oval 46"/>
            <p:cNvSpPr/>
            <p:nvPr/>
          </p:nvSpPr>
          <p:spPr>
            <a:xfrm>
              <a:off x="2361960" y="2895480"/>
              <a:ext cx="457200" cy="45720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a:t>
              </a:r>
              <a:endParaRPr lang="en-US" sz="1800" b="0" u="none" strike="noStrike">
                <a:solidFill>
                  <a:srgbClr val="000000"/>
                </a:solidFill>
                <a:effectLst/>
                <a:uFillTx/>
                <a:latin typeface="Times New Roman"/>
              </a:endParaRPr>
            </a:p>
          </p:txBody>
        </p:sp>
        <p:sp>
          <p:nvSpPr>
            <p:cNvPr id="389" name="Line 47"/>
            <p:cNvSpPr/>
            <p:nvPr/>
          </p:nvSpPr>
          <p:spPr>
            <a:xfrm>
              <a:off x="1066320" y="2666880"/>
              <a:ext cx="0" cy="2761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90" name="Rectangle 48"/>
            <p:cNvSpPr/>
            <p:nvPr/>
          </p:nvSpPr>
          <p:spPr>
            <a:xfrm>
              <a:off x="1447560" y="251460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sp>
          <p:nvSpPr>
            <p:cNvPr id="391" name="Line 49"/>
            <p:cNvSpPr/>
            <p:nvPr/>
          </p:nvSpPr>
          <p:spPr>
            <a:xfrm>
              <a:off x="1066320" y="2895480"/>
              <a:ext cx="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92" name="Text Box 50"/>
            <p:cNvSpPr/>
            <p:nvPr/>
          </p:nvSpPr>
          <p:spPr>
            <a:xfrm>
              <a:off x="1983240" y="3276720"/>
              <a:ext cx="116316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Comparator</a:t>
              </a:r>
              <a:endParaRPr lang="en-US" sz="1400" b="0" u="none" strike="noStrike">
                <a:solidFill>
                  <a:srgbClr val="000000"/>
                </a:solidFill>
                <a:effectLst/>
                <a:uFillTx/>
                <a:latin typeface="Times New Roman"/>
              </a:endParaRPr>
            </a:p>
          </p:txBody>
        </p:sp>
        <p:sp>
          <p:nvSpPr>
            <p:cNvPr id="393" name="Rectangle 51"/>
            <p:cNvSpPr/>
            <p:nvPr/>
          </p:nvSpPr>
          <p:spPr>
            <a:xfrm>
              <a:off x="1447560" y="297180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394" name="Line 52"/>
            <p:cNvSpPr/>
            <p:nvPr/>
          </p:nvSpPr>
          <p:spPr>
            <a:xfrm>
              <a:off x="2590560" y="2666880"/>
              <a:ext cx="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95" name="Text Box 53"/>
            <p:cNvSpPr/>
            <p:nvPr/>
          </p:nvSpPr>
          <p:spPr>
            <a:xfrm>
              <a:off x="3125880" y="2971800"/>
              <a:ext cx="57348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Error</a:t>
              </a:r>
              <a:endParaRPr lang="en-US" sz="1400" b="0" u="none" strike="noStrike">
                <a:solidFill>
                  <a:srgbClr val="000000"/>
                </a:solidFill>
                <a:effectLst/>
                <a:uFillTx/>
                <a:latin typeface="Times New Roman"/>
              </a:endParaRPr>
            </a:p>
          </p:txBody>
        </p:sp>
        <p:sp>
          <p:nvSpPr>
            <p:cNvPr id="396" name="Line 54"/>
            <p:cNvSpPr/>
            <p:nvPr/>
          </p:nvSpPr>
          <p:spPr>
            <a:xfrm>
              <a:off x="2057040" y="2666880"/>
              <a:ext cx="129528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97" name="Line 55"/>
            <p:cNvSpPr/>
            <p:nvPr/>
          </p:nvSpPr>
          <p:spPr>
            <a:xfrm>
              <a:off x="2057040" y="312408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98" name="Line 56"/>
            <p:cNvSpPr/>
            <p:nvPr/>
          </p:nvSpPr>
          <p:spPr>
            <a:xfrm>
              <a:off x="2819160" y="3124080"/>
              <a:ext cx="30456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399" name="Group 57"/>
          <p:cNvGrpSpPr/>
          <p:nvPr/>
        </p:nvGrpSpPr>
        <p:grpSpPr>
          <a:xfrm>
            <a:off x="4952880" y="914400"/>
            <a:ext cx="3505320" cy="2199240"/>
            <a:chOff x="4952880" y="914400"/>
            <a:chExt cx="3505320" cy="2199240"/>
          </a:xfrm>
        </p:grpSpPr>
        <p:sp>
          <p:nvSpPr>
            <p:cNvPr id="400" name="Line 58"/>
            <p:cNvSpPr/>
            <p:nvPr/>
          </p:nvSpPr>
          <p:spPr>
            <a:xfrm>
              <a:off x="7010280" y="2851200"/>
              <a:ext cx="106668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1" name="Line 59"/>
            <p:cNvSpPr/>
            <p:nvPr/>
          </p:nvSpPr>
          <p:spPr>
            <a:xfrm flipV="1">
              <a:off x="8076960" y="2394000"/>
              <a:ext cx="0" cy="45720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2" name="Line 60"/>
            <p:cNvSpPr/>
            <p:nvPr/>
          </p:nvSpPr>
          <p:spPr>
            <a:xfrm>
              <a:off x="7010280" y="1784520"/>
              <a:ext cx="38088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3" name="Line 61"/>
            <p:cNvSpPr/>
            <p:nvPr/>
          </p:nvSpPr>
          <p:spPr>
            <a:xfrm>
              <a:off x="7391160" y="1784520"/>
              <a:ext cx="0" cy="91440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4" name="Line 62"/>
            <p:cNvSpPr/>
            <p:nvPr/>
          </p:nvSpPr>
          <p:spPr>
            <a:xfrm>
              <a:off x="7391160" y="2698920"/>
              <a:ext cx="533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5" name="Line 63"/>
            <p:cNvSpPr/>
            <p:nvPr/>
          </p:nvSpPr>
          <p:spPr>
            <a:xfrm flipV="1">
              <a:off x="7924680" y="2469960"/>
              <a:ext cx="0" cy="22860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6" name="Line 64"/>
            <p:cNvSpPr/>
            <p:nvPr/>
          </p:nvSpPr>
          <p:spPr>
            <a:xfrm>
              <a:off x="4952880" y="155592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7" name="Line 65"/>
            <p:cNvSpPr/>
            <p:nvPr/>
          </p:nvSpPr>
          <p:spPr>
            <a:xfrm>
              <a:off x="5257800" y="1327320"/>
              <a:ext cx="3808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8" name="Line 66"/>
            <p:cNvSpPr/>
            <p:nvPr/>
          </p:nvSpPr>
          <p:spPr>
            <a:xfrm>
              <a:off x="5257800" y="1784520"/>
              <a:ext cx="3808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09" name="Oval 67"/>
            <p:cNvSpPr/>
            <p:nvPr/>
          </p:nvSpPr>
          <p:spPr>
            <a:xfrm>
              <a:off x="6553080" y="1555920"/>
              <a:ext cx="457200" cy="45720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a:t>
              </a:r>
              <a:endParaRPr lang="en-US" sz="1800" b="0" u="none" strike="noStrike">
                <a:solidFill>
                  <a:srgbClr val="000000"/>
                </a:solidFill>
                <a:effectLst/>
                <a:uFillTx/>
                <a:latin typeface="Times New Roman"/>
              </a:endParaRPr>
            </a:p>
          </p:txBody>
        </p:sp>
        <p:sp>
          <p:nvSpPr>
            <p:cNvPr id="410" name="Line 68"/>
            <p:cNvSpPr/>
            <p:nvPr/>
          </p:nvSpPr>
          <p:spPr>
            <a:xfrm>
              <a:off x="5257800" y="1327320"/>
              <a:ext cx="0" cy="2761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11" name="Rectangle 69"/>
            <p:cNvSpPr/>
            <p:nvPr/>
          </p:nvSpPr>
          <p:spPr>
            <a:xfrm>
              <a:off x="5638680" y="117468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sp>
          <p:nvSpPr>
            <p:cNvPr id="412" name="Line 70"/>
            <p:cNvSpPr/>
            <p:nvPr/>
          </p:nvSpPr>
          <p:spPr>
            <a:xfrm>
              <a:off x="5257800" y="1555920"/>
              <a:ext cx="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13" name="Text Box 71"/>
            <p:cNvSpPr/>
            <p:nvPr/>
          </p:nvSpPr>
          <p:spPr>
            <a:xfrm>
              <a:off x="6174720" y="2013120"/>
              <a:ext cx="125172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Comparators</a:t>
              </a:r>
              <a:endParaRPr lang="en-US" sz="1400" b="0" u="none" strike="noStrike">
                <a:solidFill>
                  <a:srgbClr val="000000"/>
                </a:solidFill>
                <a:effectLst/>
                <a:uFillTx/>
                <a:latin typeface="Times New Roman"/>
              </a:endParaRPr>
            </a:p>
          </p:txBody>
        </p:sp>
        <p:sp>
          <p:nvSpPr>
            <p:cNvPr id="414" name="Rectangle 72"/>
            <p:cNvSpPr/>
            <p:nvPr/>
          </p:nvSpPr>
          <p:spPr>
            <a:xfrm>
              <a:off x="5638680" y="163188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415" name="Line 73"/>
            <p:cNvSpPr/>
            <p:nvPr/>
          </p:nvSpPr>
          <p:spPr>
            <a:xfrm>
              <a:off x="6781680" y="1327320"/>
              <a:ext cx="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16" name="Text Box 74"/>
            <p:cNvSpPr/>
            <p:nvPr/>
          </p:nvSpPr>
          <p:spPr>
            <a:xfrm>
              <a:off x="7241040" y="1527120"/>
              <a:ext cx="57348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Error</a:t>
              </a:r>
              <a:endParaRPr lang="en-US" sz="1400" b="0" u="none" strike="noStrike">
                <a:solidFill>
                  <a:srgbClr val="000000"/>
                </a:solidFill>
                <a:effectLst/>
                <a:uFillTx/>
                <a:latin typeface="Times New Roman"/>
              </a:endParaRPr>
            </a:p>
          </p:txBody>
        </p:sp>
        <p:sp>
          <p:nvSpPr>
            <p:cNvPr id="417" name="Line 75"/>
            <p:cNvSpPr/>
            <p:nvPr/>
          </p:nvSpPr>
          <p:spPr>
            <a:xfrm>
              <a:off x="6248160" y="1327320"/>
              <a:ext cx="16002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18" name="Line 76"/>
            <p:cNvSpPr/>
            <p:nvPr/>
          </p:nvSpPr>
          <p:spPr>
            <a:xfrm>
              <a:off x="6248160" y="178452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19" name="Line 77"/>
            <p:cNvSpPr/>
            <p:nvPr/>
          </p:nvSpPr>
          <p:spPr>
            <a:xfrm>
              <a:off x="8153280" y="1860480"/>
              <a:ext cx="3049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20" name="Line 78"/>
            <p:cNvSpPr/>
            <p:nvPr/>
          </p:nvSpPr>
          <p:spPr>
            <a:xfrm>
              <a:off x="4952880" y="262260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21" name="Line 79"/>
            <p:cNvSpPr/>
            <p:nvPr/>
          </p:nvSpPr>
          <p:spPr>
            <a:xfrm>
              <a:off x="5257800" y="2394000"/>
              <a:ext cx="3808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22" name="Line 80"/>
            <p:cNvSpPr/>
            <p:nvPr/>
          </p:nvSpPr>
          <p:spPr>
            <a:xfrm>
              <a:off x="5257800" y="2851200"/>
              <a:ext cx="3808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23" name="Oval 81"/>
            <p:cNvSpPr/>
            <p:nvPr/>
          </p:nvSpPr>
          <p:spPr>
            <a:xfrm>
              <a:off x="6553080" y="2622600"/>
              <a:ext cx="457200" cy="45720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a:t>
              </a:r>
              <a:endParaRPr lang="en-US" sz="1800" b="0" u="none" strike="noStrike">
                <a:solidFill>
                  <a:srgbClr val="000000"/>
                </a:solidFill>
                <a:effectLst/>
                <a:uFillTx/>
                <a:latin typeface="Times New Roman"/>
              </a:endParaRPr>
            </a:p>
          </p:txBody>
        </p:sp>
        <p:sp>
          <p:nvSpPr>
            <p:cNvPr id="424" name="Line 82"/>
            <p:cNvSpPr/>
            <p:nvPr/>
          </p:nvSpPr>
          <p:spPr>
            <a:xfrm>
              <a:off x="5257800" y="2394000"/>
              <a:ext cx="0" cy="2761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25" name="Rectangle 83"/>
            <p:cNvSpPr/>
            <p:nvPr/>
          </p:nvSpPr>
          <p:spPr>
            <a:xfrm>
              <a:off x="5638680" y="224172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426" name="Line 84"/>
            <p:cNvSpPr/>
            <p:nvPr/>
          </p:nvSpPr>
          <p:spPr>
            <a:xfrm>
              <a:off x="5257800" y="2622600"/>
              <a:ext cx="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27" name="Rectangle 85"/>
            <p:cNvSpPr/>
            <p:nvPr/>
          </p:nvSpPr>
          <p:spPr>
            <a:xfrm>
              <a:off x="5638680" y="269892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428" name="Line 86"/>
            <p:cNvSpPr/>
            <p:nvPr/>
          </p:nvSpPr>
          <p:spPr>
            <a:xfrm>
              <a:off x="6781680" y="2394000"/>
              <a:ext cx="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29" name="Text Box 87"/>
            <p:cNvSpPr/>
            <p:nvPr/>
          </p:nvSpPr>
          <p:spPr>
            <a:xfrm>
              <a:off x="7241040" y="2806560"/>
              <a:ext cx="57348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Error</a:t>
              </a:r>
              <a:endParaRPr lang="en-US" sz="1400" b="0" u="none" strike="noStrike">
                <a:solidFill>
                  <a:srgbClr val="000000"/>
                </a:solidFill>
                <a:effectLst/>
                <a:uFillTx/>
                <a:latin typeface="Times New Roman"/>
              </a:endParaRPr>
            </a:p>
          </p:txBody>
        </p:sp>
        <p:sp>
          <p:nvSpPr>
            <p:cNvPr id="430" name="Line 88"/>
            <p:cNvSpPr/>
            <p:nvPr/>
          </p:nvSpPr>
          <p:spPr>
            <a:xfrm>
              <a:off x="6248160" y="2394000"/>
              <a:ext cx="16002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31" name="Line 89"/>
            <p:cNvSpPr/>
            <p:nvPr/>
          </p:nvSpPr>
          <p:spPr>
            <a:xfrm>
              <a:off x="6248160" y="285120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32" name="AutoShape 90"/>
            <p:cNvSpPr/>
            <p:nvPr/>
          </p:nvSpPr>
          <p:spPr>
            <a:xfrm rot="16200000">
              <a:off x="7315560" y="1707120"/>
              <a:ext cx="1371600" cy="306360"/>
            </a:xfrm>
            <a:custGeom>
              <a:avLst/>
              <a:gdLst>
                <a:gd name="textAreaLeft" fmla="*/ 206280 w 1371600"/>
                <a:gd name="textAreaRight" fmla="*/ 1165320 w 1371600"/>
                <a:gd name="textAreaTop" fmla="*/ 46080 h 306360"/>
                <a:gd name="textAreaBottom" fmla="*/ 260280 h 306360"/>
                <a:gd name="GluePoint1X" fmla="*/ 0 w 21600"/>
                <a:gd name="GluePoint1Y" fmla="*/ 0 h 21600"/>
                <a:gd name="GluePoint2X" fmla="*/ 0 w 21600"/>
                <a:gd name="GluePoint2Y" fmla="*/ 0 h 21600"/>
                <a:gd name="GluePoint3X" fmla="*/ 0 w 21600"/>
                <a:gd name="GluePoint3Y" fmla="*/ 0 h 21600"/>
                <a:gd name="GluePoint4X" fmla="*/ 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0" y="0"/>
                  </a:moveTo>
                  <a:lnTo>
                    <a:pt x="2880" y="21600"/>
                  </a:lnTo>
                  <a:lnTo>
                    <a:pt x="18720" y="21600"/>
                  </a:lnTo>
                  <a:lnTo>
                    <a:pt x="21600" y="0"/>
                  </a:lnTo>
                  <a:lnTo>
                    <a:pt x="0" y="0"/>
                  </a:lnTo>
                  <a:close/>
                </a:path>
              </a:pathLst>
            </a:custGeom>
            <a:solidFill>
              <a:srgbClr val="FFFFFF"/>
            </a:solidFill>
            <a:ln w="9360">
              <a:solidFill>
                <a:srgbClr val="000000"/>
              </a:solidFill>
              <a:miter/>
            </a:ln>
          </p:spPr>
          <p:style>
            <a:lnRef idx="0"/>
            <a:fillRef idx="0"/>
            <a:effectRef idx="0"/>
            <a:fontRef idx="minor"/>
          </p:style>
          <p:txBody>
            <a:bodyPr wrap="none" lIns="90000" tIns="46800" rIns="90000" bIns="46800" anchor="t" anchorCtr="1">
              <a:noAutofit/>
            </a:bodyPr>
            <a:p>
              <a:endParaRPr lang="en-US" sz="2400" b="0" u="none" strike="noStrike">
                <a:solidFill>
                  <a:srgbClr val="000000"/>
                </a:solidFill>
                <a:effectLst/>
                <a:uFillTx/>
                <a:latin typeface="Times New Roman"/>
              </a:endParaRPr>
            </a:p>
          </p:txBody>
        </p:sp>
        <p:sp>
          <p:nvSpPr>
            <p:cNvPr id="433" name="Oval 91"/>
            <p:cNvSpPr/>
            <p:nvPr/>
          </p:nvSpPr>
          <p:spPr>
            <a:xfrm>
              <a:off x="7772400" y="1631880"/>
              <a:ext cx="457200" cy="457200"/>
            </a:xfrm>
            <a:prstGeom prst="ellipse">
              <a:avLst/>
            </a:prstGeom>
            <a:noFill/>
            <a:ln w="38160">
              <a:noFill/>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S</a:t>
              </a:r>
              <a:endParaRPr lang="en-US" sz="1800" b="0" u="none" strike="noStrike">
                <a:solidFill>
                  <a:srgbClr val="000000"/>
                </a:solidFill>
                <a:effectLst/>
                <a:uFillTx/>
                <a:latin typeface="Times New Roman"/>
              </a:endParaRPr>
            </a:p>
          </p:txBody>
        </p:sp>
        <p:sp>
          <p:nvSpPr>
            <p:cNvPr id="434" name="Text Box 92"/>
            <p:cNvSpPr/>
            <p:nvPr/>
          </p:nvSpPr>
          <p:spPr>
            <a:xfrm>
              <a:off x="7623000" y="914400"/>
              <a:ext cx="70128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Switch</a:t>
              </a:r>
              <a:endParaRPr lang="en-US" sz="1400" b="0" u="none" strike="noStrike">
                <a:solidFill>
                  <a:srgbClr val="000000"/>
                </a:solidFill>
                <a:effectLst/>
                <a:uFillTx/>
                <a:latin typeface="Times New Roman"/>
              </a:endParaRPr>
            </a:p>
          </p:txBody>
        </p:sp>
      </p:grpSp>
      <p:sp>
        <p:nvSpPr>
          <p:cNvPr id="435" name="Text Box 93"/>
          <p:cNvSpPr/>
          <p:nvPr/>
        </p:nvSpPr>
        <p:spPr>
          <a:xfrm>
            <a:off x="5638680" y="5715000"/>
            <a:ext cx="2057400" cy="35280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NMR/Hybrid</a:t>
            </a:r>
            <a:endParaRPr lang="en-US" sz="2000" b="0" u="none" strike="noStrike">
              <a:solidFill>
                <a:srgbClr val="000000"/>
              </a:solidFill>
              <a:effectLst/>
              <a:uFillTx/>
              <a:latin typeface="Times New Roman"/>
            </a:endParaRPr>
          </a:p>
        </p:txBody>
      </p:sp>
      <p:sp>
        <p:nvSpPr>
          <p:cNvPr id="436" name="Text Box 94"/>
          <p:cNvSpPr/>
          <p:nvPr/>
        </p:nvSpPr>
        <p:spPr>
          <a:xfrm>
            <a:off x="761760" y="3581280"/>
            <a:ext cx="2895840" cy="35280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Duplicate and compare</a:t>
            </a:r>
            <a:endParaRPr lang="en-US" sz="2000" b="0" u="none" strike="noStrike">
              <a:solidFill>
                <a:srgbClr val="000000"/>
              </a:solidFill>
              <a:effectLst/>
              <a:uFillTx/>
              <a:latin typeface="Times New Roman"/>
            </a:endParaRPr>
          </a:p>
        </p:txBody>
      </p:sp>
      <p:sp>
        <p:nvSpPr>
          <p:cNvPr id="437" name="Text Box 95"/>
          <p:cNvSpPr/>
          <p:nvPr/>
        </p:nvSpPr>
        <p:spPr>
          <a:xfrm>
            <a:off x="761760" y="5715000"/>
            <a:ext cx="2895840" cy="35280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Triplicate and vote</a:t>
            </a:r>
            <a:endParaRPr lang="en-US" sz="2000" b="0" u="none" strike="noStrike">
              <a:solidFill>
                <a:srgbClr val="000000"/>
              </a:solidFill>
              <a:effectLst/>
              <a:uFillTx/>
              <a:latin typeface="Times New Roman"/>
            </a:endParaRPr>
          </a:p>
        </p:txBody>
      </p:sp>
      <p:sp>
        <p:nvSpPr>
          <p:cNvPr id="438" name="Text Box 96"/>
          <p:cNvSpPr/>
          <p:nvPr/>
        </p:nvSpPr>
        <p:spPr>
          <a:xfrm>
            <a:off x="457200" y="1066680"/>
            <a:ext cx="3962160" cy="87048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The following schemes have already been discussed in connection with fault masking</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136D4BAE-F5CC-4BDF-926D-98925C54E79B}"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440"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441" name="PlaceHolder 1"/>
          <p:cNvSpPr>
            <a:spLocks noGrp="1"/>
          </p:cNvSpPr>
          <p:nvPr>
            <p:ph type="title"/>
          </p:nvPr>
        </p:nvSpPr>
        <p:spPr>
          <a:xfrm>
            <a:off x="304200" y="152280"/>
            <a:ext cx="853452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Static Redundancy with Replication</a:t>
            </a:r>
            <a:endParaRPr lang="en-US" sz="3600" b="0" u="none" strike="noStrike">
              <a:solidFill>
                <a:srgbClr val="000000"/>
              </a:solidFill>
              <a:effectLst/>
              <a:uFillTx/>
              <a:latin typeface="Arial"/>
            </a:endParaRPr>
          </a:p>
        </p:txBody>
      </p:sp>
      <p:sp>
        <p:nvSpPr>
          <p:cNvPr id="442" name="Text Box 4"/>
          <p:cNvSpPr/>
          <p:nvPr/>
        </p:nvSpPr>
        <p:spPr>
          <a:xfrm>
            <a:off x="457200" y="1523880"/>
            <a:ext cx="4495680" cy="1290240"/>
          </a:xfrm>
          <a:prstGeom prst="rect">
            <a:avLst/>
          </a:prstGeom>
          <a:noFill/>
          <a:ln w="3816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Condition on the module reliability:</a:t>
            </a:r>
            <a:endParaRPr lang="en-US" sz="2000" b="0"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 </a:t>
            </a:r>
            <a:r>
              <a:rPr lang="en-US" sz="2000" b="0" u="none" strike="noStrike">
                <a:solidFill>
                  <a:srgbClr val="000000"/>
                </a:solidFill>
                <a:effectLst/>
                <a:uFillTx/>
                <a:latin typeface="Arial"/>
                <a:ea typeface="Times New Roman"/>
              </a:rPr>
              <a:t>[1 + (1 –</a:t>
            </a:r>
            <a:r>
              <a:rPr lang="en-US" sz="2000" b="0" i="1" u="none" strike="noStrike">
                <a:solidFill>
                  <a:srgbClr val="000000"/>
                </a:solidFill>
                <a:effectLst/>
                <a:uFillTx/>
                <a:latin typeface="Arial"/>
                <a:ea typeface="Times New Roman"/>
              </a:rPr>
              <a:t> 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a:t>
            </a:r>
            <a:r>
              <a:rPr lang="en-US" sz="2000" b="0" u="none" strike="noStrike">
                <a:solidFill>
                  <a:srgbClr val="000000"/>
                </a:solidFill>
                <a:effectLst/>
                <a:uFillTx/>
                <a:latin typeface="Arial"/>
                <a:ea typeface="Times New Roman"/>
              </a:rPr>
              <a:t>2</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 – 1</a:t>
            </a:r>
            <a:r>
              <a:rPr lang="en-US" sz="2000" b="0" u="none" strike="noStrike">
                <a:solidFill>
                  <a:srgbClr val="000000"/>
                </a:solidFill>
                <a:effectLst/>
                <a:uFillTx/>
                <a:latin typeface="Arial"/>
                <a:ea typeface="Times New Roman"/>
              </a:rPr>
              <a:t>)</a:t>
            </a:r>
            <a:r>
              <a:rPr lang="en-US" sz="2000" b="0" u="none" strike="noStrike">
                <a:solidFill>
                  <a:srgbClr val="000000"/>
                </a:solidFill>
                <a:effectLst/>
                <a:uFillTx/>
                <a:latin typeface="Arial"/>
                <a:ea typeface="Times New Roman"/>
              </a:rPr>
              <a:t>]</a:t>
            </a:r>
            <a:endParaRPr lang="en-US" sz="2000" b="0"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(1 –</a:t>
            </a:r>
            <a:r>
              <a:rPr lang="en-US" sz="2000" b="0" i="1" u="none" strike="noStrike">
                <a:solidFill>
                  <a:srgbClr val="000000"/>
                </a:solidFill>
                <a:effectLst/>
                <a:uFillTx/>
                <a:latin typeface="Arial"/>
                <a:ea typeface="Times New Roman"/>
              </a:rPr>
              <a:t> 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a:t>
            </a:r>
            <a:r>
              <a:rPr lang="en-US" sz="2000" b="0" u="none" strike="noStrike">
                <a:solidFill>
                  <a:srgbClr val="000000"/>
                </a:solidFill>
                <a:effectLst/>
                <a:uFillTx/>
                <a:latin typeface="Arial"/>
                <a:ea typeface="Times New Roman"/>
              </a:rPr>
              <a:t>2</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 – 1</a:t>
            </a:r>
            <a:r>
              <a:rPr lang="en-US" sz="2000" b="0" u="none" strike="noStrike">
                <a:solidFill>
                  <a:srgbClr val="000000"/>
                </a:solidFill>
                <a:effectLst/>
                <a:uFillTx/>
                <a:latin typeface="Arial"/>
                <a:ea typeface="Times New Roman"/>
              </a:rPr>
              <a:t>) &gt; 0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 &gt; 1/2</a:t>
            </a:r>
            <a:endParaRPr lang="en-US" sz="2000" b="0" u="none" strike="noStrike">
              <a:solidFill>
                <a:srgbClr val="000000"/>
              </a:solidFill>
              <a:effectLst/>
              <a:uFillTx/>
              <a:latin typeface="Times New Roman"/>
            </a:endParaRPr>
          </a:p>
        </p:txBody>
      </p:sp>
      <p:grpSp>
        <p:nvGrpSpPr>
          <p:cNvPr id="443" name="Group 5"/>
          <p:cNvGrpSpPr/>
          <p:nvPr/>
        </p:nvGrpSpPr>
        <p:grpSpPr>
          <a:xfrm>
            <a:off x="5410080" y="1143000"/>
            <a:ext cx="3353760" cy="1218960"/>
            <a:chOff x="5410080" y="1143000"/>
            <a:chExt cx="3353760" cy="1218960"/>
          </a:xfrm>
        </p:grpSpPr>
        <p:grpSp>
          <p:nvGrpSpPr>
            <p:cNvPr id="444" name="Group 6"/>
            <p:cNvGrpSpPr/>
            <p:nvPr/>
          </p:nvGrpSpPr>
          <p:grpSpPr>
            <a:xfrm>
              <a:off x="5410080" y="1143000"/>
              <a:ext cx="3047760" cy="1218960"/>
              <a:chOff x="5410080" y="1143000"/>
              <a:chExt cx="3047760" cy="1218960"/>
            </a:xfrm>
          </p:grpSpPr>
          <p:sp>
            <p:nvSpPr>
              <p:cNvPr id="445" name="Line 7"/>
              <p:cNvSpPr/>
              <p:nvPr/>
            </p:nvSpPr>
            <p:spPr>
              <a:xfrm>
                <a:off x="5410080" y="1752480"/>
                <a:ext cx="30477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46" name="Line 8"/>
              <p:cNvSpPr/>
              <p:nvPr/>
            </p:nvSpPr>
            <p:spPr>
              <a:xfrm>
                <a:off x="5943240" y="129528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47" name="Line 9"/>
              <p:cNvSpPr/>
              <p:nvPr/>
            </p:nvSpPr>
            <p:spPr>
              <a:xfrm>
                <a:off x="7162560" y="129528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48" name="Line 10"/>
              <p:cNvSpPr/>
              <p:nvPr/>
            </p:nvSpPr>
            <p:spPr>
              <a:xfrm>
                <a:off x="5943240" y="220968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49" name="Line 11"/>
              <p:cNvSpPr/>
              <p:nvPr/>
            </p:nvSpPr>
            <p:spPr>
              <a:xfrm flipH="1">
                <a:off x="7162560" y="175248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50" name="Oval 12"/>
              <p:cNvSpPr/>
              <p:nvPr/>
            </p:nvSpPr>
            <p:spPr>
              <a:xfrm>
                <a:off x="7467480" y="152388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451" name="Line 13"/>
              <p:cNvSpPr/>
              <p:nvPr/>
            </p:nvSpPr>
            <p:spPr>
              <a:xfrm>
                <a:off x="5943240" y="129528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52" name="Rectangle 14"/>
              <p:cNvSpPr/>
              <p:nvPr/>
            </p:nvSpPr>
            <p:spPr>
              <a:xfrm>
                <a:off x="6324480" y="16002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453" name="Rectangle 15"/>
              <p:cNvSpPr/>
              <p:nvPr/>
            </p:nvSpPr>
            <p:spPr>
              <a:xfrm>
                <a:off x="6324480" y="20574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454" name="Rectangle 16"/>
              <p:cNvSpPr/>
              <p:nvPr/>
            </p:nvSpPr>
            <p:spPr>
              <a:xfrm>
                <a:off x="6324480" y="11430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grpSp>
        <p:sp>
          <p:nvSpPr>
            <p:cNvPr id="455" name="Text Box 17"/>
            <p:cNvSpPr/>
            <p:nvPr/>
          </p:nvSpPr>
          <p:spPr>
            <a:xfrm>
              <a:off x="7698600" y="1295280"/>
              <a:ext cx="10652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Voting unit</a:t>
              </a:r>
              <a:endParaRPr lang="en-US" sz="1400" b="0" u="none" strike="noStrike">
                <a:solidFill>
                  <a:srgbClr val="000000"/>
                </a:solidFill>
                <a:effectLst/>
                <a:uFillTx/>
                <a:latin typeface="Times New Roman"/>
              </a:endParaRPr>
            </a:p>
          </p:txBody>
        </p:sp>
      </p:grpSp>
      <p:grpSp>
        <p:nvGrpSpPr>
          <p:cNvPr id="456" name="Group 18"/>
          <p:cNvGrpSpPr/>
          <p:nvPr/>
        </p:nvGrpSpPr>
        <p:grpSpPr>
          <a:xfrm>
            <a:off x="304560" y="2666880"/>
            <a:ext cx="4267080" cy="2623680"/>
            <a:chOff x="304560" y="2666880"/>
            <a:chExt cx="4267080" cy="2623680"/>
          </a:xfrm>
        </p:grpSpPr>
        <p:sp>
          <p:nvSpPr>
            <p:cNvPr id="457" name="Line 19"/>
            <p:cNvSpPr/>
            <p:nvPr/>
          </p:nvSpPr>
          <p:spPr>
            <a:xfrm flipV="1">
              <a:off x="1218960" y="2971440"/>
              <a:ext cx="0" cy="19810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58" name="Line 20"/>
            <p:cNvSpPr/>
            <p:nvPr/>
          </p:nvSpPr>
          <p:spPr>
            <a:xfrm>
              <a:off x="1218960" y="4952880"/>
              <a:ext cx="27432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59" name="Text Box 21"/>
            <p:cNvSpPr/>
            <p:nvPr/>
          </p:nvSpPr>
          <p:spPr>
            <a:xfrm>
              <a:off x="1066680" y="2666880"/>
              <a:ext cx="83808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endParaRPr lang="en-US" sz="2000" b="0" u="none" strike="noStrike">
                <a:solidFill>
                  <a:srgbClr val="000000"/>
                </a:solidFill>
                <a:effectLst/>
                <a:uFillTx/>
                <a:latin typeface="Times New Roman"/>
              </a:endParaRPr>
            </a:p>
          </p:txBody>
        </p:sp>
        <p:sp>
          <p:nvSpPr>
            <p:cNvPr id="460" name="Text Box 22"/>
            <p:cNvSpPr/>
            <p:nvPr/>
          </p:nvSpPr>
          <p:spPr>
            <a:xfrm>
              <a:off x="3962160" y="4724280"/>
              <a:ext cx="60948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endParaRPr lang="en-US" sz="2000" b="0" u="none" strike="noStrike">
                <a:solidFill>
                  <a:srgbClr val="000000"/>
                </a:solidFill>
                <a:effectLst/>
                <a:uFillTx/>
                <a:latin typeface="Times New Roman"/>
              </a:endParaRPr>
            </a:p>
          </p:txBody>
        </p:sp>
        <p:sp>
          <p:nvSpPr>
            <p:cNvPr id="461" name="Line 23"/>
            <p:cNvSpPr/>
            <p:nvPr/>
          </p:nvSpPr>
          <p:spPr>
            <a:xfrm>
              <a:off x="1218960" y="4038480"/>
              <a:ext cx="243828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62" name="Line 24"/>
            <p:cNvSpPr/>
            <p:nvPr/>
          </p:nvSpPr>
          <p:spPr>
            <a:xfrm>
              <a:off x="1218960" y="3124080"/>
              <a:ext cx="243828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63" name="Text Box 25"/>
            <p:cNvSpPr/>
            <p:nvPr/>
          </p:nvSpPr>
          <p:spPr>
            <a:xfrm>
              <a:off x="3428640" y="4952880"/>
              <a:ext cx="83844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1.0</a:t>
              </a:r>
              <a:endParaRPr lang="en-US" sz="1600" b="0" u="none" strike="noStrike">
                <a:solidFill>
                  <a:srgbClr val="000000"/>
                </a:solidFill>
                <a:effectLst/>
                <a:uFillTx/>
                <a:latin typeface="Times New Roman"/>
              </a:endParaRPr>
            </a:p>
          </p:txBody>
        </p:sp>
        <p:sp>
          <p:nvSpPr>
            <p:cNvPr id="464" name="Line 26"/>
            <p:cNvSpPr/>
            <p:nvPr/>
          </p:nvSpPr>
          <p:spPr>
            <a:xfrm>
              <a:off x="3657240" y="3124080"/>
              <a:ext cx="0" cy="182880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65" name="Text Box 27"/>
            <p:cNvSpPr/>
            <p:nvPr/>
          </p:nvSpPr>
          <p:spPr>
            <a:xfrm>
              <a:off x="685440" y="4724280"/>
              <a:ext cx="83844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0.0</a:t>
              </a:r>
              <a:endParaRPr lang="en-US" sz="1600" b="0" u="none" strike="noStrike">
                <a:solidFill>
                  <a:srgbClr val="000000"/>
                </a:solidFill>
                <a:effectLst/>
                <a:uFillTx/>
                <a:latin typeface="Times New Roman"/>
              </a:endParaRPr>
            </a:p>
          </p:txBody>
        </p:sp>
        <p:sp>
          <p:nvSpPr>
            <p:cNvPr id="466" name="Text Box 28"/>
            <p:cNvSpPr/>
            <p:nvPr/>
          </p:nvSpPr>
          <p:spPr>
            <a:xfrm>
              <a:off x="685440" y="2971800"/>
              <a:ext cx="83844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1.0</a:t>
              </a:r>
              <a:endParaRPr lang="en-US" sz="1600" b="0" u="none" strike="noStrike">
                <a:solidFill>
                  <a:srgbClr val="000000"/>
                </a:solidFill>
                <a:effectLst/>
                <a:uFillTx/>
                <a:latin typeface="Times New Roman"/>
              </a:endParaRPr>
            </a:p>
          </p:txBody>
        </p:sp>
        <p:sp>
          <p:nvSpPr>
            <p:cNvPr id="467" name="Line 29"/>
            <p:cNvSpPr/>
            <p:nvPr/>
          </p:nvSpPr>
          <p:spPr>
            <a:xfrm>
              <a:off x="2438280" y="3124080"/>
              <a:ext cx="0" cy="182880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68" name="Text Box 30"/>
            <p:cNvSpPr/>
            <p:nvPr/>
          </p:nvSpPr>
          <p:spPr>
            <a:xfrm>
              <a:off x="2209680" y="4952880"/>
              <a:ext cx="8380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0.5</a:t>
              </a:r>
              <a:endParaRPr lang="en-US" sz="1600" b="0" u="none" strike="noStrike">
                <a:solidFill>
                  <a:srgbClr val="000000"/>
                </a:solidFill>
                <a:effectLst/>
                <a:uFillTx/>
                <a:latin typeface="Times New Roman"/>
              </a:endParaRPr>
            </a:p>
          </p:txBody>
        </p:sp>
        <p:sp>
          <p:nvSpPr>
            <p:cNvPr id="469" name="Freeform 31"/>
            <p:cNvSpPr/>
            <p:nvPr/>
          </p:nvSpPr>
          <p:spPr>
            <a:xfrm>
              <a:off x="1244160" y="3149640"/>
              <a:ext cx="2413080" cy="1803240"/>
            </a:xfrm>
            <a:custGeom>
              <a:avLst/>
              <a:gdLst>
                <a:gd name="GluePoint1X" fmla="*/ 0 w 1520"/>
                <a:gd name="GluePoint1Y" fmla="*/ 1136 h 1136"/>
                <a:gd name="GluePoint2X" fmla="*/ 192 w 1520"/>
                <a:gd name="GluePoint2Y" fmla="*/ 1088 h 1136"/>
                <a:gd name="GluePoint3X" fmla="*/ 408 w 1520"/>
                <a:gd name="GluePoint3Y" fmla="*/ 976 h 1136"/>
                <a:gd name="GluePoint4X" fmla="*/ 592 w 1520"/>
                <a:gd name="GluePoint4Y" fmla="*/ 792 h 1136"/>
                <a:gd name="GluePoint5X" fmla="*/ 752 w 1520"/>
                <a:gd name="GluePoint5Y" fmla="*/ 560 h 1136"/>
                <a:gd name="GluePoint6X" fmla="*/ 952 w 1520"/>
                <a:gd name="GluePoint6Y" fmla="*/ 264 h 1136"/>
                <a:gd name="GluePoint7X" fmla="*/ 1120 w 1520"/>
                <a:gd name="GluePoint7Y" fmla="*/ 112 h 1136"/>
                <a:gd name="GluePoint8X" fmla="*/ 1320 w 1520"/>
                <a:gd name="GluePoint8Y" fmla="*/ 24 h 1136"/>
                <a:gd name="GluePoint9X" fmla="*/ 1520 w 1520"/>
                <a:gd name="GluePoint9Y" fmla="*/ 0 h 113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1520" h="1136">
                  <a:moveTo>
                    <a:pt x="0" y="1136"/>
                  </a:moveTo>
                  <a:cubicBezTo>
                    <a:pt x="32" y="1128"/>
                    <a:pt x="124" y="1115"/>
                    <a:pt x="192" y="1088"/>
                  </a:cubicBezTo>
                  <a:cubicBezTo>
                    <a:pt x="260" y="1061"/>
                    <a:pt x="341" y="1025"/>
                    <a:pt x="408" y="976"/>
                  </a:cubicBezTo>
                  <a:cubicBezTo>
                    <a:pt x="475" y="927"/>
                    <a:pt x="535" y="861"/>
                    <a:pt x="592" y="792"/>
                  </a:cubicBezTo>
                  <a:cubicBezTo>
                    <a:pt x="649" y="723"/>
                    <a:pt x="692" y="648"/>
                    <a:pt x="752" y="560"/>
                  </a:cubicBezTo>
                  <a:cubicBezTo>
                    <a:pt x="812" y="472"/>
                    <a:pt x="891" y="339"/>
                    <a:pt x="952" y="264"/>
                  </a:cubicBezTo>
                  <a:cubicBezTo>
                    <a:pt x="1013" y="189"/>
                    <a:pt x="1059" y="152"/>
                    <a:pt x="1120" y="112"/>
                  </a:cubicBezTo>
                  <a:cubicBezTo>
                    <a:pt x="1181" y="72"/>
                    <a:pt x="1253" y="43"/>
                    <a:pt x="1320" y="24"/>
                  </a:cubicBezTo>
                  <a:cubicBezTo>
                    <a:pt x="1387" y="5"/>
                    <a:pt x="1478" y="5"/>
                    <a:pt x="1520" y="0"/>
                  </a:cubicBezTo>
                </a:path>
              </a:pathLst>
            </a:custGeom>
            <a:noFill/>
            <a:ln w="2844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70" name="Text Box 32"/>
            <p:cNvSpPr/>
            <p:nvPr/>
          </p:nvSpPr>
          <p:spPr>
            <a:xfrm>
              <a:off x="990360" y="4952880"/>
              <a:ext cx="8380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0.0</a:t>
              </a:r>
              <a:endParaRPr lang="en-US" sz="1600" b="0" u="none" strike="noStrike">
                <a:solidFill>
                  <a:srgbClr val="000000"/>
                </a:solidFill>
                <a:effectLst/>
                <a:uFillTx/>
                <a:latin typeface="Times New Roman"/>
              </a:endParaRPr>
            </a:p>
          </p:txBody>
        </p:sp>
        <p:sp>
          <p:nvSpPr>
            <p:cNvPr id="471" name="Text Box 33"/>
            <p:cNvSpPr/>
            <p:nvPr/>
          </p:nvSpPr>
          <p:spPr>
            <a:xfrm>
              <a:off x="685440" y="3886200"/>
              <a:ext cx="83844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0.5</a:t>
              </a:r>
              <a:endParaRPr lang="en-US" sz="1600" b="0" u="none" strike="noStrike">
                <a:solidFill>
                  <a:srgbClr val="000000"/>
                </a:solidFill>
                <a:effectLst/>
                <a:uFillTx/>
                <a:latin typeface="Times New Roman"/>
              </a:endParaRPr>
            </a:p>
          </p:txBody>
        </p:sp>
        <p:sp>
          <p:nvSpPr>
            <p:cNvPr id="472" name="Line 34"/>
            <p:cNvSpPr/>
            <p:nvPr/>
          </p:nvSpPr>
          <p:spPr>
            <a:xfrm flipV="1">
              <a:off x="1218960" y="3124080"/>
              <a:ext cx="2438280" cy="182880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73" name="Text Box 35"/>
            <p:cNvSpPr/>
            <p:nvPr/>
          </p:nvSpPr>
          <p:spPr>
            <a:xfrm>
              <a:off x="1523880" y="3124080"/>
              <a:ext cx="175248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0000"/>
                  </a:solidFill>
                  <a:effectLst/>
                  <a:uFillTx/>
                  <a:latin typeface="Arial"/>
                  <a:ea typeface="Times New Roman"/>
                </a:rPr>
                <a:t> TMR better</a:t>
              </a:r>
              <a:endParaRPr lang="en-US" sz="1600" b="0" u="none" strike="noStrike">
                <a:solidFill>
                  <a:srgbClr val="000000"/>
                </a:solidFill>
                <a:effectLst/>
                <a:uFillTx/>
                <a:latin typeface="Times New Roman"/>
              </a:endParaRPr>
            </a:p>
          </p:txBody>
        </p:sp>
        <p:sp>
          <p:nvSpPr>
            <p:cNvPr id="474" name="Text Box 36"/>
            <p:cNvSpPr/>
            <p:nvPr/>
          </p:nvSpPr>
          <p:spPr>
            <a:xfrm>
              <a:off x="304560" y="4114800"/>
              <a:ext cx="190512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33CC"/>
                  </a:solidFill>
                  <a:effectLst/>
                  <a:uFillTx/>
                  <a:latin typeface="Arial"/>
                  <a:ea typeface="Times New Roman"/>
                </a:rPr>
                <a:t> Simplex better</a:t>
              </a:r>
              <a:endParaRPr lang="en-US" sz="1600" b="0" u="none" strike="noStrike">
                <a:solidFill>
                  <a:srgbClr val="000000"/>
                </a:solidFill>
                <a:effectLst/>
                <a:uFillTx/>
                <a:latin typeface="Times New Roman"/>
              </a:endParaRPr>
            </a:p>
          </p:txBody>
        </p:sp>
      </p:grpSp>
      <p:sp>
        <p:nvSpPr>
          <p:cNvPr id="475" name="Text Box 61"/>
          <p:cNvSpPr/>
          <p:nvPr/>
        </p:nvSpPr>
        <p:spPr>
          <a:xfrm>
            <a:off x="457200" y="5333760"/>
            <a:ext cx="4343400" cy="7866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RIF</a:t>
            </a:r>
            <a:r>
              <a:rPr lang="en-US" sz="2000" b="0" u="none" strike="noStrike" baseline="-25000">
                <a:solidFill>
                  <a:srgbClr val="000000"/>
                </a:solidFill>
                <a:effectLst/>
                <a:uFillTx/>
                <a:latin typeface="Arial"/>
                <a:ea typeface="Times New Roman"/>
              </a:rPr>
              <a:t>TMR/Simplex</a:t>
            </a:r>
            <a:r>
              <a:rPr lang="en-US" sz="2000" b="0" u="none" strike="noStrike">
                <a:solidFill>
                  <a:srgbClr val="000000"/>
                </a:solidFill>
                <a:effectLst/>
                <a:uFillTx/>
                <a:latin typeface="Arial"/>
                <a:ea typeface="Times New Roman"/>
              </a:rPr>
              <a:t>  = (1 –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)/(1 – </a:t>
            </a:r>
            <a:r>
              <a:rPr lang="en-US" sz="2000" b="0" i="1" u="none" strike="noStrike">
                <a:solidFill>
                  <a:srgbClr val="000000"/>
                </a:solidFill>
                <a:effectLst/>
                <a:uFillTx/>
                <a:latin typeface="Arial"/>
                <a:ea typeface="Times New Roman"/>
              </a:rPr>
              <a:t>R</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1600" b="0" u="none" strike="noStrike">
                <a:solidFill>
                  <a:srgbClr val="000000"/>
                </a:solidFill>
                <a:effectLst/>
                <a:uFillTx/>
                <a:latin typeface="Arial"/>
                <a:ea typeface="Times New Roman"/>
              </a:rPr>
              <a:t> </a:t>
            </a:r>
            <a:r>
              <a:rPr lang="en-US" sz="1600" b="0" u="none" strike="noStrike">
                <a:solidFill>
                  <a:srgbClr val="000000"/>
                </a:solidFill>
                <a:effectLst/>
                <a:uFillTx/>
                <a:latin typeface="Arial"/>
                <a:ea typeface="Times New Roman"/>
              </a:rPr>
              <a:t>	</a:t>
            </a:r>
            <a:r>
              <a:rPr lang="en-US" sz="1600" b="0" u="none" strike="noStrike">
                <a:solidFill>
                  <a:srgbClr val="000000"/>
                </a:solidFill>
                <a:effectLst/>
                <a:uFillTx/>
                <a:latin typeface="Arial"/>
                <a:ea typeface="Times New Roman"/>
              </a:rPr>
              <a:t>           </a:t>
            </a:r>
            <a:r>
              <a:rPr lang="en-US" sz="8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1/[1 –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(2</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 – 1)]</a:t>
            </a:r>
            <a:endParaRPr lang="en-US" sz="2000" b="0" u="none" strike="noStrike">
              <a:solidFill>
                <a:srgbClr val="000000"/>
              </a:solidFill>
              <a:effectLst/>
              <a:uFillTx/>
              <a:latin typeface="Times New Roman"/>
            </a:endParaRPr>
          </a:p>
        </p:txBody>
      </p:sp>
      <p:grpSp>
        <p:nvGrpSpPr>
          <p:cNvPr id="476" name="Group 63"/>
          <p:cNvGrpSpPr/>
          <p:nvPr/>
        </p:nvGrpSpPr>
        <p:grpSpPr>
          <a:xfrm>
            <a:off x="457200" y="914400"/>
            <a:ext cx="4876560" cy="561960"/>
            <a:chOff x="457200" y="914400"/>
            <a:chExt cx="4876560" cy="561960"/>
          </a:xfrm>
        </p:grpSpPr>
        <p:grpSp>
          <p:nvGrpSpPr>
            <p:cNvPr id="477" name="Group 58"/>
            <p:cNvGrpSpPr/>
            <p:nvPr/>
          </p:nvGrpSpPr>
          <p:grpSpPr>
            <a:xfrm>
              <a:off x="1218960" y="914400"/>
              <a:ext cx="4114800" cy="561960"/>
              <a:chOff x="1218960" y="914400"/>
              <a:chExt cx="4114800" cy="561960"/>
            </a:xfrm>
          </p:grpSpPr>
          <p:sp>
            <p:nvSpPr>
              <p:cNvPr id="478" name="Text Box 59"/>
              <p:cNvSpPr/>
              <p:nvPr/>
            </p:nvSpPr>
            <p:spPr>
              <a:xfrm>
                <a:off x="1218960" y="1036080"/>
                <a:ext cx="411480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r>
                  <a:rPr lang="en-US" sz="2000" b="0" u="none" strike="noStrike">
                    <a:solidFill>
                      <a:srgbClr val="000000"/>
                    </a:solidFill>
                    <a:effectLst/>
                    <a:uFillTx/>
                    <a:latin typeface="Arial"/>
                    <a:ea typeface="Times New Roman"/>
                  </a:rPr>
                  <a:t>  = </a:t>
                </a:r>
                <a:r>
                  <a:rPr lang="en-US" sz="16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3</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baseline="30000">
                    <a:solidFill>
                      <a:srgbClr val="000000"/>
                    </a:solidFill>
                    <a:effectLst/>
                    <a:uFillTx/>
                    <a:latin typeface="Arial"/>
                    <a:ea typeface="Times New Roman"/>
                  </a:rPr>
                  <a:t>2</a:t>
                </a:r>
                <a:r>
                  <a:rPr lang="en-US" sz="2000" b="0" u="none" strike="noStrike">
                    <a:solidFill>
                      <a:srgbClr val="000000"/>
                    </a:solidFill>
                    <a:effectLst/>
                    <a:uFillTx/>
                    <a:latin typeface="Arial"/>
                    <a:ea typeface="Times New Roman"/>
                  </a:rPr>
                  <a:t> – 2</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baseline="30000">
                    <a:solidFill>
                      <a:srgbClr val="000000"/>
                    </a:solidFill>
                    <a:effectLst/>
                    <a:uFillTx/>
                    <a:latin typeface="Arial"/>
                    <a:ea typeface="Times New Roman"/>
                  </a:rPr>
                  <a:t>3</a:t>
                </a:r>
                <a:r>
                  <a:rPr lang="en-US" sz="2000" b="0" u="none" strike="noStrike">
                    <a:solidFill>
                      <a:srgbClr val="000000"/>
                    </a:solidFill>
                    <a:effectLst/>
                    <a:uFillTx/>
                    <a:latin typeface="Arial"/>
                    <a:ea typeface="Times New Roman"/>
                  </a:rPr>
                  <a:t> </a:t>
                </a:r>
                <a:r>
                  <a:rPr lang="en-US" sz="14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&gt;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endParaRPr lang="en-US" sz="2000" b="0" u="none" strike="noStrike">
                  <a:solidFill>
                    <a:srgbClr val="000000"/>
                  </a:solidFill>
                  <a:effectLst/>
                  <a:uFillTx/>
                  <a:latin typeface="Times New Roman"/>
                </a:endParaRPr>
              </a:p>
            </p:txBody>
          </p:sp>
          <p:sp>
            <p:nvSpPr>
              <p:cNvPr id="479" name="Text Box 60"/>
              <p:cNvSpPr/>
              <p:nvPr/>
            </p:nvSpPr>
            <p:spPr>
              <a:xfrm>
                <a:off x="3352320" y="914400"/>
                <a:ext cx="38124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a:t>
                </a:r>
                <a:r>
                  <a:rPr lang="en-US" sz="1600" b="0" u="none" strike="noStrike">
                    <a:solidFill>
                      <a:srgbClr val="000000"/>
                    </a:solidFill>
                    <a:effectLst/>
                    <a:uFillTx/>
                    <a:latin typeface="Arial"/>
                    <a:ea typeface="Times New Roman"/>
                  </a:rPr>
                  <a:t> </a:t>
                </a:r>
                <a:endParaRPr lang="en-US" sz="1600" b="0" u="none" strike="noStrike">
                  <a:solidFill>
                    <a:srgbClr val="000000"/>
                  </a:solidFill>
                  <a:effectLst/>
                  <a:uFillTx/>
                  <a:latin typeface="Times New Roman"/>
                </a:endParaRPr>
              </a:p>
            </p:txBody>
          </p:sp>
        </p:grpSp>
        <p:sp>
          <p:nvSpPr>
            <p:cNvPr id="480" name="Text Box 62"/>
            <p:cNvSpPr/>
            <p:nvPr/>
          </p:nvSpPr>
          <p:spPr>
            <a:xfrm>
              <a:off x="457200" y="990360"/>
              <a:ext cx="914400" cy="459360"/>
            </a:xfrm>
            <a:prstGeom prst="rect">
              <a:avLst/>
            </a:prstGeom>
            <a:noFill/>
            <a:ln w="3816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TMR:</a:t>
              </a:r>
              <a:endParaRPr lang="en-US" sz="2000" b="0" u="none" strike="noStrike">
                <a:solidFill>
                  <a:srgbClr val="000000"/>
                </a:solidFill>
                <a:effectLst/>
                <a:uFillTx/>
                <a:latin typeface="Times New Roman"/>
              </a:endParaRPr>
            </a:p>
          </p:txBody>
        </p:sp>
      </p:grpSp>
      <p:grpSp>
        <p:nvGrpSpPr>
          <p:cNvPr id="481" name="Group 74"/>
          <p:cNvGrpSpPr/>
          <p:nvPr/>
        </p:nvGrpSpPr>
        <p:grpSpPr>
          <a:xfrm>
            <a:off x="4952880" y="2666880"/>
            <a:ext cx="4038480" cy="2623680"/>
            <a:chOff x="4952880" y="2666880"/>
            <a:chExt cx="4038480" cy="2623680"/>
          </a:xfrm>
        </p:grpSpPr>
        <p:sp>
          <p:nvSpPr>
            <p:cNvPr id="482" name="Text Box 41"/>
            <p:cNvSpPr/>
            <p:nvPr/>
          </p:nvSpPr>
          <p:spPr>
            <a:xfrm>
              <a:off x="8229600" y="4724280"/>
              <a:ext cx="76176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r>
                <a:rPr lang="en-US" sz="2000" b="0" i="1" u="none" strike="noStrike">
                  <a:solidFill>
                    <a:srgbClr val="000000"/>
                  </a:solidFill>
                  <a:effectLst/>
                  <a:uFillTx/>
                  <a:latin typeface="Arial"/>
                  <a:ea typeface="Times New Roman"/>
                </a:rPr>
                <a:t>t</a:t>
              </a:r>
              <a:endParaRPr lang="en-US" sz="2000" b="0" u="none" strike="noStrike">
                <a:solidFill>
                  <a:srgbClr val="000000"/>
                </a:solidFill>
                <a:effectLst/>
                <a:uFillTx/>
                <a:latin typeface="Times New Roman"/>
              </a:endParaRPr>
            </a:p>
          </p:txBody>
        </p:sp>
        <p:grpSp>
          <p:nvGrpSpPr>
            <p:cNvPr id="483" name="Group 73"/>
            <p:cNvGrpSpPr/>
            <p:nvPr/>
          </p:nvGrpSpPr>
          <p:grpSpPr>
            <a:xfrm>
              <a:off x="4952880" y="2666880"/>
              <a:ext cx="3581280" cy="2623680"/>
              <a:chOff x="4952880" y="2666880"/>
              <a:chExt cx="3581280" cy="2623680"/>
            </a:xfrm>
          </p:grpSpPr>
          <p:sp>
            <p:nvSpPr>
              <p:cNvPr id="484" name="Line 38"/>
              <p:cNvSpPr/>
              <p:nvPr/>
            </p:nvSpPr>
            <p:spPr>
              <a:xfrm flipV="1">
                <a:off x="5486400" y="2971440"/>
                <a:ext cx="0" cy="19810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85" name="Line 39"/>
              <p:cNvSpPr/>
              <p:nvPr/>
            </p:nvSpPr>
            <p:spPr>
              <a:xfrm>
                <a:off x="5486400" y="4952880"/>
                <a:ext cx="27432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86" name="Text Box 40"/>
              <p:cNvSpPr/>
              <p:nvPr/>
            </p:nvSpPr>
            <p:spPr>
              <a:xfrm>
                <a:off x="5257800" y="2666880"/>
                <a:ext cx="83808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endParaRPr lang="en-US" sz="2000" b="0" u="none" strike="noStrike">
                  <a:solidFill>
                    <a:srgbClr val="000000"/>
                  </a:solidFill>
                  <a:effectLst/>
                  <a:uFillTx/>
                  <a:latin typeface="Times New Roman"/>
                </a:endParaRPr>
              </a:p>
            </p:txBody>
          </p:sp>
          <p:sp>
            <p:nvSpPr>
              <p:cNvPr id="487" name="Line 42"/>
              <p:cNvSpPr/>
              <p:nvPr/>
            </p:nvSpPr>
            <p:spPr>
              <a:xfrm>
                <a:off x="5486400" y="4114800"/>
                <a:ext cx="106668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88" name="Line 43"/>
              <p:cNvSpPr/>
              <p:nvPr/>
            </p:nvSpPr>
            <p:spPr>
              <a:xfrm>
                <a:off x="5486400" y="3124080"/>
                <a:ext cx="243828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89" name="Text Box 44"/>
              <p:cNvSpPr/>
              <p:nvPr/>
            </p:nvSpPr>
            <p:spPr>
              <a:xfrm>
                <a:off x="5333760" y="4952880"/>
                <a:ext cx="83844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a:t>
                </a:r>
                <a:endParaRPr lang="en-US" sz="1600" b="0" u="none" strike="noStrike">
                  <a:solidFill>
                    <a:srgbClr val="000000"/>
                  </a:solidFill>
                  <a:effectLst/>
                  <a:uFillTx/>
                  <a:latin typeface="Times New Roman"/>
                </a:endParaRPr>
              </a:p>
            </p:txBody>
          </p:sp>
          <p:sp>
            <p:nvSpPr>
              <p:cNvPr id="490" name="Text Box 45"/>
              <p:cNvSpPr/>
              <p:nvPr/>
            </p:nvSpPr>
            <p:spPr>
              <a:xfrm>
                <a:off x="4952880" y="3962160"/>
                <a:ext cx="8380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0.5</a:t>
                </a:r>
                <a:endParaRPr lang="en-US" sz="1600" b="0" u="none" strike="noStrike">
                  <a:solidFill>
                    <a:srgbClr val="000000"/>
                  </a:solidFill>
                  <a:effectLst/>
                  <a:uFillTx/>
                  <a:latin typeface="Times New Roman"/>
                </a:endParaRPr>
              </a:p>
            </p:txBody>
          </p:sp>
          <p:sp>
            <p:nvSpPr>
              <p:cNvPr id="491" name="Text Box 46"/>
              <p:cNvSpPr/>
              <p:nvPr/>
            </p:nvSpPr>
            <p:spPr>
              <a:xfrm>
                <a:off x="4952880" y="2971800"/>
                <a:ext cx="8380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1.0</a:t>
                </a:r>
                <a:endParaRPr lang="en-US" sz="1600" b="0" u="none" strike="noStrike">
                  <a:solidFill>
                    <a:srgbClr val="000000"/>
                  </a:solidFill>
                  <a:effectLst/>
                  <a:uFillTx/>
                  <a:latin typeface="Times New Roman"/>
                </a:endParaRPr>
              </a:p>
            </p:txBody>
          </p:sp>
          <p:sp>
            <p:nvSpPr>
              <p:cNvPr id="492" name="Freeform 47"/>
              <p:cNvSpPr/>
              <p:nvPr/>
            </p:nvSpPr>
            <p:spPr>
              <a:xfrm>
                <a:off x="6553080" y="4140000"/>
                <a:ext cx="1440" cy="812880"/>
              </a:xfrm>
              <a:custGeom>
                <a:avLst/>
                <a:gdLst>
                  <a:gd name="GluePoint1X" fmla="*/ 0 w 1"/>
                  <a:gd name="GluePoint1Y" fmla="*/ 0 h 512"/>
                  <a:gd name="GluePoint2X" fmla="*/ 1 w 1"/>
                  <a:gd name="GluePoint2Y" fmla="*/ 512 h 512"/>
                </a:gdLst>
                <a:ahLst/>
                <a:cxnLst>
                  <a:cxn ang="0">
                    <a:pos x="GluePoint1X" y="GluePoint1Y"/>
                  </a:cxn>
                  <a:cxn ang="0">
                    <a:pos x="GluePoint2X" y="GluePoint2Y"/>
                  </a:cxn>
                </a:cxnLst>
                <a:rect l="l" t="t" r="r" b="b"/>
                <a:pathLst>
                  <a:path w="1" h="512">
                    <a:moveTo>
                      <a:pt x="0" y="0"/>
                    </a:moveTo>
                    <a:lnTo>
                      <a:pt x="1" y="512"/>
                    </a:lnTo>
                  </a:path>
                </a:pathLst>
              </a:custGeom>
              <a:noFill/>
              <a:ln w="9360">
                <a:solidFill>
                  <a:srgbClr val="000000"/>
                </a:solidFill>
                <a:prstDash val="dash"/>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93" name="Text Box 48"/>
              <p:cNvSpPr/>
              <p:nvPr/>
            </p:nvSpPr>
            <p:spPr>
              <a:xfrm>
                <a:off x="6172200" y="4952880"/>
                <a:ext cx="8380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ln 2</a:t>
                </a:r>
                <a:endParaRPr lang="en-US" sz="1600" b="0" u="none" strike="noStrike">
                  <a:solidFill>
                    <a:srgbClr val="000000"/>
                  </a:solidFill>
                  <a:effectLst/>
                  <a:uFillTx/>
                  <a:latin typeface="Times New Roman"/>
                </a:endParaRPr>
              </a:p>
            </p:txBody>
          </p:sp>
          <p:sp>
            <p:nvSpPr>
              <p:cNvPr id="494" name="Text Box 49"/>
              <p:cNvSpPr/>
              <p:nvPr/>
            </p:nvSpPr>
            <p:spPr>
              <a:xfrm>
                <a:off x="4952880" y="4724280"/>
                <a:ext cx="8380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0.0</a:t>
                </a:r>
                <a:endParaRPr lang="en-US" sz="1600" b="0" u="none" strike="noStrike">
                  <a:solidFill>
                    <a:srgbClr val="000000"/>
                  </a:solidFill>
                  <a:effectLst/>
                  <a:uFillTx/>
                  <a:latin typeface="Times New Roman"/>
                </a:endParaRPr>
              </a:p>
            </p:txBody>
          </p:sp>
          <p:sp>
            <p:nvSpPr>
              <p:cNvPr id="495" name="Freeform 50"/>
              <p:cNvSpPr/>
              <p:nvPr/>
            </p:nvSpPr>
            <p:spPr>
              <a:xfrm>
                <a:off x="5499000" y="3136680"/>
                <a:ext cx="2654280" cy="1460520"/>
              </a:xfrm>
              <a:custGeom>
                <a:avLst/>
                <a:gdLst>
                  <a:gd name="GluePoint1X" fmla="*/ 0 w 1672"/>
                  <a:gd name="GluePoint1Y" fmla="*/ 0 h 920"/>
                  <a:gd name="GluePoint2X" fmla="*/ 264 w 1672"/>
                  <a:gd name="GluePoint2Y" fmla="*/ 312 h 920"/>
                  <a:gd name="GluePoint3X" fmla="*/ 536 w 1672"/>
                  <a:gd name="GluePoint3Y" fmla="*/ 544 h 920"/>
                  <a:gd name="GluePoint4X" fmla="*/ 936 w 1672"/>
                  <a:gd name="GluePoint4Y" fmla="*/ 776 h 920"/>
                  <a:gd name="GluePoint5X" fmla="*/ 1328 w 1672"/>
                  <a:gd name="GluePoint5Y" fmla="*/ 880 h 920"/>
                  <a:gd name="GluePoint6X" fmla="*/ 1672 w 1672"/>
                  <a:gd name="GluePoint6Y" fmla="*/ 920 h 9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672" h="920">
                    <a:moveTo>
                      <a:pt x="0" y="0"/>
                    </a:moveTo>
                    <a:cubicBezTo>
                      <a:pt x="44" y="52"/>
                      <a:pt x="175" y="221"/>
                      <a:pt x="264" y="312"/>
                    </a:cubicBezTo>
                    <a:cubicBezTo>
                      <a:pt x="353" y="403"/>
                      <a:pt x="424" y="467"/>
                      <a:pt x="536" y="544"/>
                    </a:cubicBezTo>
                    <a:cubicBezTo>
                      <a:pt x="648" y="621"/>
                      <a:pt x="804" y="720"/>
                      <a:pt x="936" y="776"/>
                    </a:cubicBezTo>
                    <a:cubicBezTo>
                      <a:pt x="1068" y="832"/>
                      <a:pt x="1205" y="856"/>
                      <a:pt x="1328" y="880"/>
                    </a:cubicBezTo>
                    <a:cubicBezTo>
                      <a:pt x="1451" y="904"/>
                      <a:pt x="1600" y="912"/>
                      <a:pt x="1672" y="920"/>
                    </a:cubicBezTo>
                  </a:path>
                </a:pathLst>
              </a:custGeom>
              <a:noFill/>
              <a:ln w="28440">
                <a:solidFill>
                  <a:srgbClr val="0033CC"/>
                </a:solidFill>
                <a:prstDash val="dash"/>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96" name="Freeform 51"/>
              <p:cNvSpPr/>
              <p:nvPr/>
            </p:nvSpPr>
            <p:spPr>
              <a:xfrm>
                <a:off x="5511600" y="3136680"/>
                <a:ext cx="2514600" cy="1676520"/>
              </a:xfrm>
              <a:custGeom>
                <a:avLst/>
                <a:gdLst>
                  <a:gd name="GluePoint1X" fmla="*/ 0 w 1584"/>
                  <a:gd name="GluePoint1Y" fmla="*/ 0 h 1056"/>
                  <a:gd name="GluePoint2X" fmla="*/ 152 w 1584"/>
                  <a:gd name="GluePoint2Y" fmla="*/ 64 h 1056"/>
                  <a:gd name="GluePoint3X" fmla="*/ 320 w 1584"/>
                  <a:gd name="GluePoint3Y" fmla="*/ 216 h 1056"/>
                  <a:gd name="GluePoint4X" fmla="*/ 480 w 1584"/>
                  <a:gd name="GluePoint4Y" fmla="*/ 408 h 1056"/>
                  <a:gd name="GluePoint5X" fmla="*/ 656 w 1584"/>
                  <a:gd name="GluePoint5Y" fmla="*/ 616 h 1056"/>
                  <a:gd name="GluePoint6X" fmla="*/ 888 w 1584"/>
                  <a:gd name="GluePoint6Y" fmla="*/ 848 h 1056"/>
                  <a:gd name="GluePoint7X" fmla="*/ 1168 w 1584"/>
                  <a:gd name="GluePoint7Y" fmla="*/ 984 h 1056"/>
                  <a:gd name="GluePoint8X" fmla="*/ 1584 w 1584"/>
                  <a:gd name="GluePoint8Y" fmla="*/ 1056 h 10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1584" h="1056">
                    <a:moveTo>
                      <a:pt x="0" y="0"/>
                    </a:moveTo>
                    <a:cubicBezTo>
                      <a:pt x="25" y="11"/>
                      <a:pt x="99" y="28"/>
                      <a:pt x="152" y="64"/>
                    </a:cubicBezTo>
                    <a:cubicBezTo>
                      <a:pt x="205" y="100"/>
                      <a:pt x="265" y="159"/>
                      <a:pt x="320" y="216"/>
                    </a:cubicBezTo>
                    <a:cubicBezTo>
                      <a:pt x="375" y="273"/>
                      <a:pt x="424" y="341"/>
                      <a:pt x="480" y="408"/>
                    </a:cubicBezTo>
                    <a:cubicBezTo>
                      <a:pt x="536" y="475"/>
                      <a:pt x="588" y="543"/>
                      <a:pt x="656" y="616"/>
                    </a:cubicBezTo>
                    <a:cubicBezTo>
                      <a:pt x="724" y="689"/>
                      <a:pt x="803" y="787"/>
                      <a:pt x="888" y="848"/>
                    </a:cubicBezTo>
                    <a:cubicBezTo>
                      <a:pt x="973" y="909"/>
                      <a:pt x="1052" y="949"/>
                      <a:pt x="1168" y="984"/>
                    </a:cubicBezTo>
                    <a:cubicBezTo>
                      <a:pt x="1284" y="1019"/>
                      <a:pt x="1497" y="1041"/>
                      <a:pt x="1584" y="1056"/>
                    </a:cubicBezTo>
                  </a:path>
                </a:pathLst>
              </a:custGeom>
              <a:noFill/>
              <a:ln w="28440">
                <a:solidFill>
                  <a:srgbClr val="FF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97" name="Text Box 52"/>
              <p:cNvSpPr/>
              <p:nvPr/>
            </p:nvSpPr>
            <p:spPr>
              <a:xfrm>
                <a:off x="5333760" y="3124080"/>
                <a:ext cx="175284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0000"/>
                    </a:solidFill>
                    <a:effectLst/>
                    <a:uFillTx/>
                    <a:latin typeface="Arial"/>
                    <a:ea typeface="Times New Roman"/>
                  </a:rPr>
                  <a:t> TMR</a:t>
                </a:r>
                <a:endParaRPr lang="en-US" sz="1600" b="0" u="none" strike="noStrike">
                  <a:solidFill>
                    <a:srgbClr val="000000"/>
                  </a:solidFill>
                  <a:effectLst/>
                  <a:uFillTx/>
                  <a:latin typeface="Times New Roman"/>
                </a:endParaRPr>
              </a:p>
            </p:txBody>
          </p:sp>
          <p:sp>
            <p:nvSpPr>
              <p:cNvPr id="498" name="Text Box 53"/>
              <p:cNvSpPr/>
              <p:nvPr/>
            </p:nvSpPr>
            <p:spPr>
              <a:xfrm>
                <a:off x="6629400" y="4114800"/>
                <a:ext cx="190476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33CC"/>
                    </a:solidFill>
                    <a:effectLst/>
                    <a:uFillTx/>
                    <a:latin typeface="Arial"/>
                    <a:ea typeface="Times New Roman"/>
                  </a:rPr>
                  <a:t> Simplex</a:t>
                </a:r>
                <a:endParaRPr lang="en-US" sz="1600" b="0" u="none" strike="noStrike">
                  <a:solidFill>
                    <a:srgbClr val="000000"/>
                  </a:solidFill>
                  <a:effectLst/>
                  <a:uFillTx/>
                  <a:latin typeface="Times New Roman"/>
                </a:endParaRPr>
              </a:p>
            </p:txBody>
          </p:sp>
          <p:sp>
            <p:nvSpPr>
              <p:cNvPr id="499" name="Rectangle 68"/>
              <p:cNvSpPr/>
              <p:nvPr/>
            </p:nvSpPr>
            <p:spPr>
              <a:xfrm>
                <a:off x="6705360" y="5029200"/>
                <a:ext cx="381240" cy="228600"/>
              </a:xfrm>
              <a:prstGeom prst="rect">
                <a:avLst/>
              </a:prstGeom>
              <a:solidFill>
                <a:srgbClr val="FFFFFF"/>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grpSp>
        <p:nvGrpSpPr>
          <p:cNvPr id="500" name="Group 72"/>
          <p:cNvGrpSpPr/>
          <p:nvPr/>
        </p:nvGrpSpPr>
        <p:grpSpPr>
          <a:xfrm>
            <a:off x="4952880" y="4343400"/>
            <a:ext cx="3505320" cy="1739160"/>
            <a:chOff x="4952880" y="4343400"/>
            <a:chExt cx="3505320" cy="1739160"/>
          </a:xfrm>
        </p:grpSpPr>
        <p:grpSp>
          <p:nvGrpSpPr>
            <p:cNvPr id="501" name="Group 54"/>
            <p:cNvGrpSpPr/>
            <p:nvPr/>
          </p:nvGrpSpPr>
          <p:grpSpPr>
            <a:xfrm>
              <a:off x="4952880" y="4343400"/>
              <a:ext cx="3505320" cy="1739160"/>
              <a:chOff x="4952880" y="4343400"/>
              <a:chExt cx="3505320" cy="1739160"/>
            </a:xfrm>
          </p:grpSpPr>
          <p:sp>
            <p:nvSpPr>
              <p:cNvPr id="502" name="Text Box 55"/>
              <p:cNvSpPr/>
              <p:nvPr/>
            </p:nvSpPr>
            <p:spPr>
              <a:xfrm>
                <a:off x="4952880" y="5257800"/>
                <a:ext cx="3505320" cy="824760"/>
              </a:xfrm>
              <a:prstGeom prst="rect">
                <a:avLst/>
              </a:prstGeom>
              <a:noFill/>
              <a:ln w="3816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MTTF:</a:t>
                </a:r>
                <a:r>
                  <a:rPr lang="en-US" sz="1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TMR </a:t>
                </a:r>
                <a:r>
                  <a:rPr lang="en-US" sz="2000" b="0" u="none" strike="noStrike">
                    <a:solidFill>
                      <a:srgbClr val="FF0000"/>
                    </a:solidFill>
                    <a:effectLst/>
                    <a:uFillTx/>
                    <a:latin typeface="Arial"/>
                    <a:ea typeface="Times New Roman"/>
                  </a:rPr>
                  <a:t>5/(6</a:t>
                </a:r>
                <a:r>
                  <a:rPr lang="en-US" sz="2000" b="0" u="none" strike="noStrike">
                    <a:solidFill>
                      <a:srgbClr val="FF0000"/>
                    </a:solidFill>
                    <a:effectLst/>
                    <a:uFillTx/>
                    <a:latin typeface="Symbol"/>
                    <a:ea typeface="Symbol"/>
                  </a:rPr>
                  <a:t></a:t>
                </a:r>
                <a:r>
                  <a:rPr lang="en-US" sz="2000" b="0" u="none" strike="noStrike">
                    <a:solidFill>
                      <a:srgbClr val="FF0000"/>
                    </a:solidFill>
                    <a:effectLst/>
                    <a:uFillTx/>
                    <a:latin typeface="Arial"/>
                    <a:ea typeface="Times New Roman"/>
                  </a:rPr>
                  <a:t>)</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Simplex </a:t>
                </a:r>
                <a:r>
                  <a:rPr lang="en-US" sz="2000" b="0" u="none" strike="noStrike">
                    <a:solidFill>
                      <a:srgbClr val="3333CC"/>
                    </a:solidFill>
                    <a:effectLst/>
                    <a:uFillTx/>
                    <a:latin typeface="Arial"/>
                    <a:ea typeface="Times New Roman"/>
                  </a:rPr>
                  <a:t>1/</a:t>
                </a:r>
                <a:r>
                  <a:rPr lang="en-US" sz="2000" b="0" u="none" strike="noStrike">
                    <a:solidFill>
                      <a:srgbClr val="0033CC"/>
                    </a:solidFill>
                    <a:effectLst/>
                    <a:uFillTx/>
                    <a:latin typeface="Symbol"/>
                    <a:ea typeface="Symbol"/>
                  </a:rPr>
                  <a:t></a:t>
                </a:r>
                <a:endParaRPr lang="en-US" sz="2000" b="0" u="none" strike="noStrike">
                  <a:solidFill>
                    <a:srgbClr val="000000"/>
                  </a:solidFill>
                  <a:effectLst/>
                  <a:uFillTx/>
                  <a:latin typeface="Times New Roman"/>
                </a:endParaRPr>
              </a:p>
            </p:txBody>
          </p:sp>
          <p:sp>
            <p:nvSpPr>
              <p:cNvPr id="503" name="Line 56"/>
              <p:cNvSpPr/>
              <p:nvPr/>
            </p:nvSpPr>
            <p:spPr>
              <a:xfrm>
                <a:off x="6781680" y="4343400"/>
                <a:ext cx="0" cy="990360"/>
              </a:xfrm>
              <a:prstGeom prst="line">
                <a:avLst/>
              </a:prstGeom>
              <a:ln w="9360">
                <a:solidFill>
                  <a:srgbClr val="FF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04" name="Line 57"/>
              <p:cNvSpPr/>
              <p:nvPr/>
            </p:nvSpPr>
            <p:spPr>
              <a:xfrm>
                <a:off x="7010280" y="4419360"/>
                <a:ext cx="0" cy="1371600"/>
              </a:xfrm>
              <a:prstGeom prst="line">
                <a:avLst/>
              </a:prstGeom>
              <a:ln w="9360">
                <a:solidFill>
                  <a:srgbClr val="0033CC"/>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505" name="Text Box 66"/>
            <p:cNvSpPr/>
            <p:nvPr/>
          </p:nvSpPr>
          <p:spPr>
            <a:xfrm>
              <a:off x="6859440" y="4952880"/>
              <a:ext cx="293400" cy="3376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rPr>
                <a:t>1</a:t>
              </a:r>
              <a:endParaRPr lang="en-US" sz="1600" b="0" u="none" strike="noStrike">
                <a:solidFill>
                  <a:srgbClr val="000000"/>
                </a:solidFill>
                <a:effectLst/>
                <a:uFillTx/>
                <a:latin typeface="Times New Roman"/>
              </a:endParaRPr>
            </a:p>
          </p:txBody>
        </p:sp>
        <p:grpSp>
          <p:nvGrpSpPr>
            <p:cNvPr id="506" name="Group 70"/>
            <p:cNvGrpSpPr/>
            <p:nvPr/>
          </p:nvGrpSpPr>
          <p:grpSpPr>
            <a:xfrm>
              <a:off x="6631200" y="4952880"/>
              <a:ext cx="294840" cy="524520"/>
              <a:chOff x="6631200" y="4952880"/>
              <a:chExt cx="294840" cy="524520"/>
            </a:xfrm>
          </p:grpSpPr>
          <p:sp>
            <p:nvSpPr>
              <p:cNvPr id="507" name="Text Box 64"/>
              <p:cNvSpPr/>
              <p:nvPr/>
            </p:nvSpPr>
            <p:spPr>
              <a:xfrm>
                <a:off x="6631200" y="4952880"/>
                <a:ext cx="27900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rPr>
                  <a:t>5</a:t>
                </a:r>
                <a:endParaRPr lang="en-US" sz="1400" b="0" u="none" strike="noStrike">
                  <a:solidFill>
                    <a:srgbClr val="000000"/>
                  </a:solidFill>
                  <a:effectLst/>
                  <a:uFillTx/>
                  <a:latin typeface="Times New Roman"/>
                </a:endParaRPr>
              </a:p>
            </p:txBody>
          </p:sp>
          <p:sp>
            <p:nvSpPr>
              <p:cNvPr id="508" name="Text Box 65"/>
              <p:cNvSpPr/>
              <p:nvPr/>
            </p:nvSpPr>
            <p:spPr>
              <a:xfrm>
                <a:off x="6647040" y="5170320"/>
                <a:ext cx="27900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rPr>
                  <a:t>6</a:t>
                </a:r>
                <a:endParaRPr lang="en-US" sz="1400" b="0" u="none" strike="noStrike">
                  <a:solidFill>
                    <a:srgbClr val="000000"/>
                  </a:solidFill>
                  <a:effectLst/>
                  <a:uFillTx/>
                  <a:latin typeface="Times New Roman"/>
                </a:endParaRPr>
              </a:p>
            </p:txBody>
          </p:sp>
          <p:sp>
            <p:nvSpPr>
              <p:cNvPr id="509" name="Line 69"/>
              <p:cNvSpPr/>
              <p:nvPr/>
            </p:nvSpPr>
            <p:spPr>
              <a:xfrm>
                <a:off x="6721560" y="5217840"/>
                <a:ext cx="1188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title"/>
          </p:nvPr>
        </p:nvSpPr>
        <p:spPr>
          <a:xfrm>
            <a:off x="304200" y="228600"/>
            <a:ext cx="8534520" cy="7617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A TMR Application and Its Bit-Voting Unit</a:t>
            </a:r>
            <a:endParaRPr lang="en-US" sz="3200" b="0" u="none" strike="noStrike">
              <a:solidFill>
                <a:srgbClr val="000000"/>
              </a:solidFill>
              <a:effectLst/>
              <a:uFillTx/>
              <a:latin typeface="Arial"/>
            </a:endParaRPr>
          </a:p>
        </p:txBody>
      </p:sp>
      <p:sp>
        <p:nvSpPr>
          <p:cNvPr id="511" name="Text Box 4"/>
          <p:cNvSpPr/>
          <p:nvPr/>
        </p:nvSpPr>
        <p:spPr>
          <a:xfrm>
            <a:off x="457200" y="1066680"/>
            <a:ext cx="77724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Single-event upset (SEU) = Soft error</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Change of state caused by a high-energy particle strike </a:t>
            </a:r>
            <a:endParaRPr lang="en-US" sz="2000" b="0" u="none" strike="noStrike">
              <a:solidFill>
                <a:srgbClr val="000000"/>
              </a:solidFill>
              <a:effectLst/>
              <a:uFillTx/>
              <a:latin typeface="Times New Roman"/>
            </a:endParaRPr>
          </a:p>
        </p:txBody>
      </p:sp>
      <p:grpSp>
        <p:nvGrpSpPr>
          <p:cNvPr id="512" name="Group 5"/>
          <p:cNvGrpSpPr/>
          <p:nvPr/>
        </p:nvGrpSpPr>
        <p:grpSpPr>
          <a:xfrm>
            <a:off x="457200" y="1752480"/>
            <a:ext cx="3429000" cy="2943360"/>
            <a:chOff x="457200" y="1752480"/>
            <a:chExt cx="3429000" cy="2943360"/>
          </a:xfrm>
        </p:grpSpPr>
        <p:pic>
          <p:nvPicPr>
            <p:cNvPr id="513" name="Picture 6" descr="4-9-1-f"/>
            <p:cNvPicPr/>
            <p:nvPr/>
          </p:nvPicPr>
          <p:blipFill>
            <a:blip r:embed="rId1">
              <a:lum bright="2000"/>
            </a:blip>
            <a:srcRect l="2743" t="2909" r="2743" b="2909"/>
            <a:stretch/>
          </p:blipFill>
          <p:spPr>
            <a:xfrm>
              <a:off x="457200" y="1752480"/>
              <a:ext cx="2616120" cy="2457000"/>
            </a:xfrm>
            <a:prstGeom prst="rect">
              <a:avLst/>
            </a:prstGeom>
            <a:noFill/>
            <a:ln w="38160">
              <a:noFill/>
            </a:ln>
          </p:spPr>
        </p:pic>
        <p:sp>
          <p:nvSpPr>
            <p:cNvPr id="514" name="Text Box 7"/>
            <p:cNvSpPr/>
            <p:nvPr/>
          </p:nvSpPr>
          <p:spPr>
            <a:xfrm>
              <a:off x="685800" y="4114440"/>
              <a:ext cx="2361960" cy="5814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SEU effect on DRAMs </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(from SANYO website)</a:t>
              </a:r>
              <a:endParaRPr lang="en-US" sz="1600" b="0" u="none" strike="noStrike">
                <a:solidFill>
                  <a:srgbClr val="000000"/>
                </a:solidFill>
                <a:effectLst/>
                <a:uFillTx/>
                <a:latin typeface="Times New Roman"/>
              </a:endParaRPr>
            </a:p>
          </p:txBody>
        </p:sp>
        <p:sp>
          <p:nvSpPr>
            <p:cNvPr id="515" name="Text Box 8"/>
            <p:cNvSpPr/>
            <p:nvPr/>
          </p:nvSpPr>
          <p:spPr>
            <a:xfrm>
              <a:off x="2133360" y="2361960"/>
              <a:ext cx="175284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n</a:t>
              </a:r>
              <a:r>
                <a:rPr lang="en-US" sz="1600" b="0" u="none" strike="noStrike" baseline="30000">
                  <a:solidFill>
                    <a:srgbClr val="000000"/>
                  </a:solidFill>
                  <a:effectLst/>
                  <a:uFillTx/>
                  <a:latin typeface="Arial"/>
                  <a:ea typeface="Times New Roman"/>
                </a:rPr>
                <a:t>+</a:t>
              </a:r>
              <a:r>
                <a:rPr lang="en-US" sz="1600" b="0" u="none" strike="noStrike">
                  <a:solidFill>
                    <a:srgbClr val="000000"/>
                  </a:solidFill>
                  <a:effectLst/>
                  <a:uFillTx/>
                  <a:latin typeface="Arial"/>
                  <a:ea typeface="Times New Roman"/>
                </a:rPr>
                <a:t> diffusion layer</a:t>
              </a:r>
              <a:endParaRPr lang="en-US" sz="1600" b="0" u="none" strike="noStrike">
                <a:solidFill>
                  <a:srgbClr val="000000"/>
                </a:solidFill>
                <a:effectLst/>
                <a:uFillTx/>
                <a:latin typeface="Times New Roman"/>
              </a:endParaRPr>
            </a:p>
          </p:txBody>
        </p:sp>
        <p:sp>
          <p:nvSpPr>
            <p:cNvPr id="516" name="Text Box 9"/>
            <p:cNvSpPr/>
            <p:nvPr/>
          </p:nvSpPr>
          <p:spPr>
            <a:xfrm>
              <a:off x="1904760" y="3047760"/>
              <a:ext cx="1752840" cy="5814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pn junction field</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due to impact</a:t>
              </a:r>
              <a:endParaRPr lang="en-US" sz="1600" b="0" u="none" strike="noStrike">
                <a:solidFill>
                  <a:srgbClr val="000000"/>
                </a:solidFill>
                <a:effectLst/>
                <a:uFillTx/>
                <a:latin typeface="Times New Roman"/>
              </a:endParaRPr>
            </a:p>
          </p:txBody>
        </p:sp>
      </p:grpSp>
      <p:sp>
        <p:nvSpPr>
          <p:cNvPr id="517" name="Text Box 11"/>
          <p:cNvSpPr/>
          <p:nvPr/>
        </p:nvSpPr>
        <p:spPr>
          <a:xfrm>
            <a:off x="609480" y="4952880"/>
            <a:ext cx="396252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TMR flip-flop for SEU tolerance</a:t>
            </a:r>
            <a:endParaRPr lang="en-US" sz="2000" b="0" u="none" strike="noStrike">
              <a:solidFill>
                <a:srgbClr val="000000"/>
              </a:solidFill>
              <a:effectLst/>
              <a:uFillTx/>
              <a:latin typeface="Times New Roman"/>
            </a:endParaRPr>
          </a:p>
        </p:txBody>
      </p:sp>
      <p:pic>
        <p:nvPicPr>
          <p:cNvPr id="518" name="Picture 1"/>
          <p:cNvPicPr/>
          <p:nvPr/>
        </p:nvPicPr>
        <p:blipFill>
          <a:blip r:embed="rId2"/>
          <a:stretch/>
        </p:blipFill>
        <p:spPr>
          <a:xfrm>
            <a:off x="5157720" y="4857480"/>
            <a:ext cx="3376440" cy="1866960"/>
          </a:xfrm>
          <a:prstGeom prst="rect">
            <a:avLst/>
          </a:prstGeom>
          <a:noFill/>
          <a:ln w="38160">
            <a:noFill/>
          </a:ln>
        </p:spPr>
      </p:pic>
      <p:pic>
        <p:nvPicPr>
          <p:cNvPr id="519" name="Picture 2"/>
          <p:cNvPicPr/>
          <p:nvPr/>
        </p:nvPicPr>
        <p:blipFill>
          <a:blip r:embed="rId3"/>
          <a:stretch/>
        </p:blipFill>
        <p:spPr>
          <a:xfrm>
            <a:off x="5165640" y="2111040"/>
            <a:ext cx="3286080" cy="2106720"/>
          </a:xfrm>
          <a:prstGeom prst="rect">
            <a:avLst/>
          </a:prstGeom>
          <a:noFill/>
          <a:ln w="3816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title"/>
          </p:nvPr>
        </p:nvSpPr>
        <p:spPr>
          <a:xfrm>
            <a:off x="685800" y="609120"/>
            <a:ext cx="77724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A TMR Application: in-DRAM Voting</a:t>
            </a:r>
            <a:endParaRPr lang="en-US" sz="3200" b="0" u="none" strike="noStrike">
              <a:solidFill>
                <a:srgbClr val="000000"/>
              </a:solidFill>
              <a:effectLst/>
              <a:uFillTx/>
              <a:latin typeface="Arial"/>
            </a:endParaRPr>
          </a:p>
        </p:txBody>
      </p:sp>
      <p:sp>
        <p:nvSpPr>
          <p:cNvPr id="521" name="Slide Number Placeholder 3"/>
          <p:cNvSpPr/>
          <p:nvPr/>
        </p:nvSpPr>
        <p:spPr>
          <a:xfrm>
            <a:off x="7467480" y="6248160"/>
            <a:ext cx="990720" cy="457200"/>
          </a:xfrm>
          <a:prstGeom prst="rect">
            <a:avLst/>
          </a:prstGeom>
          <a:noFill/>
          <a:ln w="38160">
            <a:noFill/>
          </a:ln>
        </p:spPr>
        <p:style>
          <a:lnRef idx="0"/>
          <a:fillRef idx="0"/>
          <a:effectRef idx="0"/>
          <a:fontRef idx="minor"/>
        </p:style>
        <p:txBody>
          <a:bodyPr lIns="90000" tIns="46800" rIns="90000" bIns="46800" anchor="t">
            <a:no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E87C6214-7DDC-4E6D-9737-0F04E092999E}"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pic>
        <p:nvPicPr>
          <p:cNvPr id="522" name="Picture 77"/>
          <p:cNvPicPr/>
          <p:nvPr/>
        </p:nvPicPr>
        <p:blipFill>
          <a:blip r:embed="rId1"/>
          <a:stretch/>
        </p:blipFill>
        <p:spPr>
          <a:xfrm>
            <a:off x="1218960" y="2590560"/>
            <a:ext cx="6705720" cy="2720880"/>
          </a:xfrm>
          <a:prstGeom prst="rect">
            <a:avLst/>
          </a:prstGeom>
          <a:noFill/>
          <a:ln w="3816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A0FED1F6-048B-4C1B-98F1-F0C025980BFE}"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524"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525" name="PlaceHolder 1"/>
          <p:cNvSpPr>
            <a:spLocks noGrp="1"/>
          </p:cNvSpPr>
          <p:nvPr>
            <p:ph type="title"/>
          </p:nvPr>
        </p:nvSpPr>
        <p:spPr>
          <a:xfrm>
            <a:off x="228600" y="152280"/>
            <a:ext cx="86868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i="1" u="none" strike="noStrike">
                <a:solidFill>
                  <a:srgbClr val="000000"/>
                </a:solidFill>
                <a:effectLst/>
                <a:uFillTx/>
                <a:latin typeface="Arial"/>
              </a:rPr>
              <a:t>N</a:t>
            </a:r>
            <a:r>
              <a:rPr lang="en-US" sz="3200" b="0" u="none" strike="noStrike">
                <a:solidFill>
                  <a:srgbClr val="000000"/>
                </a:solidFill>
                <a:effectLst/>
                <a:uFillTx/>
                <a:latin typeface="Arial"/>
              </a:rPr>
              <a:t>-Modular Redundancy (NMR)</a:t>
            </a:r>
            <a:endParaRPr lang="en-US" sz="3200" b="0" u="none" strike="noStrike">
              <a:solidFill>
                <a:srgbClr val="000000"/>
              </a:solidFill>
              <a:effectLst/>
              <a:uFillTx/>
              <a:latin typeface="Arial"/>
            </a:endParaRPr>
          </a:p>
        </p:txBody>
      </p:sp>
      <p:sp>
        <p:nvSpPr>
          <p:cNvPr id="526" name="Text Box 4"/>
          <p:cNvSpPr/>
          <p:nvPr/>
        </p:nvSpPr>
        <p:spPr>
          <a:xfrm>
            <a:off x="609480" y="1066680"/>
            <a:ext cx="80010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Triple-modular redundancy (TMR) can be generalized to </a:t>
            </a:r>
            <a:r>
              <a:rPr lang="en-US" sz="2000" b="0" i="1" u="none" strike="noStrike">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 units</a:t>
            </a:r>
            <a:endParaRPr lang="en-US" sz="2000" b="0" u="none" strike="noStrike">
              <a:solidFill>
                <a:srgbClr val="000000"/>
              </a:solidFill>
              <a:effectLst/>
              <a:uFillTx/>
              <a:latin typeface="Times New Roman"/>
            </a:endParaRPr>
          </a:p>
        </p:txBody>
      </p:sp>
      <p:sp>
        <p:nvSpPr>
          <p:cNvPr id="527" name="Text Box 5"/>
          <p:cNvSpPr/>
          <p:nvPr/>
        </p:nvSpPr>
        <p:spPr>
          <a:xfrm>
            <a:off x="609480" y="1676160"/>
            <a:ext cx="80010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-modular redundancy (NMR) uses </a:t>
            </a:r>
            <a:r>
              <a:rPr lang="en-US" sz="2000" b="0" i="1" u="none" strike="noStrike">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 modules along with a voter, with </a:t>
            </a:r>
            <a:r>
              <a:rPr lang="en-US" sz="2000" b="0" i="1" u="none" strike="noStrike">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 usually being odd</a:t>
            </a:r>
            <a:endParaRPr lang="en-US" sz="2000" b="0" u="none" strike="noStrike">
              <a:solidFill>
                <a:srgbClr val="000000"/>
              </a:solidFill>
              <a:effectLst/>
              <a:uFillTx/>
              <a:latin typeface="Times New Roman"/>
            </a:endParaRPr>
          </a:p>
        </p:txBody>
      </p:sp>
      <p:sp>
        <p:nvSpPr>
          <p:cNvPr id="528" name="Text Box 6"/>
          <p:cNvSpPr/>
          <p:nvPr/>
        </p:nvSpPr>
        <p:spPr>
          <a:xfrm>
            <a:off x="609480" y="2514600"/>
            <a:ext cx="441972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Example: 5MR</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Operates correctly as long as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3 of the 5 modules are healthy</a:t>
            </a:r>
            <a:endParaRPr lang="en-US" sz="2000" b="0" u="none" strike="noStrike">
              <a:solidFill>
                <a:srgbClr val="000000"/>
              </a:solidFill>
              <a:effectLst/>
              <a:uFillTx/>
              <a:latin typeface="Times New Roman"/>
            </a:endParaRPr>
          </a:p>
        </p:txBody>
      </p:sp>
      <p:grpSp>
        <p:nvGrpSpPr>
          <p:cNvPr id="529" name="Group 36"/>
          <p:cNvGrpSpPr/>
          <p:nvPr/>
        </p:nvGrpSpPr>
        <p:grpSpPr>
          <a:xfrm>
            <a:off x="5410080" y="2361960"/>
            <a:ext cx="3353760" cy="2133720"/>
            <a:chOff x="5410080" y="2361960"/>
            <a:chExt cx="3353760" cy="2133720"/>
          </a:xfrm>
        </p:grpSpPr>
        <p:grpSp>
          <p:nvGrpSpPr>
            <p:cNvPr id="530" name="Group 7"/>
            <p:cNvGrpSpPr/>
            <p:nvPr/>
          </p:nvGrpSpPr>
          <p:grpSpPr>
            <a:xfrm>
              <a:off x="5410080" y="2819160"/>
              <a:ext cx="3353760" cy="1218960"/>
              <a:chOff x="5410080" y="2819160"/>
              <a:chExt cx="3353760" cy="1218960"/>
            </a:xfrm>
          </p:grpSpPr>
          <p:grpSp>
            <p:nvGrpSpPr>
              <p:cNvPr id="531" name="Group 8"/>
              <p:cNvGrpSpPr/>
              <p:nvPr/>
            </p:nvGrpSpPr>
            <p:grpSpPr>
              <a:xfrm>
                <a:off x="5410080" y="2819160"/>
                <a:ext cx="3047760" cy="1218960"/>
                <a:chOff x="5410080" y="2819160"/>
                <a:chExt cx="3047760" cy="1218960"/>
              </a:xfrm>
            </p:grpSpPr>
            <p:sp>
              <p:nvSpPr>
                <p:cNvPr id="532" name="Line 9"/>
                <p:cNvSpPr/>
                <p:nvPr/>
              </p:nvSpPr>
              <p:spPr>
                <a:xfrm>
                  <a:off x="5410080" y="3428640"/>
                  <a:ext cx="30477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33" name="Line 10"/>
                <p:cNvSpPr/>
                <p:nvPr/>
              </p:nvSpPr>
              <p:spPr>
                <a:xfrm>
                  <a:off x="5943240" y="297144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34" name="Line 11"/>
                <p:cNvSpPr/>
                <p:nvPr/>
              </p:nvSpPr>
              <p:spPr>
                <a:xfrm>
                  <a:off x="7162560" y="297144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35" name="Line 12"/>
                <p:cNvSpPr/>
                <p:nvPr/>
              </p:nvSpPr>
              <p:spPr>
                <a:xfrm>
                  <a:off x="5943240" y="388584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36" name="Line 13"/>
                <p:cNvSpPr/>
                <p:nvPr/>
              </p:nvSpPr>
              <p:spPr>
                <a:xfrm flipH="1">
                  <a:off x="7162560" y="342864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37" name="Oval 14"/>
                <p:cNvSpPr/>
                <p:nvPr/>
              </p:nvSpPr>
              <p:spPr>
                <a:xfrm>
                  <a:off x="7467480" y="320004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538" name="Line 15"/>
                <p:cNvSpPr/>
                <p:nvPr/>
              </p:nvSpPr>
              <p:spPr>
                <a:xfrm>
                  <a:off x="5943240" y="297144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39" name="Rectangle 16"/>
                <p:cNvSpPr/>
                <p:nvPr/>
              </p:nvSpPr>
              <p:spPr>
                <a:xfrm>
                  <a:off x="6324480" y="32763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540" name="Rectangle 17"/>
                <p:cNvSpPr/>
                <p:nvPr/>
              </p:nvSpPr>
              <p:spPr>
                <a:xfrm>
                  <a:off x="6324480" y="37335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541" name="Rectangle 18"/>
                <p:cNvSpPr/>
                <p:nvPr/>
              </p:nvSpPr>
              <p:spPr>
                <a:xfrm>
                  <a:off x="6324480" y="28191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grpSp>
          <p:sp>
            <p:nvSpPr>
              <p:cNvPr id="542" name="Text Box 19"/>
              <p:cNvSpPr/>
              <p:nvPr/>
            </p:nvSpPr>
            <p:spPr>
              <a:xfrm>
                <a:off x="7698600" y="2971800"/>
                <a:ext cx="10652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Voting unit</a:t>
                </a:r>
                <a:endParaRPr lang="en-US" sz="1400" b="0" u="none" strike="noStrike">
                  <a:solidFill>
                    <a:srgbClr val="000000"/>
                  </a:solidFill>
                  <a:effectLst/>
                  <a:uFillTx/>
                  <a:latin typeface="Times New Roman"/>
                </a:endParaRPr>
              </a:p>
            </p:txBody>
          </p:sp>
        </p:grpSp>
        <p:sp>
          <p:nvSpPr>
            <p:cNvPr id="543" name="Rectangle 20"/>
            <p:cNvSpPr/>
            <p:nvPr/>
          </p:nvSpPr>
          <p:spPr>
            <a:xfrm>
              <a:off x="6324480" y="236196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Arial"/>
                </a:rPr>
                <a:t>1</a:t>
              </a:r>
              <a:endParaRPr lang="en-US" sz="1800" b="0" u="none" strike="noStrike">
                <a:solidFill>
                  <a:srgbClr val="000000"/>
                </a:solidFill>
                <a:effectLst/>
                <a:uFillTx/>
                <a:latin typeface="Times New Roman"/>
              </a:endParaRPr>
            </a:p>
          </p:txBody>
        </p:sp>
        <p:sp>
          <p:nvSpPr>
            <p:cNvPr id="544" name="Line 24"/>
            <p:cNvSpPr/>
            <p:nvPr/>
          </p:nvSpPr>
          <p:spPr>
            <a:xfrm flipV="1">
              <a:off x="5943600" y="2514240"/>
              <a:ext cx="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45" name="Line 25"/>
            <p:cNvSpPr/>
            <p:nvPr/>
          </p:nvSpPr>
          <p:spPr>
            <a:xfrm>
              <a:off x="5943600" y="2514240"/>
              <a:ext cx="3808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46" name="Line 26"/>
            <p:cNvSpPr/>
            <p:nvPr/>
          </p:nvSpPr>
          <p:spPr>
            <a:xfrm>
              <a:off x="5943600" y="3885840"/>
              <a:ext cx="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47" name="Line 27"/>
            <p:cNvSpPr/>
            <p:nvPr/>
          </p:nvSpPr>
          <p:spPr>
            <a:xfrm>
              <a:off x="5943600" y="4343040"/>
              <a:ext cx="3808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48" name="Line 28"/>
            <p:cNvSpPr/>
            <p:nvPr/>
          </p:nvSpPr>
          <p:spPr>
            <a:xfrm>
              <a:off x="6933960" y="2514240"/>
              <a:ext cx="2286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49" name="Line 29"/>
            <p:cNvSpPr/>
            <p:nvPr/>
          </p:nvSpPr>
          <p:spPr>
            <a:xfrm>
              <a:off x="6933960" y="4343040"/>
              <a:ext cx="2286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50" name="Line 30"/>
            <p:cNvSpPr/>
            <p:nvPr/>
          </p:nvSpPr>
          <p:spPr>
            <a:xfrm flipV="1">
              <a:off x="7162560" y="3656880"/>
              <a:ext cx="457200" cy="6858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51" name="Line 31"/>
            <p:cNvSpPr/>
            <p:nvPr/>
          </p:nvSpPr>
          <p:spPr>
            <a:xfrm>
              <a:off x="7162560" y="2514240"/>
              <a:ext cx="457200" cy="6858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52" name="Rectangle 32"/>
            <p:cNvSpPr/>
            <p:nvPr/>
          </p:nvSpPr>
          <p:spPr>
            <a:xfrm>
              <a:off x="6324480" y="281916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Arial"/>
                </a:rPr>
                <a:t>2</a:t>
              </a:r>
              <a:endParaRPr lang="en-US" sz="1800" b="0" u="none" strike="noStrike">
                <a:solidFill>
                  <a:srgbClr val="000000"/>
                </a:solidFill>
                <a:effectLst/>
                <a:uFillTx/>
                <a:latin typeface="Times New Roman"/>
              </a:endParaRPr>
            </a:p>
          </p:txBody>
        </p:sp>
        <p:sp>
          <p:nvSpPr>
            <p:cNvPr id="553" name="Rectangle 33"/>
            <p:cNvSpPr/>
            <p:nvPr/>
          </p:nvSpPr>
          <p:spPr>
            <a:xfrm>
              <a:off x="6324480" y="327636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Arial"/>
                </a:rPr>
                <a:t>3</a:t>
              </a:r>
              <a:endParaRPr lang="en-US" sz="1800" b="0" u="none" strike="noStrike">
                <a:solidFill>
                  <a:srgbClr val="000000"/>
                </a:solidFill>
                <a:effectLst/>
                <a:uFillTx/>
                <a:latin typeface="Times New Roman"/>
              </a:endParaRPr>
            </a:p>
          </p:txBody>
        </p:sp>
        <p:sp>
          <p:nvSpPr>
            <p:cNvPr id="554" name="Rectangle 34"/>
            <p:cNvSpPr/>
            <p:nvPr/>
          </p:nvSpPr>
          <p:spPr>
            <a:xfrm>
              <a:off x="6324480" y="373356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Arial"/>
                </a:rPr>
                <a:t>4</a:t>
              </a:r>
              <a:endParaRPr lang="en-US" sz="1800" b="0" u="none" strike="noStrike">
                <a:solidFill>
                  <a:srgbClr val="000000"/>
                </a:solidFill>
                <a:effectLst/>
                <a:uFillTx/>
                <a:latin typeface="Times New Roman"/>
              </a:endParaRPr>
            </a:p>
          </p:txBody>
        </p:sp>
        <p:sp>
          <p:nvSpPr>
            <p:cNvPr id="555" name="Rectangle 35"/>
            <p:cNvSpPr/>
            <p:nvPr/>
          </p:nvSpPr>
          <p:spPr>
            <a:xfrm>
              <a:off x="6324480" y="419076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Arial"/>
                </a:rPr>
                <a:t>5</a:t>
              </a:r>
              <a:endParaRPr lang="en-US" sz="1800" b="0" u="none" strike="noStrike">
                <a:solidFill>
                  <a:srgbClr val="000000"/>
                </a:solidFill>
                <a:effectLst/>
                <a:uFillTx/>
                <a:latin typeface="Times New Roman"/>
              </a:endParaRPr>
            </a:p>
          </p:txBody>
        </p:sp>
      </p:grpSp>
      <p:sp>
        <p:nvSpPr>
          <p:cNvPr id="556" name="Text Box 37"/>
          <p:cNvSpPr/>
          <p:nvPr/>
        </p:nvSpPr>
        <p:spPr>
          <a:xfrm>
            <a:off x="609480" y="3657600"/>
            <a:ext cx="38862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Voter complexity rises rapidly with increasing </a:t>
            </a:r>
            <a:r>
              <a:rPr lang="en-US" sz="2000" b="0" i="1" u="none" strike="noStrike">
                <a:solidFill>
                  <a:srgbClr val="000000"/>
                </a:solidFill>
                <a:effectLst/>
                <a:uFillTx/>
                <a:latin typeface="Arial"/>
                <a:ea typeface="Times New Roman"/>
              </a:rPr>
              <a:t>N</a:t>
            </a:r>
            <a:endParaRPr lang="en-US" sz="2000" b="0" u="none" strike="noStrike">
              <a:solidFill>
                <a:srgbClr val="000000"/>
              </a:solidFill>
              <a:effectLst/>
              <a:uFillTx/>
              <a:latin typeface="Times New Roman"/>
            </a:endParaRPr>
          </a:p>
        </p:txBody>
      </p:sp>
      <p:sp>
        <p:nvSpPr>
          <p:cNvPr id="557" name="Text Box 38"/>
          <p:cNvSpPr/>
          <p:nvPr/>
        </p:nvSpPr>
        <p:spPr>
          <a:xfrm>
            <a:off x="609480" y="4572000"/>
            <a:ext cx="449568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Even values of </a:t>
            </a:r>
            <a:r>
              <a:rPr lang="en-US" sz="2000" b="0" i="1" u="none" strike="noStrike">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 are also feasible</a:t>
            </a:r>
            <a:endParaRPr lang="en-US" sz="2000" b="0" u="none" strike="noStrike">
              <a:solidFill>
                <a:srgbClr val="000000"/>
              </a:solidFill>
              <a:effectLst/>
              <a:uFillTx/>
              <a:latin typeface="Times New Roman"/>
            </a:endParaRPr>
          </a:p>
        </p:txBody>
      </p:sp>
      <p:sp>
        <p:nvSpPr>
          <p:cNvPr id="558" name="Text Box 39"/>
          <p:cNvSpPr/>
          <p:nvPr/>
        </p:nvSpPr>
        <p:spPr>
          <a:xfrm>
            <a:off x="609480" y="5105160"/>
            <a:ext cx="792468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Example: 4MR, with 3-out-of-4 voting</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Voter masks single faults; can be designed to detect double faults</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22E81353-779D-4A37-B11A-B5FDE0D5BF8C}"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560"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561" name="PlaceHolder 1"/>
          <p:cNvSpPr>
            <a:spLocks noGrp="1"/>
          </p:cNvSpPr>
          <p:nvPr>
            <p:ph type="title"/>
          </p:nvPr>
        </p:nvSpPr>
        <p:spPr>
          <a:xfrm>
            <a:off x="380520" y="228240"/>
            <a:ext cx="838188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Dynamic and Hybrid Redundancy</a:t>
            </a:r>
            <a:endParaRPr lang="en-US" sz="3600" b="0" u="none" strike="noStrike">
              <a:solidFill>
                <a:srgbClr val="000000"/>
              </a:solidFill>
              <a:effectLst/>
              <a:uFillTx/>
              <a:latin typeface="Arial"/>
            </a:endParaRPr>
          </a:p>
        </p:txBody>
      </p:sp>
      <p:sp>
        <p:nvSpPr>
          <p:cNvPr id="562" name="Text Box 4"/>
          <p:cNvSpPr/>
          <p:nvPr/>
        </p:nvSpPr>
        <p:spPr>
          <a:xfrm>
            <a:off x="457200" y="990360"/>
            <a:ext cx="4952880" cy="138816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1. </a:t>
            </a:r>
            <a:r>
              <a:rPr lang="en-US" sz="2000" b="1" u="none" strike="noStrike">
                <a:solidFill>
                  <a:srgbClr val="000000"/>
                </a:solidFill>
                <a:effectLst/>
                <a:uFillTx/>
                <a:latin typeface="Arial"/>
                <a:ea typeface="Times New Roman"/>
              </a:rPr>
              <a:t>Detect and replace</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Dynamic redundancy (cold/hot standby)</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Detection via </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 coding, watchdog timer, self-checking</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 duplication (pair-and-spares)</a:t>
            </a:r>
            <a:endParaRPr lang="en-US" sz="2000" b="0" u="none" strike="noStrike">
              <a:solidFill>
                <a:srgbClr val="000000"/>
              </a:solidFill>
              <a:effectLst/>
              <a:uFillTx/>
              <a:latin typeface="Times New Roman"/>
            </a:endParaRPr>
          </a:p>
        </p:txBody>
      </p:sp>
      <p:sp>
        <p:nvSpPr>
          <p:cNvPr id="563" name="Text Box 5"/>
          <p:cNvSpPr/>
          <p:nvPr/>
        </p:nvSpPr>
        <p:spPr>
          <a:xfrm>
            <a:off x="457200" y="2590560"/>
            <a:ext cx="4876560" cy="164700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2. </a:t>
            </a:r>
            <a:r>
              <a:rPr lang="en-US" sz="2000" b="1" u="none" strike="noStrike">
                <a:solidFill>
                  <a:srgbClr val="000000"/>
                </a:solidFill>
                <a:effectLst/>
                <a:uFillTx/>
                <a:latin typeface="Arial"/>
                <a:ea typeface="Times New Roman"/>
              </a:rPr>
              <a:t>Mask in place</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Static redundancy</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May revert to simplex instead of duplex</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Design challenges include</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 synchronization for voting</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 voting on imprecise results</a:t>
            </a:r>
            <a:endParaRPr lang="en-US" sz="2000" b="0" u="none" strike="noStrike">
              <a:solidFill>
                <a:srgbClr val="000000"/>
              </a:solidFill>
              <a:effectLst/>
              <a:uFillTx/>
              <a:latin typeface="Times New Roman"/>
            </a:endParaRPr>
          </a:p>
        </p:txBody>
      </p:sp>
      <p:sp>
        <p:nvSpPr>
          <p:cNvPr id="564" name="Text Box 6"/>
          <p:cNvSpPr/>
          <p:nvPr/>
        </p:nvSpPr>
        <p:spPr>
          <a:xfrm>
            <a:off x="457200" y="4419360"/>
            <a:ext cx="4952880" cy="164700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3. </a:t>
            </a:r>
            <a:r>
              <a:rPr lang="en-US" sz="2000" b="1" u="none" strike="noStrike">
                <a:solidFill>
                  <a:srgbClr val="000000"/>
                </a:solidFill>
                <a:effectLst/>
                <a:uFillTx/>
                <a:latin typeface="Arial"/>
                <a:ea typeface="Times New Roman"/>
              </a:rPr>
              <a:t>Mask, diagnose, and reconfigure</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Hybrid redundancy</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Fault masked at output, but diagnosed</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 e.g., via comparison with voter output</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Faulty circuit is replaced by spare</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Becomes static upon spare exhaustion</a:t>
            </a:r>
            <a:endParaRPr lang="en-US" sz="2000" b="0" u="none" strike="noStrike">
              <a:solidFill>
                <a:srgbClr val="000000"/>
              </a:solidFill>
              <a:effectLst/>
              <a:uFillTx/>
              <a:latin typeface="Times New Roman"/>
            </a:endParaRPr>
          </a:p>
        </p:txBody>
      </p:sp>
      <p:grpSp>
        <p:nvGrpSpPr>
          <p:cNvPr id="565" name="Group 7"/>
          <p:cNvGrpSpPr/>
          <p:nvPr/>
        </p:nvGrpSpPr>
        <p:grpSpPr>
          <a:xfrm>
            <a:off x="5562360" y="2590560"/>
            <a:ext cx="3354480" cy="1218960"/>
            <a:chOff x="5562360" y="2590560"/>
            <a:chExt cx="3354480" cy="1218960"/>
          </a:xfrm>
        </p:grpSpPr>
        <p:grpSp>
          <p:nvGrpSpPr>
            <p:cNvPr id="566" name="Group 8"/>
            <p:cNvGrpSpPr/>
            <p:nvPr/>
          </p:nvGrpSpPr>
          <p:grpSpPr>
            <a:xfrm>
              <a:off x="5562360" y="2590560"/>
              <a:ext cx="3047760" cy="1218960"/>
              <a:chOff x="5562360" y="2590560"/>
              <a:chExt cx="3047760" cy="1218960"/>
            </a:xfrm>
          </p:grpSpPr>
          <p:sp>
            <p:nvSpPr>
              <p:cNvPr id="567" name="Line 9"/>
              <p:cNvSpPr/>
              <p:nvPr/>
            </p:nvSpPr>
            <p:spPr>
              <a:xfrm>
                <a:off x="5562360" y="3200040"/>
                <a:ext cx="30477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68" name="Line 10"/>
              <p:cNvSpPr/>
              <p:nvPr/>
            </p:nvSpPr>
            <p:spPr>
              <a:xfrm>
                <a:off x="6095520" y="274284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69" name="Line 11"/>
              <p:cNvSpPr/>
              <p:nvPr/>
            </p:nvSpPr>
            <p:spPr>
              <a:xfrm>
                <a:off x="7314840" y="274284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70" name="Line 12"/>
              <p:cNvSpPr/>
              <p:nvPr/>
            </p:nvSpPr>
            <p:spPr>
              <a:xfrm>
                <a:off x="6095520" y="365724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71" name="Line 13"/>
              <p:cNvSpPr/>
              <p:nvPr/>
            </p:nvSpPr>
            <p:spPr>
              <a:xfrm flipH="1">
                <a:off x="7314840" y="320004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72" name="Oval 14"/>
              <p:cNvSpPr/>
              <p:nvPr/>
            </p:nvSpPr>
            <p:spPr>
              <a:xfrm>
                <a:off x="7619760" y="297144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573" name="Line 15"/>
              <p:cNvSpPr/>
              <p:nvPr/>
            </p:nvSpPr>
            <p:spPr>
              <a:xfrm>
                <a:off x="6095520" y="274284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74" name="Rectangle 16"/>
              <p:cNvSpPr/>
              <p:nvPr/>
            </p:nvSpPr>
            <p:spPr>
              <a:xfrm>
                <a:off x="6476760" y="30477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575" name="Rectangle 17"/>
              <p:cNvSpPr/>
              <p:nvPr/>
            </p:nvSpPr>
            <p:spPr>
              <a:xfrm>
                <a:off x="6476760" y="35049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576" name="Rectangle 18"/>
              <p:cNvSpPr/>
              <p:nvPr/>
            </p:nvSpPr>
            <p:spPr>
              <a:xfrm>
                <a:off x="6476760" y="25905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grpSp>
        <p:sp>
          <p:nvSpPr>
            <p:cNvPr id="577" name="Text Box 19"/>
            <p:cNvSpPr/>
            <p:nvPr/>
          </p:nvSpPr>
          <p:spPr>
            <a:xfrm>
              <a:off x="7851600" y="2743200"/>
              <a:ext cx="10652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Voting unit</a:t>
              </a:r>
              <a:endParaRPr lang="en-US" sz="1400" b="0" u="none" strike="noStrike">
                <a:solidFill>
                  <a:srgbClr val="000000"/>
                </a:solidFill>
                <a:effectLst/>
                <a:uFillTx/>
                <a:latin typeface="Times New Roman"/>
              </a:endParaRPr>
            </a:p>
          </p:txBody>
        </p:sp>
      </p:grpSp>
      <p:grpSp>
        <p:nvGrpSpPr>
          <p:cNvPr id="578" name="Group 20"/>
          <p:cNvGrpSpPr/>
          <p:nvPr/>
        </p:nvGrpSpPr>
        <p:grpSpPr>
          <a:xfrm>
            <a:off x="5562360" y="809280"/>
            <a:ext cx="3047760" cy="1478880"/>
            <a:chOff x="5562360" y="809280"/>
            <a:chExt cx="3047760" cy="1478880"/>
          </a:xfrm>
        </p:grpSpPr>
        <p:grpSp>
          <p:nvGrpSpPr>
            <p:cNvPr id="579" name="Group 21"/>
            <p:cNvGrpSpPr/>
            <p:nvPr/>
          </p:nvGrpSpPr>
          <p:grpSpPr>
            <a:xfrm>
              <a:off x="5562360" y="990360"/>
              <a:ext cx="3047760" cy="1143000"/>
              <a:chOff x="5562360" y="990360"/>
              <a:chExt cx="3047760" cy="1143000"/>
            </a:xfrm>
          </p:grpSpPr>
          <p:sp>
            <p:nvSpPr>
              <p:cNvPr id="580" name="Line 22"/>
              <p:cNvSpPr/>
              <p:nvPr/>
            </p:nvSpPr>
            <p:spPr>
              <a:xfrm>
                <a:off x="5562360" y="1599840"/>
                <a:ext cx="3045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81" name="Line 23"/>
              <p:cNvSpPr/>
              <p:nvPr/>
            </p:nvSpPr>
            <p:spPr>
              <a:xfrm>
                <a:off x="6095520" y="1218960"/>
                <a:ext cx="19814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82" name="Line 24"/>
              <p:cNvSpPr/>
              <p:nvPr/>
            </p:nvSpPr>
            <p:spPr>
              <a:xfrm>
                <a:off x="6095520" y="1981080"/>
                <a:ext cx="19814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83" name="Oval 25"/>
              <p:cNvSpPr/>
              <p:nvPr/>
            </p:nvSpPr>
            <p:spPr>
              <a:xfrm>
                <a:off x="7391160" y="99036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D</a:t>
                </a:r>
                <a:endParaRPr lang="en-US" sz="1800" b="0" u="none" strike="noStrike">
                  <a:solidFill>
                    <a:srgbClr val="000000"/>
                  </a:solidFill>
                  <a:effectLst/>
                  <a:uFillTx/>
                  <a:latin typeface="Times New Roman"/>
                </a:endParaRPr>
              </a:p>
            </p:txBody>
          </p:sp>
          <p:sp>
            <p:nvSpPr>
              <p:cNvPr id="584" name="Line 26"/>
              <p:cNvSpPr/>
              <p:nvPr/>
            </p:nvSpPr>
            <p:spPr>
              <a:xfrm>
                <a:off x="6095520" y="1218960"/>
                <a:ext cx="0" cy="1522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85" name="Rectangle 27"/>
              <p:cNvSpPr/>
              <p:nvPr/>
            </p:nvSpPr>
            <p:spPr>
              <a:xfrm>
                <a:off x="6476760" y="1828440"/>
                <a:ext cx="609480" cy="30492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586" name="Rectangle 28"/>
              <p:cNvSpPr/>
              <p:nvPr/>
            </p:nvSpPr>
            <p:spPr>
              <a:xfrm>
                <a:off x="6476760" y="106668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sp>
            <p:nvSpPr>
              <p:cNvPr id="587" name="Line 29"/>
              <p:cNvSpPr/>
              <p:nvPr/>
            </p:nvSpPr>
            <p:spPr>
              <a:xfrm flipV="1">
                <a:off x="5866920" y="1370880"/>
                <a:ext cx="228600" cy="228600"/>
              </a:xfrm>
              <a:prstGeom prst="line">
                <a:avLst/>
              </a:prstGeom>
              <a:ln w="936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88" name="Line 30"/>
              <p:cNvSpPr/>
              <p:nvPr/>
            </p:nvSpPr>
            <p:spPr>
              <a:xfrm>
                <a:off x="6095520" y="1828440"/>
                <a:ext cx="0" cy="15264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89" name="Line 31"/>
              <p:cNvSpPr/>
              <p:nvPr/>
            </p:nvSpPr>
            <p:spPr>
              <a:xfrm>
                <a:off x="8305560" y="1599840"/>
                <a:ext cx="3045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90" name="Line 32"/>
              <p:cNvSpPr/>
              <p:nvPr/>
            </p:nvSpPr>
            <p:spPr>
              <a:xfrm>
                <a:off x="8076960" y="1218960"/>
                <a:ext cx="0" cy="1522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91" name="Line 33"/>
              <p:cNvSpPr/>
              <p:nvPr/>
            </p:nvSpPr>
            <p:spPr>
              <a:xfrm flipH="1" flipV="1">
                <a:off x="8076600" y="1370880"/>
                <a:ext cx="228600" cy="228600"/>
              </a:xfrm>
              <a:prstGeom prst="line">
                <a:avLst/>
              </a:prstGeom>
              <a:ln w="936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92" name="Line 34"/>
              <p:cNvSpPr/>
              <p:nvPr/>
            </p:nvSpPr>
            <p:spPr>
              <a:xfrm>
                <a:off x="8076960" y="1828440"/>
                <a:ext cx="0" cy="15264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93" name="Line 35"/>
              <p:cNvSpPr/>
              <p:nvPr/>
            </p:nvSpPr>
            <p:spPr>
              <a:xfrm>
                <a:off x="7619760" y="1447560"/>
                <a:ext cx="0" cy="76320"/>
              </a:xfrm>
              <a:prstGeom prst="line">
                <a:avLst/>
              </a:prstGeom>
              <a:ln w="9360">
                <a:solidFill>
                  <a:srgbClr val="000000"/>
                </a:solidFill>
                <a:prstDash val="dash"/>
                <a:miter/>
                <a:tailEnd len="sm" type="oval" w="sm"/>
              </a:ln>
            </p:spPr>
            <p:style>
              <a:lnRef idx="0"/>
              <a:fillRef idx="0"/>
              <a:effectRef idx="0"/>
              <a:fontRef idx="minor"/>
            </p:style>
            <p:txBody>
              <a:bodyPr lIns="90000" tIns="29520" rIns="90000" bIns="29520" anchor="t">
                <a:noAutofit/>
              </a:bodyPr>
              <a:p>
                <a:endParaRPr lang="en-US" sz="2400" b="0" u="none" strike="noStrike">
                  <a:solidFill>
                    <a:srgbClr val="000000"/>
                  </a:solidFill>
                  <a:effectLst/>
                  <a:uFillTx/>
                  <a:latin typeface="Times New Roman"/>
                </a:endParaRPr>
              </a:p>
            </p:txBody>
          </p:sp>
          <p:sp>
            <p:nvSpPr>
              <p:cNvPr id="594" name="Line 36"/>
              <p:cNvSpPr/>
              <p:nvPr/>
            </p:nvSpPr>
            <p:spPr>
              <a:xfrm>
                <a:off x="5943240" y="1523880"/>
                <a:ext cx="228600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595" name="Text Box 37"/>
            <p:cNvSpPr/>
            <p:nvPr/>
          </p:nvSpPr>
          <p:spPr>
            <a:xfrm>
              <a:off x="7698600" y="809280"/>
              <a:ext cx="8978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Detector</a:t>
              </a:r>
              <a:endParaRPr lang="en-US" sz="1400" b="0" u="none" strike="noStrike">
                <a:solidFill>
                  <a:srgbClr val="000000"/>
                </a:solidFill>
                <a:effectLst/>
                <a:uFillTx/>
                <a:latin typeface="Times New Roman"/>
              </a:endParaRPr>
            </a:p>
          </p:txBody>
        </p:sp>
        <p:sp>
          <p:nvSpPr>
            <p:cNvPr id="596" name="Text Box 38"/>
            <p:cNvSpPr/>
            <p:nvPr/>
          </p:nvSpPr>
          <p:spPr>
            <a:xfrm>
              <a:off x="5793120" y="1981080"/>
              <a:ext cx="7016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Spare</a:t>
              </a:r>
              <a:endParaRPr lang="en-US" sz="1400" b="0" u="none" strike="noStrike">
                <a:solidFill>
                  <a:srgbClr val="000000"/>
                </a:solidFill>
                <a:effectLst/>
                <a:uFillTx/>
                <a:latin typeface="Times New Roman"/>
              </a:endParaRPr>
            </a:p>
          </p:txBody>
        </p:sp>
      </p:grpSp>
      <p:grpSp>
        <p:nvGrpSpPr>
          <p:cNvPr id="597" name="Group 39"/>
          <p:cNvGrpSpPr/>
          <p:nvPr/>
        </p:nvGrpSpPr>
        <p:grpSpPr>
          <a:xfrm>
            <a:off x="5562360" y="4190760"/>
            <a:ext cx="3214440" cy="1907280"/>
            <a:chOff x="5562360" y="4190760"/>
            <a:chExt cx="3214440" cy="1907280"/>
          </a:xfrm>
        </p:grpSpPr>
        <p:grpSp>
          <p:nvGrpSpPr>
            <p:cNvPr id="598" name="Group 40"/>
            <p:cNvGrpSpPr/>
            <p:nvPr/>
          </p:nvGrpSpPr>
          <p:grpSpPr>
            <a:xfrm>
              <a:off x="5562360" y="4267080"/>
              <a:ext cx="3048120" cy="1676160"/>
              <a:chOff x="5562360" y="4267080"/>
              <a:chExt cx="3048120" cy="1676160"/>
            </a:xfrm>
          </p:grpSpPr>
          <p:sp>
            <p:nvSpPr>
              <p:cNvPr id="599" name="Line 41"/>
              <p:cNvSpPr/>
              <p:nvPr/>
            </p:nvSpPr>
            <p:spPr>
              <a:xfrm>
                <a:off x="7619760" y="5105160"/>
                <a:ext cx="9907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00" name="Line 42"/>
              <p:cNvSpPr/>
              <p:nvPr/>
            </p:nvSpPr>
            <p:spPr>
              <a:xfrm>
                <a:off x="6095880" y="441936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01" name="Line 43"/>
              <p:cNvSpPr/>
              <p:nvPr/>
            </p:nvSpPr>
            <p:spPr>
              <a:xfrm>
                <a:off x="6095880" y="533376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02" name="Oval 44"/>
              <p:cNvSpPr/>
              <p:nvPr/>
            </p:nvSpPr>
            <p:spPr>
              <a:xfrm>
                <a:off x="7924680" y="487656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603" name="Line 45"/>
              <p:cNvSpPr/>
              <p:nvPr/>
            </p:nvSpPr>
            <p:spPr>
              <a:xfrm>
                <a:off x="6095880" y="4419360"/>
                <a:ext cx="0" cy="1371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04" name="Rectangle 46"/>
              <p:cNvSpPr/>
              <p:nvPr/>
            </p:nvSpPr>
            <p:spPr>
              <a:xfrm>
                <a:off x="7315200" y="4267080"/>
                <a:ext cx="304560" cy="1676160"/>
              </a:xfrm>
              <a:prstGeom prst="rect">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S</a:t>
                </a:r>
                <a:endParaRPr lang="en-US" sz="1800" b="0" u="none" strike="noStrike">
                  <a:solidFill>
                    <a:srgbClr val="000000"/>
                  </a:solidFill>
                  <a:effectLst/>
                  <a:uFillTx/>
                  <a:latin typeface="Times New Roman"/>
                </a:endParaRPr>
              </a:p>
            </p:txBody>
          </p:sp>
          <p:sp>
            <p:nvSpPr>
              <p:cNvPr id="605" name="Line 47"/>
              <p:cNvSpPr/>
              <p:nvPr/>
            </p:nvSpPr>
            <p:spPr>
              <a:xfrm>
                <a:off x="7619760" y="4647960"/>
                <a:ext cx="1526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06" name="Line 48"/>
              <p:cNvSpPr/>
              <p:nvPr/>
            </p:nvSpPr>
            <p:spPr>
              <a:xfrm>
                <a:off x="7772400" y="4647960"/>
                <a:ext cx="228600" cy="3049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07" name="Line 49"/>
              <p:cNvSpPr/>
              <p:nvPr/>
            </p:nvSpPr>
            <p:spPr>
              <a:xfrm>
                <a:off x="7619760" y="5562360"/>
                <a:ext cx="1526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08" name="Line 50"/>
              <p:cNvSpPr/>
              <p:nvPr/>
            </p:nvSpPr>
            <p:spPr>
              <a:xfrm flipV="1">
                <a:off x="7772400" y="5257080"/>
                <a:ext cx="228600" cy="3049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09" name="Line 51"/>
              <p:cNvSpPr/>
              <p:nvPr/>
            </p:nvSpPr>
            <p:spPr>
              <a:xfrm>
                <a:off x="6095880" y="487656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10" name="Line 52"/>
              <p:cNvSpPr/>
              <p:nvPr/>
            </p:nvSpPr>
            <p:spPr>
              <a:xfrm>
                <a:off x="6095880" y="579096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11" name="Line 53"/>
              <p:cNvSpPr/>
              <p:nvPr/>
            </p:nvSpPr>
            <p:spPr>
              <a:xfrm>
                <a:off x="5562360" y="5105160"/>
                <a:ext cx="5335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12" name="Rectangle 54"/>
              <p:cNvSpPr/>
              <p:nvPr/>
            </p:nvSpPr>
            <p:spPr>
              <a:xfrm>
                <a:off x="6476760" y="4724280"/>
                <a:ext cx="60984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613" name="Rectangle 55"/>
              <p:cNvSpPr/>
              <p:nvPr/>
            </p:nvSpPr>
            <p:spPr>
              <a:xfrm>
                <a:off x="6476760" y="5181480"/>
                <a:ext cx="60984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614" name="Rectangle 56"/>
              <p:cNvSpPr/>
              <p:nvPr/>
            </p:nvSpPr>
            <p:spPr>
              <a:xfrm>
                <a:off x="6476760" y="4267080"/>
                <a:ext cx="60984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sp>
            <p:nvSpPr>
              <p:cNvPr id="615" name="Rectangle 57"/>
              <p:cNvSpPr/>
              <p:nvPr/>
            </p:nvSpPr>
            <p:spPr>
              <a:xfrm>
                <a:off x="6476760" y="5638680"/>
                <a:ext cx="609840" cy="30456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4</a:t>
                </a:r>
                <a:endParaRPr lang="en-US" sz="2000" b="0" u="none" strike="noStrike">
                  <a:solidFill>
                    <a:srgbClr val="000000"/>
                  </a:solidFill>
                  <a:effectLst/>
                  <a:uFillTx/>
                  <a:latin typeface="Times New Roman"/>
                </a:endParaRPr>
              </a:p>
            </p:txBody>
          </p:sp>
        </p:grpSp>
        <p:sp>
          <p:nvSpPr>
            <p:cNvPr id="616" name="Line 58"/>
            <p:cNvSpPr/>
            <p:nvPr/>
          </p:nvSpPr>
          <p:spPr>
            <a:xfrm flipV="1">
              <a:off x="7467480" y="4190760"/>
              <a:ext cx="0" cy="76320"/>
            </a:xfrm>
            <a:prstGeom prst="line">
              <a:avLst/>
            </a:prstGeom>
            <a:ln w="9360">
              <a:solidFill>
                <a:srgbClr val="000000"/>
              </a:solidFill>
              <a:prstDash val="dash"/>
              <a:miter/>
            </a:ln>
          </p:spPr>
          <p:style>
            <a:lnRef idx="0"/>
            <a:fillRef idx="0"/>
            <a:effectRef idx="0"/>
            <a:fontRef idx="minor"/>
          </p:style>
          <p:txBody>
            <a:bodyPr lIns="90000" tIns="29520" rIns="90000" bIns="29520" anchor="t">
              <a:noAutofit/>
            </a:bodyPr>
            <a:p>
              <a:endParaRPr lang="en-US" sz="2400" b="0" u="none" strike="noStrike">
                <a:solidFill>
                  <a:srgbClr val="000000"/>
                </a:solidFill>
                <a:effectLst/>
                <a:uFillTx/>
                <a:latin typeface="Times New Roman"/>
              </a:endParaRPr>
            </a:p>
          </p:txBody>
        </p:sp>
        <p:sp>
          <p:nvSpPr>
            <p:cNvPr id="617" name="Line 59"/>
            <p:cNvSpPr/>
            <p:nvPr/>
          </p:nvSpPr>
          <p:spPr>
            <a:xfrm>
              <a:off x="7467480" y="4190760"/>
              <a:ext cx="9907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18" name="Line 60"/>
            <p:cNvSpPr/>
            <p:nvPr/>
          </p:nvSpPr>
          <p:spPr>
            <a:xfrm>
              <a:off x="8458200" y="4190760"/>
              <a:ext cx="0" cy="91440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19" name="Text Box 61"/>
            <p:cNvSpPr/>
            <p:nvPr/>
          </p:nvSpPr>
          <p:spPr>
            <a:xfrm>
              <a:off x="7623360" y="5638680"/>
              <a:ext cx="11534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Switch-voter</a:t>
              </a:r>
              <a:endParaRPr lang="en-US" sz="1400" b="0" u="none" strike="noStrike">
                <a:solidFill>
                  <a:srgbClr val="000000"/>
                </a:solidFill>
                <a:effectLst/>
                <a:uFillTx/>
                <a:latin typeface="Times New Roman"/>
              </a:endParaRPr>
            </a:p>
          </p:txBody>
        </p:sp>
        <p:sp>
          <p:nvSpPr>
            <p:cNvPr id="620" name="Text Box 62"/>
            <p:cNvSpPr/>
            <p:nvPr/>
          </p:nvSpPr>
          <p:spPr>
            <a:xfrm>
              <a:off x="5793120" y="5790960"/>
              <a:ext cx="7016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Spare</a:t>
              </a:r>
              <a:endParaRPr lang="en-US" sz="1400" b="0"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681F9851-5374-4581-943A-F3C96CFE099E}"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622"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623" name="PlaceHolder 1"/>
          <p:cNvSpPr>
            <a:spLocks noGrp="1"/>
          </p:cNvSpPr>
          <p:nvPr>
            <p:ph type="title"/>
          </p:nvPr>
        </p:nvSpPr>
        <p:spPr>
          <a:xfrm>
            <a:off x="685800" y="228240"/>
            <a:ext cx="77724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Comparing Replication Schemes</a:t>
            </a:r>
            <a:endParaRPr lang="en-US" sz="3200" b="0" u="none" strike="noStrike">
              <a:solidFill>
                <a:srgbClr val="000000"/>
              </a:solidFill>
              <a:effectLst/>
              <a:uFillTx/>
              <a:latin typeface="Arial"/>
            </a:endParaRPr>
          </a:p>
        </p:txBody>
      </p:sp>
      <p:sp>
        <p:nvSpPr>
          <p:cNvPr id="624" name="Text Box 4"/>
          <p:cNvSpPr/>
          <p:nvPr/>
        </p:nvSpPr>
        <p:spPr>
          <a:xfrm>
            <a:off x="304560" y="990360"/>
            <a:ext cx="4953240" cy="35280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sng" strike="noStrike">
                <a:solidFill>
                  <a:srgbClr val="000000"/>
                </a:solidFill>
                <a:effectLst/>
                <a:uFillTx/>
                <a:latin typeface="Arial"/>
                <a:ea typeface="Times New Roman"/>
              </a:rPr>
              <a:t>Advantages</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1" u="sng" strike="noStrike">
                <a:solidFill>
                  <a:srgbClr val="000000"/>
                </a:solidFill>
                <a:effectLst/>
                <a:uFillTx/>
                <a:latin typeface="Arial"/>
                <a:ea typeface="Times New Roman"/>
              </a:rPr>
              <a:t>Drawbacks</a:t>
            </a:r>
            <a:endParaRPr lang="en-US" sz="2000" b="0" u="none" strike="noStrike">
              <a:solidFill>
                <a:srgbClr val="000000"/>
              </a:solidFill>
              <a:effectLst/>
              <a:uFillTx/>
              <a:latin typeface="Times New Roman"/>
            </a:endParaRPr>
          </a:p>
        </p:txBody>
      </p:sp>
      <p:sp>
        <p:nvSpPr>
          <p:cNvPr id="625" name="Text Box 5"/>
          <p:cNvSpPr/>
          <p:nvPr/>
        </p:nvSpPr>
        <p:spPr>
          <a:xfrm>
            <a:off x="304560" y="1447560"/>
            <a:ext cx="5105520" cy="112932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Less power</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Coverage factor</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(cold standby)</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Long life</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Tolerance latency</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(just add spares)</a:t>
            </a:r>
            <a:endParaRPr lang="en-US" sz="2000" b="0" u="none" strike="noStrike">
              <a:solidFill>
                <a:srgbClr val="000000"/>
              </a:solidFill>
              <a:effectLst/>
              <a:uFillTx/>
              <a:latin typeface="Times New Roman"/>
            </a:endParaRPr>
          </a:p>
        </p:txBody>
      </p:sp>
      <p:sp>
        <p:nvSpPr>
          <p:cNvPr id="626" name="Text Box 6"/>
          <p:cNvSpPr/>
          <p:nvPr/>
        </p:nvSpPr>
        <p:spPr>
          <a:xfrm>
            <a:off x="304560" y="2895480"/>
            <a:ext cx="5257800" cy="112932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Immediate masking</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Power/area penalty</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High safety</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Voting critical</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p:txBody>
      </p:sp>
      <p:sp>
        <p:nvSpPr>
          <p:cNvPr id="627" name="Text Box 7"/>
          <p:cNvSpPr/>
          <p:nvPr/>
        </p:nvSpPr>
        <p:spPr>
          <a:xfrm>
            <a:off x="304560" y="4267080"/>
            <a:ext cx="5410440" cy="112932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Immediate masking</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Power/area penalty</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Long life and</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Switch-voting critical</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high safety</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p:txBody>
      </p:sp>
      <p:grpSp>
        <p:nvGrpSpPr>
          <p:cNvPr id="628" name="Group 8"/>
          <p:cNvGrpSpPr/>
          <p:nvPr/>
        </p:nvGrpSpPr>
        <p:grpSpPr>
          <a:xfrm>
            <a:off x="5562360" y="2743200"/>
            <a:ext cx="3354480" cy="1218960"/>
            <a:chOff x="5562360" y="2743200"/>
            <a:chExt cx="3354480" cy="1218960"/>
          </a:xfrm>
        </p:grpSpPr>
        <p:grpSp>
          <p:nvGrpSpPr>
            <p:cNvPr id="629" name="Group 9"/>
            <p:cNvGrpSpPr/>
            <p:nvPr/>
          </p:nvGrpSpPr>
          <p:grpSpPr>
            <a:xfrm>
              <a:off x="5562360" y="2743200"/>
              <a:ext cx="3047760" cy="1218960"/>
              <a:chOff x="5562360" y="2743200"/>
              <a:chExt cx="3047760" cy="1218960"/>
            </a:xfrm>
          </p:grpSpPr>
          <p:sp>
            <p:nvSpPr>
              <p:cNvPr id="630" name="Line 10"/>
              <p:cNvSpPr/>
              <p:nvPr/>
            </p:nvSpPr>
            <p:spPr>
              <a:xfrm>
                <a:off x="5562360" y="3352680"/>
                <a:ext cx="30477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31" name="Line 11"/>
              <p:cNvSpPr/>
              <p:nvPr/>
            </p:nvSpPr>
            <p:spPr>
              <a:xfrm>
                <a:off x="6095520" y="289548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32" name="Line 12"/>
              <p:cNvSpPr/>
              <p:nvPr/>
            </p:nvSpPr>
            <p:spPr>
              <a:xfrm>
                <a:off x="7314840" y="289548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33" name="Line 13"/>
              <p:cNvSpPr/>
              <p:nvPr/>
            </p:nvSpPr>
            <p:spPr>
              <a:xfrm>
                <a:off x="6095520" y="380988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34" name="Line 14"/>
              <p:cNvSpPr/>
              <p:nvPr/>
            </p:nvSpPr>
            <p:spPr>
              <a:xfrm flipH="1">
                <a:off x="7314840" y="335268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35" name="Oval 15"/>
              <p:cNvSpPr/>
              <p:nvPr/>
            </p:nvSpPr>
            <p:spPr>
              <a:xfrm>
                <a:off x="7619760" y="312408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636" name="Line 16"/>
              <p:cNvSpPr/>
              <p:nvPr/>
            </p:nvSpPr>
            <p:spPr>
              <a:xfrm>
                <a:off x="6095520" y="289548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37" name="Rectangle 17"/>
              <p:cNvSpPr/>
              <p:nvPr/>
            </p:nvSpPr>
            <p:spPr>
              <a:xfrm>
                <a:off x="6476760" y="32004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638" name="Rectangle 18"/>
              <p:cNvSpPr/>
              <p:nvPr/>
            </p:nvSpPr>
            <p:spPr>
              <a:xfrm>
                <a:off x="6476760" y="36576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639" name="Rectangle 19"/>
              <p:cNvSpPr/>
              <p:nvPr/>
            </p:nvSpPr>
            <p:spPr>
              <a:xfrm>
                <a:off x="6476760" y="27432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grpSp>
        <p:sp>
          <p:nvSpPr>
            <p:cNvPr id="640" name="Text Box 20"/>
            <p:cNvSpPr/>
            <p:nvPr/>
          </p:nvSpPr>
          <p:spPr>
            <a:xfrm>
              <a:off x="7851600" y="2895480"/>
              <a:ext cx="10652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Voting unit</a:t>
              </a:r>
              <a:endParaRPr lang="en-US" sz="1400" b="0" u="none" strike="noStrike">
                <a:solidFill>
                  <a:srgbClr val="000000"/>
                </a:solidFill>
                <a:effectLst/>
                <a:uFillTx/>
                <a:latin typeface="Times New Roman"/>
              </a:endParaRPr>
            </a:p>
          </p:txBody>
        </p:sp>
      </p:grpSp>
      <p:grpSp>
        <p:nvGrpSpPr>
          <p:cNvPr id="641" name="Group 21"/>
          <p:cNvGrpSpPr/>
          <p:nvPr/>
        </p:nvGrpSpPr>
        <p:grpSpPr>
          <a:xfrm>
            <a:off x="5562360" y="1143000"/>
            <a:ext cx="3047760" cy="1478520"/>
            <a:chOff x="5562360" y="1143000"/>
            <a:chExt cx="3047760" cy="1478520"/>
          </a:xfrm>
        </p:grpSpPr>
        <p:grpSp>
          <p:nvGrpSpPr>
            <p:cNvPr id="642" name="Group 22"/>
            <p:cNvGrpSpPr/>
            <p:nvPr/>
          </p:nvGrpSpPr>
          <p:grpSpPr>
            <a:xfrm>
              <a:off x="5562360" y="1323720"/>
              <a:ext cx="3047760" cy="1142280"/>
              <a:chOff x="5562360" y="1323720"/>
              <a:chExt cx="3047760" cy="1142280"/>
            </a:xfrm>
          </p:grpSpPr>
          <p:sp>
            <p:nvSpPr>
              <p:cNvPr id="643" name="Line 23"/>
              <p:cNvSpPr/>
              <p:nvPr/>
            </p:nvSpPr>
            <p:spPr>
              <a:xfrm>
                <a:off x="5562360" y="1932840"/>
                <a:ext cx="3045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44" name="Line 24"/>
              <p:cNvSpPr/>
              <p:nvPr/>
            </p:nvSpPr>
            <p:spPr>
              <a:xfrm>
                <a:off x="6095520" y="1551960"/>
                <a:ext cx="19814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45" name="Line 25"/>
              <p:cNvSpPr/>
              <p:nvPr/>
            </p:nvSpPr>
            <p:spPr>
              <a:xfrm>
                <a:off x="6095520" y="2314080"/>
                <a:ext cx="19814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46" name="Oval 26"/>
              <p:cNvSpPr/>
              <p:nvPr/>
            </p:nvSpPr>
            <p:spPr>
              <a:xfrm>
                <a:off x="7391160" y="1323720"/>
                <a:ext cx="457200" cy="45684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D</a:t>
                </a:r>
                <a:endParaRPr lang="en-US" sz="1800" b="0" u="none" strike="noStrike">
                  <a:solidFill>
                    <a:srgbClr val="000000"/>
                  </a:solidFill>
                  <a:effectLst/>
                  <a:uFillTx/>
                  <a:latin typeface="Times New Roman"/>
                </a:endParaRPr>
              </a:p>
            </p:txBody>
          </p:sp>
          <p:sp>
            <p:nvSpPr>
              <p:cNvPr id="647" name="Line 27"/>
              <p:cNvSpPr/>
              <p:nvPr/>
            </p:nvSpPr>
            <p:spPr>
              <a:xfrm>
                <a:off x="6095520" y="1551960"/>
                <a:ext cx="0" cy="1519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48" name="Rectangle 28"/>
              <p:cNvSpPr/>
              <p:nvPr/>
            </p:nvSpPr>
            <p:spPr>
              <a:xfrm>
                <a:off x="6476760" y="2161440"/>
                <a:ext cx="609480" cy="30456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649" name="Rectangle 29"/>
              <p:cNvSpPr/>
              <p:nvPr/>
            </p:nvSpPr>
            <p:spPr>
              <a:xfrm>
                <a:off x="6476760" y="1399680"/>
                <a:ext cx="609480" cy="30420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sp>
            <p:nvSpPr>
              <p:cNvPr id="650" name="Line 30"/>
              <p:cNvSpPr/>
              <p:nvPr/>
            </p:nvSpPr>
            <p:spPr>
              <a:xfrm flipV="1">
                <a:off x="5866920" y="1704240"/>
                <a:ext cx="228600" cy="228240"/>
              </a:xfrm>
              <a:prstGeom prst="line">
                <a:avLst/>
              </a:prstGeom>
              <a:ln w="936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51" name="Line 31"/>
              <p:cNvSpPr/>
              <p:nvPr/>
            </p:nvSpPr>
            <p:spPr>
              <a:xfrm>
                <a:off x="6095520" y="2161440"/>
                <a:ext cx="0" cy="1522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52" name="Line 32"/>
              <p:cNvSpPr/>
              <p:nvPr/>
            </p:nvSpPr>
            <p:spPr>
              <a:xfrm>
                <a:off x="8305560" y="1932840"/>
                <a:ext cx="3045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53" name="Line 33"/>
              <p:cNvSpPr/>
              <p:nvPr/>
            </p:nvSpPr>
            <p:spPr>
              <a:xfrm>
                <a:off x="8076960" y="1551960"/>
                <a:ext cx="0" cy="1519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54" name="Line 34"/>
              <p:cNvSpPr/>
              <p:nvPr/>
            </p:nvSpPr>
            <p:spPr>
              <a:xfrm flipH="1" flipV="1">
                <a:off x="8076600" y="1704240"/>
                <a:ext cx="228600" cy="228240"/>
              </a:xfrm>
              <a:prstGeom prst="line">
                <a:avLst/>
              </a:prstGeom>
              <a:ln w="936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55" name="Line 35"/>
              <p:cNvSpPr/>
              <p:nvPr/>
            </p:nvSpPr>
            <p:spPr>
              <a:xfrm>
                <a:off x="8076960" y="2161440"/>
                <a:ext cx="0" cy="1522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56" name="Line 36"/>
              <p:cNvSpPr/>
              <p:nvPr/>
            </p:nvSpPr>
            <p:spPr>
              <a:xfrm>
                <a:off x="7619760" y="1780560"/>
                <a:ext cx="0" cy="75960"/>
              </a:xfrm>
              <a:prstGeom prst="line">
                <a:avLst/>
              </a:prstGeom>
              <a:ln w="9360">
                <a:solidFill>
                  <a:srgbClr val="000000"/>
                </a:solidFill>
                <a:prstDash val="dash"/>
                <a:miter/>
                <a:tailEnd len="sm" type="oval" w="sm"/>
              </a:ln>
            </p:spPr>
            <p:style>
              <a:lnRef idx="0"/>
              <a:fillRef idx="0"/>
              <a:effectRef idx="0"/>
              <a:fontRef idx="minor"/>
            </p:style>
            <p:txBody>
              <a:bodyPr lIns="90000" tIns="29160" rIns="90000" bIns="29160" anchor="t">
                <a:noAutofit/>
              </a:bodyPr>
              <a:p>
                <a:endParaRPr lang="en-US" sz="2400" b="0" u="none" strike="noStrike">
                  <a:solidFill>
                    <a:srgbClr val="000000"/>
                  </a:solidFill>
                  <a:effectLst/>
                  <a:uFillTx/>
                  <a:latin typeface="Times New Roman"/>
                </a:endParaRPr>
              </a:p>
            </p:txBody>
          </p:sp>
          <p:sp>
            <p:nvSpPr>
              <p:cNvPr id="657" name="Line 37"/>
              <p:cNvSpPr/>
              <p:nvPr/>
            </p:nvSpPr>
            <p:spPr>
              <a:xfrm>
                <a:off x="5943240" y="1856880"/>
                <a:ext cx="228600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658" name="Text Box 38"/>
            <p:cNvSpPr/>
            <p:nvPr/>
          </p:nvSpPr>
          <p:spPr>
            <a:xfrm>
              <a:off x="7698600" y="1143000"/>
              <a:ext cx="8978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Detector</a:t>
              </a:r>
              <a:endParaRPr lang="en-US" sz="1400" b="0" u="none" strike="noStrike">
                <a:solidFill>
                  <a:srgbClr val="000000"/>
                </a:solidFill>
                <a:effectLst/>
                <a:uFillTx/>
                <a:latin typeface="Times New Roman"/>
              </a:endParaRPr>
            </a:p>
          </p:txBody>
        </p:sp>
        <p:sp>
          <p:nvSpPr>
            <p:cNvPr id="659" name="Text Box 39"/>
            <p:cNvSpPr/>
            <p:nvPr/>
          </p:nvSpPr>
          <p:spPr>
            <a:xfrm>
              <a:off x="5793120" y="2314440"/>
              <a:ext cx="7016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Spare</a:t>
              </a:r>
              <a:endParaRPr lang="en-US" sz="1400" b="0" u="none" strike="noStrike">
                <a:solidFill>
                  <a:srgbClr val="000000"/>
                </a:solidFill>
                <a:effectLst/>
                <a:uFillTx/>
                <a:latin typeface="Times New Roman"/>
              </a:endParaRPr>
            </a:p>
          </p:txBody>
        </p:sp>
      </p:grpSp>
      <p:grpSp>
        <p:nvGrpSpPr>
          <p:cNvPr id="660" name="Group 40"/>
          <p:cNvGrpSpPr/>
          <p:nvPr/>
        </p:nvGrpSpPr>
        <p:grpSpPr>
          <a:xfrm>
            <a:off x="5562360" y="4190760"/>
            <a:ext cx="3293280" cy="1968120"/>
            <a:chOff x="5562360" y="4190760"/>
            <a:chExt cx="3293280" cy="1968120"/>
          </a:xfrm>
        </p:grpSpPr>
        <p:grpSp>
          <p:nvGrpSpPr>
            <p:cNvPr id="661" name="Group 41"/>
            <p:cNvGrpSpPr/>
            <p:nvPr/>
          </p:nvGrpSpPr>
          <p:grpSpPr>
            <a:xfrm>
              <a:off x="5562360" y="4267080"/>
              <a:ext cx="3048120" cy="1676160"/>
              <a:chOff x="5562360" y="4267080"/>
              <a:chExt cx="3048120" cy="1676160"/>
            </a:xfrm>
          </p:grpSpPr>
          <p:sp>
            <p:nvSpPr>
              <p:cNvPr id="662" name="Line 42"/>
              <p:cNvSpPr/>
              <p:nvPr/>
            </p:nvSpPr>
            <p:spPr>
              <a:xfrm>
                <a:off x="7619760" y="5105160"/>
                <a:ext cx="9907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63" name="Line 43"/>
              <p:cNvSpPr/>
              <p:nvPr/>
            </p:nvSpPr>
            <p:spPr>
              <a:xfrm>
                <a:off x="6095880" y="441936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64" name="Line 44"/>
              <p:cNvSpPr/>
              <p:nvPr/>
            </p:nvSpPr>
            <p:spPr>
              <a:xfrm>
                <a:off x="6095880" y="533376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65" name="Oval 45"/>
              <p:cNvSpPr/>
              <p:nvPr/>
            </p:nvSpPr>
            <p:spPr>
              <a:xfrm>
                <a:off x="7924680" y="487656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666" name="Line 46"/>
              <p:cNvSpPr/>
              <p:nvPr/>
            </p:nvSpPr>
            <p:spPr>
              <a:xfrm>
                <a:off x="6095880" y="4419360"/>
                <a:ext cx="0" cy="1371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67" name="Rectangle 47"/>
              <p:cNvSpPr/>
              <p:nvPr/>
            </p:nvSpPr>
            <p:spPr>
              <a:xfrm>
                <a:off x="7315200" y="4267080"/>
                <a:ext cx="304560" cy="1676160"/>
              </a:xfrm>
              <a:prstGeom prst="rect">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S</a:t>
                </a:r>
                <a:endParaRPr lang="en-US" sz="1800" b="0" u="none" strike="noStrike">
                  <a:solidFill>
                    <a:srgbClr val="000000"/>
                  </a:solidFill>
                  <a:effectLst/>
                  <a:uFillTx/>
                  <a:latin typeface="Times New Roman"/>
                </a:endParaRPr>
              </a:p>
            </p:txBody>
          </p:sp>
          <p:sp>
            <p:nvSpPr>
              <p:cNvPr id="668" name="Line 48"/>
              <p:cNvSpPr/>
              <p:nvPr/>
            </p:nvSpPr>
            <p:spPr>
              <a:xfrm>
                <a:off x="7619760" y="4647960"/>
                <a:ext cx="1526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69" name="Line 49"/>
              <p:cNvSpPr/>
              <p:nvPr/>
            </p:nvSpPr>
            <p:spPr>
              <a:xfrm>
                <a:off x="7772400" y="4647960"/>
                <a:ext cx="228600" cy="3049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70" name="Line 50"/>
              <p:cNvSpPr/>
              <p:nvPr/>
            </p:nvSpPr>
            <p:spPr>
              <a:xfrm>
                <a:off x="7619760" y="5562360"/>
                <a:ext cx="1526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71" name="Line 51"/>
              <p:cNvSpPr/>
              <p:nvPr/>
            </p:nvSpPr>
            <p:spPr>
              <a:xfrm flipV="1">
                <a:off x="7772400" y="5257080"/>
                <a:ext cx="228600" cy="3049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72" name="Line 52"/>
              <p:cNvSpPr/>
              <p:nvPr/>
            </p:nvSpPr>
            <p:spPr>
              <a:xfrm>
                <a:off x="6095880" y="487656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73" name="Line 53"/>
              <p:cNvSpPr/>
              <p:nvPr/>
            </p:nvSpPr>
            <p:spPr>
              <a:xfrm>
                <a:off x="6095880" y="579096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74" name="Line 54"/>
              <p:cNvSpPr/>
              <p:nvPr/>
            </p:nvSpPr>
            <p:spPr>
              <a:xfrm>
                <a:off x="5562360" y="5105160"/>
                <a:ext cx="5335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75" name="Rectangle 55"/>
              <p:cNvSpPr/>
              <p:nvPr/>
            </p:nvSpPr>
            <p:spPr>
              <a:xfrm>
                <a:off x="6476760" y="4724280"/>
                <a:ext cx="60984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676" name="Rectangle 56"/>
              <p:cNvSpPr/>
              <p:nvPr/>
            </p:nvSpPr>
            <p:spPr>
              <a:xfrm>
                <a:off x="6476760" y="5181480"/>
                <a:ext cx="60984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677" name="Rectangle 57"/>
              <p:cNvSpPr/>
              <p:nvPr/>
            </p:nvSpPr>
            <p:spPr>
              <a:xfrm>
                <a:off x="6476760" y="4267080"/>
                <a:ext cx="60984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sp>
            <p:nvSpPr>
              <p:cNvPr id="678" name="Rectangle 58"/>
              <p:cNvSpPr/>
              <p:nvPr/>
            </p:nvSpPr>
            <p:spPr>
              <a:xfrm>
                <a:off x="6476760" y="5638680"/>
                <a:ext cx="609840" cy="30456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4</a:t>
                </a:r>
                <a:endParaRPr lang="en-US" sz="2000" b="0" u="none" strike="noStrike">
                  <a:solidFill>
                    <a:srgbClr val="000000"/>
                  </a:solidFill>
                  <a:effectLst/>
                  <a:uFillTx/>
                  <a:latin typeface="Times New Roman"/>
                </a:endParaRPr>
              </a:p>
            </p:txBody>
          </p:sp>
        </p:grpSp>
        <p:sp>
          <p:nvSpPr>
            <p:cNvPr id="679" name="Line 59"/>
            <p:cNvSpPr/>
            <p:nvPr/>
          </p:nvSpPr>
          <p:spPr>
            <a:xfrm flipV="1">
              <a:off x="7467480" y="4190760"/>
              <a:ext cx="0" cy="76320"/>
            </a:xfrm>
            <a:prstGeom prst="line">
              <a:avLst/>
            </a:prstGeom>
            <a:ln w="9360">
              <a:solidFill>
                <a:srgbClr val="000000"/>
              </a:solidFill>
              <a:prstDash val="dash"/>
              <a:miter/>
            </a:ln>
          </p:spPr>
          <p:style>
            <a:lnRef idx="0"/>
            <a:fillRef idx="0"/>
            <a:effectRef idx="0"/>
            <a:fontRef idx="minor"/>
          </p:style>
          <p:txBody>
            <a:bodyPr lIns="90000" tIns="29520" rIns="90000" bIns="29520" anchor="t">
              <a:noAutofit/>
            </a:bodyPr>
            <a:p>
              <a:endParaRPr lang="en-US" sz="2400" b="0" u="none" strike="noStrike">
                <a:solidFill>
                  <a:srgbClr val="000000"/>
                </a:solidFill>
                <a:effectLst/>
                <a:uFillTx/>
                <a:latin typeface="Times New Roman"/>
              </a:endParaRPr>
            </a:p>
          </p:txBody>
        </p:sp>
        <p:sp>
          <p:nvSpPr>
            <p:cNvPr id="680" name="Line 60"/>
            <p:cNvSpPr/>
            <p:nvPr/>
          </p:nvSpPr>
          <p:spPr>
            <a:xfrm>
              <a:off x="7467480" y="4190760"/>
              <a:ext cx="9907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81" name="Line 61"/>
            <p:cNvSpPr/>
            <p:nvPr/>
          </p:nvSpPr>
          <p:spPr>
            <a:xfrm>
              <a:off x="8458200" y="4190760"/>
              <a:ext cx="0" cy="91440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82" name="Text Box 62"/>
            <p:cNvSpPr/>
            <p:nvPr/>
          </p:nvSpPr>
          <p:spPr>
            <a:xfrm>
              <a:off x="7623720" y="5638680"/>
              <a:ext cx="1231920" cy="52020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Switch-voting</a:t>
              </a:r>
              <a:endParaRPr lang="en-US" sz="1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unit</a:t>
              </a:r>
              <a:endParaRPr lang="en-US" sz="1400" b="0" u="none" strike="noStrike">
                <a:solidFill>
                  <a:srgbClr val="000000"/>
                </a:solidFill>
                <a:effectLst/>
                <a:uFillTx/>
                <a:latin typeface="Times New Roman"/>
              </a:endParaRPr>
            </a:p>
          </p:txBody>
        </p:sp>
        <p:sp>
          <p:nvSpPr>
            <p:cNvPr id="683" name="Text Box 63"/>
            <p:cNvSpPr/>
            <p:nvPr/>
          </p:nvSpPr>
          <p:spPr>
            <a:xfrm>
              <a:off x="5793120" y="5790960"/>
              <a:ext cx="7016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Spare</a:t>
              </a:r>
              <a:endParaRPr lang="en-US" sz="1400" b="0"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FE6480E7-915B-4F36-8AFC-CA2780AE6CF2}"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685"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686"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Switch for Standby Redundancy</a:t>
            </a:r>
            <a:endParaRPr lang="en-US" sz="3200" b="0" u="none" strike="noStrike">
              <a:solidFill>
                <a:srgbClr val="000000"/>
              </a:solidFill>
              <a:effectLst/>
              <a:uFillTx/>
              <a:latin typeface="Arial"/>
            </a:endParaRPr>
          </a:p>
        </p:txBody>
      </p:sp>
      <p:sp>
        <p:nvSpPr>
          <p:cNvPr id="687" name="Text Box 4"/>
          <p:cNvSpPr/>
          <p:nvPr/>
        </p:nvSpPr>
        <p:spPr>
          <a:xfrm>
            <a:off x="380880" y="990360"/>
            <a:ext cx="403848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Standby redundancy requires an </a:t>
            </a:r>
            <a:r>
              <a:rPr lang="en-US" sz="2000" b="0" i="1" u="none" strike="noStrike">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-to-1 switch to select the output of the currently active module</a:t>
            </a:r>
            <a:endParaRPr lang="en-US" sz="2000" b="0" u="none" strike="noStrike">
              <a:solidFill>
                <a:srgbClr val="000000"/>
              </a:solidFill>
              <a:effectLst/>
              <a:uFillTx/>
              <a:latin typeface="Times New Roman"/>
            </a:endParaRPr>
          </a:p>
        </p:txBody>
      </p:sp>
      <p:sp>
        <p:nvSpPr>
          <p:cNvPr id="688" name="Text Box 5"/>
          <p:cNvSpPr/>
          <p:nvPr/>
        </p:nvSpPr>
        <p:spPr>
          <a:xfrm>
            <a:off x="380880" y="2133360"/>
            <a:ext cx="4038480" cy="16167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The detectors use various info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to deduce fault conditions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Error coding</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Reasonableness checks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Watchdog timer</a:t>
            </a:r>
            <a:endParaRPr lang="en-US" sz="2000" b="0" u="none" strike="noStrike">
              <a:solidFill>
                <a:srgbClr val="000000"/>
              </a:solidFill>
              <a:effectLst/>
              <a:uFillTx/>
              <a:latin typeface="Times New Roman"/>
            </a:endParaRPr>
          </a:p>
        </p:txBody>
      </p:sp>
      <p:grpSp>
        <p:nvGrpSpPr>
          <p:cNvPr id="689" name="Group 6"/>
          <p:cNvGrpSpPr/>
          <p:nvPr/>
        </p:nvGrpSpPr>
        <p:grpSpPr>
          <a:xfrm>
            <a:off x="4800600" y="1066680"/>
            <a:ext cx="3047760" cy="1478520"/>
            <a:chOff x="4800600" y="1066680"/>
            <a:chExt cx="3047760" cy="1478520"/>
          </a:xfrm>
        </p:grpSpPr>
        <p:grpSp>
          <p:nvGrpSpPr>
            <p:cNvPr id="690" name="Group 7"/>
            <p:cNvGrpSpPr/>
            <p:nvPr/>
          </p:nvGrpSpPr>
          <p:grpSpPr>
            <a:xfrm>
              <a:off x="4800600" y="1247400"/>
              <a:ext cx="3047760" cy="1142280"/>
              <a:chOff x="4800600" y="1247400"/>
              <a:chExt cx="3047760" cy="1142280"/>
            </a:xfrm>
          </p:grpSpPr>
          <p:sp>
            <p:nvSpPr>
              <p:cNvPr id="691" name="Line 8"/>
              <p:cNvSpPr/>
              <p:nvPr/>
            </p:nvSpPr>
            <p:spPr>
              <a:xfrm>
                <a:off x="4800600" y="1856520"/>
                <a:ext cx="3045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92" name="Line 9"/>
              <p:cNvSpPr/>
              <p:nvPr/>
            </p:nvSpPr>
            <p:spPr>
              <a:xfrm>
                <a:off x="5333760" y="1475640"/>
                <a:ext cx="19814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93" name="Line 10"/>
              <p:cNvSpPr/>
              <p:nvPr/>
            </p:nvSpPr>
            <p:spPr>
              <a:xfrm>
                <a:off x="5333760" y="2237760"/>
                <a:ext cx="19814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94" name="Oval 11"/>
              <p:cNvSpPr/>
              <p:nvPr/>
            </p:nvSpPr>
            <p:spPr>
              <a:xfrm>
                <a:off x="6629400" y="1247400"/>
                <a:ext cx="457200" cy="45684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D</a:t>
                </a:r>
                <a:endParaRPr lang="en-US" sz="1800" b="0" u="none" strike="noStrike">
                  <a:solidFill>
                    <a:srgbClr val="000000"/>
                  </a:solidFill>
                  <a:effectLst/>
                  <a:uFillTx/>
                  <a:latin typeface="Times New Roman"/>
                </a:endParaRPr>
              </a:p>
            </p:txBody>
          </p:sp>
          <p:sp>
            <p:nvSpPr>
              <p:cNvPr id="695" name="Line 12"/>
              <p:cNvSpPr/>
              <p:nvPr/>
            </p:nvSpPr>
            <p:spPr>
              <a:xfrm>
                <a:off x="5333760" y="1475640"/>
                <a:ext cx="0" cy="1519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96" name="Rectangle 13"/>
              <p:cNvSpPr/>
              <p:nvPr/>
            </p:nvSpPr>
            <p:spPr>
              <a:xfrm>
                <a:off x="5715000" y="2085120"/>
                <a:ext cx="609480" cy="30456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697" name="Rectangle 14"/>
              <p:cNvSpPr/>
              <p:nvPr/>
            </p:nvSpPr>
            <p:spPr>
              <a:xfrm>
                <a:off x="5715000" y="1323360"/>
                <a:ext cx="609480" cy="30420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sp>
            <p:nvSpPr>
              <p:cNvPr id="698" name="Line 15"/>
              <p:cNvSpPr/>
              <p:nvPr/>
            </p:nvSpPr>
            <p:spPr>
              <a:xfrm flipV="1">
                <a:off x="5105160" y="1627920"/>
                <a:ext cx="228600" cy="228240"/>
              </a:xfrm>
              <a:prstGeom prst="line">
                <a:avLst/>
              </a:prstGeom>
              <a:ln w="936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99" name="Line 16"/>
              <p:cNvSpPr/>
              <p:nvPr/>
            </p:nvSpPr>
            <p:spPr>
              <a:xfrm>
                <a:off x="5333760" y="2085120"/>
                <a:ext cx="0" cy="1522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00" name="Line 17"/>
              <p:cNvSpPr/>
              <p:nvPr/>
            </p:nvSpPr>
            <p:spPr>
              <a:xfrm>
                <a:off x="7543800" y="1856520"/>
                <a:ext cx="3045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01" name="Line 18"/>
              <p:cNvSpPr/>
              <p:nvPr/>
            </p:nvSpPr>
            <p:spPr>
              <a:xfrm>
                <a:off x="7315200" y="1475640"/>
                <a:ext cx="0" cy="1519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02" name="Line 19"/>
              <p:cNvSpPr/>
              <p:nvPr/>
            </p:nvSpPr>
            <p:spPr>
              <a:xfrm flipH="1" flipV="1">
                <a:off x="7314840" y="1627920"/>
                <a:ext cx="228600" cy="228240"/>
              </a:xfrm>
              <a:prstGeom prst="line">
                <a:avLst/>
              </a:prstGeom>
              <a:ln w="9360">
                <a:solidFill>
                  <a:srgbClr val="000000"/>
                </a:solidFill>
                <a:miter/>
                <a:headEnd len="med" type="oval" w="med"/>
                <a:tailEnd len="med" type="oval"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03" name="Line 20"/>
              <p:cNvSpPr/>
              <p:nvPr/>
            </p:nvSpPr>
            <p:spPr>
              <a:xfrm>
                <a:off x="7315200" y="2085120"/>
                <a:ext cx="0" cy="1522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04" name="Line 21"/>
              <p:cNvSpPr/>
              <p:nvPr/>
            </p:nvSpPr>
            <p:spPr>
              <a:xfrm>
                <a:off x="6858000" y="1704240"/>
                <a:ext cx="0" cy="75960"/>
              </a:xfrm>
              <a:prstGeom prst="line">
                <a:avLst/>
              </a:prstGeom>
              <a:ln w="9360">
                <a:solidFill>
                  <a:srgbClr val="000000"/>
                </a:solidFill>
                <a:prstDash val="dash"/>
                <a:miter/>
                <a:tailEnd len="sm" type="oval" w="sm"/>
              </a:ln>
            </p:spPr>
            <p:style>
              <a:lnRef idx="0"/>
              <a:fillRef idx="0"/>
              <a:effectRef idx="0"/>
              <a:fontRef idx="minor"/>
            </p:style>
            <p:txBody>
              <a:bodyPr lIns="90000" tIns="29160" rIns="90000" bIns="29160" anchor="t">
                <a:noAutofit/>
              </a:bodyPr>
              <a:p>
                <a:endParaRPr lang="en-US" sz="2400" b="0" u="none" strike="noStrike">
                  <a:solidFill>
                    <a:srgbClr val="000000"/>
                  </a:solidFill>
                  <a:effectLst/>
                  <a:uFillTx/>
                  <a:latin typeface="Times New Roman"/>
                </a:endParaRPr>
              </a:p>
            </p:txBody>
          </p:sp>
          <p:sp>
            <p:nvSpPr>
              <p:cNvPr id="705" name="Line 22"/>
              <p:cNvSpPr/>
              <p:nvPr/>
            </p:nvSpPr>
            <p:spPr>
              <a:xfrm>
                <a:off x="5181480" y="1780560"/>
                <a:ext cx="228600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706" name="Text Box 23"/>
            <p:cNvSpPr/>
            <p:nvPr/>
          </p:nvSpPr>
          <p:spPr>
            <a:xfrm>
              <a:off x="6936480" y="1066680"/>
              <a:ext cx="8978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Detector</a:t>
              </a:r>
              <a:endParaRPr lang="en-US" sz="1400" b="0" u="none" strike="noStrike">
                <a:solidFill>
                  <a:srgbClr val="000000"/>
                </a:solidFill>
                <a:effectLst/>
                <a:uFillTx/>
                <a:latin typeface="Times New Roman"/>
              </a:endParaRPr>
            </a:p>
          </p:txBody>
        </p:sp>
        <p:sp>
          <p:nvSpPr>
            <p:cNvPr id="707" name="Text Box 24"/>
            <p:cNvSpPr/>
            <p:nvPr/>
          </p:nvSpPr>
          <p:spPr>
            <a:xfrm>
              <a:off x="5031000" y="2238120"/>
              <a:ext cx="7016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Spare</a:t>
              </a:r>
              <a:endParaRPr lang="en-US" sz="1400" b="0" u="none" strike="noStrike">
                <a:solidFill>
                  <a:srgbClr val="000000"/>
                </a:solidFill>
                <a:effectLst/>
                <a:uFillTx/>
                <a:latin typeface="Times New Roman"/>
              </a:endParaRPr>
            </a:p>
          </p:txBody>
        </p:sp>
      </p:grpSp>
      <p:grpSp>
        <p:nvGrpSpPr>
          <p:cNvPr id="708" name="Group 25"/>
          <p:cNvGrpSpPr/>
          <p:nvPr/>
        </p:nvGrpSpPr>
        <p:grpSpPr>
          <a:xfrm>
            <a:off x="4876560" y="2819160"/>
            <a:ext cx="3657600" cy="1828800"/>
            <a:chOff x="4876560" y="2819160"/>
            <a:chExt cx="3657600" cy="1828800"/>
          </a:xfrm>
        </p:grpSpPr>
        <p:sp>
          <p:nvSpPr>
            <p:cNvPr id="709" name="Line 26"/>
            <p:cNvSpPr/>
            <p:nvPr/>
          </p:nvSpPr>
          <p:spPr>
            <a:xfrm>
              <a:off x="5333760" y="3047760"/>
              <a:ext cx="19814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10" name="Line 27"/>
            <p:cNvSpPr/>
            <p:nvPr/>
          </p:nvSpPr>
          <p:spPr>
            <a:xfrm>
              <a:off x="4876560" y="3657600"/>
              <a:ext cx="24386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11" name="Oval 28"/>
            <p:cNvSpPr/>
            <p:nvPr/>
          </p:nvSpPr>
          <p:spPr>
            <a:xfrm>
              <a:off x="6629400" y="281916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D</a:t>
              </a:r>
              <a:endParaRPr lang="en-US" sz="1800" b="0" u="none" strike="noStrike">
                <a:solidFill>
                  <a:srgbClr val="000000"/>
                </a:solidFill>
                <a:effectLst/>
                <a:uFillTx/>
                <a:latin typeface="Times New Roman"/>
              </a:endParaRPr>
            </a:p>
          </p:txBody>
        </p:sp>
        <p:sp>
          <p:nvSpPr>
            <p:cNvPr id="712" name="Rectangle 29"/>
            <p:cNvSpPr/>
            <p:nvPr/>
          </p:nvSpPr>
          <p:spPr>
            <a:xfrm>
              <a:off x="5715000" y="3504960"/>
              <a:ext cx="609480" cy="30492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713" name="Rectangle 30"/>
            <p:cNvSpPr/>
            <p:nvPr/>
          </p:nvSpPr>
          <p:spPr>
            <a:xfrm>
              <a:off x="5715000" y="2895480"/>
              <a:ext cx="60948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sp>
          <p:nvSpPr>
            <p:cNvPr id="714" name="Line 31"/>
            <p:cNvSpPr/>
            <p:nvPr/>
          </p:nvSpPr>
          <p:spPr>
            <a:xfrm>
              <a:off x="6858000" y="3276360"/>
              <a:ext cx="0" cy="76320"/>
            </a:xfrm>
            <a:prstGeom prst="line">
              <a:avLst/>
            </a:prstGeom>
            <a:ln w="9360">
              <a:solidFill>
                <a:srgbClr val="000000"/>
              </a:solidFill>
              <a:prstDash val="dash"/>
              <a:miter/>
            </a:ln>
          </p:spPr>
          <p:style>
            <a:lnRef idx="0"/>
            <a:fillRef idx="0"/>
            <a:effectRef idx="0"/>
            <a:fontRef idx="minor"/>
          </p:style>
          <p:txBody>
            <a:bodyPr lIns="90000" tIns="29520" rIns="90000" bIns="29520" anchor="t">
              <a:noAutofit/>
            </a:bodyPr>
            <a:p>
              <a:endParaRPr lang="en-US" sz="2400" b="0" u="none" strike="noStrike">
                <a:solidFill>
                  <a:srgbClr val="000000"/>
                </a:solidFill>
                <a:effectLst/>
                <a:uFillTx/>
                <a:latin typeface="Times New Roman"/>
              </a:endParaRPr>
            </a:p>
          </p:txBody>
        </p:sp>
        <p:sp>
          <p:nvSpPr>
            <p:cNvPr id="715" name="Line 32"/>
            <p:cNvSpPr/>
            <p:nvPr/>
          </p:nvSpPr>
          <p:spPr>
            <a:xfrm>
              <a:off x="6858000" y="3352680"/>
              <a:ext cx="45720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16" name="Text Box 33"/>
            <p:cNvSpPr/>
            <p:nvPr/>
          </p:nvSpPr>
          <p:spPr>
            <a:xfrm>
              <a:off x="5412600" y="3809880"/>
              <a:ext cx="7898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Spares</a:t>
              </a:r>
              <a:endParaRPr lang="en-US" sz="1400" b="0" u="none" strike="noStrike">
                <a:solidFill>
                  <a:srgbClr val="000000"/>
                </a:solidFill>
                <a:effectLst/>
                <a:uFillTx/>
                <a:latin typeface="Times New Roman"/>
              </a:endParaRPr>
            </a:p>
          </p:txBody>
        </p:sp>
        <p:sp>
          <p:nvSpPr>
            <p:cNvPr id="717" name="Rectangle 34"/>
            <p:cNvSpPr/>
            <p:nvPr/>
          </p:nvSpPr>
          <p:spPr>
            <a:xfrm>
              <a:off x="7315200" y="2895480"/>
              <a:ext cx="838080" cy="1752480"/>
            </a:xfrm>
            <a:prstGeom prst="rect">
              <a:avLst/>
            </a:prstGeom>
            <a:solidFill>
              <a:srgbClr val="99FF99"/>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18" name="Oval 35"/>
            <p:cNvSpPr/>
            <p:nvPr/>
          </p:nvSpPr>
          <p:spPr>
            <a:xfrm>
              <a:off x="6629400" y="342900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D</a:t>
              </a:r>
              <a:endParaRPr lang="en-US" sz="1800" b="0" u="none" strike="noStrike">
                <a:solidFill>
                  <a:srgbClr val="000000"/>
                </a:solidFill>
                <a:effectLst/>
                <a:uFillTx/>
                <a:latin typeface="Times New Roman"/>
              </a:endParaRPr>
            </a:p>
          </p:txBody>
        </p:sp>
        <p:sp>
          <p:nvSpPr>
            <p:cNvPr id="719" name="Line 36"/>
            <p:cNvSpPr/>
            <p:nvPr/>
          </p:nvSpPr>
          <p:spPr>
            <a:xfrm>
              <a:off x="6858000" y="3886200"/>
              <a:ext cx="0" cy="75960"/>
            </a:xfrm>
            <a:prstGeom prst="line">
              <a:avLst/>
            </a:prstGeom>
            <a:ln w="9360">
              <a:solidFill>
                <a:srgbClr val="000000"/>
              </a:solidFill>
              <a:prstDash val="dash"/>
              <a:miter/>
            </a:ln>
          </p:spPr>
          <p:style>
            <a:lnRef idx="0"/>
            <a:fillRef idx="0"/>
            <a:effectRef idx="0"/>
            <a:fontRef idx="minor"/>
          </p:style>
          <p:txBody>
            <a:bodyPr lIns="90000" tIns="29160" rIns="90000" bIns="29160" anchor="t">
              <a:noAutofit/>
            </a:bodyPr>
            <a:p>
              <a:endParaRPr lang="en-US" sz="2400" b="0" u="none" strike="noStrike">
                <a:solidFill>
                  <a:srgbClr val="000000"/>
                </a:solidFill>
                <a:effectLst/>
                <a:uFillTx/>
                <a:latin typeface="Times New Roman"/>
              </a:endParaRPr>
            </a:p>
          </p:txBody>
        </p:sp>
        <p:sp>
          <p:nvSpPr>
            <p:cNvPr id="720" name="Line 37"/>
            <p:cNvSpPr/>
            <p:nvPr/>
          </p:nvSpPr>
          <p:spPr>
            <a:xfrm>
              <a:off x="6858000" y="3962160"/>
              <a:ext cx="45720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21" name="Line 38"/>
            <p:cNvSpPr/>
            <p:nvPr/>
          </p:nvSpPr>
          <p:spPr>
            <a:xfrm>
              <a:off x="5333760" y="4267080"/>
              <a:ext cx="19814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22" name="Rectangle 39"/>
            <p:cNvSpPr/>
            <p:nvPr/>
          </p:nvSpPr>
          <p:spPr>
            <a:xfrm>
              <a:off x="5715000" y="4114800"/>
              <a:ext cx="609480" cy="304560"/>
            </a:xfrm>
            <a:prstGeom prst="rect">
              <a:avLst/>
            </a:prstGeom>
            <a:solidFill>
              <a:srgbClr val="CCE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723" name="Oval 40"/>
            <p:cNvSpPr/>
            <p:nvPr/>
          </p:nvSpPr>
          <p:spPr>
            <a:xfrm>
              <a:off x="6629400" y="403848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D</a:t>
              </a:r>
              <a:endParaRPr lang="en-US" sz="1800" b="0" u="none" strike="noStrike">
                <a:solidFill>
                  <a:srgbClr val="000000"/>
                </a:solidFill>
                <a:effectLst/>
                <a:uFillTx/>
                <a:latin typeface="Times New Roman"/>
              </a:endParaRPr>
            </a:p>
          </p:txBody>
        </p:sp>
        <p:sp>
          <p:nvSpPr>
            <p:cNvPr id="724" name="Line 41"/>
            <p:cNvSpPr/>
            <p:nvPr/>
          </p:nvSpPr>
          <p:spPr>
            <a:xfrm>
              <a:off x="6858000" y="4495680"/>
              <a:ext cx="0" cy="76320"/>
            </a:xfrm>
            <a:prstGeom prst="line">
              <a:avLst/>
            </a:prstGeom>
            <a:ln w="9360">
              <a:solidFill>
                <a:srgbClr val="000000"/>
              </a:solidFill>
              <a:prstDash val="dash"/>
              <a:miter/>
            </a:ln>
          </p:spPr>
          <p:style>
            <a:lnRef idx="0"/>
            <a:fillRef idx="0"/>
            <a:effectRef idx="0"/>
            <a:fontRef idx="minor"/>
          </p:style>
          <p:txBody>
            <a:bodyPr lIns="90000" tIns="29520" rIns="90000" bIns="29520" anchor="t">
              <a:noAutofit/>
            </a:bodyPr>
            <a:p>
              <a:endParaRPr lang="en-US" sz="2400" b="0" u="none" strike="noStrike">
                <a:solidFill>
                  <a:srgbClr val="000000"/>
                </a:solidFill>
                <a:effectLst/>
                <a:uFillTx/>
                <a:latin typeface="Times New Roman"/>
              </a:endParaRPr>
            </a:p>
          </p:txBody>
        </p:sp>
        <p:sp>
          <p:nvSpPr>
            <p:cNvPr id="725" name="Line 42"/>
            <p:cNvSpPr/>
            <p:nvPr/>
          </p:nvSpPr>
          <p:spPr>
            <a:xfrm>
              <a:off x="6858000" y="4572000"/>
              <a:ext cx="45720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26" name="Line 43"/>
            <p:cNvSpPr/>
            <p:nvPr/>
          </p:nvSpPr>
          <p:spPr>
            <a:xfrm>
              <a:off x="8153280" y="3657600"/>
              <a:ext cx="38088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27" name="Text Box 44"/>
            <p:cNvSpPr/>
            <p:nvPr/>
          </p:nvSpPr>
          <p:spPr>
            <a:xfrm>
              <a:off x="7315200" y="3429000"/>
              <a:ext cx="838080" cy="5202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a:t>
              </a:r>
              <a:r>
                <a:rPr lang="en-US" sz="1400" b="0" i="1" u="none" strike="noStrike">
                  <a:solidFill>
                    <a:srgbClr val="000000"/>
                  </a:solidFill>
                  <a:effectLst/>
                  <a:uFillTx/>
                  <a:latin typeface="Arial"/>
                  <a:ea typeface="Arial"/>
                </a:rPr>
                <a:t>n</a:t>
              </a:r>
              <a:r>
                <a:rPr lang="en-US" sz="1400" b="0" u="none" strike="noStrike">
                  <a:solidFill>
                    <a:srgbClr val="000000"/>
                  </a:solidFill>
                  <a:effectLst/>
                  <a:uFillTx/>
                  <a:latin typeface="Arial"/>
                  <a:ea typeface="Arial"/>
                </a:rPr>
                <a:t>-to-1 switch</a:t>
              </a:r>
              <a:endParaRPr lang="en-US" sz="1400" b="0" u="none" strike="noStrike">
                <a:solidFill>
                  <a:srgbClr val="000000"/>
                </a:solidFill>
                <a:effectLst/>
                <a:uFillTx/>
                <a:latin typeface="Times New Roman"/>
              </a:endParaRPr>
            </a:p>
          </p:txBody>
        </p:sp>
        <p:sp>
          <p:nvSpPr>
            <p:cNvPr id="728" name="Line 45"/>
            <p:cNvSpPr/>
            <p:nvPr/>
          </p:nvSpPr>
          <p:spPr>
            <a:xfrm>
              <a:off x="5333760" y="3047760"/>
              <a:ext cx="0" cy="12193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729" name="Text Box 46"/>
          <p:cNvSpPr/>
          <p:nvPr/>
        </p:nvSpPr>
        <p:spPr>
          <a:xfrm>
            <a:off x="380880" y="3886200"/>
            <a:ext cx="4267080" cy="1312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Once a fault has been detected,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the switch reconfigures the system by flagging the faulty unit and activating next spare in sequence</a:t>
            </a:r>
            <a:endParaRPr lang="en-US" sz="2000" b="0" u="none" strike="noStrike">
              <a:solidFill>
                <a:srgbClr val="000000"/>
              </a:solidFill>
              <a:effectLst/>
              <a:uFillTx/>
              <a:latin typeface="Times New Roman"/>
            </a:endParaRPr>
          </a:p>
        </p:txBody>
      </p:sp>
      <p:sp>
        <p:nvSpPr>
          <p:cNvPr id="730" name="Text Box 47"/>
          <p:cNvSpPr/>
          <p:nvPr/>
        </p:nvSpPr>
        <p:spPr>
          <a:xfrm>
            <a:off x="380880" y="5333760"/>
            <a:ext cx="77724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If we use an </a:t>
            </a:r>
            <a:r>
              <a:rPr lang="en-US" sz="2000" b="0" i="1" u="none" strike="noStrike">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-to-2 switch and compare the two selected outputs, the configuration is known as “pair-and-spares”</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5A5A7959-672A-462A-8D4E-0A595D765488}"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732"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733"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TMR with Imperfect Voting Unit</a:t>
            </a:r>
            <a:endParaRPr lang="en-US" sz="3200" b="0" u="none" strike="noStrike">
              <a:solidFill>
                <a:srgbClr val="000000"/>
              </a:solidFill>
              <a:effectLst/>
              <a:uFillTx/>
              <a:latin typeface="Arial"/>
            </a:endParaRPr>
          </a:p>
        </p:txBody>
      </p:sp>
      <p:sp>
        <p:nvSpPr>
          <p:cNvPr id="734" name="Text Box 4"/>
          <p:cNvSpPr/>
          <p:nvPr/>
        </p:nvSpPr>
        <p:spPr>
          <a:xfrm>
            <a:off x="457200" y="1523880"/>
            <a:ext cx="5029200" cy="7448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Condition on the voting unit reliability</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v</a:t>
            </a:r>
            <a:r>
              <a:rPr lang="en-US" sz="2000" b="0" u="none" strike="noStrike">
                <a:solidFill>
                  <a:srgbClr val="000000"/>
                </a:solidFill>
                <a:effectLst/>
                <a:uFillTx/>
                <a:latin typeface="Arial"/>
                <a:ea typeface="Times New Roman"/>
              </a:rPr>
              <a:t> &gt; 1</a:t>
            </a:r>
            <a:r>
              <a:rPr lang="en-US" sz="1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[3</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 – 2</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baseline="30000">
                <a:solidFill>
                  <a:srgbClr val="000000"/>
                </a:solidFill>
                <a:effectLst/>
                <a:uFillTx/>
                <a:latin typeface="Arial"/>
                <a:ea typeface="Times New Roman"/>
              </a:rPr>
              <a:t>2</a:t>
            </a:r>
            <a:r>
              <a:rPr lang="en-US" sz="2000" b="0" u="none" strike="noStrike">
                <a:solidFill>
                  <a:srgbClr val="000000"/>
                </a:solidFill>
                <a:effectLst/>
                <a:uFillTx/>
                <a:latin typeface="Arial"/>
                <a:ea typeface="Times New Roman"/>
              </a:rPr>
              <a:t>]</a:t>
            </a:r>
            <a:endParaRPr lang="en-US" sz="2000" b="0" u="none" strike="noStrike">
              <a:solidFill>
                <a:srgbClr val="000000"/>
              </a:solidFill>
              <a:effectLst/>
              <a:uFillTx/>
              <a:latin typeface="Times New Roman"/>
            </a:endParaRPr>
          </a:p>
        </p:txBody>
      </p:sp>
      <p:grpSp>
        <p:nvGrpSpPr>
          <p:cNvPr id="735" name="Group 5"/>
          <p:cNvGrpSpPr/>
          <p:nvPr/>
        </p:nvGrpSpPr>
        <p:grpSpPr>
          <a:xfrm>
            <a:off x="5410080" y="1143000"/>
            <a:ext cx="3353760" cy="1218960"/>
            <a:chOff x="5410080" y="1143000"/>
            <a:chExt cx="3353760" cy="1218960"/>
          </a:xfrm>
        </p:grpSpPr>
        <p:grpSp>
          <p:nvGrpSpPr>
            <p:cNvPr id="736" name="Group 6"/>
            <p:cNvGrpSpPr/>
            <p:nvPr/>
          </p:nvGrpSpPr>
          <p:grpSpPr>
            <a:xfrm>
              <a:off x="5410080" y="1143000"/>
              <a:ext cx="3047760" cy="1218960"/>
              <a:chOff x="5410080" y="1143000"/>
              <a:chExt cx="3047760" cy="1218960"/>
            </a:xfrm>
          </p:grpSpPr>
          <p:sp>
            <p:nvSpPr>
              <p:cNvPr id="737" name="Line 7"/>
              <p:cNvSpPr/>
              <p:nvPr/>
            </p:nvSpPr>
            <p:spPr>
              <a:xfrm>
                <a:off x="5410080" y="1752480"/>
                <a:ext cx="30477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38" name="Line 8"/>
              <p:cNvSpPr/>
              <p:nvPr/>
            </p:nvSpPr>
            <p:spPr>
              <a:xfrm>
                <a:off x="5943240" y="129528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39" name="Line 9"/>
              <p:cNvSpPr/>
              <p:nvPr/>
            </p:nvSpPr>
            <p:spPr>
              <a:xfrm>
                <a:off x="7162560" y="129528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40" name="Line 10"/>
              <p:cNvSpPr/>
              <p:nvPr/>
            </p:nvSpPr>
            <p:spPr>
              <a:xfrm>
                <a:off x="5943240" y="220968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41" name="Line 11"/>
              <p:cNvSpPr/>
              <p:nvPr/>
            </p:nvSpPr>
            <p:spPr>
              <a:xfrm flipH="1">
                <a:off x="7162560" y="175248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42" name="Oval 12"/>
              <p:cNvSpPr/>
              <p:nvPr/>
            </p:nvSpPr>
            <p:spPr>
              <a:xfrm>
                <a:off x="7467480" y="152388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743" name="Line 13"/>
              <p:cNvSpPr/>
              <p:nvPr/>
            </p:nvSpPr>
            <p:spPr>
              <a:xfrm>
                <a:off x="5943240" y="129528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44" name="Rectangle 14"/>
              <p:cNvSpPr/>
              <p:nvPr/>
            </p:nvSpPr>
            <p:spPr>
              <a:xfrm>
                <a:off x="6324480" y="16002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745" name="Rectangle 15"/>
              <p:cNvSpPr/>
              <p:nvPr/>
            </p:nvSpPr>
            <p:spPr>
              <a:xfrm>
                <a:off x="6324480" y="20574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746" name="Rectangle 16"/>
              <p:cNvSpPr/>
              <p:nvPr/>
            </p:nvSpPr>
            <p:spPr>
              <a:xfrm>
                <a:off x="6324480" y="11430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grpSp>
        <p:sp>
          <p:nvSpPr>
            <p:cNvPr id="747" name="Text Box 17"/>
            <p:cNvSpPr/>
            <p:nvPr/>
          </p:nvSpPr>
          <p:spPr>
            <a:xfrm>
              <a:off x="7698600" y="1295280"/>
              <a:ext cx="10652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Voting unit</a:t>
              </a:r>
              <a:endParaRPr lang="en-US" sz="1400" b="0" u="none" strike="noStrike">
                <a:solidFill>
                  <a:srgbClr val="000000"/>
                </a:solidFill>
                <a:effectLst/>
                <a:uFillTx/>
                <a:latin typeface="Times New Roman"/>
              </a:endParaRPr>
            </a:p>
          </p:txBody>
        </p:sp>
      </p:grpSp>
      <p:grpSp>
        <p:nvGrpSpPr>
          <p:cNvPr id="748" name="Group 18"/>
          <p:cNvGrpSpPr/>
          <p:nvPr/>
        </p:nvGrpSpPr>
        <p:grpSpPr>
          <a:xfrm>
            <a:off x="4952880" y="2743200"/>
            <a:ext cx="4038120" cy="2623320"/>
            <a:chOff x="4952880" y="2743200"/>
            <a:chExt cx="4038120" cy="2623320"/>
          </a:xfrm>
        </p:grpSpPr>
        <p:sp>
          <p:nvSpPr>
            <p:cNvPr id="749" name="Text Box 19"/>
            <p:cNvSpPr/>
            <p:nvPr/>
          </p:nvSpPr>
          <p:spPr>
            <a:xfrm>
              <a:off x="6019560" y="3580920"/>
              <a:ext cx="175212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0000"/>
                  </a:solidFill>
                  <a:effectLst/>
                  <a:uFillTx/>
                  <a:latin typeface="Arial"/>
                  <a:ea typeface="Times New Roman"/>
                </a:rPr>
                <a:t> TMR better</a:t>
              </a:r>
              <a:endParaRPr lang="en-US" sz="1600" b="0" u="none" strike="noStrike">
                <a:solidFill>
                  <a:srgbClr val="000000"/>
                </a:solidFill>
                <a:effectLst/>
                <a:uFillTx/>
                <a:latin typeface="Times New Roman"/>
              </a:endParaRPr>
            </a:p>
          </p:txBody>
        </p:sp>
        <p:sp>
          <p:nvSpPr>
            <p:cNvPr id="750" name="Line 20"/>
            <p:cNvSpPr/>
            <p:nvPr/>
          </p:nvSpPr>
          <p:spPr>
            <a:xfrm flipV="1">
              <a:off x="5638320" y="2894760"/>
              <a:ext cx="0" cy="19810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51" name="Line 21"/>
            <p:cNvSpPr/>
            <p:nvPr/>
          </p:nvSpPr>
          <p:spPr>
            <a:xfrm>
              <a:off x="5638320" y="4876560"/>
              <a:ext cx="27428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52" name="Text Box 22"/>
            <p:cNvSpPr/>
            <p:nvPr/>
          </p:nvSpPr>
          <p:spPr>
            <a:xfrm>
              <a:off x="5181120" y="2743200"/>
              <a:ext cx="83808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v</a:t>
              </a:r>
              <a:endParaRPr lang="en-US" sz="2000" b="0" u="none" strike="noStrike">
                <a:solidFill>
                  <a:srgbClr val="000000"/>
                </a:solidFill>
                <a:effectLst/>
                <a:uFillTx/>
                <a:latin typeface="Times New Roman"/>
              </a:endParaRPr>
            </a:p>
          </p:txBody>
        </p:sp>
        <p:sp>
          <p:nvSpPr>
            <p:cNvPr id="753" name="Text Box 23"/>
            <p:cNvSpPr/>
            <p:nvPr/>
          </p:nvSpPr>
          <p:spPr>
            <a:xfrm>
              <a:off x="8381520" y="4647960"/>
              <a:ext cx="60948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endParaRPr lang="en-US" sz="2000" b="0" u="none" strike="noStrike">
                <a:solidFill>
                  <a:srgbClr val="000000"/>
                </a:solidFill>
                <a:effectLst/>
                <a:uFillTx/>
                <a:latin typeface="Times New Roman"/>
              </a:endParaRPr>
            </a:p>
          </p:txBody>
        </p:sp>
        <p:sp>
          <p:nvSpPr>
            <p:cNvPr id="754" name="Line 24"/>
            <p:cNvSpPr/>
            <p:nvPr/>
          </p:nvSpPr>
          <p:spPr>
            <a:xfrm>
              <a:off x="5638320" y="4266720"/>
              <a:ext cx="243828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55" name="Line 25"/>
            <p:cNvSpPr/>
            <p:nvPr/>
          </p:nvSpPr>
          <p:spPr>
            <a:xfrm>
              <a:off x="5638320" y="3504960"/>
              <a:ext cx="243828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56" name="Text Box 26"/>
            <p:cNvSpPr/>
            <p:nvPr/>
          </p:nvSpPr>
          <p:spPr>
            <a:xfrm>
              <a:off x="5333760" y="4876560"/>
              <a:ext cx="83772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0.5</a:t>
              </a:r>
              <a:endParaRPr lang="en-US" sz="1600" b="0" u="none" strike="noStrike">
                <a:solidFill>
                  <a:srgbClr val="000000"/>
                </a:solidFill>
                <a:effectLst/>
                <a:uFillTx/>
                <a:latin typeface="Times New Roman"/>
              </a:endParaRPr>
            </a:p>
          </p:txBody>
        </p:sp>
        <p:sp>
          <p:nvSpPr>
            <p:cNvPr id="757" name="Text Box 27"/>
            <p:cNvSpPr/>
            <p:nvPr/>
          </p:nvSpPr>
          <p:spPr>
            <a:xfrm>
              <a:off x="7848360" y="4876560"/>
              <a:ext cx="83772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1.0</a:t>
              </a:r>
              <a:endParaRPr lang="en-US" sz="1600" b="0" u="none" strike="noStrike">
                <a:solidFill>
                  <a:srgbClr val="000000"/>
                </a:solidFill>
                <a:effectLst/>
                <a:uFillTx/>
                <a:latin typeface="Times New Roman"/>
              </a:endParaRPr>
            </a:p>
          </p:txBody>
        </p:sp>
        <p:sp>
          <p:nvSpPr>
            <p:cNvPr id="758" name="Line 28"/>
            <p:cNvSpPr/>
            <p:nvPr/>
          </p:nvSpPr>
          <p:spPr>
            <a:xfrm>
              <a:off x="8076960" y="2971440"/>
              <a:ext cx="0" cy="190476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59" name="Text Box 29"/>
            <p:cNvSpPr/>
            <p:nvPr/>
          </p:nvSpPr>
          <p:spPr>
            <a:xfrm>
              <a:off x="4952880" y="4114440"/>
              <a:ext cx="8380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0.885</a:t>
              </a:r>
              <a:endParaRPr lang="en-US" sz="1600" b="0" u="none" strike="noStrike">
                <a:solidFill>
                  <a:srgbClr val="000000"/>
                </a:solidFill>
                <a:effectLst/>
                <a:uFillTx/>
                <a:latin typeface="Times New Roman"/>
              </a:endParaRPr>
            </a:p>
          </p:txBody>
        </p:sp>
        <p:sp>
          <p:nvSpPr>
            <p:cNvPr id="760" name="Text Box 30"/>
            <p:cNvSpPr/>
            <p:nvPr/>
          </p:nvSpPr>
          <p:spPr>
            <a:xfrm>
              <a:off x="4952880" y="3352320"/>
              <a:ext cx="8380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0.95</a:t>
              </a:r>
              <a:endParaRPr lang="en-US" sz="1600" b="0" u="none" strike="noStrike">
                <a:solidFill>
                  <a:srgbClr val="000000"/>
                </a:solidFill>
                <a:effectLst/>
                <a:uFillTx/>
                <a:latin typeface="Times New Roman"/>
              </a:endParaRPr>
            </a:p>
          </p:txBody>
        </p:sp>
        <p:sp>
          <p:nvSpPr>
            <p:cNvPr id="761" name="Line 31"/>
            <p:cNvSpPr/>
            <p:nvPr/>
          </p:nvSpPr>
          <p:spPr>
            <a:xfrm>
              <a:off x="6857640" y="4266720"/>
              <a:ext cx="0" cy="60948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62" name="Line 32"/>
            <p:cNvSpPr/>
            <p:nvPr/>
          </p:nvSpPr>
          <p:spPr>
            <a:xfrm>
              <a:off x="5866920" y="2971440"/>
              <a:ext cx="0" cy="190476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63" name="Line 33"/>
            <p:cNvSpPr/>
            <p:nvPr/>
          </p:nvSpPr>
          <p:spPr>
            <a:xfrm>
              <a:off x="7848360" y="2971440"/>
              <a:ext cx="0" cy="190476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64" name="Text Box 34"/>
            <p:cNvSpPr/>
            <p:nvPr/>
          </p:nvSpPr>
          <p:spPr>
            <a:xfrm>
              <a:off x="6552720" y="4876560"/>
              <a:ext cx="8380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0.75</a:t>
              </a:r>
              <a:endParaRPr lang="en-US" sz="1600" b="0" u="none" strike="noStrike">
                <a:solidFill>
                  <a:srgbClr val="000000"/>
                </a:solidFill>
                <a:effectLst/>
                <a:uFillTx/>
                <a:latin typeface="Times New Roman"/>
              </a:endParaRPr>
            </a:p>
          </p:txBody>
        </p:sp>
        <p:sp>
          <p:nvSpPr>
            <p:cNvPr id="765" name="Text Box 35"/>
            <p:cNvSpPr/>
            <p:nvPr/>
          </p:nvSpPr>
          <p:spPr>
            <a:xfrm>
              <a:off x="5562360" y="5028840"/>
              <a:ext cx="83772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0.56</a:t>
              </a:r>
              <a:endParaRPr lang="en-US" sz="1600" b="0" u="none" strike="noStrike">
                <a:solidFill>
                  <a:srgbClr val="000000"/>
                </a:solidFill>
                <a:effectLst/>
                <a:uFillTx/>
                <a:latin typeface="Times New Roman"/>
              </a:endParaRPr>
            </a:p>
          </p:txBody>
        </p:sp>
        <p:sp>
          <p:nvSpPr>
            <p:cNvPr id="766" name="Text Box 36"/>
            <p:cNvSpPr/>
            <p:nvPr/>
          </p:nvSpPr>
          <p:spPr>
            <a:xfrm>
              <a:off x="7543440" y="5028840"/>
              <a:ext cx="83772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0.94</a:t>
              </a:r>
              <a:endParaRPr lang="en-US" sz="1600" b="0" u="none" strike="noStrike">
                <a:solidFill>
                  <a:srgbClr val="000000"/>
                </a:solidFill>
                <a:effectLst/>
                <a:uFillTx/>
                <a:latin typeface="Times New Roman"/>
              </a:endParaRPr>
            </a:p>
          </p:txBody>
        </p:sp>
        <p:sp>
          <p:nvSpPr>
            <p:cNvPr id="767" name="Freeform 37"/>
            <p:cNvSpPr/>
            <p:nvPr/>
          </p:nvSpPr>
          <p:spPr>
            <a:xfrm>
              <a:off x="5739840" y="2971440"/>
              <a:ext cx="2260440" cy="1294920"/>
            </a:xfrm>
            <a:custGeom>
              <a:avLst/>
              <a:gdLst>
                <a:gd name="GluePoint1X" fmla="*/ 0 w 1424"/>
                <a:gd name="GluePoint1Y" fmla="*/ 16 h 816"/>
                <a:gd name="GluePoint2X" fmla="*/ 120 w 1424"/>
                <a:gd name="GluePoint2Y" fmla="*/ 416 h 816"/>
                <a:gd name="GluePoint3X" fmla="*/ 272 w 1424"/>
                <a:gd name="GluePoint3Y" fmla="*/ 632 h 816"/>
                <a:gd name="GluePoint4X" fmla="*/ 456 w 1424"/>
                <a:gd name="GluePoint4Y" fmla="*/ 760 h 816"/>
                <a:gd name="GluePoint5X" fmla="*/ 704 w 1424"/>
                <a:gd name="GluePoint5Y" fmla="*/ 816 h 816"/>
                <a:gd name="GluePoint6X" fmla="*/ 968 w 1424"/>
                <a:gd name="GluePoint6Y" fmla="*/ 760 h 816"/>
                <a:gd name="GluePoint7X" fmla="*/ 1232 w 1424"/>
                <a:gd name="GluePoint7Y" fmla="*/ 528 h 816"/>
                <a:gd name="GluePoint8X" fmla="*/ 1352 w 1424"/>
                <a:gd name="GluePoint8Y" fmla="*/ 280 h 816"/>
                <a:gd name="GluePoint9X" fmla="*/ 1424 w 1424"/>
                <a:gd name="GluePoint9Y" fmla="*/ 0 h 81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1424" h="816">
                  <a:moveTo>
                    <a:pt x="0" y="16"/>
                  </a:moveTo>
                  <a:cubicBezTo>
                    <a:pt x="20" y="83"/>
                    <a:pt x="75" y="313"/>
                    <a:pt x="120" y="416"/>
                  </a:cubicBezTo>
                  <a:cubicBezTo>
                    <a:pt x="165" y="519"/>
                    <a:pt x="216" y="575"/>
                    <a:pt x="272" y="632"/>
                  </a:cubicBezTo>
                  <a:cubicBezTo>
                    <a:pt x="328" y="689"/>
                    <a:pt x="384" y="729"/>
                    <a:pt x="456" y="760"/>
                  </a:cubicBezTo>
                  <a:cubicBezTo>
                    <a:pt x="528" y="791"/>
                    <a:pt x="619" y="816"/>
                    <a:pt x="704" y="816"/>
                  </a:cubicBezTo>
                  <a:cubicBezTo>
                    <a:pt x="789" y="816"/>
                    <a:pt x="880" y="808"/>
                    <a:pt x="968" y="760"/>
                  </a:cubicBezTo>
                  <a:cubicBezTo>
                    <a:pt x="1056" y="712"/>
                    <a:pt x="1168" y="608"/>
                    <a:pt x="1232" y="528"/>
                  </a:cubicBezTo>
                  <a:cubicBezTo>
                    <a:pt x="1296" y="448"/>
                    <a:pt x="1320" y="368"/>
                    <a:pt x="1352" y="280"/>
                  </a:cubicBezTo>
                  <a:cubicBezTo>
                    <a:pt x="1384" y="192"/>
                    <a:pt x="1412" y="47"/>
                    <a:pt x="1424" y="0"/>
                  </a:cubicBezTo>
                </a:path>
              </a:pathLst>
            </a:custGeom>
            <a:noFill/>
            <a:ln w="2844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68" name="Text Box 38"/>
            <p:cNvSpPr/>
            <p:nvPr/>
          </p:nvSpPr>
          <p:spPr>
            <a:xfrm>
              <a:off x="5943240" y="4419360"/>
              <a:ext cx="190476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033CC"/>
                  </a:solidFill>
                  <a:effectLst/>
                  <a:uFillTx/>
                  <a:latin typeface="Arial"/>
                  <a:ea typeface="Times New Roman"/>
                </a:rPr>
                <a:t> Simplex better</a:t>
              </a:r>
              <a:endParaRPr lang="en-US" sz="1600" b="0" u="none" strike="noStrike">
                <a:solidFill>
                  <a:srgbClr val="000000"/>
                </a:solidFill>
                <a:effectLst/>
                <a:uFillTx/>
                <a:latin typeface="Times New Roman"/>
              </a:endParaRPr>
            </a:p>
          </p:txBody>
        </p:sp>
      </p:grpSp>
      <p:grpSp>
        <p:nvGrpSpPr>
          <p:cNvPr id="769" name="Group 39"/>
          <p:cNvGrpSpPr/>
          <p:nvPr/>
        </p:nvGrpSpPr>
        <p:grpSpPr>
          <a:xfrm>
            <a:off x="228600" y="3124080"/>
            <a:ext cx="4724280" cy="1125720"/>
            <a:chOff x="228600" y="3124080"/>
            <a:chExt cx="4724280" cy="1125720"/>
          </a:xfrm>
        </p:grpSpPr>
        <p:sp>
          <p:nvSpPr>
            <p:cNvPr id="770" name="Text Box 40"/>
            <p:cNvSpPr/>
            <p:nvPr/>
          </p:nvSpPr>
          <p:spPr>
            <a:xfrm>
              <a:off x="457200" y="3124080"/>
              <a:ext cx="449568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Condition on the module reliability</a:t>
              </a:r>
              <a:endParaRPr lang="en-US" sz="2000" b="0" u="none" strike="noStrike">
                <a:solidFill>
                  <a:srgbClr val="000000"/>
                </a:solidFill>
                <a:effectLst/>
                <a:uFillTx/>
                <a:latin typeface="Times New Roman"/>
              </a:endParaRPr>
            </a:p>
          </p:txBody>
        </p:sp>
        <p:grpSp>
          <p:nvGrpSpPr>
            <p:cNvPr id="771" name="Group 41"/>
            <p:cNvGrpSpPr/>
            <p:nvPr/>
          </p:nvGrpSpPr>
          <p:grpSpPr>
            <a:xfrm>
              <a:off x="228600" y="3504600"/>
              <a:ext cx="2133360" cy="745200"/>
              <a:chOff x="228600" y="3504600"/>
              <a:chExt cx="2133360" cy="745200"/>
            </a:xfrm>
          </p:grpSpPr>
          <p:sp>
            <p:nvSpPr>
              <p:cNvPr id="772" name="Text Box 42"/>
              <p:cNvSpPr/>
              <p:nvPr/>
            </p:nvSpPr>
            <p:spPr>
              <a:xfrm>
                <a:off x="228600" y="3504960"/>
                <a:ext cx="2133360" cy="74484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3 –   9 – 8/</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v</a:t>
                </a:r>
                <a:endParaRPr lang="en-US" sz="20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4</a:t>
                </a:r>
                <a:endParaRPr lang="en-US" sz="2000" b="0" u="none" strike="noStrike">
                  <a:solidFill>
                    <a:srgbClr val="000000"/>
                  </a:solidFill>
                  <a:effectLst/>
                  <a:uFillTx/>
                  <a:latin typeface="Times New Roman"/>
                </a:endParaRPr>
              </a:p>
            </p:txBody>
          </p:sp>
          <p:sp>
            <p:nvSpPr>
              <p:cNvPr id="773" name="Line 43"/>
              <p:cNvSpPr/>
              <p:nvPr/>
            </p:nvSpPr>
            <p:spPr>
              <a:xfrm>
                <a:off x="990360" y="3581280"/>
                <a:ext cx="7632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74" name="Line 44"/>
              <p:cNvSpPr/>
              <p:nvPr/>
            </p:nvSpPr>
            <p:spPr>
              <a:xfrm flipV="1">
                <a:off x="1066680" y="3504600"/>
                <a:ext cx="76320" cy="3049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75" name="Line 45"/>
              <p:cNvSpPr/>
              <p:nvPr/>
            </p:nvSpPr>
            <p:spPr>
              <a:xfrm>
                <a:off x="1143000" y="3504960"/>
                <a:ext cx="9144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76" name="Line 46"/>
              <p:cNvSpPr/>
              <p:nvPr/>
            </p:nvSpPr>
            <p:spPr>
              <a:xfrm>
                <a:off x="609480" y="3865320"/>
                <a:ext cx="15238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777" name="Group 47"/>
            <p:cNvGrpSpPr/>
            <p:nvPr/>
          </p:nvGrpSpPr>
          <p:grpSpPr>
            <a:xfrm>
              <a:off x="2743200" y="3504600"/>
              <a:ext cx="2133360" cy="745200"/>
              <a:chOff x="2743200" y="3504600"/>
              <a:chExt cx="2133360" cy="745200"/>
            </a:xfrm>
          </p:grpSpPr>
          <p:sp>
            <p:nvSpPr>
              <p:cNvPr id="778" name="Text Box 48"/>
              <p:cNvSpPr/>
              <p:nvPr/>
            </p:nvSpPr>
            <p:spPr>
              <a:xfrm>
                <a:off x="2743200" y="3504960"/>
                <a:ext cx="2133360" cy="74484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3 +   9 – 8/</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v</a:t>
                </a:r>
                <a:endParaRPr lang="en-US" sz="20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4</a:t>
                </a:r>
                <a:endParaRPr lang="en-US" sz="2000" b="0" u="none" strike="noStrike">
                  <a:solidFill>
                    <a:srgbClr val="000000"/>
                  </a:solidFill>
                  <a:effectLst/>
                  <a:uFillTx/>
                  <a:latin typeface="Times New Roman"/>
                </a:endParaRPr>
              </a:p>
            </p:txBody>
          </p:sp>
          <p:sp>
            <p:nvSpPr>
              <p:cNvPr id="779" name="Line 49"/>
              <p:cNvSpPr/>
              <p:nvPr/>
            </p:nvSpPr>
            <p:spPr>
              <a:xfrm>
                <a:off x="3504960" y="3581280"/>
                <a:ext cx="7632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80" name="Line 50"/>
              <p:cNvSpPr/>
              <p:nvPr/>
            </p:nvSpPr>
            <p:spPr>
              <a:xfrm flipV="1">
                <a:off x="3581280" y="3504600"/>
                <a:ext cx="76320" cy="3049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81" name="Line 51"/>
              <p:cNvSpPr/>
              <p:nvPr/>
            </p:nvSpPr>
            <p:spPr>
              <a:xfrm>
                <a:off x="3657600" y="3504960"/>
                <a:ext cx="9144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82" name="Line 52"/>
              <p:cNvSpPr/>
              <p:nvPr/>
            </p:nvSpPr>
            <p:spPr>
              <a:xfrm>
                <a:off x="3124080" y="3865320"/>
                <a:ext cx="15238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783" name="Text Box 53"/>
            <p:cNvSpPr/>
            <p:nvPr/>
          </p:nvSpPr>
          <p:spPr>
            <a:xfrm>
              <a:off x="2133360" y="3657600"/>
              <a:ext cx="106704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&lt; </a:t>
              </a:r>
              <a:r>
                <a:rPr lang="en-US" sz="1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 &lt;</a:t>
              </a:r>
              <a:endParaRPr lang="en-US" sz="2000" b="0" u="none" strike="noStrike">
                <a:solidFill>
                  <a:srgbClr val="000000"/>
                </a:solidFill>
                <a:effectLst/>
                <a:uFillTx/>
                <a:latin typeface="Times New Roman"/>
              </a:endParaRPr>
            </a:p>
          </p:txBody>
        </p:sp>
      </p:grpSp>
      <p:sp>
        <p:nvSpPr>
          <p:cNvPr id="784" name="Text Box 54"/>
          <p:cNvSpPr/>
          <p:nvPr/>
        </p:nvSpPr>
        <p:spPr>
          <a:xfrm>
            <a:off x="457200" y="2438280"/>
            <a:ext cx="472428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dR</a:t>
            </a:r>
            <a:r>
              <a:rPr lang="en-US" sz="2000" b="0" u="none" strike="noStrike" baseline="-25000">
                <a:solidFill>
                  <a:srgbClr val="000000"/>
                </a:solidFill>
                <a:effectLst/>
                <a:uFillTx/>
                <a:latin typeface="Arial"/>
                <a:ea typeface="Times New Roman"/>
              </a:rPr>
              <a:t>v</a:t>
            </a:r>
            <a:r>
              <a:rPr lang="en-US" sz="2000" b="0" u="none" strike="noStrike" baseline="30000">
                <a:solidFill>
                  <a:srgbClr val="000000"/>
                </a:solidFill>
                <a:effectLst/>
                <a:uFillTx/>
                <a:latin typeface="Arial"/>
                <a:ea typeface="Times New Roman"/>
              </a:rPr>
              <a:t>min</a:t>
            </a:r>
            <a:r>
              <a:rPr lang="en-US" sz="2000" b="0" u="none" strike="noStrike">
                <a:solidFill>
                  <a:srgbClr val="000000"/>
                </a:solidFill>
                <a:effectLst/>
                <a:uFillTx/>
                <a:latin typeface="Arial"/>
                <a:ea typeface="Times New Roman"/>
              </a:rPr>
              <a:t>/</a:t>
            </a:r>
            <a:r>
              <a:rPr lang="en-US" sz="1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d</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 = (–3</a:t>
            </a:r>
            <a:r>
              <a:rPr lang="en-US" sz="1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a:t>
            </a:r>
            <a:r>
              <a:rPr lang="en-US" sz="1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4</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a:t>
            </a:r>
            <a:r>
              <a:rPr lang="en-US" sz="1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a:t>
            </a:r>
            <a:r>
              <a:rPr lang="en-US" sz="1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(3</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1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a:t>
            </a:r>
            <a:r>
              <a:rPr lang="en-US" sz="1000" b="0" u="none" strike="noStrike">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2</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baseline="30000">
                <a:solidFill>
                  <a:srgbClr val="000000"/>
                </a:solidFill>
                <a:effectLst/>
                <a:uFillTx/>
                <a:latin typeface="Arial"/>
                <a:ea typeface="Times New Roman"/>
              </a:rPr>
              <a:t>2</a:t>
            </a:r>
            <a:r>
              <a:rPr lang="en-US" sz="2000" b="0" u="none" strike="noStrike">
                <a:solidFill>
                  <a:srgbClr val="000000"/>
                </a:solidFill>
                <a:effectLst/>
                <a:uFillTx/>
                <a:latin typeface="Arial"/>
                <a:ea typeface="Times New Roman"/>
              </a:rPr>
              <a:t>)</a:t>
            </a:r>
            <a:r>
              <a:rPr lang="en-US" sz="2000" b="0" u="none" strike="noStrike" baseline="30000">
                <a:solidFill>
                  <a:srgbClr val="000000"/>
                </a:solidFill>
                <a:effectLst/>
                <a:uFillTx/>
                <a:latin typeface="Arial"/>
                <a:ea typeface="Times New Roman"/>
              </a:rPr>
              <a:t>2</a:t>
            </a:r>
            <a:endParaRPr lang="en-US" sz="2000" b="0" u="none" strike="noStrike">
              <a:solidFill>
                <a:srgbClr val="000000"/>
              </a:solidFill>
              <a:effectLst/>
              <a:uFillTx/>
              <a:latin typeface="Times New Roman"/>
            </a:endParaRPr>
          </a:p>
        </p:txBody>
      </p:sp>
      <p:sp>
        <p:nvSpPr>
          <p:cNvPr id="785" name="Text Box 55"/>
          <p:cNvSpPr/>
          <p:nvPr/>
        </p:nvSpPr>
        <p:spPr>
          <a:xfrm>
            <a:off x="457200" y="4343400"/>
            <a:ext cx="4495680" cy="7866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Example: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v</a:t>
            </a:r>
            <a:r>
              <a:rPr lang="en-US" sz="2000" b="0" u="none" strike="noStrike">
                <a:solidFill>
                  <a:srgbClr val="000000"/>
                </a:solidFill>
                <a:effectLst/>
                <a:uFillTx/>
                <a:latin typeface="Arial"/>
                <a:ea typeface="Times New Roman"/>
              </a:rPr>
              <a:t> = 0.95 requires that</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0.56 &lt;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 &lt; 0.94</a:t>
            </a:r>
            <a:endParaRPr lang="en-US" sz="2000" b="0" u="none" strike="noStrike">
              <a:solidFill>
                <a:srgbClr val="000000"/>
              </a:solidFill>
              <a:effectLst/>
              <a:uFillTx/>
              <a:latin typeface="Times New Roman"/>
            </a:endParaRPr>
          </a:p>
        </p:txBody>
      </p:sp>
      <p:grpSp>
        <p:nvGrpSpPr>
          <p:cNvPr id="786" name="Group 56"/>
          <p:cNvGrpSpPr/>
          <p:nvPr/>
        </p:nvGrpSpPr>
        <p:grpSpPr>
          <a:xfrm>
            <a:off x="457200" y="895320"/>
            <a:ext cx="4114800" cy="535320"/>
            <a:chOff x="457200" y="895320"/>
            <a:chExt cx="4114800" cy="535320"/>
          </a:xfrm>
        </p:grpSpPr>
        <p:sp>
          <p:nvSpPr>
            <p:cNvPr id="787" name="Text Box 57"/>
            <p:cNvSpPr/>
            <p:nvPr/>
          </p:nvSpPr>
          <p:spPr>
            <a:xfrm>
              <a:off x="457200" y="990360"/>
              <a:ext cx="411480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v</a:t>
              </a:r>
              <a:r>
                <a:rPr lang="en-US" sz="2000" b="0" u="none" strike="noStrike">
                  <a:solidFill>
                    <a:srgbClr val="000000"/>
                  </a:solidFill>
                  <a:effectLst/>
                  <a:uFillTx/>
                  <a:latin typeface="Arial"/>
                  <a:ea typeface="Times New Roman"/>
                </a:rPr>
                <a:t>(3</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baseline="30000">
                  <a:solidFill>
                    <a:srgbClr val="000000"/>
                  </a:solidFill>
                  <a:effectLst/>
                  <a:uFillTx/>
                  <a:latin typeface="Arial"/>
                  <a:ea typeface="Times New Roman"/>
                </a:rPr>
                <a:t>2</a:t>
              </a:r>
              <a:r>
                <a:rPr lang="en-US" sz="2000" b="0" u="none" strike="noStrike">
                  <a:solidFill>
                    <a:srgbClr val="000000"/>
                  </a:solidFill>
                  <a:effectLst/>
                  <a:uFillTx/>
                  <a:latin typeface="Arial"/>
                  <a:ea typeface="Times New Roman"/>
                </a:rPr>
                <a:t> – 2</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baseline="30000">
                  <a:solidFill>
                    <a:srgbClr val="000000"/>
                  </a:solidFill>
                  <a:effectLst/>
                  <a:uFillTx/>
                  <a:latin typeface="Arial"/>
                  <a:ea typeface="Times New Roman"/>
                </a:rPr>
                <a:t>3</a:t>
              </a:r>
              <a:r>
                <a:rPr lang="en-US" sz="2000" b="0" u="none" strike="noStrike">
                  <a:solidFill>
                    <a:srgbClr val="000000"/>
                  </a:solidFill>
                  <a:effectLst/>
                  <a:uFillTx/>
                  <a:latin typeface="Arial"/>
                  <a:ea typeface="Times New Roman"/>
                </a:rPr>
                <a:t>) &gt;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endParaRPr lang="en-US" sz="2000" b="0" u="none" strike="noStrike">
                <a:solidFill>
                  <a:srgbClr val="000000"/>
                </a:solidFill>
                <a:effectLst/>
                <a:uFillTx/>
                <a:latin typeface="Times New Roman"/>
              </a:endParaRPr>
            </a:p>
          </p:txBody>
        </p:sp>
        <p:sp>
          <p:nvSpPr>
            <p:cNvPr id="788" name="Text Box 58"/>
            <p:cNvSpPr/>
            <p:nvPr/>
          </p:nvSpPr>
          <p:spPr>
            <a:xfrm>
              <a:off x="2819160" y="895320"/>
              <a:ext cx="38124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 ?</a:t>
              </a:r>
              <a:r>
                <a:rPr lang="en-US" sz="1600" b="0" u="none" strike="noStrike">
                  <a:solidFill>
                    <a:srgbClr val="000000"/>
                  </a:solidFill>
                  <a:effectLst/>
                  <a:uFillTx/>
                  <a:latin typeface="Arial"/>
                  <a:ea typeface="Times New Roman"/>
                </a:rPr>
                <a:t> </a:t>
              </a:r>
              <a:endParaRPr lang="en-US" sz="1600" b="0" u="none" strike="noStrike">
                <a:solidFill>
                  <a:srgbClr val="000000"/>
                </a:solidFill>
                <a:effectLst/>
                <a:uFillTx/>
                <a:latin typeface="Times New Roman"/>
              </a:endParaRPr>
            </a:p>
          </p:txBody>
        </p:sp>
      </p:grpSp>
      <p:sp>
        <p:nvSpPr>
          <p:cNvPr id="789" name="Text Box 59"/>
          <p:cNvSpPr/>
          <p:nvPr/>
        </p:nvSpPr>
        <p:spPr>
          <a:xfrm>
            <a:off x="457200" y="5257800"/>
            <a:ext cx="8001000" cy="7866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When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v</a:t>
            </a:r>
            <a:r>
              <a:rPr lang="en-US" sz="2000" b="0" u="none" strike="noStrike">
                <a:solidFill>
                  <a:srgbClr val="000000"/>
                </a:solidFill>
                <a:effectLst/>
                <a:uFillTx/>
                <a:latin typeface="Arial"/>
                <a:ea typeface="Times New Roman"/>
              </a:rPr>
              <a:t> = 1 –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is close to 1, we have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1/</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v</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1 +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and (1 – 8</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a:t>
            </a:r>
            <a:r>
              <a:rPr lang="en-US" sz="2000" b="0" u="none" strike="noStrike" baseline="30000">
                <a:solidFill>
                  <a:srgbClr val="000000"/>
                </a:solidFill>
                <a:effectLst/>
                <a:uFillTx/>
                <a:latin typeface="Arial"/>
                <a:ea typeface="Times New Roman"/>
              </a:rPr>
              <a:t>0.5</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1 – 4</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leading to 0.5 +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&lt;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 &lt; 1 –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0"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F6A69249-B430-4C89-94CA-343803022013}"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791"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792"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TMR with Compensating Faults</a:t>
            </a:r>
            <a:endParaRPr lang="en-US" sz="3200" b="0" u="none" strike="noStrike">
              <a:solidFill>
                <a:srgbClr val="000000"/>
              </a:solidFill>
              <a:effectLst/>
              <a:uFillTx/>
              <a:latin typeface="Arial"/>
            </a:endParaRPr>
          </a:p>
        </p:txBody>
      </p:sp>
      <p:grpSp>
        <p:nvGrpSpPr>
          <p:cNvPr id="793" name="Group 4"/>
          <p:cNvGrpSpPr/>
          <p:nvPr/>
        </p:nvGrpSpPr>
        <p:grpSpPr>
          <a:xfrm>
            <a:off x="5410080" y="1143000"/>
            <a:ext cx="3353760" cy="1218960"/>
            <a:chOff x="5410080" y="1143000"/>
            <a:chExt cx="3353760" cy="1218960"/>
          </a:xfrm>
        </p:grpSpPr>
        <p:grpSp>
          <p:nvGrpSpPr>
            <p:cNvPr id="794" name="Group 5"/>
            <p:cNvGrpSpPr/>
            <p:nvPr/>
          </p:nvGrpSpPr>
          <p:grpSpPr>
            <a:xfrm>
              <a:off x="5410080" y="1143000"/>
              <a:ext cx="3047760" cy="1218960"/>
              <a:chOff x="5410080" y="1143000"/>
              <a:chExt cx="3047760" cy="1218960"/>
            </a:xfrm>
          </p:grpSpPr>
          <p:sp>
            <p:nvSpPr>
              <p:cNvPr id="795" name="Line 6"/>
              <p:cNvSpPr/>
              <p:nvPr/>
            </p:nvSpPr>
            <p:spPr>
              <a:xfrm>
                <a:off x="5410080" y="1752480"/>
                <a:ext cx="30477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96" name="Line 7"/>
              <p:cNvSpPr/>
              <p:nvPr/>
            </p:nvSpPr>
            <p:spPr>
              <a:xfrm>
                <a:off x="5943240" y="129528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97" name="Line 8"/>
              <p:cNvSpPr/>
              <p:nvPr/>
            </p:nvSpPr>
            <p:spPr>
              <a:xfrm>
                <a:off x="7162560" y="129528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98" name="Line 9"/>
              <p:cNvSpPr/>
              <p:nvPr/>
            </p:nvSpPr>
            <p:spPr>
              <a:xfrm>
                <a:off x="5943240" y="220968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99" name="Line 10"/>
              <p:cNvSpPr/>
              <p:nvPr/>
            </p:nvSpPr>
            <p:spPr>
              <a:xfrm flipH="1">
                <a:off x="7162560" y="175248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00" name="Oval 11"/>
              <p:cNvSpPr/>
              <p:nvPr/>
            </p:nvSpPr>
            <p:spPr>
              <a:xfrm>
                <a:off x="7467480" y="152388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801" name="Line 12"/>
              <p:cNvSpPr/>
              <p:nvPr/>
            </p:nvSpPr>
            <p:spPr>
              <a:xfrm>
                <a:off x="5943240" y="129528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02" name="Rectangle 13"/>
              <p:cNvSpPr/>
              <p:nvPr/>
            </p:nvSpPr>
            <p:spPr>
              <a:xfrm>
                <a:off x="6324480" y="16002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803" name="Rectangle 14"/>
              <p:cNvSpPr/>
              <p:nvPr/>
            </p:nvSpPr>
            <p:spPr>
              <a:xfrm>
                <a:off x="6324480" y="20574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804" name="Rectangle 15"/>
              <p:cNvSpPr/>
              <p:nvPr/>
            </p:nvSpPr>
            <p:spPr>
              <a:xfrm>
                <a:off x="6324480" y="11430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grpSp>
        <p:sp>
          <p:nvSpPr>
            <p:cNvPr id="805" name="Text Box 16"/>
            <p:cNvSpPr/>
            <p:nvPr/>
          </p:nvSpPr>
          <p:spPr>
            <a:xfrm>
              <a:off x="7698600" y="1295280"/>
              <a:ext cx="10652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Voting unit</a:t>
              </a:r>
              <a:endParaRPr lang="en-US" sz="1400" b="0" u="none" strike="noStrike">
                <a:solidFill>
                  <a:srgbClr val="000000"/>
                </a:solidFill>
                <a:effectLst/>
                <a:uFillTx/>
                <a:latin typeface="Times New Roman"/>
              </a:endParaRPr>
            </a:p>
          </p:txBody>
        </p:sp>
      </p:grpSp>
      <p:sp>
        <p:nvSpPr>
          <p:cNvPr id="806" name="Text Box 17"/>
          <p:cNvSpPr/>
          <p:nvPr/>
        </p:nvSpPr>
        <p:spPr>
          <a:xfrm>
            <a:off x="457200" y="2133360"/>
            <a:ext cx="5181480" cy="2335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Example: </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 = 0.998, </a:t>
            </a:r>
            <a:r>
              <a:rPr lang="en-US" sz="2000" b="0" i="1" u="none" strike="noStrike">
                <a:solidFill>
                  <a:srgbClr val="000000"/>
                </a:solidFill>
                <a:effectLst/>
                <a:uFillTx/>
                <a:latin typeface="Arial"/>
                <a:ea typeface="Times New Roman"/>
              </a:rPr>
              <a:t>p</a:t>
            </a:r>
            <a:r>
              <a:rPr lang="en-US" sz="2000" b="0" u="none" strike="noStrike" baseline="-25000">
                <a:solidFill>
                  <a:srgbClr val="000000"/>
                </a:solidFill>
                <a:effectLst/>
                <a:uFillTx/>
                <a:latin typeface="Arial"/>
                <a:ea typeface="Times New Roman"/>
              </a:rPr>
              <a:t>0</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p</a:t>
            </a:r>
            <a:r>
              <a:rPr lang="en-US" sz="2000" b="0" u="none" strike="noStrike" baseline="-25000">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 0.001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r>
              <a:rPr lang="en-US" sz="2000" b="0" u="none" strike="noStrike">
                <a:solidFill>
                  <a:srgbClr val="000000"/>
                </a:solidFill>
                <a:effectLst/>
                <a:uFillTx/>
                <a:latin typeface="Arial"/>
                <a:ea typeface="Times New Roman"/>
              </a:rPr>
              <a:t> = </a:t>
            </a:r>
            <a:r>
              <a:rPr lang="en-US" sz="2000" b="0" u="sng" strike="noStrike">
                <a:solidFill>
                  <a:srgbClr val="000000"/>
                </a:solidFill>
                <a:effectLst/>
                <a:uFillTx/>
                <a:latin typeface="Arial"/>
                <a:ea typeface="Times New Roman"/>
              </a:rPr>
              <a:t>0.999,984</a:t>
            </a:r>
            <a:r>
              <a:rPr lang="en-US" sz="2000" b="0" u="none" strike="noStrike">
                <a:solidFill>
                  <a:srgbClr val="000000"/>
                </a:solidFill>
                <a:effectLst/>
                <a:uFillTx/>
                <a:latin typeface="Arial"/>
                <a:ea typeface="Times New Roman"/>
              </a:rPr>
              <a:t> + </a:t>
            </a:r>
            <a:r>
              <a:rPr lang="en-US" sz="2000" b="0" u="sng" strike="noStrike">
                <a:solidFill>
                  <a:srgbClr val="000000"/>
                </a:solidFill>
                <a:effectLst/>
                <a:uFillTx/>
                <a:latin typeface="Arial"/>
                <a:ea typeface="Times New Roman"/>
              </a:rPr>
              <a:t>0.000,006</a:t>
            </a:r>
            <a:r>
              <a:rPr lang="en-US" sz="2000" b="0" u="none" strike="noStrike">
                <a:solidFill>
                  <a:srgbClr val="000000"/>
                </a:solidFill>
                <a:effectLst/>
                <a:uFillTx/>
                <a:latin typeface="Arial"/>
                <a:ea typeface="Times New Roman"/>
              </a:rPr>
              <a:t> = 0.999,990</a:t>
            </a:r>
            <a:endParaRPr lang="en-US" sz="2000" b="0" u="none" strike="noStrike">
              <a:solidFill>
                <a:srgbClr val="000000"/>
              </a:solidFill>
              <a:effectLst/>
              <a:uFillTx/>
              <a:latin typeface="Times New Roman"/>
            </a:endParaRPr>
          </a:p>
          <a:p>
            <a:pPr>
              <a:lnSpc>
                <a:spcPct val="7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t>
            </a:r>
            <a:r>
              <a:rPr lang="en-US" sz="1600" b="0" u="none" strike="noStrike">
                <a:solidFill>
                  <a:srgbClr val="000000"/>
                </a:solidFill>
                <a:effectLst/>
                <a:uFillTx/>
                <a:latin typeface="Arial"/>
                <a:ea typeface="Times New Roman"/>
              </a:rPr>
              <a:t>Basic TMR  </a:t>
            </a:r>
            <a:r>
              <a:rPr lang="en-US" sz="1600" b="0" u="none" strike="noStrike">
                <a:solidFill>
                  <a:srgbClr val="000000"/>
                </a:solidFill>
                <a:effectLst/>
                <a:uFillTx/>
                <a:latin typeface="Arial"/>
                <a:ea typeface="Times New Roman"/>
              </a:rPr>
              <a:t>	</a:t>
            </a:r>
            <a:r>
              <a:rPr lang="en-US" sz="1600" b="0" u="none" strike="noStrike">
                <a:solidFill>
                  <a:srgbClr val="000000"/>
                </a:solidFill>
                <a:effectLst/>
                <a:uFillTx/>
                <a:latin typeface="Arial"/>
                <a:ea typeface="Times New Roman"/>
              </a:rPr>
              <a:t>Compensation</a:t>
            </a:r>
            <a:endParaRPr lang="en-US" sz="16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RIF</a:t>
            </a:r>
            <a:r>
              <a:rPr lang="en-US" sz="2000" b="0" u="none" strike="noStrike" baseline="-25000">
                <a:solidFill>
                  <a:srgbClr val="000000"/>
                </a:solidFill>
                <a:effectLst/>
                <a:uFillTx/>
                <a:latin typeface="Arial"/>
                <a:ea typeface="Times New Roman"/>
              </a:rPr>
              <a:t>TMR/Simplex</a:t>
            </a:r>
            <a:r>
              <a:rPr lang="en-US" sz="2000" b="0" u="none" strike="noStrike">
                <a:solidFill>
                  <a:srgbClr val="000000"/>
                </a:solidFill>
                <a:effectLst/>
                <a:uFillTx/>
                <a:latin typeface="Arial"/>
                <a:ea typeface="Times New Roman"/>
              </a:rPr>
              <a:t> = 0.002 / 0.000,016 = 125</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RIF</a:t>
            </a:r>
            <a:r>
              <a:rPr lang="en-US" sz="2000" b="0" u="none" strike="noStrike" baseline="-25000">
                <a:solidFill>
                  <a:srgbClr val="000000"/>
                </a:solidFill>
                <a:effectLst/>
                <a:uFillTx/>
                <a:latin typeface="Arial"/>
                <a:ea typeface="Times New Roman"/>
              </a:rPr>
              <a:t>Compen/TMR</a:t>
            </a:r>
            <a:r>
              <a:rPr lang="en-US" sz="2000" b="0" u="none" strike="noStrike">
                <a:solidFill>
                  <a:srgbClr val="000000"/>
                </a:solidFill>
                <a:effectLst/>
                <a:uFillTx/>
                <a:latin typeface="Arial"/>
                <a:ea typeface="Times New Roman"/>
              </a:rPr>
              <a:t> = 0.000,016 / 0.000,010 = 1.6</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imes New Roman"/>
            </a:endParaRPr>
          </a:p>
        </p:txBody>
      </p:sp>
      <p:sp>
        <p:nvSpPr>
          <p:cNvPr id="807" name="Text Box 18"/>
          <p:cNvSpPr/>
          <p:nvPr/>
        </p:nvSpPr>
        <p:spPr>
          <a:xfrm>
            <a:off x="457200" y="990360"/>
            <a:ext cx="541008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a:solidFill>
                  <a:srgbClr val="000000"/>
                </a:solidFill>
                <a:effectLst/>
                <a:uFillTx/>
                <a:latin typeface="Arial"/>
                <a:ea typeface="Times New Roman"/>
              </a:rPr>
              <a:t> = 1 – </a:t>
            </a:r>
            <a:r>
              <a:rPr lang="en-US" sz="2000" b="0" i="1" u="none" strike="noStrike">
                <a:solidFill>
                  <a:srgbClr val="000000"/>
                </a:solidFill>
                <a:effectLst/>
                <a:uFillTx/>
                <a:latin typeface="Arial"/>
                <a:ea typeface="Times New Roman"/>
              </a:rPr>
              <a:t>p</a:t>
            </a:r>
            <a:r>
              <a:rPr lang="en-US" sz="2000" b="0" u="none" strike="noStrike" baseline="-25000">
                <a:solidFill>
                  <a:srgbClr val="000000"/>
                </a:solidFill>
                <a:effectLst/>
                <a:uFillTx/>
                <a:latin typeface="Arial"/>
                <a:ea typeface="Times New Roman"/>
              </a:rPr>
              <a:t>0</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p</a:t>
            </a:r>
            <a:r>
              <a:rPr lang="en-US" sz="2000" b="0" u="none" strike="noStrike" baseline="-25000">
                <a:solidFill>
                  <a:srgbClr val="000000"/>
                </a:solidFill>
                <a:effectLst/>
                <a:uFillTx/>
                <a:latin typeface="Arial"/>
                <a:ea typeface="Times New Roman"/>
              </a:rPr>
              <a:t>1    </a:t>
            </a:r>
            <a:r>
              <a:rPr lang="en-US" sz="2000" b="0" u="none" strike="noStrike">
                <a:solidFill>
                  <a:srgbClr val="000000"/>
                </a:solidFill>
                <a:effectLst/>
                <a:uFillTx/>
                <a:latin typeface="Arial"/>
                <a:ea typeface="Times New Roman"/>
              </a:rPr>
              <a:t>(0- and 1-fault probabilities)</a:t>
            </a:r>
            <a:endParaRPr lang="en-US" sz="2000" b="0" u="none" strike="noStrike">
              <a:solidFill>
                <a:srgbClr val="000000"/>
              </a:solidFill>
              <a:effectLst/>
              <a:uFillTx/>
              <a:latin typeface="Times New Roman"/>
            </a:endParaRPr>
          </a:p>
        </p:txBody>
      </p:sp>
      <p:sp>
        <p:nvSpPr>
          <p:cNvPr id="808" name="Text Box 19"/>
          <p:cNvSpPr/>
          <p:nvPr/>
        </p:nvSpPr>
        <p:spPr>
          <a:xfrm>
            <a:off x="457200" y="1523880"/>
            <a:ext cx="411480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R</a:t>
            </a:r>
            <a:r>
              <a:rPr lang="en-US" sz="2000" b="0" u="none" strike="noStrike">
                <a:solidFill>
                  <a:srgbClr val="000000"/>
                </a:solidFill>
                <a:effectLst/>
                <a:uFillTx/>
                <a:latin typeface="Arial"/>
                <a:ea typeface="Times New Roman"/>
              </a:rPr>
              <a:t> = (3</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baseline="30000">
                <a:solidFill>
                  <a:srgbClr val="000000"/>
                </a:solidFill>
                <a:effectLst/>
                <a:uFillTx/>
                <a:latin typeface="Arial"/>
                <a:ea typeface="Times New Roman"/>
              </a:rPr>
              <a:t>2</a:t>
            </a:r>
            <a:r>
              <a:rPr lang="en-US" sz="2000" b="0" u="none" strike="noStrike">
                <a:solidFill>
                  <a:srgbClr val="000000"/>
                </a:solidFill>
                <a:effectLst/>
                <a:uFillTx/>
                <a:latin typeface="Arial"/>
                <a:ea typeface="Times New Roman"/>
              </a:rPr>
              <a:t> – 2</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r>
              <a:rPr lang="en-US" sz="2000" b="0" u="none" strike="noStrike" baseline="30000">
                <a:solidFill>
                  <a:srgbClr val="000000"/>
                </a:solidFill>
                <a:effectLst/>
                <a:uFillTx/>
                <a:latin typeface="Arial"/>
                <a:ea typeface="Times New Roman"/>
              </a:rPr>
              <a:t>3</a:t>
            </a:r>
            <a:r>
              <a:rPr lang="en-US" sz="2000" b="0" u="none" strike="noStrike">
                <a:solidFill>
                  <a:srgbClr val="000000"/>
                </a:solidFill>
                <a:effectLst/>
                <a:uFillTx/>
                <a:latin typeface="Arial"/>
                <a:ea typeface="Times New Roman"/>
              </a:rPr>
              <a:t>) + 6</a:t>
            </a:r>
            <a:r>
              <a:rPr lang="en-US" sz="2000" b="0" i="1" u="none" strike="noStrike">
                <a:solidFill>
                  <a:srgbClr val="000000"/>
                </a:solidFill>
                <a:effectLst/>
                <a:uFillTx/>
                <a:latin typeface="Arial"/>
                <a:ea typeface="Times New Roman"/>
              </a:rPr>
              <a:t>p</a:t>
            </a:r>
            <a:r>
              <a:rPr lang="en-US" sz="2000" b="0" u="none" strike="noStrike" baseline="-25000">
                <a:solidFill>
                  <a:srgbClr val="000000"/>
                </a:solidFill>
                <a:effectLst/>
                <a:uFillTx/>
                <a:latin typeface="Arial"/>
                <a:ea typeface="Times New Roman"/>
              </a:rPr>
              <a:t>0</a:t>
            </a:r>
            <a:r>
              <a:rPr lang="en-US" sz="2000" b="0" i="1" u="none" strike="noStrike">
                <a:solidFill>
                  <a:srgbClr val="000000"/>
                </a:solidFill>
                <a:effectLst/>
                <a:uFillTx/>
                <a:latin typeface="Arial"/>
                <a:ea typeface="Times New Roman"/>
              </a:rPr>
              <a:t>p</a:t>
            </a:r>
            <a:r>
              <a:rPr lang="en-US" sz="2000" b="0" u="none" strike="noStrike" baseline="-25000">
                <a:solidFill>
                  <a:srgbClr val="000000"/>
                </a:solidFill>
                <a:effectLst/>
                <a:uFillTx/>
                <a:latin typeface="Arial"/>
                <a:ea typeface="Times New Roman"/>
              </a:rPr>
              <a:t>1</a:t>
            </a:r>
            <a:r>
              <a:rPr lang="en-US" sz="2000" b="0" i="1" u="none" strike="noStrike">
                <a:solidFill>
                  <a:srgbClr val="000000"/>
                </a:solidFill>
                <a:effectLst/>
                <a:uFillTx/>
                <a:latin typeface="Arial"/>
                <a:ea typeface="Times New Roman"/>
              </a:rPr>
              <a:t>R</a:t>
            </a:r>
            <a:r>
              <a:rPr lang="en-US" sz="2000" b="0" u="none" strike="noStrike" baseline="-25000">
                <a:solidFill>
                  <a:srgbClr val="000000"/>
                </a:solidFill>
                <a:effectLst/>
                <a:uFillTx/>
                <a:latin typeface="Arial"/>
                <a:ea typeface="Times New Roman"/>
              </a:rPr>
              <a:t>m</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F8A40BCA-5218-4B0A-9B80-E185D31470E0}"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810"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811" name="PlaceHolder 1"/>
          <p:cNvSpPr>
            <a:spLocks noGrp="1"/>
          </p:cNvSpPr>
          <p:nvPr>
            <p:ph type="title"/>
          </p:nvPr>
        </p:nvSpPr>
        <p:spPr>
          <a:xfrm>
            <a:off x="228600" y="228240"/>
            <a:ext cx="86868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Replication in Time</a:t>
            </a:r>
            <a:endParaRPr lang="en-US" sz="3600" b="0" u="none" strike="noStrike">
              <a:solidFill>
                <a:srgbClr val="000000"/>
              </a:solidFill>
              <a:effectLst/>
              <a:uFillTx/>
              <a:latin typeface="Arial"/>
            </a:endParaRPr>
          </a:p>
        </p:txBody>
      </p:sp>
      <p:sp>
        <p:nvSpPr>
          <p:cNvPr id="812" name="Text Box 4"/>
          <p:cNvSpPr/>
          <p:nvPr/>
        </p:nvSpPr>
        <p:spPr>
          <a:xfrm>
            <a:off x="457200" y="990360"/>
            <a:ext cx="8001000" cy="35280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Can be slow, but in many control applications, extra time is available</a:t>
            </a:r>
            <a:endParaRPr lang="en-US" sz="2000" b="0" u="none" strike="noStrike">
              <a:solidFill>
                <a:srgbClr val="000000"/>
              </a:solidFill>
              <a:effectLst/>
              <a:uFillTx/>
              <a:latin typeface="Times New Roman"/>
            </a:endParaRPr>
          </a:p>
        </p:txBody>
      </p:sp>
      <p:sp>
        <p:nvSpPr>
          <p:cNvPr id="813" name="Text Box 5"/>
          <p:cNvSpPr/>
          <p:nvPr/>
        </p:nvSpPr>
        <p:spPr>
          <a:xfrm>
            <a:off x="457200" y="1600200"/>
            <a:ext cx="41148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Interleaving of the primary and duplicate computations saves time</a:t>
            </a:r>
            <a:endParaRPr lang="en-US" sz="2000" b="0" u="none" strike="noStrike">
              <a:solidFill>
                <a:srgbClr val="000000"/>
              </a:solidFill>
              <a:effectLst/>
              <a:uFillTx/>
              <a:latin typeface="Times New Roman"/>
            </a:endParaRPr>
          </a:p>
        </p:txBody>
      </p:sp>
      <p:grpSp>
        <p:nvGrpSpPr>
          <p:cNvPr id="814" name="Group 6"/>
          <p:cNvGrpSpPr/>
          <p:nvPr/>
        </p:nvGrpSpPr>
        <p:grpSpPr>
          <a:xfrm>
            <a:off x="4952880" y="1600200"/>
            <a:ext cx="1676520" cy="3327120"/>
            <a:chOff x="4952880" y="1600200"/>
            <a:chExt cx="1676520" cy="3327120"/>
          </a:xfrm>
        </p:grpSpPr>
        <p:sp>
          <p:nvSpPr>
            <p:cNvPr id="815" name="Text Box 7"/>
            <p:cNvSpPr/>
            <p:nvPr/>
          </p:nvSpPr>
          <p:spPr>
            <a:xfrm>
              <a:off x="5029200" y="4419360"/>
              <a:ext cx="1523880" cy="50796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Schedule </a:t>
              </a:r>
              <a:endParaRPr lang="en-US" sz="1600" b="0" u="none" strike="noStrike">
                <a:solidFill>
                  <a:srgbClr val="000000"/>
                </a:solidFill>
                <a:effectLst/>
                <a:uFillTx/>
                <a:latin typeface="Times New Roman"/>
              </a:endParaRPr>
            </a:p>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with 1 adder</a:t>
              </a:r>
              <a:endParaRPr lang="en-US" sz="1600" b="0" u="none" strike="noStrike">
                <a:solidFill>
                  <a:srgbClr val="000000"/>
                </a:solidFill>
                <a:effectLst/>
                <a:uFillTx/>
                <a:latin typeface="Times New Roman"/>
              </a:endParaRPr>
            </a:p>
          </p:txBody>
        </p:sp>
        <p:sp>
          <p:nvSpPr>
            <p:cNvPr id="816" name="Oval 8"/>
            <p:cNvSpPr/>
            <p:nvPr/>
          </p:nvSpPr>
          <p:spPr>
            <a:xfrm>
              <a:off x="5029200" y="190476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817" name="Oval 9"/>
            <p:cNvSpPr/>
            <p:nvPr/>
          </p:nvSpPr>
          <p:spPr>
            <a:xfrm>
              <a:off x="5943600" y="2743200"/>
              <a:ext cx="609480" cy="53316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818" name="Line 10"/>
            <p:cNvSpPr/>
            <p:nvPr/>
          </p:nvSpPr>
          <p:spPr>
            <a:xfrm>
              <a:off x="5333760" y="2438280"/>
              <a:ext cx="228600" cy="12193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19" name="Line 11"/>
            <p:cNvSpPr/>
            <p:nvPr/>
          </p:nvSpPr>
          <p:spPr>
            <a:xfrm flipH="1">
              <a:off x="6019560" y="3276360"/>
              <a:ext cx="152640" cy="38124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20" name="Line 12"/>
            <p:cNvSpPr/>
            <p:nvPr/>
          </p:nvSpPr>
          <p:spPr>
            <a:xfrm>
              <a:off x="5181480" y="16002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21" name="Line 13"/>
            <p:cNvSpPr/>
            <p:nvPr/>
          </p:nvSpPr>
          <p:spPr>
            <a:xfrm>
              <a:off x="5486400" y="16002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22" name="Line 14"/>
            <p:cNvSpPr/>
            <p:nvPr/>
          </p:nvSpPr>
          <p:spPr>
            <a:xfrm>
              <a:off x="6095880" y="243828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23" name="Line 15"/>
            <p:cNvSpPr/>
            <p:nvPr/>
          </p:nvSpPr>
          <p:spPr>
            <a:xfrm>
              <a:off x="6400800" y="243828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24" name="Line 16"/>
            <p:cNvSpPr/>
            <p:nvPr/>
          </p:nvSpPr>
          <p:spPr>
            <a:xfrm>
              <a:off x="4952880" y="259056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25" name="Oval 17"/>
            <p:cNvSpPr/>
            <p:nvPr/>
          </p:nvSpPr>
          <p:spPr>
            <a:xfrm>
              <a:off x="5486400" y="358128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826" name="Line 18"/>
            <p:cNvSpPr/>
            <p:nvPr/>
          </p:nvSpPr>
          <p:spPr>
            <a:xfrm>
              <a:off x="5790960" y="41148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27" name="Line 19"/>
            <p:cNvSpPr/>
            <p:nvPr/>
          </p:nvSpPr>
          <p:spPr>
            <a:xfrm>
              <a:off x="4952880" y="342900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828" name="Group 20"/>
          <p:cNvGrpSpPr/>
          <p:nvPr/>
        </p:nvGrpSpPr>
        <p:grpSpPr>
          <a:xfrm>
            <a:off x="1066680" y="2590560"/>
            <a:ext cx="1523880" cy="2819520"/>
            <a:chOff x="1066680" y="2590560"/>
            <a:chExt cx="1523880" cy="2819520"/>
          </a:xfrm>
        </p:grpSpPr>
        <p:sp>
          <p:nvSpPr>
            <p:cNvPr id="829" name="Oval 21"/>
            <p:cNvSpPr/>
            <p:nvPr/>
          </p:nvSpPr>
          <p:spPr>
            <a:xfrm>
              <a:off x="1066680" y="289548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830" name="Oval 22"/>
            <p:cNvSpPr/>
            <p:nvPr/>
          </p:nvSpPr>
          <p:spPr>
            <a:xfrm>
              <a:off x="1981080" y="289548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831" name="Oval 23"/>
            <p:cNvSpPr/>
            <p:nvPr/>
          </p:nvSpPr>
          <p:spPr>
            <a:xfrm>
              <a:off x="1523880" y="373356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832" name="Line 24"/>
            <p:cNvSpPr/>
            <p:nvPr/>
          </p:nvSpPr>
          <p:spPr>
            <a:xfrm>
              <a:off x="1447560" y="3429000"/>
              <a:ext cx="15264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33" name="Line 25"/>
            <p:cNvSpPr/>
            <p:nvPr/>
          </p:nvSpPr>
          <p:spPr>
            <a:xfrm flipH="1">
              <a:off x="2057040" y="3429000"/>
              <a:ext cx="15228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34" name="Line 26"/>
            <p:cNvSpPr/>
            <p:nvPr/>
          </p:nvSpPr>
          <p:spPr>
            <a:xfrm>
              <a:off x="1218960" y="259056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35" name="Line 27"/>
            <p:cNvSpPr/>
            <p:nvPr/>
          </p:nvSpPr>
          <p:spPr>
            <a:xfrm>
              <a:off x="1523880" y="259056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36" name="Line 28"/>
            <p:cNvSpPr/>
            <p:nvPr/>
          </p:nvSpPr>
          <p:spPr>
            <a:xfrm>
              <a:off x="2133360" y="259056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37" name="Line 29"/>
            <p:cNvSpPr/>
            <p:nvPr/>
          </p:nvSpPr>
          <p:spPr>
            <a:xfrm>
              <a:off x="2438280" y="259056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38" name="Line 30"/>
            <p:cNvSpPr/>
            <p:nvPr/>
          </p:nvSpPr>
          <p:spPr>
            <a:xfrm>
              <a:off x="1828800" y="4267080"/>
              <a:ext cx="0" cy="114300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839" name="Group 31"/>
          <p:cNvGrpSpPr/>
          <p:nvPr/>
        </p:nvGrpSpPr>
        <p:grpSpPr>
          <a:xfrm>
            <a:off x="2666880" y="2971800"/>
            <a:ext cx="1676520" cy="2438280"/>
            <a:chOff x="2666880" y="2971800"/>
            <a:chExt cx="1676520" cy="2438280"/>
          </a:xfrm>
        </p:grpSpPr>
        <p:grpSp>
          <p:nvGrpSpPr>
            <p:cNvPr id="840" name="Group 32"/>
            <p:cNvGrpSpPr/>
            <p:nvPr/>
          </p:nvGrpSpPr>
          <p:grpSpPr>
            <a:xfrm>
              <a:off x="2666880" y="3429000"/>
              <a:ext cx="1676520" cy="1981080"/>
              <a:chOff x="2666880" y="3429000"/>
              <a:chExt cx="1676520" cy="1981080"/>
            </a:xfrm>
          </p:grpSpPr>
          <p:sp>
            <p:nvSpPr>
              <p:cNvPr id="841" name="Rectangle 33"/>
              <p:cNvSpPr/>
              <p:nvPr/>
            </p:nvSpPr>
            <p:spPr>
              <a:xfrm>
                <a:off x="2666880" y="3581280"/>
                <a:ext cx="1676520" cy="1600200"/>
              </a:xfrm>
              <a:prstGeom prst="rect">
                <a:avLst/>
              </a:prstGeom>
              <a:solidFill>
                <a:srgbClr val="FFFF66"/>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842" name="Group 34"/>
              <p:cNvGrpSpPr/>
              <p:nvPr/>
            </p:nvGrpSpPr>
            <p:grpSpPr>
              <a:xfrm>
                <a:off x="2666880" y="3429000"/>
                <a:ext cx="1676520" cy="1981080"/>
                <a:chOff x="2666880" y="3429000"/>
                <a:chExt cx="1676520" cy="1981080"/>
              </a:xfrm>
            </p:grpSpPr>
            <p:sp>
              <p:nvSpPr>
                <p:cNvPr id="843" name="Oval 35"/>
                <p:cNvSpPr/>
                <p:nvPr/>
              </p:nvSpPr>
              <p:spPr>
                <a:xfrm>
                  <a:off x="2743200" y="373356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844" name="Oval 36"/>
                <p:cNvSpPr/>
                <p:nvPr/>
              </p:nvSpPr>
              <p:spPr>
                <a:xfrm>
                  <a:off x="3657600" y="373356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imes New Roman"/>
                    </a:rPr>
                    <a:t>+</a:t>
                  </a:r>
                  <a:endParaRPr lang="en-US" sz="1800" b="0" u="none" strike="noStrike">
                    <a:solidFill>
                      <a:srgbClr val="000000"/>
                    </a:solidFill>
                    <a:effectLst/>
                    <a:uFillTx/>
                    <a:latin typeface="Times New Roman"/>
                  </a:endParaRPr>
                </a:p>
              </p:txBody>
            </p:sp>
            <p:sp>
              <p:nvSpPr>
                <p:cNvPr id="845" name="Oval 37"/>
                <p:cNvSpPr/>
                <p:nvPr/>
              </p:nvSpPr>
              <p:spPr>
                <a:xfrm>
                  <a:off x="3200400" y="4572000"/>
                  <a:ext cx="609480" cy="53316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846" name="Line 38"/>
                <p:cNvSpPr/>
                <p:nvPr/>
              </p:nvSpPr>
              <p:spPr>
                <a:xfrm>
                  <a:off x="3124080" y="4267080"/>
                  <a:ext cx="15228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47" name="Line 39"/>
                <p:cNvSpPr/>
                <p:nvPr/>
              </p:nvSpPr>
              <p:spPr>
                <a:xfrm flipH="1">
                  <a:off x="3733560" y="4267080"/>
                  <a:ext cx="15264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48" name="Line 40"/>
                <p:cNvSpPr/>
                <p:nvPr/>
              </p:nvSpPr>
              <p:spPr>
                <a:xfrm>
                  <a:off x="2895480" y="34290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49" name="Line 41"/>
                <p:cNvSpPr/>
                <p:nvPr/>
              </p:nvSpPr>
              <p:spPr>
                <a:xfrm>
                  <a:off x="3200400" y="34290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50" name="Line 42"/>
                <p:cNvSpPr/>
                <p:nvPr/>
              </p:nvSpPr>
              <p:spPr>
                <a:xfrm>
                  <a:off x="3809880" y="34290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51" name="Line 43"/>
                <p:cNvSpPr/>
                <p:nvPr/>
              </p:nvSpPr>
              <p:spPr>
                <a:xfrm>
                  <a:off x="4114800" y="34290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52" name="Line 44"/>
                <p:cNvSpPr/>
                <p:nvPr/>
              </p:nvSpPr>
              <p:spPr>
                <a:xfrm>
                  <a:off x="3504960" y="510516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53" name="Line 45"/>
                <p:cNvSpPr/>
                <p:nvPr/>
              </p:nvSpPr>
              <p:spPr>
                <a:xfrm>
                  <a:off x="2666880" y="441936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sp>
          <p:nvSpPr>
            <p:cNvPr id="854" name="Text Box 46"/>
            <p:cNvSpPr/>
            <p:nvPr/>
          </p:nvSpPr>
          <p:spPr>
            <a:xfrm>
              <a:off x="2743200" y="2971800"/>
              <a:ext cx="1523880" cy="50796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Duplicate computation</a:t>
              </a:r>
              <a:endParaRPr lang="en-US" sz="1600" b="0" u="none" strike="noStrike">
                <a:solidFill>
                  <a:srgbClr val="000000"/>
                </a:solidFill>
                <a:effectLst/>
                <a:uFillTx/>
                <a:latin typeface="Times New Roman"/>
              </a:endParaRPr>
            </a:p>
          </p:txBody>
        </p:sp>
      </p:grpSp>
      <p:grpSp>
        <p:nvGrpSpPr>
          <p:cNvPr id="855" name="Group 47"/>
          <p:cNvGrpSpPr/>
          <p:nvPr/>
        </p:nvGrpSpPr>
        <p:grpSpPr>
          <a:xfrm>
            <a:off x="6781680" y="2819160"/>
            <a:ext cx="1676520" cy="3276720"/>
            <a:chOff x="6781680" y="2819160"/>
            <a:chExt cx="1676520" cy="3276720"/>
          </a:xfrm>
        </p:grpSpPr>
        <p:sp>
          <p:nvSpPr>
            <p:cNvPr id="856" name="Rectangle 48"/>
            <p:cNvSpPr/>
            <p:nvPr/>
          </p:nvSpPr>
          <p:spPr>
            <a:xfrm>
              <a:off x="6781680" y="3429000"/>
              <a:ext cx="1676520" cy="2438280"/>
            </a:xfrm>
            <a:prstGeom prst="rect">
              <a:avLst/>
            </a:prstGeom>
            <a:solidFill>
              <a:srgbClr val="FFFF66"/>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857" name="Oval 49"/>
            <p:cNvSpPr/>
            <p:nvPr/>
          </p:nvSpPr>
          <p:spPr>
            <a:xfrm>
              <a:off x="6858000" y="358128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858" name="Oval 50"/>
            <p:cNvSpPr/>
            <p:nvPr/>
          </p:nvSpPr>
          <p:spPr>
            <a:xfrm>
              <a:off x="7772400" y="441936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859" name="Line 51"/>
            <p:cNvSpPr/>
            <p:nvPr/>
          </p:nvSpPr>
          <p:spPr>
            <a:xfrm>
              <a:off x="7162560" y="4114800"/>
              <a:ext cx="228600" cy="12189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0" name="Line 52"/>
            <p:cNvSpPr/>
            <p:nvPr/>
          </p:nvSpPr>
          <p:spPr>
            <a:xfrm flipH="1">
              <a:off x="7848360" y="4952880"/>
              <a:ext cx="15264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1" name="Line 53"/>
            <p:cNvSpPr/>
            <p:nvPr/>
          </p:nvSpPr>
          <p:spPr>
            <a:xfrm>
              <a:off x="7010280" y="327636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2" name="Line 54"/>
            <p:cNvSpPr/>
            <p:nvPr/>
          </p:nvSpPr>
          <p:spPr>
            <a:xfrm>
              <a:off x="7315200" y="327636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3" name="Line 55"/>
            <p:cNvSpPr/>
            <p:nvPr/>
          </p:nvSpPr>
          <p:spPr>
            <a:xfrm>
              <a:off x="7924680" y="41148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4" name="Line 56"/>
            <p:cNvSpPr/>
            <p:nvPr/>
          </p:nvSpPr>
          <p:spPr>
            <a:xfrm>
              <a:off x="8229600" y="41148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5" name="Line 57"/>
            <p:cNvSpPr/>
            <p:nvPr/>
          </p:nvSpPr>
          <p:spPr>
            <a:xfrm>
              <a:off x="6781680" y="426708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6" name="Oval 58"/>
            <p:cNvSpPr/>
            <p:nvPr/>
          </p:nvSpPr>
          <p:spPr>
            <a:xfrm>
              <a:off x="7315200" y="5257800"/>
              <a:ext cx="609480" cy="53316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867" name="Line 59"/>
            <p:cNvSpPr/>
            <p:nvPr/>
          </p:nvSpPr>
          <p:spPr>
            <a:xfrm>
              <a:off x="7619760" y="579096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8" name="Line 60"/>
            <p:cNvSpPr/>
            <p:nvPr/>
          </p:nvSpPr>
          <p:spPr>
            <a:xfrm>
              <a:off x="6781680" y="510516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9" name="Text Box 61"/>
            <p:cNvSpPr/>
            <p:nvPr/>
          </p:nvSpPr>
          <p:spPr>
            <a:xfrm>
              <a:off x="6858000" y="2819160"/>
              <a:ext cx="1523880" cy="50796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Duplicate computation</a:t>
              </a:r>
              <a:endParaRPr lang="en-US" sz="1600" b="0" u="none" strike="noStrike">
                <a:solidFill>
                  <a:srgbClr val="000000"/>
                </a:solidFill>
                <a:effectLst/>
                <a:uFillTx/>
                <a:latin typeface="Times New Roman"/>
              </a:endParaRPr>
            </a:p>
          </p:txBody>
        </p:sp>
      </p:grpSp>
      <p:grpSp>
        <p:nvGrpSpPr>
          <p:cNvPr id="870" name="Group 62"/>
          <p:cNvGrpSpPr/>
          <p:nvPr/>
        </p:nvGrpSpPr>
        <p:grpSpPr>
          <a:xfrm>
            <a:off x="380880" y="2971800"/>
            <a:ext cx="2819520" cy="2946240"/>
            <a:chOff x="380880" y="2971800"/>
            <a:chExt cx="2819520" cy="2946240"/>
          </a:xfrm>
        </p:grpSpPr>
        <p:sp>
          <p:nvSpPr>
            <p:cNvPr id="871" name="Text Box 63"/>
            <p:cNvSpPr/>
            <p:nvPr/>
          </p:nvSpPr>
          <p:spPr>
            <a:xfrm>
              <a:off x="533160" y="5410080"/>
              <a:ext cx="2667240" cy="50796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Computation flowgraph, and schedule with 2 adders</a:t>
              </a:r>
              <a:endParaRPr lang="en-US" sz="1600" b="0" u="none" strike="noStrike">
                <a:solidFill>
                  <a:srgbClr val="000000"/>
                </a:solidFill>
                <a:effectLst/>
                <a:uFillTx/>
                <a:latin typeface="Times New Roman"/>
              </a:endParaRPr>
            </a:p>
          </p:txBody>
        </p:sp>
        <p:grpSp>
          <p:nvGrpSpPr>
            <p:cNvPr id="872" name="Group 64"/>
            <p:cNvGrpSpPr/>
            <p:nvPr/>
          </p:nvGrpSpPr>
          <p:grpSpPr>
            <a:xfrm>
              <a:off x="380880" y="2971800"/>
              <a:ext cx="2209680" cy="1287720"/>
              <a:chOff x="380880" y="2971800"/>
              <a:chExt cx="2209680" cy="1287720"/>
            </a:xfrm>
          </p:grpSpPr>
          <p:sp>
            <p:nvSpPr>
              <p:cNvPr id="873" name="Text Box 65"/>
              <p:cNvSpPr/>
              <p:nvPr/>
            </p:nvSpPr>
            <p:spPr>
              <a:xfrm>
                <a:off x="380880" y="2971800"/>
                <a:ext cx="838080" cy="128772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t</a:t>
                </a:r>
                <a:r>
                  <a:rPr lang="en-US" sz="1600" b="0" u="none" strike="noStrike" baseline="-25000">
                    <a:solidFill>
                      <a:srgbClr val="000000"/>
                    </a:solidFill>
                    <a:effectLst/>
                    <a:uFillTx/>
                    <a:latin typeface="Arial"/>
                    <a:ea typeface="Times New Roman"/>
                  </a:rPr>
                  <a:t>0</a:t>
                </a:r>
                <a:endParaRPr lang="en-US" sz="16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t</a:t>
                </a:r>
                <a:r>
                  <a:rPr lang="en-US" sz="1600" b="0" u="none" strike="noStrike" baseline="-25000">
                    <a:solidFill>
                      <a:srgbClr val="000000"/>
                    </a:solidFill>
                    <a:effectLst/>
                    <a:uFillTx/>
                    <a:latin typeface="Arial"/>
                    <a:ea typeface="Times New Roman"/>
                  </a:rPr>
                  <a:t>0</a:t>
                </a:r>
                <a:r>
                  <a:rPr lang="en-US" sz="1600" b="0" u="none" strike="noStrike">
                    <a:solidFill>
                      <a:srgbClr val="000000"/>
                    </a:solidFill>
                    <a:effectLst/>
                    <a:uFillTx/>
                    <a:latin typeface="Arial"/>
                    <a:ea typeface="Times New Roman"/>
                  </a:rPr>
                  <a:t> + 1</a:t>
                </a:r>
                <a:endParaRPr lang="en-US" sz="1600" b="0" u="none" strike="noStrike">
                  <a:solidFill>
                    <a:srgbClr val="000000"/>
                  </a:solidFill>
                  <a:effectLst/>
                  <a:uFillTx/>
                  <a:latin typeface="Times New Roman"/>
                </a:endParaRPr>
              </a:p>
            </p:txBody>
          </p:sp>
          <p:sp>
            <p:nvSpPr>
              <p:cNvPr id="874" name="Line 66"/>
              <p:cNvSpPr/>
              <p:nvPr/>
            </p:nvSpPr>
            <p:spPr>
              <a:xfrm>
                <a:off x="914400" y="3581280"/>
                <a:ext cx="167616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sp>
        <p:nvSpPr>
          <p:cNvPr id="875" name="Text Box 67"/>
          <p:cNvSpPr/>
          <p:nvPr/>
        </p:nvSpPr>
        <p:spPr>
          <a:xfrm>
            <a:off x="466560" y="4647960"/>
            <a:ext cx="645840" cy="37116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t</a:t>
            </a:r>
            <a:r>
              <a:rPr lang="en-US" sz="1600" b="0" u="none" strike="noStrike" baseline="-25000">
                <a:solidFill>
                  <a:srgbClr val="000000"/>
                </a:solidFill>
                <a:effectLst/>
                <a:uFillTx/>
                <a:latin typeface="Arial"/>
                <a:ea typeface="Times New Roman"/>
              </a:rPr>
              <a:t>0</a:t>
            </a:r>
            <a:r>
              <a:rPr lang="en-US" sz="1600" b="0" u="none" strike="noStrike">
                <a:solidFill>
                  <a:srgbClr val="000000"/>
                </a:solidFill>
                <a:effectLst/>
                <a:uFillTx/>
                <a:latin typeface="Arial"/>
                <a:ea typeface="Times New Roman"/>
              </a:rPr>
              <a:t> + 2</a:t>
            </a:r>
            <a:endParaRPr lang="en-US" sz="1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6"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7069993A-E61E-48BE-9E19-821C2EF93CBA}"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877"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878" name="PlaceHolder 1"/>
          <p:cNvSpPr>
            <a:spLocks noGrp="1"/>
          </p:cNvSpPr>
          <p:nvPr>
            <p:ph type="title"/>
          </p:nvPr>
        </p:nvSpPr>
        <p:spPr>
          <a:xfrm>
            <a:off x="228600" y="228240"/>
            <a:ext cx="86868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Recompute and Compare</a:t>
            </a:r>
            <a:r>
              <a:rPr lang="en-US" sz="1400" b="0" u="none" strike="noStrike">
                <a:solidFill>
                  <a:srgbClr val="000000"/>
                </a:solidFill>
                <a:effectLst/>
                <a:uFillTx/>
                <a:latin typeface="Arial"/>
              </a:rPr>
              <a:t> </a:t>
            </a:r>
            <a:r>
              <a:rPr lang="en-US" sz="3200" b="0" u="none" strike="noStrike">
                <a:solidFill>
                  <a:srgbClr val="000000"/>
                </a:solidFill>
                <a:effectLst/>
                <a:uFillTx/>
                <a:latin typeface="Arial"/>
              </a:rPr>
              <a:t>/</a:t>
            </a:r>
            <a:r>
              <a:rPr lang="en-US" sz="1400" b="0" u="none" strike="noStrike">
                <a:solidFill>
                  <a:srgbClr val="000000"/>
                </a:solidFill>
                <a:effectLst/>
                <a:uFillTx/>
                <a:latin typeface="Arial"/>
              </a:rPr>
              <a:t> </a:t>
            </a:r>
            <a:r>
              <a:rPr lang="en-US" sz="3200" b="0" u="none" strike="noStrike">
                <a:solidFill>
                  <a:srgbClr val="000000"/>
                </a:solidFill>
                <a:effectLst/>
                <a:uFillTx/>
                <a:latin typeface="Arial"/>
              </a:rPr>
              <a:t>Vote</a:t>
            </a:r>
            <a:endParaRPr lang="en-US" sz="3200" b="0" u="none" strike="noStrike">
              <a:solidFill>
                <a:srgbClr val="000000"/>
              </a:solidFill>
              <a:effectLst/>
              <a:uFillTx/>
              <a:latin typeface="Arial"/>
            </a:endParaRPr>
          </a:p>
        </p:txBody>
      </p:sp>
      <p:sp>
        <p:nvSpPr>
          <p:cNvPr id="879" name="Text Box 4"/>
          <p:cNvSpPr/>
          <p:nvPr/>
        </p:nvSpPr>
        <p:spPr>
          <a:xfrm>
            <a:off x="457200" y="990360"/>
            <a:ext cx="8229600" cy="35280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Repeat computation and store the results for comparison or voting</a:t>
            </a:r>
            <a:endParaRPr lang="en-US" sz="2000" b="0" u="none" strike="noStrike">
              <a:solidFill>
                <a:srgbClr val="000000"/>
              </a:solidFill>
              <a:effectLst/>
              <a:uFillTx/>
              <a:latin typeface="Times New Roman"/>
            </a:endParaRPr>
          </a:p>
        </p:txBody>
      </p:sp>
      <p:sp>
        <p:nvSpPr>
          <p:cNvPr id="880" name="Text Box 5"/>
          <p:cNvSpPr/>
          <p:nvPr/>
        </p:nvSpPr>
        <p:spPr>
          <a:xfrm>
            <a:off x="4038480" y="1447560"/>
            <a:ext cx="4724280" cy="1312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Comparison or voting need not be done right away; primary result may be used in further computations, with the result subsequently validated, if appropriate</a:t>
            </a:r>
            <a:endParaRPr lang="en-US" sz="2000" b="0" u="none" strike="noStrike">
              <a:solidFill>
                <a:srgbClr val="000000"/>
              </a:solidFill>
              <a:effectLst/>
              <a:uFillTx/>
              <a:latin typeface="Times New Roman"/>
            </a:endParaRPr>
          </a:p>
        </p:txBody>
      </p:sp>
      <p:grpSp>
        <p:nvGrpSpPr>
          <p:cNvPr id="881" name="Group 6"/>
          <p:cNvGrpSpPr/>
          <p:nvPr/>
        </p:nvGrpSpPr>
        <p:grpSpPr>
          <a:xfrm>
            <a:off x="533160" y="1981080"/>
            <a:ext cx="1676520" cy="2209680"/>
            <a:chOff x="533160" y="1981080"/>
            <a:chExt cx="1676520" cy="2209680"/>
          </a:xfrm>
        </p:grpSpPr>
        <p:sp>
          <p:nvSpPr>
            <p:cNvPr id="882" name="Oval 7"/>
            <p:cNvSpPr/>
            <p:nvPr/>
          </p:nvSpPr>
          <p:spPr>
            <a:xfrm>
              <a:off x="609480" y="2286000"/>
              <a:ext cx="609480" cy="53316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883" name="Oval 8"/>
            <p:cNvSpPr/>
            <p:nvPr/>
          </p:nvSpPr>
          <p:spPr>
            <a:xfrm>
              <a:off x="1523880" y="2286000"/>
              <a:ext cx="609480" cy="53316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884" name="Oval 9"/>
            <p:cNvSpPr/>
            <p:nvPr/>
          </p:nvSpPr>
          <p:spPr>
            <a:xfrm>
              <a:off x="1066680" y="312408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885" name="Line 10"/>
            <p:cNvSpPr/>
            <p:nvPr/>
          </p:nvSpPr>
          <p:spPr>
            <a:xfrm>
              <a:off x="990360" y="2819160"/>
              <a:ext cx="152640" cy="38124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86" name="Line 11"/>
            <p:cNvSpPr/>
            <p:nvPr/>
          </p:nvSpPr>
          <p:spPr>
            <a:xfrm flipH="1">
              <a:off x="1599840" y="2819160"/>
              <a:ext cx="152280" cy="38124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87" name="Line 12"/>
            <p:cNvSpPr/>
            <p:nvPr/>
          </p:nvSpPr>
          <p:spPr>
            <a:xfrm>
              <a:off x="761760" y="198108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88" name="Line 13"/>
            <p:cNvSpPr/>
            <p:nvPr/>
          </p:nvSpPr>
          <p:spPr>
            <a:xfrm>
              <a:off x="1066680" y="198108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89" name="Line 14"/>
            <p:cNvSpPr/>
            <p:nvPr/>
          </p:nvSpPr>
          <p:spPr>
            <a:xfrm>
              <a:off x="1371600" y="36576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90" name="Line 15"/>
            <p:cNvSpPr/>
            <p:nvPr/>
          </p:nvSpPr>
          <p:spPr>
            <a:xfrm>
              <a:off x="533160" y="297180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91" name="Rectangle 16"/>
            <p:cNvSpPr/>
            <p:nvPr/>
          </p:nvSpPr>
          <p:spPr>
            <a:xfrm>
              <a:off x="914400" y="3962160"/>
              <a:ext cx="914400" cy="22860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892" name="Line 17"/>
            <p:cNvSpPr/>
            <p:nvPr/>
          </p:nvSpPr>
          <p:spPr>
            <a:xfrm>
              <a:off x="1676160" y="198108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93" name="Line 18"/>
            <p:cNvSpPr/>
            <p:nvPr/>
          </p:nvSpPr>
          <p:spPr>
            <a:xfrm>
              <a:off x="1981080" y="198108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894" name="Group 19"/>
          <p:cNvGrpSpPr/>
          <p:nvPr/>
        </p:nvGrpSpPr>
        <p:grpSpPr>
          <a:xfrm>
            <a:off x="2209680" y="2361960"/>
            <a:ext cx="1676520" cy="2667240"/>
            <a:chOff x="2209680" y="2361960"/>
            <a:chExt cx="1676520" cy="2667240"/>
          </a:xfrm>
        </p:grpSpPr>
        <p:grpSp>
          <p:nvGrpSpPr>
            <p:cNvPr id="895" name="Group 20"/>
            <p:cNvGrpSpPr/>
            <p:nvPr/>
          </p:nvGrpSpPr>
          <p:grpSpPr>
            <a:xfrm>
              <a:off x="2209680" y="2819160"/>
              <a:ext cx="1676520" cy="1981080"/>
              <a:chOff x="2209680" y="2819160"/>
              <a:chExt cx="1676520" cy="1981080"/>
            </a:xfrm>
          </p:grpSpPr>
          <p:sp>
            <p:nvSpPr>
              <p:cNvPr id="896" name="Rectangle 21"/>
              <p:cNvSpPr/>
              <p:nvPr/>
            </p:nvSpPr>
            <p:spPr>
              <a:xfrm>
                <a:off x="2209680" y="2971440"/>
                <a:ext cx="1676520" cy="1600200"/>
              </a:xfrm>
              <a:prstGeom prst="rect">
                <a:avLst/>
              </a:prstGeom>
              <a:solidFill>
                <a:srgbClr val="FFFF66"/>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897" name="Group 22"/>
              <p:cNvGrpSpPr/>
              <p:nvPr/>
            </p:nvGrpSpPr>
            <p:grpSpPr>
              <a:xfrm>
                <a:off x="2209680" y="2819160"/>
                <a:ext cx="1676520" cy="1981080"/>
                <a:chOff x="2209680" y="2819160"/>
                <a:chExt cx="1676520" cy="1981080"/>
              </a:xfrm>
            </p:grpSpPr>
            <p:sp>
              <p:nvSpPr>
                <p:cNvPr id="898" name="Oval 23"/>
                <p:cNvSpPr/>
                <p:nvPr/>
              </p:nvSpPr>
              <p:spPr>
                <a:xfrm>
                  <a:off x="2286000" y="312372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899" name="Oval 24"/>
                <p:cNvSpPr/>
                <p:nvPr/>
              </p:nvSpPr>
              <p:spPr>
                <a:xfrm>
                  <a:off x="3200400" y="312372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imes New Roman"/>
                    </a:rPr>
                    <a:t>+</a:t>
                  </a:r>
                  <a:endParaRPr lang="en-US" sz="1800" b="0" u="none" strike="noStrike">
                    <a:solidFill>
                      <a:srgbClr val="000000"/>
                    </a:solidFill>
                    <a:effectLst/>
                    <a:uFillTx/>
                    <a:latin typeface="Times New Roman"/>
                  </a:endParaRPr>
                </a:p>
              </p:txBody>
            </p:sp>
            <p:sp>
              <p:nvSpPr>
                <p:cNvPr id="900" name="Oval 25"/>
                <p:cNvSpPr/>
                <p:nvPr/>
              </p:nvSpPr>
              <p:spPr>
                <a:xfrm>
                  <a:off x="2743200" y="3962160"/>
                  <a:ext cx="609480" cy="53316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901" name="Line 26"/>
                <p:cNvSpPr/>
                <p:nvPr/>
              </p:nvSpPr>
              <p:spPr>
                <a:xfrm>
                  <a:off x="2666880" y="3657240"/>
                  <a:ext cx="15228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2" name="Line 27"/>
                <p:cNvSpPr/>
                <p:nvPr/>
              </p:nvSpPr>
              <p:spPr>
                <a:xfrm flipH="1">
                  <a:off x="3276360" y="3657240"/>
                  <a:ext cx="15264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3" name="Line 28"/>
                <p:cNvSpPr/>
                <p:nvPr/>
              </p:nvSpPr>
              <p:spPr>
                <a:xfrm>
                  <a:off x="2438280" y="281916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4" name="Line 29"/>
                <p:cNvSpPr/>
                <p:nvPr/>
              </p:nvSpPr>
              <p:spPr>
                <a:xfrm>
                  <a:off x="2743200" y="281916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5" name="Line 30"/>
                <p:cNvSpPr/>
                <p:nvPr/>
              </p:nvSpPr>
              <p:spPr>
                <a:xfrm>
                  <a:off x="3352680" y="281916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6" name="Line 31"/>
                <p:cNvSpPr/>
                <p:nvPr/>
              </p:nvSpPr>
              <p:spPr>
                <a:xfrm>
                  <a:off x="3657600" y="281916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7" name="Line 32"/>
                <p:cNvSpPr/>
                <p:nvPr/>
              </p:nvSpPr>
              <p:spPr>
                <a:xfrm>
                  <a:off x="3047760" y="449532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8" name="Line 33"/>
                <p:cNvSpPr/>
                <p:nvPr/>
              </p:nvSpPr>
              <p:spPr>
                <a:xfrm>
                  <a:off x="2209680" y="380952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sp>
          <p:nvSpPr>
            <p:cNvPr id="909" name="Text Box 34"/>
            <p:cNvSpPr/>
            <p:nvPr/>
          </p:nvSpPr>
          <p:spPr>
            <a:xfrm>
              <a:off x="2286000" y="2361960"/>
              <a:ext cx="1523880" cy="50796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Duplicate computation</a:t>
              </a:r>
              <a:endParaRPr lang="en-US" sz="1600" b="0" u="none" strike="noStrike">
                <a:solidFill>
                  <a:srgbClr val="000000"/>
                </a:solidFill>
                <a:effectLst/>
                <a:uFillTx/>
                <a:latin typeface="Times New Roman"/>
              </a:endParaRPr>
            </a:p>
          </p:txBody>
        </p:sp>
        <p:sp>
          <p:nvSpPr>
            <p:cNvPr id="910" name="Rectangle 35"/>
            <p:cNvSpPr/>
            <p:nvPr/>
          </p:nvSpPr>
          <p:spPr>
            <a:xfrm>
              <a:off x="2590560" y="4800600"/>
              <a:ext cx="914400" cy="228600"/>
            </a:xfrm>
            <a:prstGeom prst="rect">
              <a:avLst/>
            </a:prstGeom>
            <a:solidFill>
              <a:srgbClr val="FF9933"/>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911" name="Group 36"/>
          <p:cNvGrpSpPr/>
          <p:nvPr/>
        </p:nvGrpSpPr>
        <p:grpSpPr>
          <a:xfrm>
            <a:off x="3962160" y="3200400"/>
            <a:ext cx="1676520" cy="2666880"/>
            <a:chOff x="3962160" y="3200400"/>
            <a:chExt cx="1676520" cy="2666880"/>
          </a:xfrm>
        </p:grpSpPr>
        <p:grpSp>
          <p:nvGrpSpPr>
            <p:cNvPr id="912" name="Group 37"/>
            <p:cNvGrpSpPr/>
            <p:nvPr/>
          </p:nvGrpSpPr>
          <p:grpSpPr>
            <a:xfrm>
              <a:off x="3962160" y="3657600"/>
              <a:ext cx="1676520" cy="1981080"/>
              <a:chOff x="3962160" y="3657600"/>
              <a:chExt cx="1676520" cy="1981080"/>
            </a:xfrm>
          </p:grpSpPr>
          <p:sp>
            <p:nvSpPr>
              <p:cNvPr id="913" name="Rectangle 38"/>
              <p:cNvSpPr/>
              <p:nvPr/>
            </p:nvSpPr>
            <p:spPr>
              <a:xfrm>
                <a:off x="3962160" y="3809880"/>
                <a:ext cx="1676520" cy="1600200"/>
              </a:xfrm>
              <a:prstGeom prst="rect">
                <a:avLst/>
              </a:prstGeom>
              <a:solidFill>
                <a:srgbClr val="FFFF00"/>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914" name="Group 39"/>
              <p:cNvGrpSpPr/>
              <p:nvPr/>
            </p:nvGrpSpPr>
            <p:grpSpPr>
              <a:xfrm>
                <a:off x="3962160" y="3657600"/>
                <a:ext cx="1676520" cy="1981080"/>
                <a:chOff x="3962160" y="3657600"/>
                <a:chExt cx="1676520" cy="1981080"/>
              </a:xfrm>
            </p:grpSpPr>
            <p:sp>
              <p:nvSpPr>
                <p:cNvPr id="915" name="Oval 40"/>
                <p:cNvSpPr/>
                <p:nvPr/>
              </p:nvSpPr>
              <p:spPr>
                <a:xfrm>
                  <a:off x="4038480" y="396216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916" name="Oval 41"/>
                <p:cNvSpPr/>
                <p:nvPr/>
              </p:nvSpPr>
              <p:spPr>
                <a:xfrm>
                  <a:off x="4952880" y="396216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imes New Roman"/>
                    </a:rPr>
                    <a:t>+</a:t>
                  </a:r>
                  <a:endParaRPr lang="en-US" sz="1800" b="0" u="none" strike="noStrike">
                    <a:solidFill>
                      <a:srgbClr val="000000"/>
                    </a:solidFill>
                    <a:effectLst/>
                    <a:uFillTx/>
                    <a:latin typeface="Times New Roman"/>
                  </a:endParaRPr>
                </a:p>
              </p:txBody>
            </p:sp>
            <p:sp>
              <p:nvSpPr>
                <p:cNvPr id="917" name="Oval 42"/>
                <p:cNvSpPr/>
                <p:nvPr/>
              </p:nvSpPr>
              <p:spPr>
                <a:xfrm>
                  <a:off x="4495680" y="4800600"/>
                  <a:ext cx="609480" cy="53316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918" name="Line 43"/>
                <p:cNvSpPr/>
                <p:nvPr/>
              </p:nvSpPr>
              <p:spPr>
                <a:xfrm>
                  <a:off x="4419360" y="4495680"/>
                  <a:ext cx="15228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19" name="Line 44"/>
                <p:cNvSpPr/>
                <p:nvPr/>
              </p:nvSpPr>
              <p:spPr>
                <a:xfrm flipH="1">
                  <a:off x="5028840" y="4495680"/>
                  <a:ext cx="15264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20" name="Line 45"/>
                <p:cNvSpPr/>
                <p:nvPr/>
              </p:nvSpPr>
              <p:spPr>
                <a:xfrm>
                  <a:off x="4190760" y="36576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21" name="Line 46"/>
                <p:cNvSpPr/>
                <p:nvPr/>
              </p:nvSpPr>
              <p:spPr>
                <a:xfrm>
                  <a:off x="4495680" y="36576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22" name="Line 47"/>
                <p:cNvSpPr/>
                <p:nvPr/>
              </p:nvSpPr>
              <p:spPr>
                <a:xfrm>
                  <a:off x="5105160" y="36576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23" name="Line 48"/>
                <p:cNvSpPr/>
                <p:nvPr/>
              </p:nvSpPr>
              <p:spPr>
                <a:xfrm>
                  <a:off x="5410080" y="365760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24" name="Line 49"/>
                <p:cNvSpPr/>
                <p:nvPr/>
              </p:nvSpPr>
              <p:spPr>
                <a:xfrm>
                  <a:off x="4800240" y="533376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25" name="Line 50"/>
                <p:cNvSpPr/>
                <p:nvPr/>
              </p:nvSpPr>
              <p:spPr>
                <a:xfrm>
                  <a:off x="3962160" y="464796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sp>
          <p:nvSpPr>
            <p:cNvPr id="926" name="Text Box 51"/>
            <p:cNvSpPr/>
            <p:nvPr/>
          </p:nvSpPr>
          <p:spPr>
            <a:xfrm>
              <a:off x="4038480" y="3200400"/>
              <a:ext cx="1523880" cy="50796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Triplicate computation</a:t>
              </a:r>
              <a:endParaRPr lang="en-US" sz="1600" b="0" u="none" strike="noStrike">
                <a:solidFill>
                  <a:srgbClr val="000000"/>
                </a:solidFill>
                <a:effectLst/>
                <a:uFillTx/>
                <a:latin typeface="Times New Roman"/>
              </a:endParaRPr>
            </a:p>
          </p:txBody>
        </p:sp>
        <p:sp>
          <p:nvSpPr>
            <p:cNvPr id="927" name="Rectangle 52"/>
            <p:cNvSpPr/>
            <p:nvPr/>
          </p:nvSpPr>
          <p:spPr>
            <a:xfrm>
              <a:off x="4343400" y="5638680"/>
              <a:ext cx="914400" cy="228600"/>
            </a:xfrm>
            <a:prstGeom prst="rect">
              <a:avLst/>
            </a:prstGeom>
            <a:solidFill>
              <a:srgbClr val="FF6600"/>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928" name="Group 53"/>
          <p:cNvGrpSpPr/>
          <p:nvPr/>
        </p:nvGrpSpPr>
        <p:grpSpPr>
          <a:xfrm>
            <a:off x="228600" y="4190760"/>
            <a:ext cx="2286000" cy="1760400"/>
            <a:chOff x="228600" y="4190760"/>
            <a:chExt cx="2286000" cy="1760400"/>
          </a:xfrm>
        </p:grpSpPr>
        <p:sp>
          <p:nvSpPr>
            <p:cNvPr id="929" name="Line 54"/>
            <p:cNvSpPr/>
            <p:nvPr/>
          </p:nvSpPr>
          <p:spPr>
            <a:xfrm>
              <a:off x="1371600" y="4190760"/>
              <a:ext cx="0" cy="838440"/>
            </a:xfrm>
            <a:prstGeom prst="line">
              <a:avLst/>
            </a:prstGeom>
            <a:ln w="9360">
              <a:solidFill>
                <a:srgbClr val="000000"/>
              </a:solidFill>
              <a:prstDash val="dash"/>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30" name="Text Box 55"/>
            <p:cNvSpPr/>
            <p:nvPr/>
          </p:nvSpPr>
          <p:spPr>
            <a:xfrm>
              <a:off x="228600" y="5029200"/>
              <a:ext cx="2286000" cy="92196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Use as operand in further computations, while awaiting confirmation of validity</a:t>
              </a:r>
              <a:endParaRPr lang="en-US" sz="1600" b="0" u="none" strike="noStrike">
                <a:solidFill>
                  <a:srgbClr val="000000"/>
                </a:solidFill>
                <a:effectLst/>
                <a:uFillTx/>
                <a:latin typeface="Times New Roman"/>
              </a:endParaRPr>
            </a:p>
          </p:txBody>
        </p:sp>
      </p:grpSp>
      <p:sp>
        <p:nvSpPr>
          <p:cNvPr id="931" name="Text Box 56"/>
          <p:cNvSpPr/>
          <p:nvPr/>
        </p:nvSpPr>
        <p:spPr>
          <a:xfrm>
            <a:off x="6095880" y="2895480"/>
            <a:ext cx="2666880" cy="146376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On a simultaneous multithreading architecture, multiple instruction streams may be interspersed</a:t>
            </a:r>
            <a:endParaRPr lang="en-US" sz="2000" b="0" u="none" strike="noStrike">
              <a:solidFill>
                <a:srgbClr val="000000"/>
              </a:solidFill>
              <a:effectLst/>
              <a:uFillTx/>
              <a:latin typeface="Times New Roman"/>
            </a:endParaRPr>
          </a:p>
        </p:txBody>
      </p:sp>
      <p:sp>
        <p:nvSpPr>
          <p:cNvPr id="932" name="Text Box 57"/>
          <p:cNvSpPr/>
          <p:nvPr/>
        </p:nvSpPr>
        <p:spPr>
          <a:xfrm>
            <a:off x="6095880" y="4495680"/>
            <a:ext cx="2666880" cy="146376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Some Cray machines take advantage of extensive hardware resources to execute instructions twice</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3"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34893B33-A5B3-42DB-9F28-37705999CB69}"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934"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935" name="PlaceHolder 1"/>
          <p:cNvSpPr>
            <a:spLocks noGrp="1"/>
          </p:cNvSpPr>
          <p:nvPr>
            <p:ph type="title"/>
          </p:nvPr>
        </p:nvSpPr>
        <p:spPr>
          <a:xfrm>
            <a:off x="228600" y="228240"/>
            <a:ext cx="86868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Mixed Space/Time Replication</a:t>
            </a:r>
            <a:endParaRPr lang="en-US" sz="3600" b="0" u="none" strike="noStrike">
              <a:solidFill>
                <a:srgbClr val="000000"/>
              </a:solidFill>
              <a:effectLst/>
              <a:uFillTx/>
              <a:latin typeface="Arial"/>
            </a:endParaRPr>
          </a:p>
        </p:txBody>
      </p:sp>
      <p:sp>
        <p:nvSpPr>
          <p:cNvPr id="936" name="Text Box 4"/>
          <p:cNvSpPr/>
          <p:nvPr/>
        </p:nvSpPr>
        <p:spPr>
          <a:xfrm>
            <a:off x="457200" y="914400"/>
            <a:ext cx="8381880" cy="87048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Instead of duplicating the computation with no hardware change (slow) or duplicating the entire hardware (costly), we can add some hardware </a:t>
            </a:r>
            <a:endParaRPr lang="en-US" sz="2000" b="0" u="none" strike="noStrike">
              <a:solidFill>
                <a:srgbClr val="000000"/>
              </a:solidFill>
              <a:effectLst/>
              <a:uFillTx/>
              <a:latin typeface="Times New Roman"/>
            </a:endParaRPr>
          </a:p>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to make the interleaved recomputations more efficient</a:t>
            </a:r>
            <a:endParaRPr lang="en-US" sz="2000" b="0" u="none" strike="noStrike">
              <a:solidFill>
                <a:srgbClr val="000000"/>
              </a:solidFill>
              <a:effectLst/>
              <a:uFillTx/>
              <a:latin typeface="Times New Roman"/>
            </a:endParaRPr>
          </a:p>
        </p:txBody>
      </p:sp>
      <p:sp>
        <p:nvSpPr>
          <p:cNvPr id="937" name="Text Box 5"/>
          <p:cNvSpPr/>
          <p:nvPr/>
        </p:nvSpPr>
        <p:spPr>
          <a:xfrm>
            <a:off x="2209680" y="1904760"/>
            <a:ext cx="2666880" cy="8251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Recomputation with same hardware resources (</a:t>
            </a:r>
            <a:r>
              <a:rPr lang="en-US" sz="1600" b="0" i="1" u="none" strike="noStrike">
                <a:solidFill>
                  <a:srgbClr val="000000"/>
                </a:solidFill>
                <a:effectLst/>
                <a:uFillTx/>
                <a:latin typeface="Arial"/>
                <a:ea typeface="Times New Roman"/>
              </a:rPr>
              <a:t>T</a:t>
            </a:r>
            <a:r>
              <a:rPr lang="en-US" sz="1600" b="0" u="none" strike="noStrike">
                <a:solidFill>
                  <a:srgbClr val="000000"/>
                </a:solidFill>
                <a:effectLst/>
                <a:uFillTx/>
                <a:latin typeface="Arial"/>
                <a:ea typeface="Times New Roman"/>
              </a:rPr>
              <a:t> = 5, excluding compare time)</a:t>
            </a:r>
            <a:endParaRPr lang="en-US" sz="1600" b="0" u="none" strike="noStrike">
              <a:solidFill>
                <a:srgbClr val="000000"/>
              </a:solidFill>
              <a:effectLst/>
              <a:uFillTx/>
              <a:latin typeface="Times New Roman"/>
            </a:endParaRPr>
          </a:p>
        </p:txBody>
      </p:sp>
      <p:grpSp>
        <p:nvGrpSpPr>
          <p:cNvPr id="938" name="Group 6"/>
          <p:cNvGrpSpPr/>
          <p:nvPr/>
        </p:nvGrpSpPr>
        <p:grpSpPr>
          <a:xfrm>
            <a:off x="152280" y="1676160"/>
            <a:ext cx="2286000" cy="3534120"/>
            <a:chOff x="152280" y="1676160"/>
            <a:chExt cx="2286000" cy="3534120"/>
          </a:xfrm>
        </p:grpSpPr>
        <p:sp>
          <p:nvSpPr>
            <p:cNvPr id="939" name="Text Box 7"/>
            <p:cNvSpPr/>
            <p:nvPr/>
          </p:nvSpPr>
          <p:spPr>
            <a:xfrm>
              <a:off x="152280" y="4495320"/>
              <a:ext cx="2286000" cy="71496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Original</a:t>
              </a:r>
              <a:endParaRPr lang="en-US" sz="1600" b="0" u="none" strike="noStrike">
                <a:solidFill>
                  <a:srgbClr val="000000"/>
                </a:solidFill>
                <a:effectLst/>
                <a:uFillTx/>
                <a:latin typeface="Times New Roman"/>
              </a:endParaRPr>
            </a:p>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computation</a:t>
              </a:r>
              <a:endParaRPr lang="en-US" sz="1600" b="0" u="none" strike="noStrike">
                <a:solidFill>
                  <a:srgbClr val="000000"/>
                </a:solidFill>
                <a:effectLst/>
                <a:uFillTx/>
                <a:latin typeface="Times New Roman"/>
              </a:endParaRPr>
            </a:p>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a:t>
              </a:r>
              <a:r>
                <a:rPr lang="en-US" sz="1600" b="0" i="1" u="none" strike="noStrike">
                  <a:solidFill>
                    <a:srgbClr val="000000"/>
                  </a:solidFill>
                  <a:effectLst/>
                  <a:uFillTx/>
                  <a:latin typeface="Arial"/>
                  <a:ea typeface="Times New Roman"/>
                </a:rPr>
                <a:t>T</a:t>
              </a:r>
              <a:r>
                <a:rPr lang="en-US" sz="1600" b="0" u="none" strike="noStrike">
                  <a:solidFill>
                    <a:srgbClr val="000000"/>
                  </a:solidFill>
                  <a:effectLst/>
                  <a:uFillTx/>
                  <a:latin typeface="Arial"/>
                  <a:ea typeface="Times New Roman"/>
                </a:rPr>
                <a:t> = 3)</a:t>
              </a:r>
              <a:endParaRPr lang="en-US" sz="1600" b="0" u="none" strike="noStrike">
                <a:solidFill>
                  <a:srgbClr val="000000"/>
                </a:solidFill>
                <a:effectLst/>
                <a:uFillTx/>
                <a:latin typeface="Times New Roman"/>
              </a:endParaRPr>
            </a:p>
          </p:txBody>
        </p:sp>
        <p:sp>
          <p:nvSpPr>
            <p:cNvPr id="940" name="Oval 8"/>
            <p:cNvSpPr/>
            <p:nvPr/>
          </p:nvSpPr>
          <p:spPr>
            <a:xfrm>
              <a:off x="533160" y="198072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941" name="Oval 9"/>
            <p:cNvSpPr/>
            <p:nvPr/>
          </p:nvSpPr>
          <p:spPr>
            <a:xfrm>
              <a:off x="1447560" y="2819160"/>
              <a:ext cx="609480" cy="53316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942" name="Line 10"/>
            <p:cNvSpPr/>
            <p:nvPr/>
          </p:nvSpPr>
          <p:spPr>
            <a:xfrm>
              <a:off x="838080" y="2514240"/>
              <a:ext cx="228600" cy="12193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43" name="Line 11"/>
            <p:cNvSpPr/>
            <p:nvPr/>
          </p:nvSpPr>
          <p:spPr>
            <a:xfrm flipH="1">
              <a:off x="1523520" y="3352320"/>
              <a:ext cx="152280" cy="38124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44" name="Line 12"/>
            <p:cNvSpPr/>
            <p:nvPr/>
          </p:nvSpPr>
          <p:spPr>
            <a:xfrm>
              <a:off x="685440" y="167616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45" name="Line 13"/>
            <p:cNvSpPr/>
            <p:nvPr/>
          </p:nvSpPr>
          <p:spPr>
            <a:xfrm>
              <a:off x="990360" y="167616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46" name="Line 14"/>
            <p:cNvSpPr/>
            <p:nvPr/>
          </p:nvSpPr>
          <p:spPr>
            <a:xfrm>
              <a:off x="1599840" y="251424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47" name="Line 15"/>
            <p:cNvSpPr/>
            <p:nvPr/>
          </p:nvSpPr>
          <p:spPr>
            <a:xfrm>
              <a:off x="1904760" y="251424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48" name="Line 16"/>
            <p:cNvSpPr/>
            <p:nvPr/>
          </p:nvSpPr>
          <p:spPr>
            <a:xfrm>
              <a:off x="456840" y="266652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49" name="Oval 17"/>
            <p:cNvSpPr/>
            <p:nvPr/>
          </p:nvSpPr>
          <p:spPr>
            <a:xfrm>
              <a:off x="990360" y="365724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950" name="Line 18"/>
            <p:cNvSpPr/>
            <p:nvPr/>
          </p:nvSpPr>
          <p:spPr>
            <a:xfrm>
              <a:off x="1295280" y="419076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51" name="Line 19"/>
            <p:cNvSpPr/>
            <p:nvPr/>
          </p:nvSpPr>
          <p:spPr>
            <a:xfrm>
              <a:off x="456840" y="350496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952" name="Text Box 20"/>
          <p:cNvSpPr/>
          <p:nvPr/>
        </p:nvSpPr>
        <p:spPr>
          <a:xfrm>
            <a:off x="6781680" y="2895480"/>
            <a:ext cx="1981080" cy="112896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Recomputation </a:t>
            </a:r>
            <a:endParaRPr lang="en-US" sz="1600" b="0" u="none" strike="noStrike">
              <a:solidFill>
                <a:srgbClr val="000000"/>
              </a:solidFill>
              <a:effectLst/>
              <a:uFillTx/>
              <a:latin typeface="Times New Roman"/>
            </a:endParaRPr>
          </a:p>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with the inclusion </a:t>
            </a:r>
            <a:endParaRPr lang="en-US" sz="1600" b="0" u="none" strike="noStrike">
              <a:solidFill>
                <a:srgbClr val="000000"/>
              </a:solidFill>
              <a:effectLst/>
              <a:uFillTx/>
              <a:latin typeface="Times New Roman"/>
            </a:endParaRPr>
          </a:p>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of an extra adder</a:t>
            </a:r>
            <a:endParaRPr lang="en-US" sz="1600" b="0" u="none" strike="noStrike">
              <a:solidFill>
                <a:srgbClr val="000000"/>
              </a:solidFill>
              <a:effectLst/>
              <a:uFillTx/>
              <a:latin typeface="Times New Roman"/>
            </a:endParaRPr>
          </a:p>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a:t>
            </a:r>
            <a:r>
              <a:rPr lang="en-US" sz="1600" b="0" i="1" u="none" strike="noStrike">
                <a:solidFill>
                  <a:srgbClr val="000000"/>
                </a:solidFill>
                <a:effectLst/>
                <a:uFillTx/>
                <a:latin typeface="Arial"/>
                <a:ea typeface="Times New Roman"/>
              </a:rPr>
              <a:t>T</a:t>
            </a:r>
            <a:r>
              <a:rPr lang="en-US" sz="1600" b="0" u="none" strike="noStrike">
                <a:solidFill>
                  <a:srgbClr val="000000"/>
                </a:solidFill>
                <a:effectLst/>
                <a:uFillTx/>
                <a:latin typeface="Arial"/>
                <a:ea typeface="Times New Roman"/>
              </a:rPr>
              <a:t> = 3, excluding compare time)</a:t>
            </a:r>
            <a:endParaRPr lang="en-US" sz="1600" b="0" u="none" strike="noStrike">
              <a:solidFill>
                <a:srgbClr val="000000"/>
              </a:solidFill>
              <a:effectLst/>
              <a:uFillTx/>
              <a:latin typeface="Times New Roman"/>
            </a:endParaRPr>
          </a:p>
        </p:txBody>
      </p:sp>
      <p:grpSp>
        <p:nvGrpSpPr>
          <p:cNvPr id="953" name="Group 21"/>
          <p:cNvGrpSpPr/>
          <p:nvPr/>
        </p:nvGrpSpPr>
        <p:grpSpPr>
          <a:xfrm>
            <a:off x="5181480" y="3352680"/>
            <a:ext cx="1676520" cy="1981080"/>
            <a:chOff x="5181480" y="3352680"/>
            <a:chExt cx="1676520" cy="1981080"/>
          </a:xfrm>
        </p:grpSpPr>
        <p:sp>
          <p:nvSpPr>
            <p:cNvPr id="954" name="Oval 22"/>
            <p:cNvSpPr/>
            <p:nvPr/>
          </p:nvSpPr>
          <p:spPr>
            <a:xfrm>
              <a:off x="5257800" y="365724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955" name="Oval 23"/>
            <p:cNvSpPr/>
            <p:nvPr/>
          </p:nvSpPr>
          <p:spPr>
            <a:xfrm>
              <a:off x="6172200" y="365724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956" name="Oval 24"/>
            <p:cNvSpPr/>
            <p:nvPr/>
          </p:nvSpPr>
          <p:spPr>
            <a:xfrm>
              <a:off x="5715000" y="4495680"/>
              <a:ext cx="609480" cy="53316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957" name="Line 25"/>
            <p:cNvSpPr/>
            <p:nvPr/>
          </p:nvSpPr>
          <p:spPr>
            <a:xfrm>
              <a:off x="5638680" y="4190760"/>
              <a:ext cx="15228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58" name="Line 26"/>
            <p:cNvSpPr/>
            <p:nvPr/>
          </p:nvSpPr>
          <p:spPr>
            <a:xfrm flipH="1">
              <a:off x="6248160" y="4190760"/>
              <a:ext cx="15264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59" name="Line 27"/>
            <p:cNvSpPr/>
            <p:nvPr/>
          </p:nvSpPr>
          <p:spPr>
            <a:xfrm>
              <a:off x="5410080" y="335268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60" name="Line 28"/>
            <p:cNvSpPr/>
            <p:nvPr/>
          </p:nvSpPr>
          <p:spPr>
            <a:xfrm>
              <a:off x="5715000" y="335268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61" name="Line 29"/>
            <p:cNvSpPr/>
            <p:nvPr/>
          </p:nvSpPr>
          <p:spPr>
            <a:xfrm>
              <a:off x="6324480" y="335268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62" name="Line 30"/>
            <p:cNvSpPr/>
            <p:nvPr/>
          </p:nvSpPr>
          <p:spPr>
            <a:xfrm>
              <a:off x="6629400" y="335268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63" name="Line 31"/>
            <p:cNvSpPr/>
            <p:nvPr/>
          </p:nvSpPr>
          <p:spPr>
            <a:xfrm>
              <a:off x="6019560" y="502884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64" name="Line 32"/>
            <p:cNvSpPr/>
            <p:nvPr/>
          </p:nvSpPr>
          <p:spPr>
            <a:xfrm>
              <a:off x="5181480" y="434304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965" name="Group 33"/>
          <p:cNvGrpSpPr/>
          <p:nvPr/>
        </p:nvGrpSpPr>
        <p:grpSpPr>
          <a:xfrm>
            <a:off x="6933960" y="4190760"/>
            <a:ext cx="1676520" cy="1981080"/>
            <a:chOff x="6933960" y="4190760"/>
            <a:chExt cx="1676520" cy="1981080"/>
          </a:xfrm>
        </p:grpSpPr>
        <p:sp>
          <p:nvSpPr>
            <p:cNvPr id="966" name="Rectangle 34"/>
            <p:cNvSpPr/>
            <p:nvPr/>
          </p:nvSpPr>
          <p:spPr>
            <a:xfrm>
              <a:off x="6933960" y="4343040"/>
              <a:ext cx="1676520" cy="1600200"/>
            </a:xfrm>
            <a:prstGeom prst="rect">
              <a:avLst/>
            </a:prstGeom>
            <a:solidFill>
              <a:srgbClr val="FFFF66"/>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967" name="Group 35"/>
            <p:cNvGrpSpPr/>
            <p:nvPr/>
          </p:nvGrpSpPr>
          <p:grpSpPr>
            <a:xfrm>
              <a:off x="6933960" y="4190760"/>
              <a:ext cx="1676520" cy="1981080"/>
              <a:chOff x="6933960" y="4190760"/>
              <a:chExt cx="1676520" cy="1981080"/>
            </a:xfrm>
          </p:grpSpPr>
          <p:sp>
            <p:nvSpPr>
              <p:cNvPr id="968" name="Oval 36"/>
              <p:cNvSpPr/>
              <p:nvPr/>
            </p:nvSpPr>
            <p:spPr>
              <a:xfrm>
                <a:off x="7010280" y="449532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969" name="Oval 37"/>
              <p:cNvSpPr/>
              <p:nvPr/>
            </p:nvSpPr>
            <p:spPr>
              <a:xfrm>
                <a:off x="7924680" y="449532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imes New Roman"/>
                  </a:rPr>
                  <a:t>+</a:t>
                </a:r>
                <a:endParaRPr lang="en-US" sz="1800" b="0" u="none" strike="noStrike">
                  <a:solidFill>
                    <a:srgbClr val="000000"/>
                  </a:solidFill>
                  <a:effectLst/>
                  <a:uFillTx/>
                  <a:latin typeface="Times New Roman"/>
                </a:endParaRPr>
              </a:p>
            </p:txBody>
          </p:sp>
          <p:sp>
            <p:nvSpPr>
              <p:cNvPr id="970" name="Oval 38"/>
              <p:cNvSpPr/>
              <p:nvPr/>
            </p:nvSpPr>
            <p:spPr>
              <a:xfrm>
                <a:off x="7467480" y="5333760"/>
                <a:ext cx="609480" cy="53316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971" name="Line 39"/>
              <p:cNvSpPr/>
              <p:nvPr/>
            </p:nvSpPr>
            <p:spPr>
              <a:xfrm>
                <a:off x="7391160" y="5028840"/>
                <a:ext cx="15228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72" name="Line 40"/>
              <p:cNvSpPr/>
              <p:nvPr/>
            </p:nvSpPr>
            <p:spPr>
              <a:xfrm flipH="1">
                <a:off x="8000640" y="5028840"/>
                <a:ext cx="15264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73" name="Line 41"/>
              <p:cNvSpPr/>
              <p:nvPr/>
            </p:nvSpPr>
            <p:spPr>
              <a:xfrm>
                <a:off x="7162560" y="419076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74" name="Line 42"/>
              <p:cNvSpPr/>
              <p:nvPr/>
            </p:nvSpPr>
            <p:spPr>
              <a:xfrm>
                <a:off x="7467480" y="419076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75" name="Line 43"/>
              <p:cNvSpPr/>
              <p:nvPr/>
            </p:nvSpPr>
            <p:spPr>
              <a:xfrm>
                <a:off x="8076960" y="419076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76" name="Line 44"/>
              <p:cNvSpPr/>
              <p:nvPr/>
            </p:nvSpPr>
            <p:spPr>
              <a:xfrm>
                <a:off x="8381880" y="419076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77" name="Line 45"/>
              <p:cNvSpPr/>
              <p:nvPr/>
            </p:nvSpPr>
            <p:spPr>
              <a:xfrm>
                <a:off x="7772040" y="586692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78" name="Line 46"/>
              <p:cNvSpPr/>
              <p:nvPr/>
            </p:nvSpPr>
            <p:spPr>
              <a:xfrm>
                <a:off x="6933960" y="518112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grpSp>
        <p:nvGrpSpPr>
          <p:cNvPr id="979" name="Group 47"/>
          <p:cNvGrpSpPr/>
          <p:nvPr/>
        </p:nvGrpSpPr>
        <p:grpSpPr>
          <a:xfrm>
            <a:off x="2209680" y="2895480"/>
            <a:ext cx="1676520" cy="3276720"/>
            <a:chOff x="2209680" y="2895480"/>
            <a:chExt cx="1676520" cy="3276720"/>
          </a:xfrm>
        </p:grpSpPr>
        <p:sp>
          <p:nvSpPr>
            <p:cNvPr id="980" name="Rectangle 48"/>
            <p:cNvSpPr/>
            <p:nvPr/>
          </p:nvSpPr>
          <p:spPr>
            <a:xfrm>
              <a:off x="2209680" y="3505320"/>
              <a:ext cx="1676520" cy="2438280"/>
            </a:xfrm>
            <a:prstGeom prst="rect">
              <a:avLst/>
            </a:prstGeom>
            <a:solidFill>
              <a:srgbClr val="FFFF66"/>
            </a:solidFill>
            <a:ln w="38160">
              <a:noFill/>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981" name="Oval 49"/>
            <p:cNvSpPr/>
            <p:nvPr/>
          </p:nvSpPr>
          <p:spPr>
            <a:xfrm>
              <a:off x="2286000" y="365760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982" name="Oval 50"/>
            <p:cNvSpPr/>
            <p:nvPr/>
          </p:nvSpPr>
          <p:spPr>
            <a:xfrm>
              <a:off x="3200400" y="4495680"/>
              <a:ext cx="609480" cy="5335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983" name="Line 51"/>
            <p:cNvSpPr/>
            <p:nvPr/>
          </p:nvSpPr>
          <p:spPr>
            <a:xfrm>
              <a:off x="2590560" y="4191120"/>
              <a:ext cx="228600" cy="12189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84" name="Line 52"/>
            <p:cNvSpPr/>
            <p:nvPr/>
          </p:nvSpPr>
          <p:spPr>
            <a:xfrm flipH="1">
              <a:off x="3276360" y="5029200"/>
              <a:ext cx="152640" cy="380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85" name="Line 53"/>
            <p:cNvSpPr/>
            <p:nvPr/>
          </p:nvSpPr>
          <p:spPr>
            <a:xfrm>
              <a:off x="2438280" y="335268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86" name="Line 54"/>
            <p:cNvSpPr/>
            <p:nvPr/>
          </p:nvSpPr>
          <p:spPr>
            <a:xfrm>
              <a:off x="2743200" y="335268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87" name="Line 55"/>
            <p:cNvSpPr/>
            <p:nvPr/>
          </p:nvSpPr>
          <p:spPr>
            <a:xfrm>
              <a:off x="3352680" y="419112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88" name="Line 56"/>
            <p:cNvSpPr/>
            <p:nvPr/>
          </p:nvSpPr>
          <p:spPr>
            <a:xfrm>
              <a:off x="3657600" y="4191120"/>
              <a:ext cx="0" cy="30456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89" name="Line 57"/>
            <p:cNvSpPr/>
            <p:nvPr/>
          </p:nvSpPr>
          <p:spPr>
            <a:xfrm>
              <a:off x="2209680" y="434340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90" name="Oval 58"/>
            <p:cNvSpPr/>
            <p:nvPr/>
          </p:nvSpPr>
          <p:spPr>
            <a:xfrm>
              <a:off x="2743200" y="5334120"/>
              <a:ext cx="609480" cy="53316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8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991" name="Line 59"/>
            <p:cNvSpPr/>
            <p:nvPr/>
          </p:nvSpPr>
          <p:spPr>
            <a:xfrm>
              <a:off x="3047760" y="5867280"/>
              <a:ext cx="0" cy="3049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92" name="Line 60"/>
            <p:cNvSpPr/>
            <p:nvPr/>
          </p:nvSpPr>
          <p:spPr>
            <a:xfrm>
              <a:off x="2209680" y="5181480"/>
              <a:ext cx="1676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93" name="Text Box 61"/>
            <p:cNvSpPr/>
            <p:nvPr/>
          </p:nvSpPr>
          <p:spPr>
            <a:xfrm>
              <a:off x="2286000" y="2895480"/>
              <a:ext cx="1523880" cy="507960"/>
            </a:xfrm>
            <a:prstGeom prst="rect">
              <a:avLst/>
            </a:prstGeom>
            <a:noFill/>
            <a:ln w="38160">
              <a:noFill/>
            </a:ln>
          </p:spPr>
          <p:style>
            <a:lnRef idx="0"/>
            <a:fillRef idx="0"/>
            <a:effectRef idx="0"/>
            <a:fontRef idx="minor"/>
          </p:style>
          <p:txBody>
            <a:bodyPr lIns="90000" tIns="46800" rIns="90000" bIns="46800" anchor="t">
              <a:spAutoFit/>
            </a:bodyPr>
            <a:p>
              <a:pPr algn="ct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Duplicate computation</a:t>
              </a:r>
              <a:endParaRPr lang="en-US" sz="1600" b="0" u="none" strike="noStrike">
                <a:solidFill>
                  <a:srgbClr val="000000"/>
                </a:solidFill>
                <a:effectLst/>
                <a:uFillTx/>
                <a:latin typeface="Times New Roman"/>
              </a:endParaRPr>
            </a:p>
          </p:txBody>
        </p:sp>
      </p:grpSp>
      <p:sp>
        <p:nvSpPr>
          <p:cNvPr id="994" name="Text Box 62"/>
          <p:cNvSpPr/>
          <p:nvPr/>
        </p:nvSpPr>
        <p:spPr>
          <a:xfrm>
            <a:off x="5105160" y="1904760"/>
            <a:ext cx="1981440" cy="8251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Consider the effect of including a second adder</a:t>
            </a:r>
            <a:endParaRPr lang="en-US" sz="1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5"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1B5A85D9-C728-450D-A04C-EC06C573E3FB}"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996"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997" name="PlaceHolder 1"/>
          <p:cNvSpPr>
            <a:spLocks noGrp="1"/>
          </p:cNvSpPr>
          <p:nvPr>
            <p:ph type="title"/>
          </p:nvPr>
        </p:nvSpPr>
        <p:spPr>
          <a:xfrm>
            <a:off x="304200" y="228600"/>
            <a:ext cx="8534520" cy="7617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Switching and Voting Units</a:t>
            </a:r>
            <a:endParaRPr lang="en-US" sz="3600" b="0" u="none" strike="noStrike">
              <a:solidFill>
                <a:srgbClr val="000000"/>
              </a:solidFill>
              <a:effectLst/>
              <a:uFillTx/>
              <a:latin typeface="Arial"/>
            </a:endParaRPr>
          </a:p>
        </p:txBody>
      </p:sp>
      <p:sp>
        <p:nvSpPr>
          <p:cNvPr id="998" name="Text Box 4"/>
          <p:cNvSpPr/>
          <p:nvPr/>
        </p:nvSpPr>
        <p:spPr>
          <a:xfrm>
            <a:off x="457200" y="1828800"/>
            <a:ext cx="434340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If in the case of 3-way disagreement any of the inputs can be chosen, then a simple design is possible</a:t>
            </a:r>
            <a:endParaRPr lang="en-US" sz="2000" b="0" u="none" strike="noStrike">
              <a:solidFill>
                <a:srgbClr val="000000"/>
              </a:solidFill>
              <a:effectLst/>
              <a:uFillTx/>
              <a:latin typeface="Times New Roman"/>
            </a:endParaRPr>
          </a:p>
        </p:txBody>
      </p:sp>
      <p:sp>
        <p:nvSpPr>
          <p:cNvPr id="999" name="Text Box 5"/>
          <p:cNvSpPr/>
          <p:nvPr/>
        </p:nvSpPr>
        <p:spPr>
          <a:xfrm>
            <a:off x="457200" y="3886200"/>
            <a:ext cx="784836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One can perform pseudo voting that yields the median of 3 analog signals (Dennis, N.G., </a:t>
            </a:r>
            <a:r>
              <a:rPr lang="en-US" sz="2000" b="0" i="1" u="none" strike="noStrike">
                <a:solidFill>
                  <a:srgbClr val="000000"/>
                </a:solidFill>
                <a:effectLst/>
                <a:uFillTx/>
                <a:latin typeface="Arial"/>
                <a:ea typeface="Times New Roman"/>
              </a:rPr>
              <a:t>Microelectronics and Reliability</a:t>
            </a:r>
            <a:r>
              <a:rPr lang="en-US" sz="2000" b="0" u="none" strike="noStrike">
                <a:solidFill>
                  <a:srgbClr val="000000"/>
                </a:solidFill>
                <a:effectLst/>
                <a:uFillTx/>
                <a:latin typeface="Arial"/>
                <a:ea typeface="Times New Roman"/>
              </a:rPr>
              <a:t>, Aug. 1974)</a:t>
            </a:r>
            <a:endParaRPr lang="en-US" sz="2000" b="0" u="none" strike="noStrike">
              <a:solidFill>
                <a:srgbClr val="000000"/>
              </a:solidFill>
              <a:effectLst/>
              <a:uFillTx/>
              <a:latin typeface="Times New Roman"/>
            </a:endParaRPr>
          </a:p>
        </p:txBody>
      </p:sp>
      <p:sp>
        <p:nvSpPr>
          <p:cNvPr id="1000" name="Text Box 6"/>
          <p:cNvSpPr/>
          <p:nvPr/>
        </p:nvSpPr>
        <p:spPr>
          <a:xfrm>
            <a:off x="457200" y="4800600"/>
            <a:ext cx="784836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Median and mean voting are also possible with digital signals</a:t>
            </a:r>
            <a:endParaRPr lang="en-US" sz="2000" b="0" u="none" strike="noStrike">
              <a:solidFill>
                <a:srgbClr val="000000"/>
              </a:solidFill>
              <a:effectLst/>
              <a:uFillTx/>
              <a:latin typeface="Times New Roman"/>
            </a:endParaRPr>
          </a:p>
        </p:txBody>
      </p:sp>
      <p:sp>
        <p:nvSpPr>
          <p:cNvPr id="1001" name="Text Box 7"/>
          <p:cNvSpPr/>
          <p:nvPr/>
        </p:nvSpPr>
        <p:spPr>
          <a:xfrm>
            <a:off x="457200" y="2971800"/>
            <a:ext cx="464796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This design can be readily generalized to a larger number of inputs</a:t>
            </a:r>
            <a:endParaRPr lang="en-US" sz="2000" b="0" u="none" strike="noStrike">
              <a:solidFill>
                <a:srgbClr val="000000"/>
              </a:solidFill>
              <a:effectLst/>
              <a:uFillTx/>
              <a:latin typeface="Times New Roman"/>
            </a:endParaRPr>
          </a:p>
        </p:txBody>
      </p:sp>
      <p:grpSp>
        <p:nvGrpSpPr>
          <p:cNvPr id="1002" name="Group 8"/>
          <p:cNvGrpSpPr/>
          <p:nvPr/>
        </p:nvGrpSpPr>
        <p:grpSpPr>
          <a:xfrm>
            <a:off x="4724280" y="1828800"/>
            <a:ext cx="3962520" cy="1371600"/>
            <a:chOff x="4724280" y="1828800"/>
            <a:chExt cx="3962520" cy="1371600"/>
          </a:xfrm>
        </p:grpSpPr>
        <p:sp>
          <p:nvSpPr>
            <p:cNvPr id="1003" name="Line 9"/>
            <p:cNvSpPr/>
            <p:nvPr/>
          </p:nvSpPr>
          <p:spPr>
            <a:xfrm>
              <a:off x="8153280" y="2819160"/>
              <a:ext cx="4572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04" name="Line 10"/>
            <p:cNvSpPr/>
            <p:nvPr/>
          </p:nvSpPr>
          <p:spPr>
            <a:xfrm>
              <a:off x="5181480" y="2133360"/>
              <a:ext cx="14479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05" name="Line 11"/>
            <p:cNvSpPr/>
            <p:nvPr/>
          </p:nvSpPr>
          <p:spPr>
            <a:xfrm flipV="1">
              <a:off x="7086600" y="2361600"/>
              <a:ext cx="0" cy="22860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06" name="Line 12"/>
            <p:cNvSpPr/>
            <p:nvPr/>
          </p:nvSpPr>
          <p:spPr>
            <a:xfrm>
              <a:off x="5181480" y="3047760"/>
              <a:ext cx="266688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07" name="Line 13"/>
            <p:cNvSpPr/>
            <p:nvPr/>
          </p:nvSpPr>
          <p:spPr>
            <a:xfrm flipH="1">
              <a:off x="4724280" y="2590560"/>
              <a:ext cx="3124080" cy="0"/>
            </a:xfrm>
            <a:prstGeom prst="line">
              <a:avLst/>
            </a:prstGeom>
            <a:ln w="9360">
              <a:solidFill>
                <a:srgbClr val="000000"/>
              </a:solidFill>
              <a:miter/>
              <a:head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08" name="Line 14"/>
            <p:cNvSpPr/>
            <p:nvPr/>
          </p:nvSpPr>
          <p:spPr>
            <a:xfrm>
              <a:off x="5181480" y="213336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09" name="Rectangle 15"/>
            <p:cNvSpPr/>
            <p:nvPr/>
          </p:nvSpPr>
          <p:spPr>
            <a:xfrm>
              <a:off x="5562360" y="2438280"/>
              <a:ext cx="60984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1010" name="Rectangle 16"/>
            <p:cNvSpPr/>
            <p:nvPr/>
          </p:nvSpPr>
          <p:spPr>
            <a:xfrm>
              <a:off x="5562360" y="2895480"/>
              <a:ext cx="60984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1011" name="Rectangle 17"/>
            <p:cNvSpPr/>
            <p:nvPr/>
          </p:nvSpPr>
          <p:spPr>
            <a:xfrm>
              <a:off x="5562360" y="1981080"/>
              <a:ext cx="609840" cy="30492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sp>
          <p:nvSpPr>
            <p:cNvPr id="1012" name="Text Box 18"/>
            <p:cNvSpPr/>
            <p:nvPr/>
          </p:nvSpPr>
          <p:spPr>
            <a:xfrm>
              <a:off x="6248160" y="1828800"/>
              <a:ext cx="457200" cy="3711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x</a:t>
              </a:r>
              <a:r>
                <a:rPr lang="en-US" sz="1600" b="0" u="none" strike="noStrike" baseline="-25000">
                  <a:solidFill>
                    <a:srgbClr val="000000"/>
                  </a:solidFill>
                  <a:effectLst/>
                  <a:uFillTx/>
                  <a:latin typeface="Arial"/>
                  <a:ea typeface="Times New Roman"/>
                </a:rPr>
                <a:t>1</a:t>
              </a:r>
              <a:endParaRPr lang="en-US" sz="1600" b="0" u="none" strike="noStrike">
                <a:solidFill>
                  <a:srgbClr val="000000"/>
                </a:solidFill>
                <a:effectLst/>
                <a:uFillTx/>
                <a:latin typeface="Times New Roman"/>
              </a:endParaRPr>
            </a:p>
          </p:txBody>
        </p:sp>
        <p:sp>
          <p:nvSpPr>
            <p:cNvPr id="1013" name="Text Box 19"/>
            <p:cNvSpPr/>
            <p:nvPr/>
          </p:nvSpPr>
          <p:spPr>
            <a:xfrm>
              <a:off x="6248160" y="2286000"/>
              <a:ext cx="457200" cy="3711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x</a:t>
              </a:r>
              <a:r>
                <a:rPr lang="en-US" sz="1600" b="0" u="none" strike="noStrike" baseline="-25000">
                  <a:solidFill>
                    <a:srgbClr val="000000"/>
                  </a:solidFill>
                  <a:effectLst/>
                  <a:uFillTx/>
                  <a:latin typeface="Arial"/>
                  <a:ea typeface="Times New Roman"/>
                </a:rPr>
                <a:t>2</a:t>
              </a:r>
              <a:endParaRPr lang="en-US" sz="1600" b="0" u="none" strike="noStrike">
                <a:solidFill>
                  <a:srgbClr val="000000"/>
                </a:solidFill>
                <a:effectLst/>
                <a:uFillTx/>
                <a:latin typeface="Times New Roman"/>
              </a:endParaRPr>
            </a:p>
          </p:txBody>
        </p:sp>
        <p:sp>
          <p:nvSpPr>
            <p:cNvPr id="1014" name="Text Box 20"/>
            <p:cNvSpPr/>
            <p:nvPr/>
          </p:nvSpPr>
          <p:spPr>
            <a:xfrm>
              <a:off x="6248160" y="2743200"/>
              <a:ext cx="457200" cy="3711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x</a:t>
              </a:r>
              <a:r>
                <a:rPr lang="en-US" sz="1600" b="0" u="none" strike="noStrike" baseline="-25000">
                  <a:solidFill>
                    <a:srgbClr val="000000"/>
                  </a:solidFill>
                  <a:effectLst/>
                  <a:uFillTx/>
                  <a:latin typeface="Arial"/>
                  <a:ea typeface="Times New Roman"/>
                </a:rPr>
                <a:t>3</a:t>
              </a:r>
              <a:endParaRPr lang="en-US" sz="1600" b="0" u="none" strike="noStrike">
                <a:solidFill>
                  <a:srgbClr val="000000"/>
                </a:solidFill>
                <a:effectLst/>
                <a:uFillTx/>
                <a:latin typeface="Times New Roman"/>
              </a:endParaRPr>
            </a:p>
          </p:txBody>
        </p:sp>
        <p:sp>
          <p:nvSpPr>
            <p:cNvPr id="1015" name="Text Box 21"/>
            <p:cNvSpPr/>
            <p:nvPr/>
          </p:nvSpPr>
          <p:spPr>
            <a:xfrm>
              <a:off x="8229600" y="2514600"/>
              <a:ext cx="45720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 y</a:t>
              </a:r>
              <a:endParaRPr lang="en-US" sz="1600" b="0" u="none" strike="noStrike">
                <a:solidFill>
                  <a:srgbClr val="000000"/>
                </a:solidFill>
                <a:effectLst/>
                <a:uFillTx/>
                <a:latin typeface="Times New Roman"/>
              </a:endParaRPr>
            </a:p>
          </p:txBody>
        </p:sp>
        <p:grpSp>
          <p:nvGrpSpPr>
            <p:cNvPr id="1016" name="Group 22"/>
            <p:cNvGrpSpPr/>
            <p:nvPr/>
          </p:nvGrpSpPr>
          <p:grpSpPr>
            <a:xfrm>
              <a:off x="6555600" y="1904760"/>
              <a:ext cx="956880" cy="457200"/>
              <a:chOff x="6555600" y="1904760"/>
              <a:chExt cx="956880" cy="457200"/>
            </a:xfrm>
          </p:grpSpPr>
          <p:sp>
            <p:nvSpPr>
              <p:cNvPr id="1017" name="Oval 23"/>
              <p:cNvSpPr/>
              <p:nvPr/>
            </p:nvSpPr>
            <p:spPr>
              <a:xfrm>
                <a:off x="6629040" y="1904760"/>
                <a:ext cx="83844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018" name="Text Box 24"/>
              <p:cNvSpPr/>
              <p:nvPr/>
            </p:nvSpPr>
            <p:spPr>
              <a:xfrm>
                <a:off x="6555600" y="1981080"/>
                <a:ext cx="95688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Compare</a:t>
                </a:r>
                <a:endParaRPr lang="en-US" sz="1400" b="0" u="none" strike="noStrike">
                  <a:solidFill>
                    <a:srgbClr val="000000"/>
                  </a:solidFill>
                  <a:effectLst/>
                  <a:uFillTx/>
                  <a:latin typeface="Times New Roman"/>
                </a:endParaRPr>
              </a:p>
            </p:txBody>
          </p:sp>
        </p:grpSp>
        <p:sp>
          <p:nvSpPr>
            <p:cNvPr id="1019" name="AutoShape 25"/>
            <p:cNvSpPr/>
            <p:nvPr/>
          </p:nvSpPr>
          <p:spPr>
            <a:xfrm rot="16200000">
              <a:off x="7620480" y="2665800"/>
              <a:ext cx="762120" cy="306360"/>
            </a:xfrm>
            <a:custGeom>
              <a:avLst/>
              <a:gdLst>
                <a:gd name="textAreaLeft" fmla="*/ 158760 w 762120"/>
                <a:gd name="textAreaRight" fmla="*/ 603360 w 762120"/>
                <a:gd name="textAreaTop" fmla="*/ 63360 h 306360"/>
                <a:gd name="textAreaBottom" fmla="*/ 243000 h 306360"/>
                <a:gd name="GluePoint1X" fmla="*/ 0 w 21600"/>
                <a:gd name="GluePoint1Y" fmla="*/ 0 h 21600"/>
                <a:gd name="GluePoint2X" fmla="*/ 0 w 21600"/>
                <a:gd name="GluePoint2Y" fmla="*/ 0 h 21600"/>
                <a:gd name="GluePoint3X" fmla="*/ 0 w 21600"/>
                <a:gd name="GluePoint3Y" fmla="*/ 0 h 21600"/>
                <a:gd name="GluePoint4X" fmla="*/ 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0" y="0"/>
                  </a:moveTo>
                  <a:lnTo>
                    <a:pt x="5400" y="21600"/>
                  </a:lnTo>
                  <a:lnTo>
                    <a:pt x="16200" y="21600"/>
                  </a:lnTo>
                  <a:lnTo>
                    <a:pt x="21600" y="0"/>
                  </a:lnTo>
                  <a:lnTo>
                    <a:pt x="0" y="0"/>
                  </a:lnTo>
                  <a:close/>
                </a:path>
              </a:pathLst>
            </a:cu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endParaRPr lang="en-US" sz="2400" b="0" u="none" strike="noStrike">
                <a:solidFill>
                  <a:srgbClr val="000000"/>
                </a:solidFill>
                <a:effectLst/>
                <a:uFillTx/>
                <a:latin typeface="Times New Roman"/>
              </a:endParaRPr>
            </a:p>
          </p:txBody>
        </p:sp>
        <p:sp>
          <p:nvSpPr>
            <p:cNvPr id="1020" name="Line 26"/>
            <p:cNvSpPr/>
            <p:nvPr/>
          </p:nvSpPr>
          <p:spPr>
            <a:xfrm>
              <a:off x="7467480" y="2133360"/>
              <a:ext cx="5335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21" name="Line 27"/>
            <p:cNvSpPr/>
            <p:nvPr/>
          </p:nvSpPr>
          <p:spPr>
            <a:xfrm>
              <a:off x="8001000" y="2133360"/>
              <a:ext cx="0" cy="381240"/>
            </a:xfrm>
            <a:prstGeom prst="line">
              <a:avLst/>
            </a:prstGeom>
            <a:ln w="9360">
              <a:solidFill>
                <a:srgbClr val="000000"/>
              </a:solidFill>
              <a:prstDash val="dash"/>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22" name="Text Box 28"/>
            <p:cNvSpPr/>
            <p:nvPr/>
          </p:nvSpPr>
          <p:spPr>
            <a:xfrm>
              <a:off x="7696080" y="2514600"/>
              <a:ext cx="457200" cy="6426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ea typeface="Times New Roman"/>
                </a:rPr>
                <a:t>0</a:t>
              </a:r>
              <a:endParaRPr lang="en-US" sz="12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ea typeface="Times New Roman"/>
                </a:rPr>
                <a:t>1</a:t>
              </a:r>
              <a:endParaRPr lang="en-US" sz="1200" b="0" u="none" strike="noStrike">
                <a:solidFill>
                  <a:srgbClr val="000000"/>
                </a:solidFill>
                <a:effectLst/>
                <a:uFillTx/>
                <a:latin typeface="Times New Roman"/>
              </a:endParaRPr>
            </a:p>
          </p:txBody>
        </p:sp>
        <p:sp>
          <p:nvSpPr>
            <p:cNvPr id="1023" name="Text Box 29"/>
            <p:cNvSpPr/>
            <p:nvPr/>
          </p:nvSpPr>
          <p:spPr>
            <a:xfrm>
              <a:off x="7391160" y="1904760"/>
              <a:ext cx="914400" cy="27684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ea typeface="Times New Roman"/>
                </a:rPr>
                <a:t>Disagree</a:t>
              </a:r>
              <a:endParaRPr lang="en-US" sz="1200" b="0" u="none" strike="noStrike">
                <a:solidFill>
                  <a:srgbClr val="000000"/>
                </a:solidFill>
                <a:effectLst/>
                <a:uFillTx/>
                <a:latin typeface="Times New Roman"/>
              </a:endParaRPr>
            </a:p>
          </p:txBody>
        </p:sp>
      </p:grpSp>
      <p:sp>
        <p:nvSpPr>
          <p:cNvPr id="1024" name="Text Box 30"/>
          <p:cNvSpPr/>
          <p:nvPr/>
        </p:nvSpPr>
        <p:spPr>
          <a:xfrm>
            <a:off x="457200" y="1143000"/>
            <a:ext cx="784836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We begin with some simple voting unit designs:</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5" name="Slide Number Placeholder 6"/>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41C557AF-A1FA-48F9-8EA6-DB7655255FAC}"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026"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027" name="PlaceHolder 1"/>
          <p:cNvSpPr>
            <a:spLocks noGrp="1"/>
          </p:cNvSpPr>
          <p:nvPr>
            <p:ph type="title"/>
          </p:nvPr>
        </p:nvSpPr>
        <p:spPr>
          <a:xfrm>
            <a:off x="609480" y="228240"/>
            <a:ext cx="77724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Implementing a Bit-Voting Unit</a:t>
            </a:r>
            <a:endParaRPr lang="en-US" sz="3200" b="0" u="none" strike="noStrike">
              <a:solidFill>
                <a:srgbClr val="000000"/>
              </a:solidFill>
              <a:effectLst/>
              <a:uFillTx/>
              <a:latin typeface="Arial"/>
            </a:endParaRPr>
          </a:p>
        </p:txBody>
      </p:sp>
      <p:sp>
        <p:nvSpPr>
          <p:cNvPr id="1028" name="Text Box 4"/>
          <p:cNvSpPr/>
          <p:nvPr/>
        </p:nvSpPr>
        <p:spPr>
          <a:xfrm>
            <a:off x="457200" y="914400"/>
            <a:ext cx="4952880" cy="10494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TMR bit-voting: </a:t>
            </a:r>
            <a:r>
              <a:rPr lang="en-US" sz="2000" b="0" i="1" u="none" strike="noStrike">
                <a:solidFill>
                  <a:srgbClr val="000000"/>
                </a:solidFill>
                <a:effectLst/>
                <a:uFillTx/>
                <a:latin typeface="Arial"/>
                <a:ea typeface="Times New Roman"/>
              </a:rPr>
              <a:t>y</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1</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2</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2</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3</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3</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(carry output of a single-bit full-adder)</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What about 5MR, 7MR?</a:t>
            </a:r>
            <a:endParaRPr lang="en-US" sz="2000" b="0" u="none" strike="noStrike">
              <a:solidFill>
                <a:srgbClr val="000000"/>
              </a:solidFill>
              <a:effectLst/>
              <a:uFillTx/>
              <a:latin typeface="Times New Roman"/>
            </a:endParaRPr>
          </a:p>
        </p:txBody>
      </p:sp>
      <p:grpSp>
        <p:nvGrpSpPr>
          <p:cNvPr id="1029" name="Group 5"/>
          <p:cNvGrpSpPr/>
          <p:nvPr/>
        </p:nvGrpSpPr>
        <p:grpSpPr>
          <a:xfrm>
            <a:off x="5410080" y="1143000"/>
            <a:ext cx="3589920" cy="1218960"/>
            <a:chOff x="5410080" y="1143000"/>
            <a:chExt cx="3589920" cy="1218960"/>
          </a:xfrm>
        </p:grpSpPr>
        <p:grpSp>
          <p:nvGrpSpPr>
            <p:cNvPr id="1030" name="Group 6"/>
            <p:cNvGrpSpPr/>
            <p:nvPr/>
          </p:nvGrpSpPr>
          <p:grpSpPr>
            <a:xfrm>
              <a:off x="5410080" y="1143000"/>
              <a:ext cx="3047760" cy="1218960"/>
              <a:chOff x="5410080" y="1143000"/>
              <a:chExt cx="3047760" cy="1218960"/>
            </a:xfrm>
          </p:grpSpPr>
          <p:sp>
            <p:nvSpPr>
              <p:cNvPr id="1031" name="Line 7"/>
              <p:cNvSpPr/>
              <p:nvPr/>
            </p:nvSpPr>
            <p:spPr>
              <a:xfrm>
                <a:off x="5410080" y="1752480"/>
                <a:ext cx="30477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32" name="Line 8"/>
              <p:cNvSpPr/>
              <p:nvPr/>
            </p:nvSpPr>
            <p:spPr>
              <a:xfrm>
                <a:off x="5943240" y="129528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33" name="Line 9"/>
              <p:cNvSpPr/>
              <p:nvPr/>
            </p:nvSpPr>
            <p:spPr>
              <a:xfrm>
                <a:off x="7162560" y="129528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34" name="Line 10"/>
              <p:cNvSpPr/>
              <p:nvPr/>
            </p:nvSpPr>
            <p:spPr>
              <a:xfrm>
                <a:off x="5943240" y="220968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35" name="Line 11"/>
              <p:cNvSpPr/>
              <p:nvPr/>
            </p:nvSpPr>
            <p:spPr>
              <a:xfrm flipH="1">
                <a:off x="7162560" y="175248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36" name="Oval 12"/>
              <p:cNvSpPr/>
              <p:nvPr/>
            </p:nvSpPr>
            <p:spPr>
              <a:xfrm>
                <a:off x="7467480" y="152388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1037" name="Line 13"/>
              <p:cNvSpPr/>
              <p:nvPr/>
            </p:nvSpPr>
            <p:spPr>
              <a:xfrm>
                <a:off x="5943240" y="129528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38" name="Rectangle 14"/>
              <p:cNvSpPr/>
              <p:nvPr/>
            </p:nvSpPr>
            <p:spPr>
              <a:xfrm>
                <a:off x="6324480" y="16002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1039" name="Rectangle 15"/>
              <p:cNvSpPr/>
              <p:nvPr/>
            </p:nvSpPr>
            <p:spPr>
              <a:xfrm>
                <a:off x="6324480" y="20574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1040" name="Rectangle 16"/>
              <p:cNvSpPr/>
              <p:nvPr/>
            </p:nvSpPr>
            <p:spPr>
              <a:xfrm>
                <a:off x="6324480" y="114300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grpSp>
        <p:sp>
          <p:nvSpPr>
            <p:cNvPr id="1041" name="Text Box 17"/>
            <p:cNvSpPr/>
            <p:nvPr/>
          </p:nvSpPr>
          <p:spPr>
            <a:xfrm>
              <a:off x="7698960" y="1295280"/>
              <a:ext cx="13010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Bit-voting unit</a:t>
              </a:r>
              <a:endParaRPr lang="en-US" sz="1400" b="0" u="none" strike="noStrike">
                <a:solidFill>
                  <a:srgbClr val="000000"/>
                </a:solidFill>
                <a:effectLst/>
                <a:uFillTx/>
                <a:latin typeface="Times New Roman"/>
              </a:endParaRPr>
            </a:p>
          </p:txBody>
        </p:sp>
      </p:grpSp>
      <p:sp>
        <p:nvSpPr>
          <p:cNvPr id="1042" name="Text Box 18"/>
          <p:cNvSpPr/>
          <p:nvPr/>
        </p:nvSpPr>
        <p:spPr>
          <a:xfrm>
            <a:off x="7162560" y="1066680"/>
            <a:ext cx="457200" cy="3711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x</a:t>
            </a:r>
            <a:r>
              <a:rPr lang="en-US" sz="1600" b="0" u="none" strike="noStrike" baseline="-25000">
                <a:solidFill>
                  <a:srgbClr val="000000"/>
                </a:solidFill>
                <a:effectLst/>
                <a:uFillTx/>
                <a:latin typeface="Arial"/>
                <a:ea typeface="Times New Roman"/>
              </a:rPr>
              <a:t>1</a:t>
            </a:r>
            <a:endParaRPr lang="en-US" sz="1600" b="0" u="none" strike="noStrike">
              <a:solidFill>
                <a:srgbClr val="000000"/>
              </a:solidFill>
              <a:effectLst/>
              <a:uFillTx/>
              <a:latin typeface="Times New Roman"/>
            </a:endParaRPr>
          </a:p>
        </p:txBody>
      </p:sp>
      <p:sp>
        <p:nvSpPr>
          <p:cNvPr id="1043" name="Text Box 19"/>
          <p:cNvSpPr/>
          <p:nvPr/>
        </p:nvSpPr>
        <p:spPr>
          <a:xfrm>
            <a:off x="7010280" y="1447560"/>
            <a:ext cx="457200" cy="3711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x</a:t>
            </a:r>
            <a:r>
              <a:rPr lang="en-US" sz="1600" b="0" u="none" strike="noStrike" baseline="-25000">
                <a:solidFill>
                  <a:srgbClr val="000000"/>
                </a:solidFill>
                <a:effectLst/>
                <a:uFillTx/>
                <a:latin typeface="Arial"/>
                <a:ea typeface="Times New Roman"/>
              </a:rPr>
              <a:t>2</a:t>
            </a:r>
            <a:endParaRPr lang="en-US" sz="1600" b="0" u="none" strike="noStrike">
              <a:solidFill>
                <a:srgbClr val="000000"/>
              </a:solidFill>
              <a:effectLst/>
              <a:uFillTx/>
              <a:latin typeface="Times New Roman"/>
            </a:endParaRPr>
          </a:p>
        </p:txBody>
      </p:sp>
      <p:sp>
        <p:nvSpPr>
          <p:cNvPr id="1044" name="Text Box 20"/>
          <p:cNvSpPr/>
          <p:nvPr/>
        </p:nvSpPr>
        <p:spPr>
          <a:xfrm>
            <a:off x="7238880" y="1981080"/>
            <a:ext cx="457200" cy="3711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x</a:t>
            </a:r>
            <a:r>
              <a:rPr lang="en-US" sz="1600" b="0" u="none" strike="noStrike" baseline="-25000">
                <a:solidFill>
                  <a:srgbClr val="000000"/>
                </a:solidFill>
                <a:effectLst/>
                <a:uFillTx/>
                <a:latin typeface="Arial"/>
                <a:ea typeface="Times New Roman"/>
              </a:rPr>
              <a:t>3</a:t>
            </a:r>
            <a:endParaRPr lang="en-US" sz="1600" b="0" u="none" strike="noStrike">
              <a:solidFill>
                <a:srgbClr val="000000"/>
              </a:solidFill>
              <a:effectLst/>
              <a:uFillTx/>
              <a:latin typeface="Times New Roman"/>
            </a:endParaRPr>
          </a:p>
        </p:txBody>
      </p:sp>
      <p:sp>
        <p:nvSpPr>
          <p:cNvPr id="1045" name="Text Box 21"/>
          <p:cNvSpPr/>
          <p:nvPr/>
        </p:nvSpPr>
        <p:spPr>
          <a:xfrm>
            <a:off x="8001000" y="1676160"/>
            <a:ext cx="45720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u="none" strike="noStrike">
                <a:solidFill>
                  <a:srgbClr val="000000"/>
                </a:solidFill>
                <a:effectLst/>
                <a:uFillTx/>
                <a:latin typeface="Arial"/>
                <a:ea typeface="Times New Roman"/>
              </a:rPr>
              <a:t> y</a:t>
            </a:r>
            <a:endParaRPr lang="en-US" sz="1600" b="0" u="none" strike="noStrike">
              <a:solidFill>
                <a:srgbClr val="000000"/>
              </a:solidFill>
              <a:effectLst/>
              <a:uFillTx/>
              <a:latin typeface="Times New Roman"/>
            </a:endParaRPr>
          </a:p>
        </p:txBody>
      </p:sp>
      <p:sp>
        <p:nvSpPr>
          <p:cNvPr id="1046" name="Text Box 22"/>
          <p:cNvSpPr/>
          <p:nvPr/>
        </p:nvSpPr>
        <p:spPr>
          <a:xfrm>
            <a:off x="457200" y="2438280"/>
            <a:ext cx="6705360" cy="1312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Other designs are also possible</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Arithmetic: add the bits, compare to threshold</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Mux-based</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Selection-based (majority of bit values is their median)</a:t>
            </a:r>
            <a:endParaRPr lang="en-US" sz="2000" b="0" u="none" strike="noStrike">
              <a:solidFill>
                <a:srgbClr val="000000"/>
              </a:solidFill>
              <a:effectLst/>
              <a:uFillTx/>
              <a:latin typeface="Times New Roman"/>
            </a:endParaRPr>
          </a:p>
        </p:txBody>
      </p:sp>
      <p:grpSp>
        <p:nvGrpSpPr>
          <p:cNvPr id="1047" name="Group 31"/>
          <p:cNvGrpSpPr/>
          <p:nvPr/>
        </p:nvGrpSpPr>
        <p:grpSpPr>
          <a:xfrm>
            <a:off x="304560" y="3809880"/>
            <a:ext cx="3505320" cy="2345400"/>
            <a:chOff x="304560" y="3809880"/>
            <a:chExt cx="3505320" cy="2345400"/>
          </a:xfrm>
        </p:grpSpPr>
        <p:pic>
          <p:nvPicPr>
            <p:cNvPr id="1048" name="Picture 24"/>
            <p:cNvPicPr/>
            <p:nvPr/>
          </p:nvPicPr>
          <p:blipFill>
            <a:blip r:embed="rId1"/>
            <a:stretch/>
          </p:blipFill>
          <p:spPr>
            <a:xfrm rot="21459600">
              <a:off x="532800" y="4112640"/>
              <a:ext cx="3124440" cy="1979640"/>
            </a:xfrm>
            <a:prstGeom prst="rect">
              <a:avLst/>
            </a:prstGeom>
            <a:noFill/>
            <a:ln w="38160">
              <a:noFill/>
            </a:ln>
          </p:spPr>
        </p:pic>
        <p:sp>
          <p:nvSpPr>
            <p:cNvPr id="1049" name="Text Box 25"/>
            <p:cNvSpPr/>
            <p:nvPr/>
          </p:nvSpPr>
          <p:spPr>
            <a:xfrm>
              <a:off x="304560" y="3809880"/>
              <a:ext cx="3505320" cy="307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Times New Roman"/>
                </a:rPr>
                <a:t>3-out-of-5 voting unit built of 2-input gates</a:t>
              </a:r>
              <a:endParaRPr lang="en-US" sz="1400" b="0" u="none" strike="noStrike">
                <a:solidFill>
                  <a:srgbClr val="000000"/>
                </a:solidFill>
                <a:effectLst/>
                <a:uFillTx/>
                <a:latin typeface="Times New Roman"/>
              </a:endParaRPr>
            </a:p>
          </p:txBody>
        </p:sp>
      </p:grpSp>
      <p:grpSp>
        <p:nvGrpSpPr>
          <p:cNvPr id="1050" name="Group 26"/>
          <p:cNvGrpSpPr/>
          <p:nvPr/>
        </p:nvGrpSpPr>
        <p:grpSpPr>
          <a:xfrm>
            <a:off x="3809880" y="3809880"/>
            <a:ext cx="5029200" cy="2189160"/>
            <a:chOff x="3809880" y="3809880"/>
            <a:chExt cx="5029200" cy="2189160"/>
          </a:xfrm>
        </p:grpSpPr>
        <p:pic>
          <p:nvPicPr>
            <p:cNvPr id="1051" name="Picture 27"/>
            <p:cNvPicPr/>
            <p:nvPr/>
          </p:nvPicPr>
          <p:blipFill>
            <a:blip r:embed="rId2"/>
            <a:stretch/>
          </p:blipFill>
          <p:spPr>
            <a:xfrm>
              <a:off x="3809880" y="4190760"/>
              <a:ext cx="5029200" cy="1808280"/>
            </a:xfrm>
            <a:prstGeom prst="rect">
              <a:avLst/>
            </a:prstGeom>
            <a:noFill/>
            <a:ln w="38160">
              <a:noFill/>
            </a:ln>
          </p:spPr>
        </p:pic>
        <p:sp>
          <p:nvSpPr>
            <p:cNvPr id="1052" name="Text Box 28"/>
            <p:cNvSpPr/>
            <p:nvPr/>
          </p:nvSpPr>
          <p:spPr>
            <a:xfrm>
              <a:off x="4038480" y="3809880"/>
              <a:ext cx="4495680" cy="307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Times New Roman"/>
                </a:rPr>
                <a:t>Two mux-based designs for a 3-out-of-5 bit-voting unit</a:t>
              </a:r>
              <a:endParaRPr lang="en-US" sz="1400" b="0" u="none" strike="noStrike">
                <a:solidFill>
                  <a:srgbClr val="000000"/>
                </a:solidFill>
                <a:effectLst/>
                <a:uFillTx/>
                <a:latin typeface="Times New Roman"/>
              </a:endParaRPr>
            </a:p>
          </p:txBody>
        </p:sp>
      </p:grpSp>
      <p:sp>
        <p:nvSpPr>
          <p:cNvPr id="1053" name="Text Box 29"/>
          <p:cNvSpPr/>
          <p:nvPr/>
        </p:nvSpPr>
        <p:spPr>
          <a:xfrm>
            <a:off x="457200" y="1981080"/>
            <a:ext cx="601956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Gate-level design quickly explodes in size</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668FC782-6834-4909-A3C2-D5450EC74724}"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055"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056" name="PlaceHolder 1"/>
          <p:cNvSpPr>
            <a:spLocks noGrp="1"/>
          </p:cNvSpPr>
          <p:nvPr>
            <p:ph type="title"/>
          </p:nvPr>
        </p:nvSpPr>
        <p:spPr>
          <a:xfrm>
            <a:off x="228600" y="304560"/>
            <a:ext cx="8686800" cy="60984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Complexity of Different Bit-Voting Unit Designs</a:t>
            </a:r>
            <a:endParaRPr lang="en-US" sz="3200" b="0" u="none" strike="noStrike">
              <a:solidFill>
                <a:srgbClr val="000000"/>
              </a:solidFill>
              <a:effectLst/>
              <a:uFillTx/>
              <a:latin typeface="Arial"/>
            </a:endParaRPr>
          </a:p>
        </p:txBody>
      </p:sp>
      <p:pic>
        <p:nvPicPr>
          <p:cNvPr id="1057" name="Picture 4"/>
          <p:cNvPicPr/>
          <p:nvPr/>
        </p:nvPicPr>
        <p:blipFill>
          <a:blip r:embed="rId1"/>
          <a:stretch/>
        </p:blipFill>
        <p:spPr>
          <a:xfrm>
            <a:off x="1523880" y="990360"/>
            <a:ext cx="6095880" cy="4678560"/>
          </a:xfrm>
          <a:prstGeom prst="rect">
            <a:avLst/>
          </a:prstGeom>
          <a:noFill/>
          <a:ln w="38160">
            <a:noFill/>
          </a:ln>
        </p:spPr>
      </p:pic>
      <p:sp>
        <p:nvSpPr>
          <p:cNvPr id="1058" name="Text Box 5"/>
          <p:cNvSpPr/>
          <p:nvPr/>
        </p:nvSpPr>
        <p:spPr>
          <a:xfrm>
            <a:off x="457200" y="5638680"/>
            <a:ext cx="815328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Cost of majority bit-voting units as a function of the number </a:t>
            </a:r>
            <a:r>
              <a:rPr lang="en-US" sz="2000" b="0" i="1" u="none" strike="noStrike">
                <a:solidFill>
                  <a:srgbClr val="000000"/>
                </a:solidFill>
                <a:effectLst/>
                <a:uFillTx/>
                <a:latin typeface="Arial"/>
                <a:ea typeface="Arial"/>
              </a:rPr>
              <a:t>n</a:t>
            </a:r>
            <a:r>
              <a:rPr lang="en-US" sz="2000" b="0" u="none" strike="noStrike">
                <a:solidFill>
                  <a:srgbClr val="000000"/>
                </a:solidFill>
                <a:effectLst/>
                <a:uFillTx/>
                <a:latin typeface="Arial"/>
                <a:ea typeface="Arial"/>
              </a:rPr>
              <a:t> of inputs</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A8CE071B-8CFB-4BA8-BB69-53E3D6C823FE}"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060"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061" name="PlaceHolder 1"/>
          <p:cNvSpPr>
            <a:spLocks noGrp="1"/>
          </p:cNvSpPr>
          <p:nvPr>
            <p:ph type="title"/>
          </p:nvPr>
        </p:nvSpPr>
        <p:spPr>
          <a:xfrm>
            <a:off x="228600" y="304560"/>
            <a:ext cx="8686800" cy="60984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Majority-Friendly Nanotechnologies</a:t>
            </a:r>
            <a:endParaRPr lang="en-US" sz="3200" b="0" u="none" strike="noStrike">
              <a:solidFill>
                <a:srgbClr val="000000"/>
              </a:solidFill>
              <a:effectLst/>
              <a:uFillTx/>
              <a:latin typeface="Arial"/>
            </a:endParaRPr>
          </a:p>
        </p:txBody>
      </p:sp>
      <p:sp>
        <p:nvSpPr>
          <p:cNvPr id="1062" name="Text Box 5"/>
          <p:cNvSpPr/>
          <p:nvPr/>
        </p:nvSpPr>
        <p:spPr>
          <a:xfrm>
            <a:off x="685800" y="1066680"/>
            <a:ext cx="815328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Certain new nanotechnologies offer efficient majority gates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Can we use majority gates as building-blocks in realizing voters?</a:t>
            </a:r>
            <a:endParaRPr lang="en-US" sz="2000" b="0" u="none" strike="noStrike">
              <a:solidFill>
                <a:srgbClr val="000000"/>
              </a:solidFill>
              <a:effectLst/>
              <a:uFillTx/>
              <a:latin typeface="Times New Roman"/>
            </a:endParaRPr>
          </a:p>
        </p:txBody>
      </p:sp>
      <p:pic>
        <p:nvPicPr>
          <p:cNvPr id="1063" name="Picture 2"/>
          <p:cNvPicPr/>
          <p:nvPr/>
        </p:nvPicPr>
        <p:blipFill>
          <a:blip r:embed="rId1"/>
          <a:stretch/>
        </p:blipFill>
        <p:spPr>
          <a:xfrm>
            <a:off x="2133360" y="2665080"/>
            <a:ext cx="5257800" cy="3289320"/>
          </a:xfrm>
          <a:prstGeom prst="rect">
            <a:avLst/>
          </a:prstGeom>
          <a:noFill/>
          <a:ln w="3816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4" name="Footer Placeholder 4"/>
          <p:cNvSpPr/>
          <p:nvPr/>
        </p:nvSpPr>
        <p:spPr>
          <a:xfrm>
            <a:off x="2209680" y="6248160"/>
            <a:ext cx="4572000" cy="457200"/>
          </a:xfrm>
          <a:prstGeom prst="rect">
            <a:avLst/>
          </a:prstGeom>
          <a:noFill/>
          <a:ln w="38160">
            <a:noFill/>
          </a:ln>
        </p:spPr>
        <p:style>
          <a:lnRef idx="0"/>
          <a:fillRef idx="0"/>
          <a:effectRef idx="0"/>
          <a:fontRef idx="minor"/>
        </p:style>
        <p:txBody>
          <a:bodyPr lIns="90000" tIns="46800" rIns="90000" bIns="46800" anchor="t">
            <a:norm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Part III – Faults: Logical Deviations</a:t>
            </a:r>
            <a:endParaRPr lang="en-US" sz="1200" b="0" u="none" strike="noStrike">
              <a:solidFill>
                <a:srgbClr val="000000"/>
              </a:solidFill>
              <a:effectLst/>
              <a:uFillTx/>
              <a:latin typeface="Times New Roman"/>
            </a:endParaRPr>
          </a:p>
        </p:txBody>
      </p:sp>
      <p:sp>
        <p:nvSpPr>
          <p:cNvPr id="1065"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DB0C8CFC-287B-4A6C-A2F2-BB92BF4F5823}"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066"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067" name="PlaceHolder 1"/>
          <p:cNvSpPr>
            <a:spLocks noGrp="1"/>
          </p:cNvSpPr>
          <p:nvPr>
            <p:ph type="title"/>
          </p:nvPr>
        </p:nvSpPr>
        <p:spPr>
          <a:xfrm>
            <a:off x="228600" y="304560"/>
            <a:ext cx="8686800" cy="60984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Recursive Construction of Large Voters</a:t>
            </a:r>
            <a:endParaRPr lang="en-US" sz="3200" b="0" u="none" strike="noStrike">
              <a:solidFill>
                <a:srgbClr val="000000"/>
              </a:solidFill>
              <a:effectLst/>
              <a:uFillTx/>
              <a:latin typeface="Arial"/>
            </a:endParaRPr>
          </a:p>
        </p:txBody>
      </p:sp>
      <p:pic>
        <p:nvPicPr>
          <p:cNvPr id="1068" name="Picture 1"/>
          <p:cNvPicPr/>
          <p:nvPr/>
        </p:nvPicPr>
        <p:blipFill>
          <a:blip r:embed="rId1"/>
          <a:stretch/>
        </p:blipFill>
        <p:spPr>
          <a:xfrm>
            <a:off x="3854160" y="3217680"/>
            <a:ext cx="5029200" cy="2954520"/>
          </a:xfrm>
          <a:prstGeom prst="rect">
            <a:avLst/>
          </a:prstGeom>
          <a:noFill/>
          <a:ln w="38160">
            <a:noFill/>
          </a:ln>
        </p:spPr>
      </p:pic>
      <p:pic>
        <p:nvPicPr>
          <p:cNvPr id="1069" name="Picture 2"/>
          <p:cNvPicPr/>
          <p:nvPr/>
        </p:nvPicPr>
        <p:blipFill>
          <a:blip r:embed="rId2"/>
          <a:stretch/>
        </p:blipFill>
        <p:spPr>
          <a:xfrm>
            <a:off x="380880" y="1035000"/>
            <a:ext cx="5162400" cy="1981080"/>
          </a:xfrm>
          <a:prstGeom prst="rect">
            <a:avLst/>
          </a:prstGeom>
          <a:noFill/>
          <a:ln w="38160">
            <a:noFill/>
          </a:ln>
        </p:spPr>
      </p:pic>
      <p:sp>
        <p:nvSpPr>
          <p:cNvPr id="1070" name="Text Box 4"/>
          <p:cNvSpPr/>
          <p:nvPr/>
        </p:nvSpPr>
        <p:spPr>
          <a:xfrm>
            <a:off x="6095880" y="1096920"/>
            <a:ext cx="2546280" cy="19213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At-least-</a:t>
            </a:r>
            <a:r>
              <a:rPr lang="en-US" sz="2000" b="0" i="1" u="none" strike="noStrike">
                <a:solidFill>
                  <a:srgbClr val="000000"/>
                </a:solidFill>
                <a:effectLst/>
                <a:uFillTx/>
                <a:latin typeface="Arial"/>
                <a:ea typeface="Times New Roman"/>
              </a:rPr>
              <a:t>l</a:t>
            </a:r>
            <a:r>
              <a:rPr lang="en-US" sz="2000" b="0" u="none" strike="noStrike">
                <a:solidFill>
                  <a:srgbClr val="000000"/>
                </a:solidFill>
                <a:effectLst/>
                <a:uFillTx/>
                <a:latin typeface="Arial"/>
                <a:ea typeface="Times New Roman"/>
              </a:rPr>
              <a:t>-out-of-</a:t>
            </a:r>
            <a:r>
              <a:rPr lang="en-US" sz="2000" b="0" i="1" u="none" strike="noStrike">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 threshold counting network built from a multiplexer and two smaller threshold counting networks</a:t>
            </a:r>
            <a:endParaRPr lang="en-US" sz="2000" b="0" u="none" strike="noStrike">
              <a:solidFill>
                <a:srgbClr val="000000"/>
              </a:solidFill>
              <a:effectLst/>
              <a:uFillTx/>
              <a:latin typeface="Times New Roman"/>
            </a:endParaRPr>
          </a:p>
        </p:txBody>
      </p:sp>
      <p:sp>
        <p:nvSpPr>
          <p:cNvPr id="1071" name="Text Box 4"/>
          <p:cNvSpPr/>
          <p:nvPr/>
        </p:nvSpPr>
        <p:spPr>
          <a:xfrm>
            <a:off x="563400" y="3371760"/>
            <a:ext cx="220644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Recursively-built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5-out-of-9 voter</a:t>
            </a:r>
            <a:endParaRPr lang="en-US" sz="2000" b="0" u="none" strike="noStrike">
              <a:solidFill>
                <a:srgbClr val="000000"/>
              </a:solidFill>
              <a:effectLst/>
              <a:uFillTx/>
              <a:latin typeface="Times New Roman"/>
            </a:endParaRPr>
          </a:p>
        </p:txBody>
      </p:sp>
      <p:sp>
        <p:nvSpPr>
          <p:cNvPr id="1072" name="Text Box 4"/>
          <p:cNvSpPr/>
          <p:nvPr/>
        </p:nvSpPr>
        <p:spPr>
          <a:xfrm>
            <a:off x="2712960" y="5095800"/>
            <a:ext cx="114768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1</a:t>
            </a:r>
            <a:r>
              <a:rPr lang="en-US" sz="2000" b="0" u="none" strike="noStrike">
                <a:solidFill>
                  <a:srgbClr val="000000"/>
                </a:solidFill>
                <a:effectLst/>
                <a:uFillTx/>
                <a:latin typeface="Arial"/>
              </a:rPr>
              <a:t>, </a:t>
            </a: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2</a:t>
            </a:r>
            <a:r>
              <a:rPr lang="en-US" sz="2000" b="0" u="none" strike="noStrike">
                <a:solidFill>
                  <a:srgbClr val="000000"/>
                </a:solidFill>
                <a:effectLst/>
                <a:uFillTx/>
                <a:latin typeface="Arial"/>
              </a:rPr>
              <a:t>, </a:t>
            </a: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3</a:t>
            </a:r>
            <a:endParaRPr lang="en-US" sz="2000" b="0" u="none" strike="noStrike">
              <a:solidFill>
                <a:srgbClr val="000000"/>
              </a:solidFill>
              <a:effectLst/>
              <a:uFillTx/>
              <a:latin typeface="Times New Roman"/>
            </a:endParaRPr>
          </a:p>
        </p:txBody>
      </p:sp>
      <p:sp>
        <p:nvSpPr>
          <p:cNvPr id="1073" name="Text Box 4"/>
          <p:cNvSpPr/>
          <p:nvPr/>
        </p:nvSpPr>
        <p:spPr>
          <a:xfrm>
            <a:off x="2705040" y="3819240"/>
            <a:ext cx="114912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1</a:t>
            </a:r>
            <a:r>
              <a:rPr lang="en-US" sz="2000" b="0" u="none" strike="noStrike">
                <a:solidFill>
                  <a:srgbClr val="000000"/>
                </a:solidFill>
                <a:effectLst/>
                <a:uFillTx/>
                <a:latin typeface="Arial"/>
              </a:rPr>
              <a:t>, </a:t>
            </a: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2</a:t>
            </a:r>
            <a:r>
              <a:rPr lang="en-US" sz="2000" b="0" u="none" strike="noStrike">
                <a:solidFill>
                  <a:srgbClr val="000000"/>
                </a:solidFill>
                <a:effectLst/>
                <a:uFillTx/>
                <a:latin typeface="Arial"/>
              </a:rPr>
              <a:t>, </a:t>
            </a: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3</a:t>
            </a:r>
            <a:endParaRPr lang="en-US" sz="2000" b="0" u="none" strike="noStrike">
              <a:solidFill>
                <a:srgbClr val="000000"/>
              </a:solidFill>
              <a:effectLst/>
              <a:uFillTx/>
              <a:latin typeface="Times New Roman"/>
            </a:endParaRPr>
          </a:p>
        </p:txBody>
      </p:sp>
      <p:sp>
        <p:nvSpPr>
          <p:cNvPr id="1074" name="Text Box 4"/>
          <p:cNvSpPr/>
          <p:nvPr/>
        </p:nvSpPr>
        <p:spPr>
          <a:xfrm>
            <a:off x="2712960" y="4449600"/>
            <a:ext cx="114768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1</a:t>
            </a:r>
            <a:r>
              <a:rPr lang="en-US" sz="2000" b="0" u="none" strike="noStrike">
                <a:solidFill>
                  <a:srgbClr val="000000"/>
                </a:solidFill>
                <a:effectLst/>
                <a:uFillTx/>
                <a:latin typeface="Arial"/>
              </a:rPr>
              <a:t>, </a:t>
            </a: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2</a:t>
            </a:r>
            <a:r>
              <a:rPr lang="en-US" sz="2000" b="0" u="none" strike="noStrike">
                <a:solidFill>
                  <a:srgbClr val="000000"/>
                </a:solidFill>
                <a:effectLst/>
                <a:uFillTx/>
                <a:latin typeface="Arial"/>
              </a:rPr>
              <a:t>, </a:t>
            </a: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3</a:t>
            </a:r>
            <a:endParaRPr lang="en-US" sz="2000" b="0" u="none" strike="noStrike">
              <a:solidFill>
                <a:srgbClr val="000000"/>
              </a:solidFill>
              <a:effectLst/>
              <a:uFillTx/>
              <a:latin typeface="Times New Roman"/>
            </a:endParaRPr>
          </a:p>
        </p:txBody>
      </p:sp>
      <p:sp>
        <p:nvSpPr>
          <p:cNvPr id="1075" name="Text Box 4"/>
          <p:cNvSpPr/>
          <p:nvPr/>
        </p:nvSpPr>
        <p:spPr>
          <a:xfrm>
            <a:off x="4993920" y="3857400"/>
            <a:ext cx="4413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4</a:t>
            </a:r>
            <a:endParaRPr lang="en-US" sz="2000" b="0" u="none" strike="noStrike">
              <a:solidFill>
                <a:srgbClr val="000000"/>
              </a:solidFill>
              <a:effectLst/>
              <a:uFillTx/>
              <a:latin typeface="Times New Roman"/>
            </a:endParaRPr>
          </a:p>
        </p:txBody>
      </p:sp>
      <p:sp>
        <p:nvSpPr>
          <p:cNvPr id="1076" name="Text Box 4"/>
          <p:cNvSpPr/>
          <p:nvPr/>
        </p:nvSpPr>
        <p:spPr>
          <a:xfrm>
            <a:off x="5008320" y="4518000"/>
            <a:ext cx="4413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4</a:t>
            </a:r>
            <a:endParaRPr lang="en-US" sz="2000" b="0" u="none" strike="noStrike">
              <a:solidFill>
                <a:srgbClr val="000000"/>
              </a:solidFill>
              <a:effectLst/>
              <a:uFillTx/>
              <a:latin typeface="Times New Roman"/>
            </a:endParaRPr>
          </a:p>
        </p:txBody>
      </p:sp>
      <p:sp>
        <p:nvSpPr>
          <p:cNvPr id="1077" name="Text Box 4"/>
          <p:cNvSpPr/>
          <p:nvPr/>
        </p:nvSpPr>
        <p:spPr>
          <a:xfrm>
            <a:off x="8237520" y="4187520"/>
            <a:ext cx="44100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9</a:t>
            </a:r>
            <a:endParaRPr lang="en-US" sz="2000" b="0" u="none" strike="noStrike">
              <a:solidFill>
                <a:srgbClr val="000000"/>
              </a:solidFill>
              <a:effectLst/>
              <a:uFillTx/>
              <a:latin typeface="Times New Roman"/>
            </a:endParaRPr>
          </a:p>
        </p:txBody>
      </p:sp>
      <p:sp>
        <p:nvSpPr>
          <p:cNvPr id="1078" name="Text Box 4"/>
          <p:cNvSpPr/>
          <p:nvPr/>
        </p:nvSpPr>
        <p:spPr>
          <a:xfrm>
            <a:off x="6332400" y="3278160"/>
            <a:ext cx="4413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6</a:t>
            </a:r>
            <a:endParaRPr lang="en-US" sz="2000" b="0" u="none" strike="noStrike">
              <a:solidFill>
                <a:srgbClr val="000000"/>
              </a:solidFill>
              <a:effectLst/>
              <a:uFillTx/>
              <a:latin typeface="Times New Roman"/>
            </a:endParaRPr>
          </a:p>
        </p:txBody>
      </p:sp>
      <p:sp>
        <p:nvSpPr>
          <p:cNvPr id="1079" name="Text Box 4"/>
          <p:cNvSpPr/>
          <p:nvPr/>
        </p:nvSpPr>
        <p:spPr>
          <a:xfrm>
            <a:off x="6362640" y="3922560"/>
            <a:ext cx="4413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6</a:t>
            </a:r>
            <a:endParaRPr lang="en-US" sz="2000" b="0" u="none" strike="noStrike">
              <a:solidFill>
                <a:srgbClr val="000000"/>
              </a:solidFill>
              <a:effectLst/>
              <a:uFillTx/>
              <a:latin typeface="Times New Roman"/>
            </a:endParaRPr>
          </a:p>
        </p:txBody>
      </p:sp>
      <p:sp>
        <p:nvSpPr>
          <p:cNvPr id="1080" name="Text Box 4"/>
          <p:cNvSpPr/>
          <p:nvPr/>
        </p:nvSpPr>
        <p:spPr>
          <a:xfrm>
            <a:off x="7602480" y="3857400"/>
            <a:ext cx="4395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8</a:t>
            </a:r>
            <a:endParaRPr lang="en-US" sz="2000" b="0" u="none" strike="noStrike">
              <a:solidFill>
                <a:srgbClr val="000000"/>
              </a:solidFill>
              <a:effectLst/>
              <a:uFillTx/>
              <a:latin typeface="Times New Roman"/>
            </a:endParaRPr>
          </a:p>
        </p:txBody>
      </p:sp>
      <p:sp>
        <p:nvSpPr>
          <p:cNvPr id="1081" name="Text Box 4"/>
          <p:cNvSpPr/>
          <p:nvPr/>
        </p:nvSpPr>
        <p:spPr>
          <a:xfrm>
            <a:off x="7616520" y="4518000"/>
            <a:ext cx="43992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8</a:t>
            </a:r>
            <a:endParaRPr lang="en-US" sz="2000" b="0" u="none" strike="noStrike">
              <a:solidFill>
                <a:srgbClr val="000000"/>
              </a:solidFill>
              <a:effectLst/>
              <a:uFillTx/>
              <a:latin typeface="Times New Roman"/>
            </a:endParaRPr>
          </a:p>
        </p:txBody>
      </p:sp>
      <p:sp>
        <p:nvSpPr>
          <p:cNvPr id="1082" name="Text Box 4"/>
          <p:cNvSpPr/>
          <p:nvPr/>
        </p:nvSpPr>
        <p:spPr>
          <a:xfrm>
            <a:off x="4190760" y="3371760"/>
            <a:ext cx="43992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4</a:t>
            </a:r>
            <a:endParaRPr lang="en-US" sz="2000" b="0" u="none" strike="noStrike">
              <a:solidFill>
                <a:srgbClr val="000000"/>
              </a:solidFill>
              <a:effectLst/>
              <a:uFillTx/>
              <a:latin typeface="Times New Roman"/>
            </a:endParaRPr>
          </a:p>
        </p:txBody>
      </p:sp>
      <p:sp>
        <p:nvSpPr>
          <p:cNvPr id="1083" name="Text Box 4"/>
          <p:cNvSpPr/>
          <p:nvPr/>
        </p:nvSpPr>
        <p:spPr>
          <a:xfrm>
            <a:off x="4190760" y="5422680"/>
            <a:ext cx="43992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u="none" strike="noStrike" baseline="-25000">
                <a:solidFill>
                  <a:srgbClr val="000000"/>
                </a:solidFill>
                <a:effectLst/>
                <a:uFillTx/>
                <a:latin typeface="Arial"/>
              </a:rPr>
              <a:t>4</a:t>
            </a:r>
            <a:endParaRPr lang="en-US" sz="2000" b="0" u="none" strike="noStrike">
              <a:solidFill>
                <a:srgbClr val="000000"/>
              </a:solidFill>
              <a:effectLst/>
              <a:uFillTx/>
              <a:latin typeface="Times New Roman"/>
            </a:endParaRPr>
          </a:p>
        </p:txBody>
      </p:sp>
      <p:sp>
        <p:nvSpPr>
          <p:cNvPr id="1084" name="Text Box 4"/>
          <p:cNvSpPr/>
          <p:nvPr/>
        </p:nvSpPr>
        <p:spPr>
          <a:xfrm>
            <a:off x="5671800" y="3587400"/>
            <a:ext cx="43992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5</a:t>
            </a:r>
            <a:endParaRPr lang="en-US" sz="2000" b="0" u="none" strike="noStrike">
              <a:solidFill>
                <a:srgbClr val="000000"/>
              </a:solidFill>
              <a:effectLst/>
              <a:uFillTx/>
              <a:latin typeface="Times New Roman"/>
            </a:endParaRPr>
          </a:p>
        </p:txBody>
      </p:sp>
      <p:sp>
        <p:nvSpPr>
          <p:cNvPr id="1085" name="Text Box 4"/>
          <p:cNvSpPr/>
          <p:nvPr/>
        </p:nvSpPr>
        <p:spPr>
          <a:xfrm>
            <a:off x="5686200" y="4249440"/>
            <a:ext cx="43992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5</a:t>
            </a:r>
            <a:endParaRPr lang="en-US" sz="2000" b="0" u="none" strike="noStrike">
              <a:solidFill>
                <a:srgbClr val="000000"/>
              </a:solidFill>
              <a:effectLst/>
              <a:uFillTx/>
              <a:latin typeface="Times New Roman"/>
            </a:endParaRPr>
          </a:p>
        </p:txBody>
      </p:sp>
      <p:sp>
        <p:nvSpPr>
          <p:cNvPr id="1086" name="Text Box 4"/>
          <p:cNvSpPr/>
          <p:nvPr/>
        </p:nvSpPr>
        <p:spPr>
          <a:xfrm>
            <a:off x="5684760" y="4854240"/>
            <a:ext cx="4395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5</a:t>
            </a:r>
            <a:endParaRPr lang="en-US" sz="2000" b="0" u="none" strike="noStrike">
              <a:solidFill>
                <a:srgbClr val="000000"/>
              </a:solidFill>
              <a:effectLst/>
              <a:uFillTx/>
              <a:latin typeface="Times New Roman"/>
            </a:endParaRPr>
          </a:p>
        </p:txBody>
      </p:sp>
      <p:sp>
        <p:nvSpPr>
          <p:cNvPr id="1087" name="Text Box 4"/>
          <p:cNvSpPr/>
          <p:nvPr/>
        </p:nvSpPr>
        <p:spPr>
          <a:xfrm>
            <a:off x="4789440" y="5715000"/>
            <a:ext cx="4395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5</a:t>
            </a:r>
            <a:endParaRPr lang="en-US" sz="2000" b="0" u="none" strike="noStrike">
              <a:solidFill>
                <a:srgbClr val="000000"/>
              </a:solidFill>
              <a:effectLst/>
              <a:uFillTx/>
              <a:latin typeface="Times New Roman"/>
            </a:endParaRPr>
          </a:p>
        </p:txBody>
      </p:sp>
      <p:sp>
        <p:nvSpPr>
          <p:cNvPr id="1088" name="Text Box 4"/>
          <p:cNvSpPr/>
          <p:nvPr/>
        </p:nvSpPr>
        <p:spPr>
          <a:xfrm>
            <a:off x="4827240" y="3089160"/>
            <a:ext cx="4413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5</a:t>
            </a:r>
            <a:endParaRPr lang="en-US" sz="2000" b="0" u="none" strike="noStrike">
              <a:solidFill>
                <a:srgbClr val="000000"/>
              </a:solidFill>
              <a:effectLst/>
              <a:uFillTx/>
              <a:latin typeface="Times New Roman"/>
            </a:endParaRPr>
          </a:p>
        </p:txBody>
      </p:sp>
      <p:sp>
        <p:nvSpPr>
          <p:cNvPr id="1089" name="Text Box 4"/>
          <p:cNvSpPr/>
          <p:nvPr/>
        </p:nvSpPr>
        <p:spPr>
          <a:xfrm>
            <a:off x="6354720" y="4519440"/>
            <a:ext cx="4395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6</a:t>
            </a:r>
            <a:endParaRPr lang="en-US" sz="2000" b="0" u="none" strike="noStrike">
              <a:solidFill>
                <a:srgbClr val="000000"/>
              </a:solidFill>
              <a:effectLst/>
              <a:uFillTx/>
              <a:latin typeface="Times New Roman"/>
            </a:endParaRPr>
          </a:p>
        </p:txBody>
      </p:sp>
      <p:sp>
        <p:nvSpPr>
          <p:cNvPr id="1090" name="Text Box 4"/>
          <p:cNvSpPr/>
          <p:nvPr/>
        </p:nvSpPr>
        <p:spPr>
          <a:xfrm>
            <a:off x="6384600" y="5163840"/>
            <a:ext cx="43992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6</a:t>
            </a:r>
            <a:endParaRPr lang="en-US" sz="2000" b="0" u="none" strike="noStrike">
              <a:solidFill>
                <a:srgbClr val="000000"/>
              </a:solidFill>
              <a:effectLst/>
              <a:uFillTx/>
              <a:latin typeface="Times New Roman"/>
            </a:endParaRPr>
          </a:p>
        </p:txBody>
      </p:sp>
      <p:sp>
        <p:nvSpPr>
          <p:cNvPr id="1091" name="Text Box 4"/>
          <p:cNvSpPr/>
          <p:nvPr/>
        </p:nvSpPr>
        <p:spPr>
          <a:xfrm>
            <a:off x="7008480" y="3592440"/>
            <a:ext cx="4413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7</a:t>
            </a:r>
            <a:endParaRPr lang="en-US" sz="2000" b="0" u="none" strike="noStrike">
              <a:solidFill>
                <a:srgbClr val="000000"/>
              </a:solidFill>
              <a:effectLst/>
              <a:uFillTx/>
              <a:latin typeface="Times New Roman"/>
            </a:endParaRPr>
          </a:p>
        </p:txBody>
      </p:sp>
      <p:sp>
        <p:nvSpPr>
          <p:cNvPr id="1092" name="Text Box 4"/>
          <p:cNvSpPr/>
          <p:nvPr/>
        </p:nvSpPr>
        <p:spPr>
          <a:xfrm>
            <a:off x="7038720" y="4236840"/>
            <a:ext cx="4413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7</a:t>
            </a:r>
            <a:endParaRPr lang="en-US" sz="2000" b="0" u="none" strike="noStrike">
              <a:solidFill>
                <a:srgbClr val="000000"/>
              </a:solidFill>
              <a:effectLst/>
              <a:uFillTx/>
              <a:latin typeface="Times New Roman"/>
            </a:endParaRPr>
          </a:p>
        </p:txBody>
      </p:sp>
      <p:sp>
        <p:nvSpPr>
          <p:cNvPr id="1093" name="Text Box 4"/>
          <p:cNvSpPr/>
          <p:nvPr/>
        </p:nvSpPr>
        <p:spPr>
          <a:xfrm>
            <a:off x="7030800" y="4833720"/>
            <a:ext cx="44136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rPr>
              <a:t>x</a:t>
            </a:r>
            <a:r>
              <a:rPr lang="en-US" sz="2000" b="0" i="1" u="none" strike="noStrike" baseline="-25000">
                <a:solidFill>
                  <a:srgbClr val="000000"/>
                </a:solidFill>
                <a:effectLst/>
                <a:uFillTx/>
                <a:latin typeface="Arial"/>
              </a:rPr>
              <a:t>7</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4"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96CD01F6-9D52-4E85-AC06-04F0A453DA21}"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095"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096" name="PlaceHolder 1"/>
          <p:cNvSpPr>
            <a:spLocks noGrp="1"/>
          </p:cNvSpPr>
          <p:nvPr>
            <p:ph type="title"/>
          </p:nvPr>
        </p:nvSpPr>
        <p:spPr>
          <a:xfrm>
            <a:off x="685800" y="152280"/>
            <a:ext cx="777240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Voting at the Word Level</a:t>
            </a:r>
            <a:endParaRPr lang="en-US" sz="3200" b="0" u="none" strike="noStrike">
              <a:solidFill>
                <a:srgbClr val="000000"/>
              </a:solidFill>
              <a:effectLst/>
              <a:uFillTx/>
              <a:latin typeface="Arial"/>
            </a:endParaRPr>
          </a:p>
        </p:txBody>
      </p:sp>
      <p:sp>
        <p:nvSpPr>
          <p:cNvPr id="1097" name="Text Box 4"/>
          <p:cNvSpPr/>
          <p:nvPr/>
        </p:nvSpPr>
        <p:spPr>
          <a:xfrm>
            <a:off x="609480" y="1066680"/>
            <a:ext cx="609588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Using bit-by-bit voting may be dangerous</a:t>
            </a:r>
            <a:endParaRPr lang="en-US" sz="2000" b="0" u="none" strike="noStrike">
              <a:solidFill>
                <a:srgbClr val="000000"/>
              </a:solidFill>
              <a:effectLst/>
              <a:uFillTx/>
              <a:latin typeface="Times New Roman"/>
            </a:endParaRPr>
          </a:p>
        </p:txBody>
      </p:sp>
      <p:sp>
        <p:nvSpPr>
          <p:cNvPr id="1098" name="Text Box 5"/>
          <p:cNvSpPr/>
          <p:nvPr/>
        </p:nvSpPr>
        <p:spPr>
          <a:xfrm>
            <a:off x="609480" y="1752480"/>
            <a:ext cx="563868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One might think that in this example, any of the module outputs could be correct, so that producing  1 0  at the output isn’t all that wrong</a:t>
            </a:r>
            <a:endParaRPr lang="en-US" sz="2000" b="0" u="none" strike="noStrike">
              <a:solidFill>
                <a:srgbClr val="000000"/>
              </a:solidFill>
              <a:effectLst/>
              <a:uFillTx/>
              <a:latin typeface="Times New Roman"/>
            </a:endParaRPr>
          </a:p>
        </p:txBody>
      </p:sp>
      <p:grpSp>
        <p:nvGrpSpPr>
          <p:cNvPr id="1099" name="Group 6"/>
          <p:cNvGrpSpPr/>
          <p:nvPr/>
        </p:nvGrpSpPr>
        <p:grpSpPr>
          <a:xfrm>
            <a:off x="7086600" y="1066680"/>
            <a:ext cx="1218960" cy="1479240"/>
            <a:chOff x="7086600" y="1066680"/>
            <a:chExt cx="1218960" cy="1479240"/>
          </a:xfrm>
        </p:grpSpPr>
        <p:sp>
          <p:nvSpPr>
            <p:cNvPr id="1100" name="Text Box 7"/>
            <p:cNvSpPr/>
            <p:nvPr/>
          </p:nvSpPr>
          <p:spPr>
            <a:xfrm>
              <a:off x="7086600" y="1066680"/>
              <a:ext cx="1218960" cy="14792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1 </a:t>
              </a:r>
              <a:r>
                <a:rPr lang="en-US" sz="2000" b="0" u="none" strike="noStrike">
                  <a:solidFill>
                    <a:srgbClr val="000000"/>
                  </a:solidFill>
                  <a:effectLst/>
                  <a:uFillTx/>
                  <a:latin typeface="Arial"/>
                  <a:ea typeface="Times New Roman"/>
                </a:rPr>
                <a:t>= 0  0</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2 </a:t>
              </a:r>
              <a:r>
                <a:rPr lang="en-US" sz="2000" b="0" u="none" strike="noStrike">
                  <a:solidFill>
                    <a:srgbClr val="000000"/>
                  </a:solidFill>
                  <a:effectLst/>
                  <a:uFillTx/>
                  <a:latin typeface="Arial"/>
                  <a:ea typeface="Times New Roman"/>
                </a:rPr>
                <a:t>= 1  0</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3 </a:t>
              </a:r>
              <a:r>
                <a:rPr lang="en-US" sz="2000" b="0" u="none" strike="noStrike">
                  <a:solidFill>
                    <a:srgbClr val="000000"/>
                  </a:solidFill>
                  <a:effectLst/>
                  <a:uFillTx/>
                  <a:latin typeface="Arial"/>
                  <a:ea typeface="Times New Roman"/>
                </a:rPr>
                <a:t>= 1  1</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y</a:t>
              </a:r>
              <a:r>
                <a:rPr lang="en-US" sz="2000" b="0" u="none" strike="noStrike" baseline="-25000">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1  0</a:t>
              </a:r>
              <a:endParaRPr lang="en-US" sz="2000" b="0" u="none" strike="noStrike">
                <a:solidFill>
                  <a:srgbClr val="000000"/>
                </a:solidFill>
                <a:effectLst/>
                <a:uFillTx/>
                <a:latin typeface="Times New Roman"/>
              </a:endParaRPr>
            </a:p>
          </p:txBody>
        </p:sp>
        <p:sp>
          <p:nvSpPr>
            <p:cNvPr id="1101" name="Line 8"/>
            <p:cNvSpPr/>
            <p:nvPr/>
          </p:nvSpPr>
          <p:spPr>
            <a:xfrm>
              <a:off x="7162560" y="2045520"/>
              <a:ext cx="9144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1102" name="Text Box 9"/>
          <p:cNvSpPr/>
          <p:nvPr/>
        </p:nvSpPr>
        <p:spPr>
          <a:xfrm>
            <a:off x="609480" y="2971800"/>
            <a:ext cx="563868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However, with bit-by-bit voting, the output may be different from all inputs</a:t>
            </a:r>
            <a:endParaRPr lang="en-US" sz="2000" b="0" u="none" strike="noStrike">
              <a:solidFill>
                <a:srgbClr val="000000"/>
              </a:solidFill>
              <a:effectLst/>
              <a:uFillTx/>
              <a:latin typeface="Times New Roman"/>
            </a:endParaRPr>
          </a:p>
        </p:txBody>
      </p:sp>
      <p:grpSp>
        <p:nvGrpSpPr>
          <p:cNvPr id="1103" name="Group 10"/>
          <p:cNvGrpSpPr/>
          <p:nvPr/>
        </p:nvGrpSpPr>
        <p:grpSpPr>
          <a:xfrm>
            <a:off x="6858000" y="2590560"/>
            <a:ext cx="1676160" cy="1479240"/>
            <a:chOff x="6858000" y="2590560"/>
            <a:chExt cx="1676160" cy="1479240"/>
          </a:xfrm>
        </p:grpSpPr>
        <p:sp>
          <p:nvSpPr>
            <p:cNvPr id="1104" name="Text Box 11"/>
            <p:cNvSpPr/>
            <p:nvPr/>
          </p:nvSpPr>
          <p:spPr>
            <a:xfrm>
              <a:off x="6858000" y="2590560"/>
              <a:ext cx="1676160" cy="14792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1 </a:t>
              </a:r>
              <a:r>
                <a:rPr lang="en-US" sz="2000" b="0" u="none" strike="noStrike">
                  <a:solidFill>
                    <a:srgbClr val="000000"/>
                  </a:solidFill>
                  <a:effectLst/>
                  <a:uFillTx/>
                  <a:latin typeface="Arial"/>
                  <a:ea typeface="Times New Roman"/>
                </a:rPr>
                <a:t>= 0  0  0</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2 </a:t>
              </a:r>
              <a:r>
                <a:rPr lang="en-US" sz="2000" b="0" u="none" strike="noStrike">
                  <a:solidFill>
                    <a:srgbClr val="000000"/>
                  </a:solidFill>
                  <a:effectLst/>
                  <a:uFillTx/>
                  <a:latin typeface="Arial"/>
                  <a:ea typeface="Times New Roman"/>
                </a:rPr>
                <a:t>= 1  0  1</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3 </a:t>
              </a:r>
              <a:r>
                <a:rPr lang="en-US" sz="2000" b="0" u="none" strike="noStrike">
                  <a:solidFill>
                    <a:srgbClr val="000000"/>
                  </a:solidFill>
                  <a:effectLst/>
                  <a:uFillTx/>
                  <a:latin typeface="Arial"/>
                  <a:ea typeface="Times New Roman"/>
                </a:rPr>
                <a:t>= 1  1  0</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y</a:t>
              </a:r>
              <a:r>
                <a:rPr lang="en-US" sz="2000" b="0" u="none" strike="noStrike" baseline="-25000">
                  <a:solidFill>
                    <a:srgbClr val="000000"/>
                  </a:solidFill>
                  <a:effectLst/>
                  <a:uFillTx/>
                  <a:latin typeface="Arial"/>
                  <a:ea typeface="Times New Roman"/>
                </a:rPr>
                <a:t>   </a:t>
              </a:r>
              <a:r>
                <a:rPr lang="en-US" sz="2000" b="0" u="none" strike="noStrike">
                  <a:solidFill>
                    <a:srgbClr val="000000"/>
                  </a:solidFill>
                  <a:effectLst/>
                  <a:uFillTx/>
                  <a:latin typeface="Arial"/>
                  <a:ea typeface="Times New Roman"/>
                </a:rPr>
                <a:t>= 1  0  0</a:t>
              </a:r>
              <a:endParaRPr lang="en-US" sz="2000" b="0" u="none" strike="noStrike">
                <a:solidFill>
                  <a:srgbClr val="000000"/>
                </a:solidFill>
                <a:effectLst/>
                <a:uFillTx/>
                <a:latin typeface="Times New Roman"/>
              </a:endParaRPr>
            </a:p>
          </p:txBody>
        </p:sp>
        <p:sp>
          <p:nvSpPr>
            <p:cNvPr id="1105" name="Line 12"/>
            <p:cNvSpPr/>
            <p:nvPr/>
          </p:nvSpPr>
          <p:spPr>
            <a:xfrm>
              <a:off x="6933960" y="3569400"/>
              <a:ext cx="1256760" cy="1080"/>
            </a:xfrm>
            <a:prstGeom prst="line">
              <a:avLst/>
            </a:prstGeom>
            <a:ln w="9360">
              <a:solidFill>
                <a:srgbClr val="000000"/>
              </a:solidFill>
              <a:miter/>
            </a:ln>
          </p:spPr>
          <p:style>
            <a:lnRef idx="0"/>
            <a:fillRef idx="0"/>
            <a:effectRef idx="0"/>
            <a:fontRef idx="minor"/>
          </p:style>
          <p:txBody>
            <a:bodyPr lIns="90000" tIns="-45720" rIns="90000" bIns="-45720" anchor="t">
              <a:noAutofit/>
            </a:bodyPr>
            <a:p>
              <a:endParaRPr lang="en-US" sz="2400" b="0" u="none" strike="noStrike">
                <a:solidFill>
                  <a:srgbClr val="000000"/>
                </a:solidFill>
                <a:effectLst/>
                <a:uFillTx/>
                <a:latin typeface="Times New Roman"/>
              </a:endParaRPr>
            </a:p>
          </p:txBody>
        </p:sp>
      </p:grpSp>
      <p:sp>
        <p:nvSpPr>
          <p:cNvPr id="1106" name="Text Box 13"/>
          <p:cNvSpPr/>
          <p:nvPr/>
        </p:nvSpPr>
        <p:spPr>
          <a:xfrm>
            <a:off x="609480" y="4114800"/>
            <a:ext cx="647712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Design of bit- and word-voting networks discussed in:</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Parhami, B., “Voting Networks,” </a:t>
            </a:r>
            <a:r>
              <a:rPr lang="en-US" sz="2000" b="0" i="1" u="none" strike="noStrike">
                <a:solidFill>
                  <a:srgbClr val="000000"/>
                </a:solidFill>
                <a:effectLst/>
                <a:uFillTx/>
                <a:latin typeface="Arial"/>
                <a:ea typeface="Times New Roman"/>
              </a:rPr>
              <a:t>IEEE TR</a:t>
            </a:r>
            <a:r>
              <a:rPr lang="en-US" sz="2000" b="0" u="none" strike="noStrike">
                <a:solidFill>
                  <a:srgbClr val="000000"/>
                </a:solidFill>
                <a:effectLst/>
                <a:uFillTx/>
                <a:latin typeface="Arial"/>
                <a:ea typeface="Times New Roman"/>
              </a:rPr>
              <a:t>, Aug. 1991</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7"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DC0FB6FF-E9F6-431C-9E45-BC8AA0D1F160}"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108"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109" name="PlaceHolder 1"/>
          <p:cNvSpPr>
            <a:spLocks noGrp="1"/>
          </p:cNvSpPr>
          <p:nvPr>
            <p:ph type="title"/>
          </p:nvPr>
        </p:nvSpPr>
        <p:spPr>
          <a:xfrm>
            <a:off x="304200" y="152280"/>
            <a:ext cx="8534520" cy="838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Arial"/>
              </a:rPr>
              <a:t>Variations and Design Issues</a:t>
            </a:r>
            <a:endParaRPr lang="en-US" sz="3600" b="0" u="none" strike="noStrike">
              <a:solidFill>
                <a:srgbClr val="000000"/>
              </a:solidFill>
              <a:effectLst/>
              <a:uFillTx/>
              <a:latin typeface="Arial"/>
            </a:endParaRPr>
          </a:p>
        </p:txBody>
      </p:sp>
      <p:grpSp>
        <p:nvGrpSpPr>
          <p:cNvPr id="1110" name="Group 5"/>
          <p:cNvGrpSpPr/>
          <p:nvPr/>
        </p:nvGrpSpPr>
        <p:grpSpPr>
          <a:xfrm>
            <a:off x="5410080" y="1218960"/>
            <a:ext cx="3353760" cy="1218960"/>
            <a:chOff x="5410080" y="1218960"/>
            <a:chExt cx="3353760" cy="1218960"/>
          </a:xfrm>
        </p:grpSpPr>
        <p:grpSp>
          <p:nvGrpSpPr>
            <p:cNvPr id="1111" name="Group 6"/>
            <p:cNvGrpSpPr/>
            <p:nvPr/>
          </p:nvGrpSpPr>
          <p:grpSpPr>
            <a:xfrm>
              <a:off x="5410080" y="1218960"/>
              <a:ext cx="3047760" cy="1218960"/>
              <a:chOff x="5410080" y="1218960"/>
              <a:chExt cx="3047760" cy="1218960"/>
            </a:xfrm>
          </p:grpSpPr>
          <p:sp>
            <p:nvSpPr>
              <p:cNvPr id="1112" name="Line 7"/>
              <p:cNvSpPr/>
              <p:nvPr/>
            </p:nvSpPr>
            <p:spPr>
              <a:xfrm>
                <a:off x="5410080" y="1828440"/>
                <a:ext cx="30477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13" name="Line 8"/>
              <p:cNvSpPr/>
              <p:nvPr/>
            </p:nvSpPr>
            <p:spPr>
              <a:xfrm>
                <a:off x="5943240" y="137124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14" name="Line 9"/>
              <p:cNvSpPr/>
              <p:nvPr/>
            </p:nvSpPr>
            <p:spPr>
              <a:xfrm>
                <a:off x="7162560" y="137124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15" name="Line 10"/>
              <p:cNvSpPr/>
              <p:nvPr/>
            </p:nvSpPr>
            <p:spPr>
              <a:xfrm>
                <a:off x="5943240" y="228564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16" name="Line 11"/>
              <p:cNvSpPr/>
              <p:nvPr/>
            </p:nvSpPr>
            <p:spPr>
              <a:xfrm flipH="1">
                <a:off x="7162560" y="1828440"/>
                <a:ext cx="53352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17" name="Oval 12"/>
              <p:cNvSpPr/>
              <p:nvPr/>
            </p:nvSpPr>
            <p:spPr>
              <a:xfrm>
                <a:off x="7467480" y="1599840"/>
                <a:ext cx="457200" cy="45720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V</a:t>
                </a:r>
                <a:endParaRPr lang="en-US" sz="1800" b="0" u="none" strike="noStrike">
                  <a:solidFill>
                    <a:srgbClr val="000000"/>
                  </a:solidFill>
                  <a:effectLst/>
                  <a:uFillTx/>
                  <a:latin typeface="Times New Roman"/>
                </a:endParaRPr>
              </a:p>
            </p:txBody>
          </p:sp>
          <p:sp>
            <p:nvSpPr>
              <p:cNvPr id="1118" name="Line 13"/>
              <p:cNvSpPr/>
              <p:nvPr/>
            </p:nvSpPr>
            <p:spPr>
              <a:xfrm>
                <a:off x="5943240" y="137124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19" name="Rectangle 14"/>
              <p:cNvSpPr/>
              <p:nvPr/>
            </p:nvSpPr>
            <p:spPr>
              <a:xfrm>
                <a:off x="6324480" y="16761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2</a:t>
                </a:r>
                <a:endParaRPr lang="en-US" sz="2000" b="0" u="none" strike="noStrike">
                  <a:solidFill>
                    <a:srgbClr val="000000"/>
                  </a:solidFill>
                  <a:effectLst/>
                  <a:uFillTx/>
                  <a:latin typeface="Times New Roman"/>
                </a:endParaRPr>
              </a:p>
            </p:txBody>
          </p:sp>
          <p:sp>
            <p:nvSpPr>
              <p:cNvPr id="1120" name="Rectangle 15"/>
              <p:cNvSpPr/>
              <p:nvPr/>
            </p:nvSpPr>
            <p:spPr>
              <a:xfrm>
                <a:off x="6324480" y="21333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3</a:t>
                </a:r>
                <a:endParaRPr lang="en-US" sz="2000" b="0" u="none" strike="noStrike">
                  <a:solidFill>
                    <a:srgbClr val="000000"/>
                  </a:solidFill>
                  <a:effectLst/>
                  <a:uFillTx/>
                  <a:latin typeface="Times New Roman"/>
                </a:endParaRPr>
              </a:p>
            </p:txBody>
          </p:sp>
          <p:sp>
            <p:nvSpPr>
              <p:cNvPr id="1121" name="Rectangle 16"/>
              <p:cNvSpPr/>
              <p:nvPr/>
            </p:nvSpPr>
            <p:spPr>
              <a:xfrm>
                <a:off x="6324480" y="1218960"/>
                <a:ext cx="609480" cy="304560"/>
              </a:xfrm>
              <a:prstGeom prst="rect">
                <a:avLst/>
              </a:prstGeom>
              <a:solidFill>
                <a:srgbClr val="FFCC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Arial"/>
                  </a:rPr>
                  <a:t>1</a:t>
                </a:r>
                <a:endParaRPr lang="en-US" sz="2000" b="0" u="none" strike="noStrike">
                  <a:solidFill>
                    <a:srgbClr val="000000"/>
                  </a:solidFill>
                  <a:effectLst/>
                  <a:uFillTx/>
                  <a:latin typeface="Times New Roman"/>
                </a:endParaRPr>
              </a:p>
            </p:txBody>
          </p:sp>
        </p:grpSp>
        <p:sp>
          <p:nvSpPr>
            <p:cNvPr id="1122" name="Text Box 17"/>
            <p:cNvSpPr/>
            <p:nvPr/>
          </p:nvSpPr>
          <p:spPr>
            <a:xfrm>
              <a:off x="7698600" y="1371600"/>
              <a:ext cx="106524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 Voting unit</a:t>
              </a:r>
              <a:endParaRPr lang="en-US" sz="1400" b="0" u="none" strike="noStrike">
                <a:solidFill>
                  <a:srgbClr val="000000"/>
                </a:solidFill>
                <a:effectLst/>
                <a:uFillTx/>
                <a:latin typeface="Times New Roman"/>
              </a:endParaRPr>
            </a:p>
          </p:txBody>
        </p:sp>
      </p:grpSp>
      <p:sp>
        <p:nvSpPr>
          <p:cNvPr id="1123" name="Text Box 63"/>
          <p:cNvSpPr/>
          <p:nvPr/>
        </p:nvSpPr>
        <p:spPr>
          <a:xfrm>
            <a:off x="457200" y="990360"/>
            <a:ext cx="5029200" cy="824760"/>
          </a:xfrm>
          <a:prstGeom prst="rect">
            <a:avLst/>
          </a:prstGeom>
          <a:noFill/>
          <a:ln w="3816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Times New Roman"/>
              </a:rPr>
              <a:t>NMR/simplex:</a:t>
            </a:r>
            <a:r>
              <a:rPr lang="en-US" sz="2000" b="0" u="none" strike="noStrike">
                <a:solidFill>
                  <a:srgbClr val="000000"/>
                </a:solidFill>
                <a:effectLst/>
                <a:uFillTx/>
                <a:latin typeface="Arial"/>
                <a:ea typeface="Times New Roman"/>
              </a:rPr>
              <a:t> Voting unit is replaced with a unit that can also detects disagreements</a:t>
            </a:r>
            <a:endParaRPr lang="en-US" sz="2000" b="0" u="none" strike="noStrike">
              <a:solidFill>
                <a:srgbClr val="000000"/>
              </a:solidFill>
              <a:effectLst/>
              <a:uFillTx/>
              <a:latin typeface="Times New Roman"/>
            </a:endParaRPr>
          </a:p>
        </p:txBody>
      </p:sp>
      <p:sp>
        <p:nvSpPr>
          <p:cNvPr id="1124" name="Text Box 64"/>
          <p:cNvSpPr/>
          <p:nvPr/>
        </p:nvSpPr>
        <p:spPr>
          <a:xfrm>
            <a:off x="457200" y="1981080"/>
            <a:ext cx="5181480" cy="824760"/>
          </a:xfrm>
          <a:prstGeom prst="rect">
            <a:avLst/>
          </a:prstGeom>
          <a:noFill/>
          <a:ln w="3816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When a faulty unit is detected, that unit and one other unit are removed from service</a:t>
            </a:r>
            <a:endParaRPr lang="en-US" sz="2000" b="0" u="none" strike="noStrike">
              <a:solidFill>
                <a:srgbClr val="000000"/>
              </a:solidFill>
              <a:effectLst/>
              <a:uFillTx/>
              <a:latin typeface="Times New Roman"/>
            </a:endParaRPr>
          </a:p>
        </p:txBody>
      </p:sp>
      <p:sp>
        <p:nvSpPr>
          <p:cNvPr id="1125" name="Text Box 65"/>
          <p:cNvSpPr/>
          <p:nvPr/>
        </p:nvSpPr>
        <p:spPr>
          <a:xfrm>
            <a:off x="457200" y="2971800"/>
            <a:ext cx="8153280" cy="459360"/>
          </a:xfrm>
          <a:prstGeom prst="rect">
            <a:avLst/>
          </a:prstGeom>
          <a:noFill/>
          <a:ln w="3816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This makes all votes unambiguous and also improves systems lifetime</a:t>
            </a:r>
            <a:endParaRPr lang="en-US" sz="2000" b="0" u="none" strike="noStrike">
              <a:solidFill>
                <a:srgbClr val="000000"/>
              </a:solidFill>
              <a:effectLst/>
              <a:uFillTx/>
              <a:latin typeface="Times New Roman"/>
            </a:endParaRPr>
          </a:p>
        </p:txBody>
      </p:sp>
      <p:grpSp>
        <p:nvGrpSpPr>
          <p:cNvPr id="1126" name="Group 143"/>
          <p:cNvGrpSpPr/>
          <p:nvPr/>
        </p:nvGrpSpPr>
        <p:grpSpPr>
          <a:xfrm>
            <a:off x="457200" y="3810600"/>
            <a:ext cx="8229600" cy="2208600"/>
            <a:chOff x="457200" y="3810600"/>
            <a:chExt cx="8229600" cy="2208600"/>
          </a:xfrm>
        </p:grpSpPr>
        <p:sp>
          <p:nvSpPr>
            <p:cNvPr id="1127" name="Text Box 66"/>
            <p:cNvSpPr/>
            <p:nvPr/>
          </p:nvSpPr>
          <p:spPr>
            <a:xfrm>
              <a:off x="457200" y="3886200"/>
              <a:ext cx="4419360" cy="1920960"/>
            </a:xfrm>
            <a:prstGeom prst="rect">
              <a:avLst/>
            </a:prstGeom>
            <a:noFill/>
            <a:ln w="3816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Times New Roman"/>
                </a:rPr>
                <a:t>Self-purging redundancy:</a:t>
              </a:r>
              <a:r>
                <a:rPr lang="en-US" sz="2000" b="0" u="none" strike="noStrike">
                  <a:solidFill>
                    <a:srgbClr val="000000"/>
                  </a:solidFill>
                  <a:effectLst/>
                  <a:uFillTx/>
                  <a:latin typeface="Arial"/>
                  <a:ea typeface="Times New Roman"/>
                </a:rPr>
                <a:t> Modules purged when they disagree with the output and the threshold of the voting unit is adjusted accordingly </a:t>
              </a:r>
              <a:endParaRPr lang="en-US" sz="2000" b="0"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(purged modules produce 0 outputs)</a:t>
              </a:r>
              <a:endParaRPr lang="en-US" sz="2000" b="0" u="none" strike="noStrike">
                <a:solidFill>
                  <a:srgbClr val="000000"/>
                </a:solidFill>
                <a:effectLst/>
                <a:uFillTx/>
                <a:latin typeface="Times New Roman"/>
              </a:endParaRPr>
            </a:p>
          </p:txBody>
        </p:sp>
        <p:grpSp>
          <p:nvGrpSpPr>
            <p:cNvPr id="1128" name="Group 142"/>
            <p:cNvGrpSpPr/>
            <p:nvPr/>
          </p:nvGrpSpPr>
          <p:grpSpPr>
            <a:xfrm>
              <a:off x="5031360" y="3810600"/>
              <a:ext cx="3655440" cy="2208600"/>
              <a:chOff x="5031360" y="3810600"/>
              <a:chExt cx="3655440" cy="2208600"/>
            </a:xfrm>
          </p:grpSpPr>
          <p:sp>
            <p:nvSpPr>
              <p:cNvPr id="1129" name="Line 67"/>
              <p:cNvSpPr/>
              <p:nvPr/>
            </p:nvSpPr>
            <p:spPr>
              <a:xfrm>
                <a:off x="5715000" y="5486040"/>
                <a:ext cx="9144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30" name="Text Box 80"/>
              <p:cNvSpPr/>
              <p:nvPr/>
            </p:nvSpPr>
            <p:spPr>
              <a:xfrm>
                <a:off x="5031360" y="5257440"/>
                <a:ext cx="760680" cy="52020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Module</a:t>
                </a:r>
                <a:endParaRPr lang="en-US" sz="14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output</a:t>
                </a:r>
                <a:endParaRPr lang="en-US" sz="1400" b="0" u="none" strike="noStrike">
                  <a:solidFill>
                    <a:srgbClr val="000000"/>
                  </a:solidFill>
                  <a:effectLst/>
                  <a:uFillTx/>
                  <a:latin typeface="Times New Roman"/>
                </a:endParaRPr>
              </a:p>
            </p:txBody>
          </p:sp>
          <p:sp>
            <p:nvSpPr>
              <p:cNvPr id="1131" name="AutoShape 81"/>
              <p:cNvSpPr/>
              <p:nvPr/>
            </p:nvSpPr>
            <p:spPr>
              <a:xfrm>
                <a:off x="6629400" y="5105160"/>
                <a:ext cx="533160" cy="456840"/>
              </a:xfrm>
              <a:prstGeom prst="flowChartDelay">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132" name="Line 82"/>
              <p:cNvSpPr/>
              <p:nvPr/>
            </p:nvSpPr>
            <p:spPr>
              <a:xfrm flipH="1">
                <a:off x="6400440" y="5181120"/>
                <a:ext cx="2286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33" name="Line 83"/>
              <p:cNvSpPr/>
              <p:nvPr/>
            </p:nvSpPr>
            <p:spPr>
              <a:xfrm flipV="1">
                <a:off x="6400800" y="4876200"/>
                <a:ext cx="0" cy="304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34" name="Line 85"/>
              <p:cNvSpPr/>
              <p:nvPr/>
            </p:nvSpPr>
            <p:spPr>
              <a:xfrm>
                <a:off x="7162560" y="5333760"/>
                <a:ext cx="4572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35" name="Line 86"/>
              <p:cNvSpPr/>
              <p:nvPr/>
            </p:nvSpPr>
            <p:spPr>
              <a:xfrm flipH="1">
                <a:off x="7162200" y="5333760"/>
                <a:ext cx="685800" cy="304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36" name="Line 87"/>
              <p:cNvSpPr/>
              <p:nvPr/>
            </p:nvSpPr>
            <p:spPr>
              <a:xfrm flipV="1">
                <a:off x="7315200" y="5333760"/>
                <a:ext cx="533160" cy="5328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37" name="Line 88"/>
              <p:cNvSpPr/>
              <p:nvPr/>
            </p:nvSpPr>
            <p:spPr>
              <a:xfrm flipV="1">
                <a:off x="7619760" y="5333760"/>
                <a:ext cx="228600" cy="68544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38" name="Line 89"/>
              <p:cNvSpPr/>
              <p:nvPr/>
            </p:nvSpPr>
            <p:spPr>
              <a:xfrm>
                <a:off x="8076960" y="5333760"/>
                <a:ext cx="6098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39" name="Line 90"/>
              <p:cNvSpPr/>
              <p:nvPr/>
            </p:nvSpPr>
            <p:spPr>
              <a:xfrm flipV="1">
                <a:off x="7848360" y="5562000"/>
                <a:ext cx="0" cy="45684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40" name="Oval 75"/>
              <p:cNvSpPr/>
              <p:nvPr/>
            </p:nvSpPr>
            <p:spPr>
              <a:xfrm>
                <a:off x="7619760" y="5105160"/>
                <a:ext cx="457200" cy="456840"/>
              </a:xfrm>
              <a:prstGeom prst="ellipse">
                <a:avLst/>
              </a:prstGeom>
              <a:solidFill>
                <a:srgbClr val="FFFF66"/>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T</a:t>
                </a:r>
                <a:endParaRPr lang="en-US" sz="1800" b="0" u="none" strike="noStrike">
                  <a:solidFill>
                    <a:srgbClr val="000000"/>
                  </a:solidFill>
                  <a:effectLst/>
                  <a:uFillTx/>
                  <a:latin typeface="Times New Roman"/>
                </a:endParaRPr>
              </a:p>
            </p:txBody>
          </p:sp>
          <p:sp>
            <p:nvSpPr>
              <p:cNvPr id="1141" name="Rectangle 79"/>
              <p:cNvSpPr/>
              <p:nvPr/>
            </p:nvSpPr>
            <p:spPr>
              <a:xfrm>
                <a:off x="5867280" y="4266720"/>
                <a:ext cx="685800" cy="60948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142" name="Text Box 84"/>
              <p:cNvSpPr/>
              <p:nvPr/>
            </p:nvSpPr>
            <p:spPr>
              <a:xfrm>
                <a:off x="6249960" y="4571640"/>
                <a:ext cx="318240" cy="3070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Q</a:t>
                </a:r>
                <a:endParaRPr lang="en-US" sz="1400" b="0" u="none" strike="noStrike">
                  <a:solidFill>
                    <a:srgbClr val="000000"/>
                  </a:solidFill>
                  <a:effectLst/>
                  <a:uFillTx/>
                  <a:latin typeface="Times New Roman"/>
                </a:endParaRPr>
              </a:p>
            </p:txBody>
          </p:sp>
          <p:sp>
            <p:nvSpPr>
              <p:cNvPr id="1143" name="Text Box 91"/>
              <p:cNvSpPr/>
              <p:nvPr/>
            </p:nvSpPr>
            <p:spPr>
              <a:xfrm>
                <a:off x="6255000" y="4266720"/>
                <a:ext cx="308520" cy="3070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R</a:t>
                </a:r>
                <a:endParaRPr lang="en-US" sz="1400" b="0" u="none" strike="noStrike">
                  <a:solidFill>
                    <a:srgbClr val="000000"/>
                  </a:solidFill>
                  <a:effectLst/>
                  <a:uFillTx/>
                  <a:latin typeface="Times New Roman"/>
                </a:endParaRPr>
              </a:p>
            </p:txBody>
          </p:sp>
          <p:sp>
            <p:nvSpPr>
              <p:cNvPr id="1144" name="Text Box 92"/>
              <p:cNvSpPr/>
              <p:nvPr/>
            </p:nvSpPr>
            <p:spPr>
              <a:xfrm>
                <a:off x="5869440" y="4266720"/>
                <a:ext cx="29880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S</a:t>
                </a:r>
                <a:endParaRPr lang="en-US" sz="1400" b="0" u="none" strike="noStrike">
                  <a:solidFill>
                    <a:srgbClr val="000000"/>
                  </a:solidFill>
                  <a:effectLst/>
                  <a:uFillTx/>
                  <a:latin typeface="Times New Roman"/>
                </a:endParaRPr>
              </a:p>
            </p:txBody>
          </p:sp>
          <p:sp>
            <p:nvSpPr>
              <p:cNvPr id="1145" name="Line 133"/>
              <p:cNvSpPr/>
              <p:nvPr/>
            </p:nvSpPr>
            <p:spPr>
              <a:xfrm flipV="1">
                <a:off x="6400800" y="4038120"/>
                <a:ext cx="0" cy="22824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46" name="Line 134"/>
              <p:cNvSpPr/>
              <p:nvPr/>
            </p:nvSpPr>
            <p:spPr>
              <a:xfrm>
                <a:off x="6400800" y="4038120"/>
                <a:ext cx="2286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1147" name="Group 136"/>
              <p:cNvGrpSpPr/>
              <p:nvPr/>
            </p:nvGrpSpPr>
            <p:grpSpPr>
              <a:xfrm>
                <a:off x="6629040" y="3810600"/>
                <a:ext cx="591840" cy="481680"/>
                <a:chOff x="6629040" y="3810600"/>
                <a:chExt cx="591840" cy="481680"/>
              </a:xfrm>
            </p:grpSpPr>
            <p:grpSp>
              <p:nvGrpSpPr>
                <p:cNvPr id="1148" name="Group 109"/>
                <p:cNvGrpSpPr/>
                <p:nvPr/>
              </p:nvGrpSpPr>
              <p:grpSpPr>
                <a:xfrm>
                  <a:off x="6629040" y="3810600"/>
                  <a:ext cx="533160" cy="481680"/>
                  <a:chOff x="6629040" y="3810600"/>
                  <a:chExt cx="533160" cy="481680"/>
                </a:xfrm>
              </p:grpSpPr>
              <p:sp>
                <p:nvSpPr>
                  <p:cNvPr id="1149" name="Freeform 110"/>
                  <p:cNvSpPr/>
                  <p:nvPr/>
                </p:nvSpPr>
                <p:spPr>
                  <a:xfrm rot="10800000">
                    <a:off x="7073640" y="3822840"/>
                    <a:ext cx="88560" cy="456840"/>
                  </a:xfrm>
                  <a:custGeom>
                    <a:avLst/>
                    <a:gdLst>
                      <a:gd name="GluePoint1X" fmla="*/ 0 w 56"/>
                      <a:gd name="GluePoint1Y" fmla="*/ 0 h 288"/>
                      <a:gd name="GluePoint2X" fmla="*/ 48 w 56"/>
                      <a:gd name="GluePoint2Y" fmla="*/ 96 h 288"/>
                      <a:gd name="GluePoint3X" fmla="*/ 48 w 56"/>
                      <a:gd name="GluePoint3Y" fmla="*/ 192 h 288"/>
                      <a:gd name="GluePoint4X" fmla="*/ 0 w 56"/>
                      <a:gd name="GluePoint4Y" fmla="*/ 288 h 288"/>
                    </a:gdLst>
                    <a:ahLst/>
                    <a:cxnLst>
                      <a:cxn ang="0">
                        <a:pos x="GluePoint1X" y="GluePoint1Y"/>
                      </a:cxn>
                      <a:cxn ang="0">
                        <a:pos x="GluePoint2X" y="GluePoint2Y"/>
                      </a:cxn>
                      <a:cxn ang="0">
                        <a:pos x="GluePoint3X" y="GluePoint3Y"/>
                      </a:cxn>
                      <a:cxn ang="0">
                        <a:pos x="GluePoint4X" y="GluePoint4Y"/>
                      </a:cxn>
                    </a:cxnLst>
                    <a:rect l="l" t="t" r="r" b="b"/>
                    <a:pathLst>
                      <a:path w="56" h="288">
                        <a:moveTo>
                          <a:pt x="0" y="0"/>
                        </a:moveTo>
                        <a:cubicBezTo>
                          <a:pt x="20" y="32"/>
                          <a:pt x="40" y="64"/>
                          <a:pt x="48" y="96"/>
                        </a:cubicBezTo>
                        <a:cubicBezTo>
                          <a:pt x="56" y="128"/>
                          <a:pt x="56" y="160"/>
                          <a:pt x="48" y="192"/>
                        </a:cubicBezTo>
                        <a:cubicBezTo>
                          <a:pt x="40" y="224"/>
                          <a:pt x="8" y="272"/>
                          <a:pt x="0" y="288"/>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50" name="Freeform 111"/>
                  <p:cNvSpPr/>
                  <p:nvPr/>
                </p:nvSpPr>
                <p:spPr>
                  <a:xfrm rot="10800000">
                    <a:off x="6629040" y="4051080"/>
                    <a:ext cx="533160" cy="241200"/>
                  </a:xfrm>
                  <a:custGeom>
                    <a:avLst/>
                    <a:gdLst>
                      <a:gd name="GluePoint1X" fmla="*/ 0 w 336"/>
                      <a:gd name="GluePoint1Y" fmla="*/ 8 h 152"/>
                      <a:gd name="GluePoint2X" fmla="*/ 96 w 336"/>
                      <a:gd name="GluePoint2Y" fmla="*/ 8 h 152"/>
                      <a:gd name="GluePoint3X" fmla="*/ 240 w 336"/>
                      <a:gd name="GluePoint3Y" fmla="*/ 56 h 152"/>
                      <a:gd name="GluePoint4X" fmla="*/ 336 w 336"/>
                      <a:gd name="GluePoint4Y" fmla="*/ 152 h 152"/>
                    </a:gdLst>
                    <a:ahLst/>
                    <a:cxnLst>
                      <a:cxn ang="0">
                        <a:pos x="GluePoint1X" y="GluePoint1Y"/>
                      </a:cxn>
                      <a:cxn ang="0">
                        <a:pos x="GluePoint2X" y="GluePoint2Y"/>
                      </a:cxn>
                      <a:cxn ang="0">
                        <a:pos x="GluePoint3X" y="GluePoint3Y"/>
                      </a:cxn>
                      <a:cxn ang="0">
                        <a:pos x="GluePoint4X" y="GluePoint4Y"/>
                      </a:cxn>
                    </a:cxnLst>
                    <a:rect l="l" t="t" r="r" b="b"/>
                    <a:pathLst>
                      <a:path w="336" h="152">
                        <a:moveTo>
                          <a:pt x="0" y="8"/>
                        </a:moveTo>
                        <a:cubicBezTo>
                          <a:pt x="28" y="4"/>
                          <a:pt x="56" y="0"/>
                          <a:pt x="96" y="8"/>
                        </a:cubicBezTo>
                        <a:cubicBezTo>
                          <a:pt x="136" y="16"/>
                          <a:pt x="200" y="32"/>
                          <a:pt x="240" y="56"/>
                        </a:cubicBezTo>
                        <a:cubicBezTo>
                          <a:pt x="280" y="80"/>
                          <a:pt x="320" y="136"/>
                          <a:pt x="336" y="152"/>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51" name="Freeform 112"/>
                  <p:cNvSpPr/>
                  <p:nvPr/>
                </p:nvSpPr>
                <p:spPr>
                  <a:xfrm flipV="1" rot="10800000">
                    <a:off x="6629040" y="3810240"/>
                    <a:ext cx="533160" cy="240840"/>
                  </a:xfrm>
                  <a:custGeom>
                    <a:avLst/>
                    <a:gdLst>
                      <a:gd name="GluePoint1X" fmla="*/ 0 w 336"/>
                      <a:gd name="GluePoint1Y" fmla="*/ 8 h 152"/>
                      <a:gd name="GluePoint2X" fmla="*/ 96 w 336"/>
                      <a:gd name="GluePoint2Y" fmla="*/ 8 h 152"/>
                      <a:gd name="GluePoint3X" fmla="*/ 240 w 336"/>
                      <a:gd name="GluePoint3Y" fmla="*/ 56 h 152"/>
                      <a:gd name="GluePoint4X" fmla="*/ 336 w 336"/>
                      <a:gd name="GluePoint4Y" fmla="*/ 152 h 152"/>
                    </a:gdLst>
                    <a:ahLst/>
                    <a:cxnLst>
                      <a:cxn ang="0">
                        <a:pos x="GluePoint1X" y="GluePoint1Y"/>
                      </a:cxn>
                      <a:cxn ang="0">
                        <a:pos x="GluePoint2X" y="GluePoint2Y"/>
                      </a:cxn>
                      <a:cxn ang="0">
                        <a:pos x="GluePoint3X" y="GluePoint3Y"/>
                      </a:cxn>
                      <a:cxn ang="0">
                        <a:pos x="GluePoint4X" y="GluePoint4Y"/>
                      </a:cxn>
                    </a:cxnLst>
                    <a:rect l="l" t="t" r="r" b="b"/>
                    <a:pathLst>
                      <a:path w="336" h="152">
                        <a:moveTo>
                          <a:pt x="0" y="8"/>
                        </a:moveTo>
                        <a:cubicBezTo>
                          <a:pt x="28" y="4"/>
                          <a:pt x="56" y="0"/>
                          <a:pt x="96" y="8"/>
                        </a:cubicBezTo>
                        <a:cubicBezTo>
                          <a:pt x="136" y="16"/>
                          <a:pt x="200" y="32"/>
                          <a:pt x="240" y="56"/>
                        </a:cubicBezTo>
                        <a:cubicBezTo>
                          <a:pt x="280" y="80"/>
                          <a:pt x="320" y="136"/>
                          <a:pt x="336" y="152"/>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1152" name="Freeform 135"/>
                <p:cNvSpPr/>
                <p:nvPr/>
              </p:nvSpPr>
              <p:spPr>
                <a:xfrm>
                  <a:off x="7138800" y="3831840"/>
                  <a:ext cx="82080" cy="406080"/>
                </a:xfrm>
                <a:custGeom>
                  <a:avLst/>
                  <a:gdLst>
                    <a:gd name="GluePoint1X" fmla="*/ 52 w 52"/>
                    <a:gd name="GluePoint1Y" fmla="*/ 0 h 256"/>
                    <a:gd name="GluePoint2X" fmla="*/ 15 w 52"/>
                    <a:gd name="GluePoint2Y" fmla="*/ 64 h 256"/>
                    <a:gd name="GluePoint3X" fmla="*/ 6 w 52"/>
                    <a:gd name="GluePoint3Y" fmla="*/ 173 h 256"/>
                    <a:gd name="GluePoint4X" fmla="*/ 52 w 52"/>
                    <a:gd name="GluePoint4Y" fmla="*/ 256 h 256"/>
                  </a:gdLst>
                  <a:ahLst/>
                  <a:cxnLst>
                    <a:cxn ang="0">
                      <a:pos x="GluePoint1X" y="GluePoint1Y"/>
                    </a:cxn>
                    <a:cxn ang="0">
                      <a:pos x="GluePoint2X" y="GluePoint2Y"/>
                    </a:cxn>
                    <a:cxn ang="0">
                      <a:pos x="GluePoint3X" y="GluePoint3Y"/>
                    </a:cxn>
                    <a:cxn ang="0">
                      <a:pos x="GluePoint4X" y="GluePoint4Y"/>
                    </a:cxn>
                  </a:cxnLst>
                  <a:rect l="l" t="t" r="r" b="b"/>
                  <a:pathLst>
                    <a:path w="52" h="256">
                      <a:moveTo>
                        <a:pt x="52" y="0"/>
                      </a:moveTo>
                      <a:cubicBezTo>
                        <a:pt x="46" y="8"/>
                        <a:pt x="23" y="35"/>
                        <a:pt x="15" y="64"/>
                      </a:cubicBezTo>
                      <a:cubicBezTo>
                        <a:pt x="7" y="93"/>
                        <a:pt x="0" y="141"/>
                        <a:pt x="6" y="173"/>
                      </a:cubicBezTo>
                      <a:cubicBezTo>
                        <a:pt x="12" y="205"/>
                        <a:pt x="42" y="239"/>
                        <a:pt x="52" y="256"/>
                      </a:cubicBezTo>
                    </a:path>
                  </a:pathLst>
                </a:custGeom>
                <a:no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1153" name="Line 138"/>
              <p:cNvSpPr/>
              <p:nvPr/>
            </p:nvSpPr>
            <p:spPr>
              <a:xfrm flipV="1">
                <a:off x="7391160" y="4190760"/>
                <a:ext cx="0" cy="1142640"/>
              </a:xfrm>
              <a:prstGeom prst="line">
                <a:avLst/>
              </a:prstGeom>
              <a:ln w="9360">
                <a:solidFill>
                  <a:srgbClr val="000000"/>
                </a:solidFill>
                <a:miter/>
                <a:headEnd len="sm" type="oval" w="sm"/>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54" name="Line 139"/>
              <p:cNvSpPr/>
              <p:nvPr/>
            </p:nvSpPr>
            <p:spPr>
              <a:xfrm flipH="1">
                <a:off x="7162200" y="4190760"/>
                <a:ext cx="2286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55" name="Line 140"/>
              <p:cNvSpPr/>
              <p:nvPr/>
            </p:nvSpPr>
            <p:spPr>
              <a:xfrm flipV="1">
                <a:off x="8381880" y="3885480"/>
                <a:ext cx="0" cy="1447560"/>
              </a:xfrm>
              <a:prstGeom prst="line">
                <a:avLst/>
              </a:prstGeom>
              <a:ln w="9360">
                <a:solidFill>
                  <a:srgbClr val="000000"/>
                </a:solidFill>
                <a:miter/>
                <a:headEnd len="sm" type="oval" w="sm"/>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56" name="Line 141"/>
              <p:cNvSpPr/>
              <p:nvPr/>
            </p:nvSpPr>
            <p:spPr>
              <a:xfrm>
                <a:off x="7162560" y="3885840"/>
                <a:ext cx="12193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7"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0A29A117-E635-4171-8095-0C609A05173F}"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158"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159" name="PlaceHolder 1"/>
          <p:cNvSpPr>
            <a:spLocks noGrp="1"/>
          </p:cNvSpPr>
          <p:nvPr>
            <p:ph type="title"/>
          </p:nvPr>
        </p:nvSpPr>
        <p:spPr>
          <a:xfrm>
            <a:off x="228600" y="228240"/>
            <a:ext cx="86868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Alternating Logic: Basic Ideas</a:t>
            </a:r>
            <a:endParaRPr lang="en-US" sz="3200" b="0" u="none" strike="noStrike">
              <a:solidFill>
                <a:srgbClr val="000000"/>
              </a:solidFill>
              <a:effectLst/>
              <a:uFillTx/>
              <a:latin typeface="Arial"/>
            </a:endParaRPr>
          </a:p>
        </p:txBody>
      </p:sp>
      <p:sp>
        <p:nvSpPr>
          <p:cNvPr id="1160" name="Text Box 4"/>
          <p:cNvSpPr/>
          <p:nvPr/>
        </p:nvSpPr>
        <p:spPr>
          <a:xfrm>
            <a:off x="457200" y="990360"/>
            <a:ext cx="8229600" cy="16167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Transmission of data over unreliable wires or buses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Send data; store at receiving end</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Send bitwise complement of data</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Compare the two versions</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Detects wires s-a-0 or s-a-1, as well as many transients</a:t>
            </a:r>
            <a:endParaRPr lang="en-US" sz="2000" b="0" u="none" strike="noStrike">
              <a:solidFill>
                <a:srgbClr val="000000"/>
              </a:solidFill>
              <a:effectLst/>
              <a:uFillTx/>
              <a:latin typeface="Times New Roman"/>
            </a:endParaRPr>
          </a:p>
        </p:txBody>
      </p:sp>
      <p:sp>
        <p:nvSpPr>
          <p:cNvPr id="1161" name="Text Box 5"/>
          <p:cNvSpPr/>
          <p:nvPr/>
        </p:nvSpPr>
        <p:spPr>
          <a:xfrm>
            <a:off x="457200" y="2743200"/>
            <a:ext cx="8229600" cy="15591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The </a:t>
            </a:r>
            <a:r>
              <a:rPr lang="en-US" sz="2000" b="0" i="1" u="none" strike="noStrike">
                <a:solidFill>
                  <a:srgbClr val="000000"/>
                </a:solidFill>
                <a:effectLst/>
                <a:uFillTx/>
                <a:latin typeface="Arial"/>
                <a:ea typeface="Times New Roman"/>
              </a:rPr>
              <a:t>dual</a:t>
            </a:r>
            <a:r>
              <a:rPr lang="en-US" sz="2000" b="0" u="none" strike="noStrike">
                <a:solidFill>
                  <a:srgbClr val="000000"/>
                </a:solidFill>
                <a:effectLst/>
                <a:uFillTx/>
                <a:latin typeface="Arial"/>
                <a:ea typeface="Times New Roman"/>
              </a:rPr>
              <a:t> of a Boolean function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2</a:t>
            </a:r>
            <a:r>
              <a:rPr lang="en-US" sz="2000" b="0" u="none" strike="noStrike">
                <a:solidFill>
                  <a:srgbClr val="000000"/>
                </a:solidFill>
                <a:effectLst/>
                <a:uFillTx/>
                <a:latin typeface="Arial"/>
                <a:ea typeface="Times New Roman"/>
              </a:rPr>
              <a:t>, . . . , </a:t>
            </a:r>
            <a:r>
              <a:rPr lang="en-US" sz="2000" b="0" i="1" u="none" strike="noStrike">
                <a:solidFill>
                  <a:srgbClr val="000000"/>
                </a:solidFill>
                <a:effectLst/>
                <a:uFillTx/>
                <a:latin typeface="Arial"/>
                <a:ea typeface="Times New Roman"/>
              </a:rPr>
              <a:t>x</a:t>
            </a:r>
            <a:r>
              <a:rPr lang="en-US" sz="2000" b="0" i="1" u="none" strike="noStrike" baseline="-25000">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 is another function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Arial"/>
                <a:ea typeface="Times New Roman"/>
              </a:rPr>
              <a:t>f</a:t>
            </a:r>
            <a:r>
              <a:rPr lang="en-US" sz="2000" b="0" u="none" strike="noStrike" baseline="-25000">
                <a:solidFill>
                  <a:srgbClr val="000000"/>
                </a:solidFill>
                <a:effectLst/>
                <a:uFillTx/>
                <a:latin typeface="Arial"/>
                <a:ea typeface="Times New Roman"/>
              </a:rPr>
              <a:t>d</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2</a:t>
            </a:r>
            <a:r>
              <a:rPr lang="en-US" sz="2000" b="0" u="none" strike="noStrike">
                <a:solidFill>
                  <a:srgbClr val="000000"/>
                </a:solidFill>
                <a:effectLst/>
                <a:uFillTx/>
                <a:latin typeface="Arial"/>
                <a:ea typeface="Times New Roman"/>
              </a:rPr>
              <a:t>, . . . , </a:t>
            </a:r>
            <a:r>
              <a:rPr lang="en-US" sz="2000" b="0" i="1" u="none" strike="noStrike">
                <a:solidFill>
                  <a:srgbClr val="000000"/>
                </a:solidFill>
                <a:effectLst/>
                <a:uFillTx/>
                <a:latin typeface="Arial"/>
                <a:ea typeface="Times New Roman"/>
              </a:rPr>
              <a:t>x</a:t>
            </a:r>
            <a:r>
              <a:rPr lang="en-US" sz="2000" b="0" i="1" u="none" strike="noStrike" baseline="-25000">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 such that </a:t>
            </a:r>
            <a:r>
              <a:rPr lang="en-US" sz="2000" b="0" i="1" u="none" strike="noStrike">
                <a:solidFill>
                  <a:srgbClr val="000000"/>
                </a:solidFill>
                <a:effectLst/>
                <a:uFillTx/>
                <a:latin typeface="Arial"/>
                <a:ea typeface="Times New Roman"/>
              </a:rPr>
              <a:t>f</a:t>
            </a:r>
            <a:r>
              <a:rPr lang="en-US" sz="2000" b="0" u="none" strike="noStrike" baseline="-25000">
                <a:solidFill>
                  <a:srgbClr val="000000"/>
                </a:solidFill>
                <a:effectLst/>
                <a:uFillTx/>
                <a:latin typeface="Arial"/>
                <a:ea typeface="Times New Roman"/>
              </a:rPr>
              <a:t>d</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1</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2</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 . . , </a:t>
            </a:r>
            <a:r>
              <a:rPr lang="en-US" sz="2000" b="0" i="1" u="none" strike="noStrike">
                <a:solidFill>
                  <a:srgbClr val="000000"/>
                </a:solidFill>
                <a:effectLst/>
                <a:uFillTx/>
                <a:latin typeface="Arial"/>
                <a:ea typeface="Times New Roman"/>
              </a:rPr>
              <a:t>x</a:t>
            </a:r>
            <a:r>
              <a:rPr lang="en-US" sz="2000" b="0" i="1" u="none" strike="noStrike" baseline="-25000">
                <a:solidFill>
                  <a:srgbClr val="000000"/>
                </a:solidFill>
                <a:effectLst/>
                <a:uFillTx/>
                <a:latin typeface="Arial"/>
                <a:ea typeface="Times New Roman"/>
              </a:rPr>
              <a:t>n</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f</a:t>
            </a:r>
            <a:r>
              <a:rPr lang="en-US" sz="800" b="0" i="1"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2</a:t>
            </a:r>
            <a:r>
              <a:rPr lang="en-US" sz="2000" b="0" u="none" strike="noStrike">
                <a:solidFill>
                  <a:srgbClr val="000000"/>
                </a:solidFill>
                <a:effectLst/>
                <a:uFillTx/>
                <a:latin typeface="Arial"/>
                <a:ea typeface="Times New Roman"/>
              </a:rPr>
              <a:t>, . . . , </a:t>
            </a:r>
            <a:r>
              <a:rPr lang="en-US" sz="2000" b="0" i="1" u="none" strike="noStrike">
                <a:solidFill>
                  <a:srgbClr val="000000"/>
                </a:solidFill>
                <a:effectLst/>
                <a:uFillTx/>
                <a:latin typeface="Arial"/>
                <a:ea typeface="Times New Roman"/>
              </a:rPr>
              <a:t>x</a:t>
            </a:r>
            <a:r>
              <a:rPr lang="en-US" sz="2000" b="0" i="1" u="none" strike="noStrike" baseline="-25000">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Fact: Obtain the dual of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 by exchanging AND and OR operators in its logical expression. For example, the dual of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ab</a:t>
            </a:r>
            <a:r>
              <a:rPr lang="en-US" sz="2000" b="0" u="none" strike="noStrike">
                <a:solidFill>
                  <a:srgbClr val="000000"/>
                </a:solidFill>
                <a:effectLst/>
                <a:uFillTx/>
                <a:latin typeface="Arial"/>
                <a:ea typeface="Times New Roman"/>
              </a:rPr>
              <a:t>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 is </a:t>
            </a:r>
            <a:r>
              <a:rPr lang="en-US" sz="2000" b="0" i="1" u="none" strike="noStrike">
                <a:solidFill>
                  <a:srgbClr val="000000"/>
                </a:solidFill>
                <a:effectLst/>
                <a:uFillTx/>
                <a:latin typeface="Arial"/>
                <a:ea typeface="Times New Roman"/>
              </a:rPr>
              <a:t>f</a:t>
            </a:r>
            <a:r>
              <a:rPr lang="en-US" sz="2000" b="0" u="none" strike="noStrike" baseline="-25000">
                <a:solidFill>
                  <a:srgbClr val="000000"/>
                </a:solidFill>
                <a:effectLst/>
                <a:uFillTx/>
                <a:latin typeface="Arial"/>
                <a:ea typeface="Times New Roman"/>
              </a:rPr>
              <a:t>d</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b</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c</a:t>
            </a:r>
            <a:endParaRPr lang="en-US" sz="2000" b="0" u="none" strike="noStrike">
              <a:solidFill>
                <a:srgbClr val="000000"/>
              </a:solidFill>
              <a:effectLst/>
              <a:uFillTx/>
              <a:latin typeface="Times New Roman"/>
            </a:endParaRPr>
          </a:p>
        </p:txBody>
      </p:sp>
      <p:grpSp>
        <p:nvGrpSpPr>
          <p:cNvPr id="1162" name="Group 6"/>
          <p:cNvGrpSpPr/>
          <p:nvPr/>
        </p:nvGrpSpPr>
        <p:grpSpPr>
          <a:xfrm>
            <a:off x="533160" y="4572000"/>
            <a:ext cx="4648320" cy="1266840"/>
            <a:chOff x="533160" y="4572000"/>
            <a:chExt cx="4648320" cy="1266840"/>
          </a:xfrm>
        </p:grpSpPr>
        <p:sp>
          <p:nvSpPr>
            <p:cNvPr id="1163" name="Rectangle 7"/>
            <p:cNvSpPr/>
            <p:nvPr/>
          </p:nvSpPr>
          <p:spPr>
            <a:xfrm>
              <a:off x="1676160" y="4572000"/>
              <a:ext cx="838440" cy="45684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f</a:t>
              </a:r>
              <a:endParaRPr lang="en-US" sz="1800" b="0" u="none" strike="noStrike">
                <a:solidFill>
                  <a:srgbClr val="000000"/>
                </a:solidFill>
                <a:effectLst/>
                <a:uFillTx/>
                <a:latin typeface="Times New Roman"/>
              </a:endParaRPr>
            </a:p>
          </p:txBody>
        </p:sp>
        <p:sp>
          <p:nvSpPr>
            <p:cNvPr id="1164" name="Rectangle 8"/>
            <p:cNvSpPr/>
            <p:nvPr/>
          </p:nvSpPr>
          <p:spPr>
            <a:xfrm>
              <a:off x="1676160" y="5333760"/>
              <a:ext cx="838440" cy="45684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f</a:t>
              </a:r>
              <a:r>
                <a:rPr lang="en-US" sz="1800" b="0" u="none" strike="noStrike" baseline="-25000">
                  <a:solidFill>
                    <a:srgbClr val="000000"/>
                  </a:solidFill>
                  <a:effectLst/>
                  <a:uFillTx/>
                  <a:latin typeface="Arial"/>
                  <a:ea typeface="Times New Roman"/>
                </a:rPr>
                <a:t>d</a:t>
              </a:r>
              <a:endParaRPr lang="en-US" sz="1800" b="0" u="none" strike="noStrike">
                <a:solidFill>
                  <a:srgbClr val="000000"/>
                </a:solidFill>
                <a:effectLst/>
                <a:uFillTx/>
                <a:latin typeface="Times New Roman"/>
              </a:endParaRPr>
            </a:p>
          </p:txBody>
        </p:sp>
        <p:sp>
          <p:nvSpPr>
            <p:cNvPr id="1165" name="Line 9"/>
            <p:cNvSpPr/>
            <p:nvPr/>
          </p:nvSpPr>
          <p:spPr>
            <a:xfrm>
              <a:off x="2514600" y="4800240"/>
              <a:ext cx="18288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66" name="Line 10"/>
            <p:cNvSpPr/>
            <p:nvPr/>
          </p:nvSpPr>
          <p:spPr>
            <a:xfrm>
              <a:off x="2514600" y="5562360"/>
              <a:ext cx="3808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1167" name="Group 11"/>
            <p:cNvGrpSpPr/>
            <p:nvPr/>
          </p:nvGrpSpPr>
          <p:grpSpPr>
            <a:xfrm>
              <a:off x="1295280" y="4647960"/>
              <a:ext cx="380520" cy="1066320"/>
              <a:chOff x="1295280" y="4647960"/>
              <a:chExt cx="380520" cy="1066320"/>
            </a:xfrm>
          </p:grpSpPr>
          <p:sp>
            <p:nvSpPr>
              <p:cNvPr id="1168" name="Line 12"/>
              <p:cNvSpPr/>
              <p:nvPr/>
            </p:nvSpPr>
            <p:spPr>
              <a:xfrm>
                <a:off x="1295280" y="464796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69" name="Line 13"/>
              <p:cNvSpPr/>
              <p:nvPr/>
            </p:nvSpPr>
            <p:spPr>
              <a:xfrm>
                <a:off x="1295280" y="495216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70" name="Line 14"/>
              <p:cNvSpPr/>
              <p:nvPr/>
            </p:nvSpPr>
            <p:spPr>
              <a:xfrm>
                <a:off x="1295280" y="540936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71" name="Line 15"/>
              <p:cNvSpPr/>
              <p:nvPr/>
            </p:nvSpPr>
            <p:spPr>
              <a:xfrm>
                <a:off x="1295280" y="571428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72" name="Line 16"/>
              <p:cNvSpPr/>
              <p:nvPr/>
            </p:nvSpPr>
            <p:spPr>
              <a:xfrm>
                <a:off x="1295280" y="472356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73" name="Line 17"/>
              <p:cNvSpPr/>
              <p:nvPr/>
            </p:nvSpPr>
            <p:spPr>
              <a:xfrm>
                <a:off x="1295280" y="479988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74" name="Line 18"/>
              <p:cNvSpPr/>
              <p:nvPr/>
            </p:nvSpPr>
            <p:spPr>
              <a:xfrm>
                <a:off x="1295280" y="487620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75" name="Line 19"/>
              <p:cNvSpPr/>
              <p:nvPr/>
            </p:nvSpPr>
            <p:spPr>
              <a:xfrm>
                <a:off x="1295280" y="556200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76" name="Line 20"/>
              <p:cNvSpPr/>
              <p:nvPr/>
            </p:nvSpPr>
            <p:spPr>
              <a:xfrm>
                <a:off x="1295280" y="548568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77" name="Line 21"/>
              <p:cNvSpPr/>
              <p:nvPr/>
            </p:nvSpPr>
            <p:spPr>
              <a:xfrm>
                <a:off x="1295280" y="563796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1178" name="Text Box 22"/>
            <p:cNvSpPr/>
            <p:nvPr/>
          </p:nvSpPr>
          <p:spPr>
            <a:xfrm>
              <a:off x="535680" y="4647960"/>
              <a:ext cx="732960" cy="3376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Inputs</a:t>
              </a:r>
              <a:endParaRPr lang="en-US" sz="1600" b="0" u="none" strike="noStrike">
                <a:solidFill>
                  <a:srgbClr val="000000"/>
                </a:solidFill>
                <a:effectLst/>
                <a:uFillTx/>
                <a:latin typeface="Times New Roman"/>
              </a:endParaRPr>
            </a:p>
          </p:txBody>
        </p:sp>
        <p:sp>
          <p:nvSpPr>
            <p:cNvPr id="1179" name="Text Box 23"/>
            <p:cNvSpPr/>
            <p:nvPr/>
          </p:nvSpPr>
          <p:spPr>
            <a:xfrm>
              <a:off x="533160" y="5257440"/>
              <a:ext cx="838440" cy="5814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Compl. inputs</a:t>
              </a:r>
              <a:endParaRPr lang="en-US" sz="1600" b="0" u="none" strike="noStrike">
                <a:solidFill>
                  <a:srgbClr val="000000"/>
                </a:solidFill>
                <a:effectLst/>
                <a:uFillTx/>
                <a:latin typeface="Times New Roman"/>
              </a:endParaRPr>
            </a:p>
          </p:txBody>
        </p:sp>
        <p:grpSp>
          <p:nvGrpSpPr>
            <p:cNvPr id="1180" name="Group 24"/>
            <p:cNvGrpSpPr/>
            <p:nvPr/>
          </p:nvGrpSpPr>
          <p:grpSpPr>
            <a:xfrm>
              <a:off x="3114720" y="4940640"/>
              <a:ext cx="628200" cy="503280"/>
              <a:chOff x="3114720" y="4940640"/>
              <a:chExt cx="628200" cy="503280"/>
            </a:xfrm>
          </p:grpSpPr>
          <p:sp>
            <p:nvSpPr>
              <p:cNvPr id="1181" name="Freeform 25"/>
              <p:cNvSpPr/>
              <p:nvPr/>
            </p:nvSpPr>
            <p:spPr>
              <a:xfrm rot="21463800">
                <a:off x="3200040" y="4972320"/>
                <a:ext cx="88920" cy="457200"/>
              </a:xfrm>
              <a:custGeom>
                <a:avLst/>
                <a:gdLst>
                  <a:gd name="GluePoint1X" fmla="*/ 0 w 56"/>
                  <a:gd name="GluePoint1Y" fmla="*/ 0 h 288"/>
                  <a:gd name="GluePoint2X" fmla="*/ 48 w 56"/>
                  <a:gd name="GluePoint2Y" fmla="*/ 96 h 288"/>
                  <a:gd name="GluePoint3X" fmla="*/ 48 w 56"/>
                  <a:gd name="GluePoint3Y" fmla="*/ 192 h 288"/>
                  <a:gd name="GluePoint4X" fmla="*/ 0 w 56"/>
                  <a:gd name="GluePoint4Y" fmla="*/ 288 h 288"/>
                </a:gdLst>
                <a:ahLst/>
                <a:cxnLst>
                  <a:cxn ang="0">
                    <a:pos x="GluePoint1X" y="GluePoint1Y"/>
                  </a:cxn>
                  <a:cxn ang="0">
                    <a:pos x="GluePoint2X" y="GluePoint2Y"/>
                  </a:cxn>
                  <a:cxn ang="0">
                    <a:pos x="GluePoint3X" y="GluePoint3Y"/>
                  </a:cxn>
                  <a:cxn ang="0">
                    <a:pos x="GluePoint4X" y="GluePoint4Y"/>
                  </a:cxn>
                </a:cxnLst>
                <a:rect l="l" t="t" r="r" b="b"/>
                <a:pathLst>
                  <a:path w="56" h="288">
                    <a:moveTo>
                      <a:pt x="0" y="0"/>
                    </a:moveTo>
                    <a:cubicBezTo>
                      <a:pt x="20" y="32"/>
                      <a:pt x="40" y="64"/>
                      <a:pt x="48" y="96"/>
                    </a:cubicBezTo>
                    <a:cubicBezTo>
                      <a:pt x="56" y="128"/>
                      <a:pt x="56" y="160"/>
                      <a:pt x="48" y="192"/>
                    </a:cubicBezTo>
                    <a:cubicBezTo>
                      <a:pt x="40" y="224"/>
                      <a:pt x="8" y="272"/>
                      <a:pt x="0" y="288"/>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82" name="Freeform 26"/>
              <p:cNvSpPr/>
              <p:nvPr/>
            </p:nvSpPr>
            <p:spPr>
              <a:xfrm rot="21463800">
                <a:off x="3195000" y="4951080"/>
                <a:ext cx="533520" cy="241200"/>
              </a:xfrm>
              <a:custGeom>
                <a:avLst/>
                <a:gdLst>
                  <a:gd name="GluePoint1X" fmla="*/ 0 w 336"/>
                  <a:gd name="GluePoint1Y" fmla="*/ 8 h 152"/>
                  <a:gd name="GluePoint2X" fmla="*/ 96 w 336"/>
                  <a:gd name="GluePoint2Y" fmla="*/ 8 h 152"/>
                  <a:gd name="GluePoint3X" fmla="*/ 240 w 336"/>
                  <a:gd name="GluePoint3Y" fmla="*/ 56 h 152"/>
                  <a:gd name="GluePoint4X" fmla="*/ 336 w 336"/>
                  <a:gd name="GluePoint4Y" fmla="*/ 152 h 152"/>
                </a:gdLst>
                <a:ahLst/>
                <a:cxnLst>
                  <a:cxn ang="0">
                    <a:pos x="GluePoint1X" y="GluePoint1Y"/>
                  </a:cxn>
                  <a:cxn ang="0">
                    <a:pos x="GluePoint2X" y="GluePoint2Y"/>
                  </a:cxn>
                  <a:cxn ang="0">
                    <a:pos x="GluePoint3X" y="GluePoint3Y"/>
                  </a:cxn>
                  <a:cxn ang="0">
                    <a:pos x="GluePoint4X" y="GluePoint4Y"/>
                  </a:cxn>
                </a:cxnLst>
                <a:rect l="l" t="t" r="r" b="b"/>
                <a:pathLst>
                  <a:path w="336" h="152">
                    <a:moveTo>
                      <a:pt x="0" y="8"/>
                    </a:moveTo>
                    <a:cubicBezTo>
                      <a:pt x="28" y="4"/>
                      <a:pt x="56" y="0"/>
                      <a:pt x="96" y="8"/>
                    </a:cubicBezTo>
                    <a:cubicBezTo>
                      <a:pt x="136" y="16"/>
                      <a:pt x="200" y="32"/>
                      <a:pt x="240" y="56"/>
                    </a:cubicBezTo>
                    <a:cubicBezTo>
                      <a:pt x="280" y="80"/>
                      <a:pt x="320" y="136"/>
                      <a:pt x="336" y="152"/>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83" name="Freeform 27"/>
              <p:cNvSpPr/>
              <p:nvPr/>
            </p:nvSpPr>
            <p:spPr>
              <a:xfrm flipV="1" rot="21463200">
                <a:off x="3204720" y="5192280"/>
                <a:ext cx="533520" cy="241200"/>
              </a:xfrm>
              <a:custGeom>
                <a:avLst/>
                <a:gdLst>
                  <a:gd name="GluePoint1X" fmla="*/ 0 w 336"/>
                  <a:gd name="GluePoint1Y" fmla="*/ 8 h 152"/>
                  <a:gd name="GluePoint2X" fmla="*/ 96 w 336"/>
                  <a:gd name="GluePoint2Y" fmla="*/ 8 h 152"/>
                  <a:gd name="GluePoint3X" fmla="*/ 240 w 336"/>
                  <a:gd name="GluePoint3Y" fmla="*/ 56 h 152"/>
                  <a:gd name="GluePoint4X" fmla="*/ 336 w 336"/>
                  <a:gd name="GluePoint4Y" fmla="*/ 152 h 152"/>
                </a:gdLst>
                <a:ahLst/>
                <a:cxnLst>
                  <a:cxn ang="0">
                    <a:pos x="GluePoint1X" y="GluePoint1Y"/>
                  </a:cxn>
                  <a:cxn ang="0">
                    <a:pos x="GluePoint2X" y="GluePoint2Y"/>
                  </a:cxn>
                  <a:cxn ang="0">
                    <a:pos x="GluePoint3X" y="GluePoint3Y"/>
                  </a:cxn>
                  <a:cxn ang="0">
                    <a:pos x="GluePoint4X" y="GluePoint4Y"/>
                  </a:cxn>
                </a:cxnLst>
                <a:rect l="l" t="t" r="r" b="b"/>
                <a:pathLst>
                  <a:path w="336" h="152">
                    <a:moveTo>
                      <a:pt x="0" y="8"/>
                    </a:moveTo>
                    <a:cubicBezTo>
                      <a:pt x="28" y="4"/>
                      <a:pt x="56" y="0"/>
                      <a:pt x="96" y="8"/>
                    </a:cubicBezTo>
                    <a:cubicBezTo>
                      <a:pt x="136" y="16"/>
                      <a:pt x="200" y="32"/>
                      <a:pt x="240" y="56"/>
                    </a:cubicBezTo>
                    <a:cubicBezTo>
                      <a:pt x="280" y="80"/>
                      <a:pt x="320" y="136"/>
                      <a:pt x="336" y="152"/>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84" name="Freeform 28"/>
              <p:cNvSpPr/>
              <p:nvPr/>
            </p:nvSpPr>
            <p:spPr>
              <a:xfrm rot="21463800">
                <a:off x="3123720" y="4962600"/>
                <a:ext cx="88560" cy="457200"/>
              </a:xfrm>
              <a:custGeom>
                <a:avLst/>
                <a:gdLst>
                  <a:gd name="GluePoint1X" fmla="*/ 0 w 56"/>
                  <a:gd name="GluePoint1Y" fmla="*/ 0 h 288"/>
                  <a:gd name="GluePoint2X" fmla="*/ 48 w 56"/>
                  <a:gd name="GluePoint2Y" fmla="*/ 96 h 288"/>
                  <a:gd name="GluePoint3X" fmla="*/ 48 w 56"/>
                  <a:gd name="GluePoint3Y" fmla="*/ 192 h 288"/>
                  <a:gd name="GluePoint4X" fmla="*/ 0 w 56"/>
                  <a:gd name="GluePoint4Y" fmla="*/ 288 h 288"/>
                </a:gdLst>
                <a:ahLst/>
                <a:cxnLst>
                  <a:cxn ang="0">
                    <a:pos x="GluePoint1X" y="GluePoint1Y"/>
                  </a:cxn>
                  <a:cxn ang="0">
                    <a:pos x="GluePoint2X" y="GluePoint2Y"/>
                  </a:cxn>
                  <a:cxn ang="0">
                    <a:pos x="GluePoint3X" y="GluePoint3Y"/>
                  </a:cxn>
                  <a:cxn ang="0">
                    <a:pos x="GluePoint4X" y="GluePoint4Y"/>
                  </a:cxn>
                </a:cxnLst>
                <a:rect l="l" t="t" r="r" b="b"/>
                <a:pathLst>
                  <a:path w="56" h="288">
                    <a:moveTo>
                      <a:pt x="0" y="0"/>
                    </a:moveTo>
                    <a:cubicBezTo>
                      <a:pt x="20" y="32"/>
                      <a:pt x="40" y="64"/>
                      <a:pt x="48" y="96"/>
                    </a:cubicBezTo>
                    <a:cubicBezTo>
                      <a:pt x="56" y="128"/>
                      <a:pt x="56" y="160"/>
                      <a:pt x="48" y="192"/>
                    </a:cubicBezTo>
                    <a:cubicBezTo>
                      <a:pt x="40" y="224"/>
                      <a:pt x="8" y="272"/>
                      <a:pt x="0" y="288"/>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1185" name="Text Box 29"/>
            <p:cNvSpPr/>
            <p:nvPr/>
          </p:nvSpPr>
          <p:spPr>
            <a:xfrm>
              <a:off x="4343400" y="5028840"/>
              <a:ext cx="76176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Error</a:t>
              </a:r>
              <a:endParaRPr lang="en-US" sz="1600" b="0" u="none" strike="noStrike">
                <a:solidFill>
                  <a:srgbClr val="000000"/>
                </a:solidFill>
                <a:effectLst/>
                <a:uFillTx/>
                <a:latin typeface="Times New Roman"/>
              </a:endParaRPr>
            </a:p>
          </p:txBody>
        </p:sp>
        <p:sp>
          <p:nvSpPr>
            <p:cNvPr id="1186" name="Line 30"/>
            <p:cNvSpPr/>
            <p:nvPr/>
          </p:nvSpPr>
          <p:spPr>
            <a:xfrm>
              <a:off x="2895480" y="4800240"/>
              <a:ext cx="0" cy="22824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87" name="Line 31"/>
            <p:cNvSpPr/>
            <p:nvPr/>
          </p:nvSpPr>
          <p:spPr>
            <a:xfrm>
              <a:off x="2895480" y="5333760"/>
              <a:ext cx="0" cy="22824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88" name="Line 32"/>
            <p:cNvSpPr/>
            <p:nvPr/>
          </p:nvSpPr>
          <p:spPr>
            <a:xfrm>
              <a:off x="2895480" y="502884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89" name="Line 33"/>
            <p:cNvSpPr/>
            <p:nvPr/>
          </p:nvSpPr>
          <p:spPr>
            <a:xfrm>
              <a:off x="2895480" y="533376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90" name="Line 34"/>
            <p:cNvSpPr/>
            <p:nvPr/>
          </p:nvSpPr>
          <p:spPr>
            <a:xfrm>
              <a:off x="3733560" y="5181120"/>
              <a:ext cx="6098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191" name="Oval 35"/>
            <p:cNvSpPr/>
            <p:nvPr/>
          </p:nvSpPr>
          <p:spPr>
            <a:xfrm>
              <a:off x="3733560" y="5148000"/>
              <a:ext cx="76320" cy="75600"/>
            </a:xfrm>
            <a:prstGeom prst="ellipse">
              <a:avLst/>
            </a:prstGeom>
            <a:solidFill>
              <a:srgbClr val="FFFFFF"/>
            </a:solidFill>
            <a:ln w="9360">
              <a:solidFill>
                <a:srgbClr val="000000"/>
              </a:solidFill>
              <a:miter/>
            </a:ln>
          </p:spPr>
          <p:style>
            <a:lnRef idx="0"/>
            <a:fillRef idx="0"/>
            <a:effectRef idx="0"/>
            <a:fontRef idx="minor"/>
          </p:style>
          <p:txBody>
            <a:bodyPr wrap="none" lIns="90000" tIns="7200" rIns="90000" bIns="72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192" name="Text Box 36"/>
            <p:cNvSpPr/>
            <p:nvPr/>
          </p:nvSpPr>
          <p:spPr>
            <a:xfrm>
              <a:off x="4343400" y="4647960"/>
              <a:ext cx="8380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Output</a:t>
              </a:r>
              <a:endParaRPr lang="en-US" sz="1600" b="0" u="none" strike="noStrike">
                <a:solidFill>
                  <a:srgbClr val="000000"/>
                </a:solidFill>
                <a:effectLst/>
                <a:uFillTx/>
                <a:latin typeface="Times New Roman"/>
              </a:endParaRPr>
            </a:p>
          </p:txBody>
        </p:sp>
      </p:grpSp>
      <p:sp>
        <p:nvSpPr>
          <p:cNvPr id="1193" name="Text Box 37"/>
          <p:cNvSpPr/>
          <p:nvPr/>
        </p:nvSpPr>
        <p:spPr>
          <a:xfrm>
            <a:off x="5562360" y="4343400"/>
            <a:ext cx="2819520" cy="16167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Advantages of this approach compared with duplication include a smaller probability </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of common errors</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4"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B8957043-2D84-47A7-BBB6-A472A9812A83}"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195"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196" name="PlaceHolder 1"/>
          <p:cNvSpPr>
            <a:spLocks noGrp="1"/>
          </p:cNvSpPr>
          <p:nvPr>
            <p:ph type="title"/>
          </p:nvPr>
        </p:nvSpPr>
        <p:spPr>
          <a:xfrm>
            <a:off x="228600" y="228240"/>
            <a:ext cx="86868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Alternating Logic: Self-Dual Functions</a:t>
            </a:r>
            <a:endParaRPr lang="en-US" sz="3200" b="0" u="none" strike="noStrike">
              <a:solidFill>
                <a:srgbClr val="000000"/>
              </a:solidFill>
              <a:effectLst/>
              <a:uFillTx/>
              <a:latin typeface="Arial"/>
            </a:endParaRPr>
          </a:p>
        </p:txBody>
      </p:sp>
      <p:sp>
        <p:nvSpPr>
          <p:cNvPr id="1197" name="Text Box 4"/>
          <p:cNvSpPr/>
          <p:nvPr/>
        </p:nvSpPr>
        <p:spPr>
          <a:xfrm>
            <a:off x="457200" y="990360"/>
            <a:ext cx="8229600" cy="440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 function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 is self-dual if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2</a:t>
            </a:r>
            <a:r>
              <a:rPr lang="en-US" sz="2000" b="0" u="none" strike="noStrike">
                <a:solidFill>
                  <a:srgbClr val="000000"/>
                </a:solidFill>
                <a:effectLst/>
                <a:uFillTx/>
                <a:latin typeface="Arial"/>
                <a:ea typeface="Times New Roman"/>
              </a:rPr>
              <a:t>, . . . , </a:t>
            </a:r>
            <a:r>
              <a:rPr lang="en-US" sz="2000" b="0" i="1" u="none" strike="noStrike">
                <a:solidFill>
                  <a:srgbClr val="000000"/>
                </a:solidFill>
                <a:effectLst/>
                <a:uFillTx/>
                <a:latin typeface="Arial"/>
                <a:ea typeface="Times New Roman"/>
              </a:rPr>
              <a:t>x</a:t>
            </a:r>
            <a:r>
              <a:rPr lang="en-US" sz="2000" b="0" i="1" u="none" strike="noStrike" baseline="-25000">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f</a:t>
            </a:r>
            <a:r>
              <a:rPr lang="en-US" sz="2000" b="0" u="none" strike="noStrike" baseline="-25000">
                <a:solidFill>
                  <a:srgbClr val="000000"/>
                </a:solidFill>
                <a:effectLst/>
                <a:uFillTx/>
                <a:latin typeface="Arial"/>
                <a:ea typeface="Times New Roman"/>
              </a:rPr>
              <a:t>d</a:t>
            </a:r>
            <a:r>
              <a:rPr lang="en-US" sz="2000" b="0" u="none" strike="noStrike">
                <a:solidFill>
                  <a:srgbClr val="000000"/>
                </a:solidFill>
                <a:effectLst/>
                <a:uFillTx/>
                <a:latin typeface="Arial"/>
                <a:ea typeface="Times New Roman"/>
              </a:rPr>
              <a:t>(</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1</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x</a:t>
            </a:r>
            <a:r>
              <a:rPr lang="en-US" sz="2000" b="0" u="none" strike="noStrike" baseline="-25000">
                <a:solidFill>
                  <a:srgbClr val="000000"/>
                </a:solidFill>
                <a:effectLst/>
                <a:uFillTx/>
                <a:latin typeface="Arial"/>
                <a:ea typeface="Times New Roman"/>
              </a:rPr>
              <a:t>2</a:t>
            </a:r>
            <a:r>
              <a:rPr lang="en-US" sz="2000" b="0" u="none" strike="noStrike">
                <a:solidFill>
                  <a:srgbClr val="000000"/>
                </a:solidFill>
                <a:effectLst/>
                <a:uFillTx/>
                <a:latin typeface="Arial"/>
                <a:ea typeface="Times New Roman"/>
              </a:rPr>
              <a:t>, . . . , </a:t>
            </a:r>
            <a:r>
              <a:rPr lang="en-US" sz="2000" b="0" i="1" u="none" strike="noStrike">
                <a:solidFill>
                  <a:srgbClr val="000000"/>
                </a:solidFill>
                <a:effectLst/>
                <a:uFillTx/>
                <a:latin typeface="Arial"/>
                <a:ea typeface="Times New Roman"/>
              </a:rPr>
              <a:t>x</a:t>
            </a:r>
            <a:r>
              <a:rPr lang="en-US" sz="2000" b="0" i="1" u="none" strike="noStrike" baseline="-25000">
                <a:solidFill>
                  <a:srgbClr val="000000"/>
                </a:solidFill>
                <a:effectLst/>
                <a:uFillTx/>
                <a:latin typeface="Arial"/>
                <a:ea typeface="Times New Roman"/>
              </a:rPr>
              <a:t>n</a:t>
            </a:r>
            <a:r>
              <a:rPr lang="en-US" sz="2000" b="0" u="none" strike="noStrike">
                <a:solidFill>
                  <a:srgbClr val="000000"/>
                </a:solidFill>
                <a:effectLst/>
                <a:uFillTx/>
                <a:latin typeface="Arial"/>
                <a:ea typeface="Times New Roman"/>
              </a:rPr>
              <a:t>) </a:t>
            </a:r>
            <a:endParaRPr lang="en-US" sz="2000" b="0" u="none" strike="noStrike">
              <a:solidFill>
                <a:srgbClr val="000000"/>
              </a:solidFill>
              <a:effectLst/>
              <a:uFillTx/>
              <a:latin typeface="Times New Roman"/>
            </a:endParaRPr>
          </a:p>
        </p:txBody>
      </p:sp>
      <p:sp>
        <p:nvSpPr>
          <p:cNvPr id="1198" name="Text Box 5"/>
          <p:cNvSpPr/>
          <p:nvPr/>
        </p:nvSpPr>
        <p:spPr>
          <a:xfrm>
            <a:off x="457200" y="3352680"/>
            <a:ext cx="8229600" cy="7448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With a self-dual function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 the functions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 and </a:t>
            </a:r>
            <a:r>
              <a:rPr lang="en-US" sz="2000" b="0" i="1" u="none" strike="noStrike">
                <a:solidFill>
                  <a:srgbClr val="000000"/>
                </a:solidFill>
                <a:effectLst/>
                <a:uFillTx/>
                <a:latin typeface="Arial"/>
                <a:ea typeface="Times New Roman"/>
              </a:rPr>
              <a:t>f</a:t>
            </a:r>
            <a:r>
              <a:rPr lang="en-US" sz="2000" b="0" u="none" strike="noStrike" baseline="-25000">
                <a:solidFill>
                  <a:srgbClr val="000000"/>
                </a:solidFill>
                <a:effectLst/>
                <a:uFillTx/>
                <a:latin typeface="Arial"/>
                <a:ea typeface="Times New Roman"/>
              </a:rPr>
              <a:t>d</a:t>
            </a:r>
            <a:r>
              <a:rPr lang="en-US" sz="2000" b="0" u="none" strike="noStrike">
                <a:solidFill>
                  <a:srgbClr val="000000"/>
                </a:solidFill>
                <a:effectLst/>
                <a:uFillTx/>
                <a:latin typeface="Arial"/>
                <a:ea typeface="Times New Roman"/>
              </a:rPr>
              <a:t> in the diagram above can be computed by using the same circuit twice (time redundancy)</a:t>
            </a:r>
            <a:endParaRPr lang="en-US" sz="2000" b="0" u="none" strike="noStrike">
              <a:solidFill>
                <a:srgbClr val="000000"/>
              </a:solidFill>
              <a:effectLst/>
              <a:uFillTx/>
              <a:latin typeface="Times New Roman"/>
            </a:endParaRPr>
          </a:p>
        </p:txBody>
      </p:sp>
      <p:grpSp>
        <p:nvGrpSpPr>
          <p:cNvPr id="1199" name="Group 6"/>
          <p:cNvGrpSpPr/>
          <p:nvPr/>
        </p:nvGrpSpPr>
        <p:grpSpPr>
          <a:xfrm>
            <a:off x="3962160" y="1752480"/>
            <a:ext cx="4648320" cy="1267200"/>
            <a:chOff x="3962160" y="1752480"/>
            <a:chExt cx="4648320" cy="1267200"/>
          </a:xfrm>
        </p:grpSpPr>
        <p:sp>
          <p:nvSpPr>
            <p:cNvPr id="1200" name="Rectangle 7"/>
            <p:cNvSpPr/>
            <p:nvPr/>
          </p:nvSpPr>
          <p:spPr>
            <a:xfrm>
              <a:off x="5105160" y="1752480"/>
              <a:ext cx="838440" cy="45720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f</a:t>
              </a:r>
              <a:endParaRPr lang="en-US" sz="1800" b="0" u="none" strike="noStrike">
                <a:solidFill>
                  <a:srgbClr val="000000"/>
                </a:solidFill>
                <a:effectLst/>
                <a:uFillTx/>
                <a:latin typeface="Times New Roman"/>
              </a:endParaRPr>
            </a:p>
          </p:txBody>
        </p:sp>
        <p:sp>
          <p:nvSpPr>
            <p:cNvPr id="1201" name="Rectangle 8"/>
            <p:cNvSpPr/>
            <p:nvPr/>
          </p:nvSpPr>
          <p:spPr>
            <a:xfrm>
              <a:off x="5105160" y="2514600"/>
              <a:ext cx="838440" cy="45720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f</a:t>
              </a:r>
              <a:r>
                <a:rPr lang="en-US" sz="1800" b="0" u="none" strike="noStrike" baseline="-25000">
                  <a:solidFill>
                    <a:srgbClr val="000000"/>
                  </a:solidFill>
                  <a:effectLst/>
                  <a:uFillTx/>
                  <a:latin typeface="Arial"/>
                  <a:ea typeface="Times New Roman"/>
                </a:rPr>
                <a:t>d</a:t>
              </a:r>
              <a:endParaRPr lang="en-US" sz="1800" b="0" u="none" strike="noStrike">
                <a:solidFill>
                  <a:srgbClr val="000000"/>
                </a:solidFill>
                <a:effectLst/>
                <a:uFillTx/>
                <a:latin typeface="Times New Roman"/>
              </a:endParaRPr>
            </a:p>
          </p:txBody>
        </p:sp>
        <p:sp>
          <p:nvSpPr>
            <p:cNvPr id="1202" name="Line 9"/>
            <p:cNvSpPr/>
            <p:nvPr/>
          </p:nvSpPr>
          <p:spPr>
            <a:xfrm>
              <a:off x="5943600" y="1981080"/>
              <a:ext cx="18288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03" name="Line 10"/>
            <p:cNvSpPr/>
            <p:nvPr/>
          </p:nvSpPr>
          <p:spPr>
            <a:xfrm>
              <a:off x="5943600" y="2743200"/>
              <a:ext cx="3808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1204" name="Group 11"/>
            <p:cNvGrpSpPr/>
            <p:nvPr/>
          </p:nvGrpSpPr>
          <p:grpSpPr>
            <a:xfrm>
              <a:off x="4724280" y="1828800"/>
              <a:ext cx="380520" cy="1066680"/>
              <a:chOff x="4724280" y="1828800"/>
              <a:chExt cx="380520" cy="1066680"/>
            </a:xfrm>
          </p:grpSpPr>
          <p:sp>
            <p:nvSpPr>
              <p:cNvPr id="1205" name="Line 12"/>
              <p:cNvSpPr/>
              <p:nvPr/>
            </p:nvSpPr>
            <p:spPr>
              <a:xfrm>
                <a:off x="4724280" y="182880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06" name="Line 13"/>
              <p:cNvSpPr/>
              <p:nvPr/>
            </p:nvSpPr>
            <p:spPr>
              <a:xfrm>
                <a:off x="4724280" y="213336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07" name="Line 14"/>
              <p:cNvSpPr/>
              <p:nvPr/>
            </p:nvSpPr>
            <p:spPr>
              <a:xfrm>
                <a:off x="4724280" y="259056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08" name="Line 15"/>
              <p:cNvSpPr/>
              <p:nvPr/>
            </p:nvSpPr>
            <p:spPr>
              <a:xfrm>
                <a:off x="4724280" y="289548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09" name="Line 16"/>
              <p:cNvSpPr/>
              <p:nvPr/>
            </p:nvSpPr>
            <p:spPr>
              <a:xfrm>
                <a:off x="4724280" y="190476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10" name="Line 17"/>
              <p:cNvSpPr/>
              <p:nvPr/>
            </p:nvSpPr>
            <p:spPr>
              <a:xfrm>
                <a:off x="4724280" y="198108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11" name="Line 18"/>
              <p:cNvSpPr/>
              <p:nvPr/>
            </p:nvSpPr>
            <p:spPr>
              <a:xfrm>
                <a:off x="4724280" y="205740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12" name="Line 19"/>
              <p:cNvSpPr/>
              <p:nvPr/>
            </p:nvSpPr>
            <p:spPr>
              <a:xfrm>
                <a:off x="4724280" y="274320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13" name="Line 20"/>
              <p:cNvSpPr/>
              <p:nvPr/>
            </p:nvSpPr>
            <p:spPr>
              <a:xfrm>
                <a:off x="4724280" y="266688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14" name="Line 21"/>
              <p:cNvSpPr/>
              <p:nvPr/>
            </p:nvSpPr>
            <p:spPr>
              <a:xfrm>
                <a:off x="4724280" y="2819160"/>
                <a:ext cx="380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1215" name="Text Box 22"/>
            <p:cNvSpPr/>
            <p:nvPr/>
          </p:nvSpPr>
          <p:spPr>
            <a:xfrm>
              <a:off x="3964680" y="1828800"/>
              <a:ext cx="732960" cy="3376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Inputs</a:t>
              </a:r>
              <a:endParaRPr lang="en-US" sz="1600" b="0" u="none" strike="noStrike">
                <a:solidFill>
                  <a:srgbClr val="000000"/>
                </a:solidFill>
                <a:effectLst/>
                <a:uFillTx/>
                <a:latin typeface="Times New Roman"/>
              </a:endParaRPr>
            </a:p>
          </p:txBody>
        </p:sp>
        <p:sp>
          <p:nvSpPr>
            <p:cNvPr id="1216" name="Text Box 23"/>
            <p:cNvSpPr/>
            <p:nvPr/>
          </p:nvSpPr>
          <p:spPr>
            <a:xfrm>
              <a:off x="3962160" y="2438280"/>
              <a:ext cx="838440" cy="5814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Compl. inputs</a:t>
              </a:r>
              <a:endParaRPr lang="en-US" sz="1600" b="0" u="none" strike="noStrike">
                <a:solidFill>
                  <a:srgbClr val="000000"/>
                </a:solidFill>
                <a:effectLst/>
                <a:uFillTx/>
                <a:latin typeface="Times New Roman"/>
              </a:endParaRPr>
            </a:p>
          </p:txBody>
        </p:sp>
        <p:grpSp>
          <p:nvGrpSpPr>
            <p:cNvPr id="1217" name="Group 24"/>
            <p:cNvGrpSpPr/>
            <p:nvPr/>
          </p:nvGrpSpPr>
          <p:grpSpPr>
            <a:xfrm>
              <a:off x="6543720" y="2121480"/>
              <a:ext cx="628200" cy="503280"/>
              <a:chOff x="6543720" y="2121480"/>
              <a:chExt cx="628200" cy="503280"/>
            </a:xfrm>
          </p:grpSpPr>
          <p:sp>
            <p:nvSpPr>
              <p:cNvPr id="1218" name="Freeform 25"/>
              <p:cNvSpPr/>
              <p:nvPr/>
            </p:nvSpPr>
            <p:spPr>
              <a:xfrm rot="21463800">
                <a:off x="6629040" y="2153160"/>
                <a:ext cx="88920" cy="457200"/>
              </a:xfrm>
              <a:custGeom>
                <a:avLst/>
                <a:gdLst>
                  <a:gd name="GluePoint1X" fmla="*/ 0 w 56"/>
                  <a:gd name="GluePoint1Y" fmla="*/ 0 h 288"/>
                  <a:gd name="GluePoint2X" fmla="*/ 48 w 56"/>
                  <a:gd name="GluePoint2Y" fmla="*/ 96 h 288"/>
                  <a:gd name="GluePoint3X" fmla="*/ 48 w 56"/>
                  <a:gd name="GluePoint3Y" fmla="*/ 192 h 288"/>
                  <a:gd name="GluePoint4X" fmla="*/ 0 w 56"/>
                  <a:gd name="GluePoint4Y" fmla="*/ 288 h 288"/>
                </a:gdLst>
                <a:ahLst/>
                <a:cxnLst>
                  <a:cxn ang="0">
                    <a:pos x="GluePoint1X" y="GluePoint1Y"/>
                  </a:cxn>
                  <a:cxn ang="0">
                    <a:pos x="GluePoint2X" y="GluePoint2Y"/>
                  </a:cxn>
                  <a:cxn ang="0">
                    <a:pos x="GluePoint3X" y="GluePoint3Y"/>
                  </a:cxn>
                  <a:cxn ang="0">
                    <a:pos x="GluePoint4X" y="GluePoint4Y"/>
                  </a:cxn>
                </a:cxnLst>
                <a:rect l="l" t="t" r="r" b="b"/>
                <a:pathLst>
                  <a:path w="56" h="288">
                    <a:moveTo>
                      <a:pt x="0" y="0"/>
                    </a:moveTo>
                    <a:cubicBezTo>
                      <a:pt x="20" y="32"/>
                      <a:pt x="40" y="64"/>
                      <a:pt x="48" y="96"/>
                    </a:cubicBezTo>
                    <a:cubicBezTo>
                      <a:pt x="56" y="128"/>
                      <a:pt x="56" y="160"/>
                      <a:pt x="48" y="192"/>
                    </a:cubicBezTo>
                    <a:cubicBezTo>
                      <a:pt x="40" y="224"/>
                      <a:pt x="8" y="272"/>
                      <a:pt x="0" y="288"/>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19" name="Freeform 26"/>
              <p:cNvSpPr/>
              <p:nvPr/>
            </p:nvSpPr>
            <p:spPr>
              <a:xfrm rot="21463800">
                <a:off x="6624000" y="2131920"/>
                <a:ext cx="533520" cy="241200"/>
              </a:xfrm>
              <a:custGeom>
                <a:avLst/>
                <a:gdLst>
                  <a:gd name="GluePoint1X" fmla="*/ 0 w 336"/>
                  <a:gd name="GluePoint1Y" fmla="*/ 8 h 152"/>
                  <a:gd name="GluePoint2X" fmla="*/ 96 w 336"/>
                  <a:gd name="GluePoint2Y" fmla="*/ 8 h 152"/>
                  <a:gd name="GluePoint3X" fmla="*/ 240 w 336"/>
                  <a:gd name="GluePoint3Y" fmla="*/ 56 h 152"/>
                  <a:gd name="GluePoint4X" fmla="*/ 336 w 336"/>
                  <a:gd name="GluePoint4Y" fmla="*/ 152 h 152"/>
                </a:gdLst>
                <a:ahLst/>
                <a:cxnLst>
                  <a:cxn ang="0">
                    <a:pos x="GluePoint1X" y="GluePoint1Y"/>
                  </a:cxn>
                  <a:cxn ang="0">
                    <a:pos x="GluePoint2X" y="GluePoint2Y"/>
                  </a:cxn>
                  <a:cxn ang="0">
                    <a:pos x="GluePoint3X" y="GluePoint3Y"/>
                  </a:cxn>
                  <a:cxn ang="0">
                    <a:pos x="GluePoint4X" y="GluePoint4Y"/>
                  </a:cxn>
                </a:cxnLst>
                <a:rect l="l" t="t" r="r" b="b"/>
                <a:pathLst>
                  <a:path w="336" h="152">
                    <a:moveTo>
                      <a:pt x="0" y="8"/>
                    </a:moveTo>
                    <a:cubicBezTo>
                      <a:pt x="28" y="4"/>
                      <a:pt x="56" y="0"/>
                      <a:pt x="96" y="8"/>
                    </a:cubicBezTo>
                    <a:cubicBezTo>
                      <a:pt x="136" y="16"/>
                      <a:pt x="200" y="32"/>
                      <a:pt x="240" y="56"/>
                    </a:cubicBezTo>
                    <a:cubicBezTo>
                      <a:pt x="280" y="80"/>
                      <a:pt x="320" y="136"/>
                      <a:pt x="336" y="152"/>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20" name="Freeform 27"/>
              <p:cNvSpPr/>
              <p:nvPr/>
            </p:nvSpPr>
            <p:spPr>
              <a:xfrm flipV="1" rot="21463200">
                <a:off x="6633720" y="2373120"/>
                <a:ext cx="533520" cy="241200"/>
              </a:xfrm>
              <a:custGeom>
                <a:avLst/>
                <a:gdLst>
                  <a:gd name="GluePoint1X" fmla="*/ 0 w 336"/>
                  <a:gd name="GluePoint1Y" fmla="*/ 8 h 152"/>
                  <a:gd name="GluePoint2X" fmla="*/ 96 w 336"/>
                  <a:gd name="GluePoint2Y" fmla="*/ 8 h 152"/>
                  <a:gd name="GluePoint3X" fmla="*/ 240 w 336"/>
                  <a:gd name="GluePoint3Y" fmla="*/ 56 h 152"/>
                  <a:gd name="GluePoint4X" fmla="*/ 336 w 336"/>
                  <a:gd name="GluePoint4Y" fmla="*/ 152 h 152"/>
                </a:gdLst>
                <a:ahLst/>
                <a:cxnLst>
                  <a:cxn ang="0">
                    <a:pos x="GluePoint1X" y="GluePoint1Y"/>
                  </a:cxn>
                  <a:cxn ang="0">
                    <a:pos x="GluePoint2X" y="GluePoint2Y"/>
                  </a:cxn>
                  <a:cxn ang="0">
                    <a:pos x="GluePoint3X" y="GluePoint3Y"/>
                  </a:cxn>
                  <a:cxn ang="0">
                    <a:pos x="GluePoint4X" y="GluePoint4Y"/>
                  </a:cxn>
                </a:cxnLst>
                <a:rect l="l" t="t" r="r" b="b"/>
                <a:pathLst>
                  <a:path w="336" h="152">
                    <a:moveTo>
                      <a:pt x="0" y="8"/>
                    </a:moveTo>
                    <a:cubicBezTo>
                      <a:pt x="28" y="4"/>
                      <a:pt x="56" y="0"/>
                      <a:pt x="96" y="8"/>
                    </a:cubicBezTo>
                    <a:cubicBezTo>
                      <a:pt x="136" y="16"/>
                      <a:pt x="200" y="32"/>
                      <a:pt x="240" y="56"/>
                    </a:cubicBezTo>
                    <a:cubicBezTo>
                      <a:pt x="280" y="80"/>
                      <a:pt x="320" y="136"/>
                      <a:pt x="336" y="152"/>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21" name="Freeform 28"/>
              <p:cNvSpPr/>
              <p:nvPr/>
            </p:nvSpPr>
            <p:spPr>
              <a:xfrm rot="21463800">
                <a:off x="6552720" y="2143440"/>
                <a:ext cx="88560" cy="457200"/>
              </a:xfrm>
              <a:custGeom>
                <a:avLst/>
                <a:gdLst>
                  <a:gd name="GluePoint1X" fmla="*/ 0 w 56"/>
                  <a:gd name="GluePoint1Y" fmla="*/ 0 h 288"/>
                  <a:gd name="GluePoint2X" fmla="*/ 48 w 56"/>
                  <a:gd name="GluePoint2Y" fmla="*/ 96 h 288"/>
                  <a:gd name="GluePoint3X" fmla="*/ 48 w 56"/>
                  <a:gd name="GluePoint3Y" fmla="*/ 192 h 288"/>
                  <a:gd name="GluePoint4X" fmla="*/ 0 w 56"/>
                  <a:gd name="GluePoint4Y" fmla="*/ 288 h 288"/>
                </a:gdLst>
                <a:ahLst/>
                <a:cxnLst>
                  <a:cxn ang="0">
                    <a:pos x="GluePoint1X" y="GluePoint1Y"/>
                  </a:cxn>
                  <a:cxn ang="0">
                    <a:pos x="GluePoint2X" y="GluePoint2Y"/>
                  </a:cxn>
                  <a:cxn ang="0">
                    <a:pos x="GluePoint3X" y="GluePoint3Y"/>
                  </a:cxn>
                  <a:cxn ang="0">
                    <a:pos x="GluePoint4X" y="GluePoint4Y"/>
                  </a:cxn>
                </a:cxnLst>
                <a:rect l="l" t="t" r="r" b="b"/>
                <a:pathLst>
                  <a:path w="56" h="288">
                    <a:moveTo>
                      <a:pt x="0" y="0"/>
                    </a:moveTo>
                    <a:cubicBezTo>
                      <a:pt x="20" y="32"/>
                      <a:pt x="40" y="64"/>
                      <a:pt x="48" y="96"/>
                    </a:cubicBezTo>
                    <a:cubicBezTo>
                      <a:pt x="56" y="128"/>
                      <a:pt x="56" y="160"/>
                      <a:pt x="48" y="192"/>
                    </a:cubicBezTo>
                    <a:cubicBezTo>
                      <a:pt x="40" y="224"/>
                      <a:pt x="8" y="272"/>
                      <a:pt x="0" y="288"/>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1222" name="Text Box 29"/>
            <p:cNvSpPr/>
            <p:nvPr/>
          </p:nvSpPr>
          <p:spPr>
            <a:xfrm>
              <a:off x="7772400" y="2209680"/>
              <a:ext cx="76176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Error</a:t>
              </a:r>
              <a:endParaRPr lang="en-US" sz="1600" b="0" u="none" strike="noStrike">
                <a:solidFill>
                  <a:srgbClr val="000000"/>
                </a:solidFill>
                <a:effectLst/>
                <a:uFillTx/>
                <a:latin typeface="Times New Roman"/>
              </a:endParaRPr>
            </a:p>
          </p:txBody>
        </p:sp>
        <p:sp>
          <p:nvSpPr>
            <p:cNvPr id="1223" name="Line 30"/>
            <p:cNvSpPr/>
            <p:nvPr/>
          </p:nvSpPr>
          <p:spPr>
            <a:xfrm>
              <a:off x="6324480" y="1981080"/>
              <a:ext cx="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24" name="Line 31"/>
            <p:cNvSpPr/>
            <p:nvPr/>
          </p:nvSpPr>
          <p:spPr>
            <a:xfrm>
              <a:off x="6324480" y="2514600"/>
              <a:ext cx="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25" name="Line 32"/>
            <p:cNvSpPr/>
            <p:nvPr/>
          </p:nvSpPr>
          <p:spPr>
            <a:xfrm>
              <a:off x="6324480" y="220968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26" name="Line 33"/>
            <p:cNvSpPr/>
            <p:nvPr/>
          </p:nvSpPr>
          <p:spPr>
            <a:xfrm>
              <a:off x="6324480" y="251460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27" name="Line 34"/>
            <p:cNvSpPr/>
            <p:nvPr/>
          </p:nvSpPr>
          <p:spPr>
            <a:xfrm>
              <a:off x="7162560" y="2361960"/>
              <a:ext cx="6098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28" name="Oval 35"/>
            <p:cNvSpPr/>
            <p:nvPr/>
          </p:nvSpPr>
          <p:spPr>
            <a:xfrm>
              <a:off x="7162560" y="2328840"/>
              <a:ext cx="76320" cy="75960"/>
            </a:xfrm>
            <a:prstGeom prst="ellipse">
              <a:avLst/>
            </a:prstGeom>
            <a:solidFill>
              <a:srgbClr val="FFFFFF"/>
            </a:solidFill>
            <a:ln w="9360">
              <a:solidFill>
                <a:srgbClr val="000000"/>
              </a:solidFill>
              <a:miter/>
            </a:ln>
          </p:spPr>
          <p:style>
            <a:lnRef idx="0"/>
            <a:fillRef idx="0"/>
            <a:effectRef idx="0"/>
            <a:fontRef idx="minor"/>
          </p:style>
          <p:txBody>
            <a:bodyPr wrap="none" lIns="90000" tIns="6840" rIns="90000" bIns="684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229" name="Text Box 36"/>
            <p:cNvSpPr/>
            <p:nvPr/>
          </p:nvSpPr>
          <p:spPr>
            <a:xfrm>
              <a:off x="7772400" y="1828800"/>
              <a:ext cx="83808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Output</a:t>
              </a:r>
              <a:endParaRPr lang="en-US" sz="1600" b="0" u="none" strike="noStrike">
                <a:solidFill>
                  <a:srgbClr val="000000"/>
                </a:solidFill>
                <a:effectLst/>
                <a:uFillTx/>
                <a:latin typeface="Times New Roman"/>
              </a:endParaRPr>
            </a:p>
          </p:txBody>
        </p:sp>
      </p:grpSp>
      <p:sp>
        <p:nvSpPr>
          <p:cNvPr id="1230" name="Text Box 37"/>
          <p:cNvSpPr/>
          <p:nvPr/>
        </p:nvSpPr>
        <p:spPr>
          <a:xfrm>
            <a:off x="457200" y="1523880"/>
            <a:ext cx="2666880" cy="19213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For example, both the sum </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b</a:t>
            </a:r>
            <a:r>
              <a:rPr lang="en-US" sz="2000" b="0" u="none" strike="noStrike">
                <a:solidFill>
                  <a:srgbClr val="000000"/>
                </a:solidFill>
                <a:effectLst/>
                <a:uFillTx/>
                <a:latin typeface="Arial"/>
                <a:ea typeface="Times New Roman"/>
              </a:rPr>
              <a:t>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t>
            </a:r>
            <a:r>
              <a:rPr lang="en-US" sz="2000" b="0" u="none" strike="noStrike">
                <a:solidFill>
                  <a:srgbClr val="000000"/>
                </a:solidFill>
                <a:effectLst/>
                <a:uFillTx/>
                <a:latin typeface="Arial"/>
                <a:ea typeface="Times New Roman"/>
              </a:rPr>
              <a:t> and carry </a:t>
            </a:r>
            <a:r>
              <a:rPr lang="en-US" sz="2000" b="0" i="1" u="none" strike="noStrike">
                <a:solidFill>
                  <a:srgbClr val="000000"/>
                </a:solidFill>
                <a:effectLst/>
                <a:uFillTx/>
                <a:latin typeface="Arial"/>
                <a:ea typeface="Times New Roman"/>
              </a:rPr>
              <a:t>ab</a:t>
            </a:r>
            <a:r>
              <a:rPr lang="en-US" sz="2000" b="0" u="none" strike="noStrike">
                <a:solidFill>
                  <a:srgbClr val="000000"/>
                </a:solidFill>
                <a:effectLst/>
                <a:uFillTx/>
                <a:latin typeface="Arial"/>
                <a:ea typeface="Times New Roman"/>
              </a:rPr>
              <a:t>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bc</a:t>
            </a:r>
            <a:r>
              <a:rPr lang="en-US" sz="2000" b="0" u="none" strike="noStrike">
                <a:solidFill>
                  <a:srgbClr val="000000"/>
                </a:solidFill>
                <a:effectLst/>
                <a:uFillTx/>
                <a:latin typeface="Arial"/>
                <a:ea typeface="Times New Roman"/>
              </a:rPr>
              <a:t> </a:t>
            </a:r>
            <a:r>
              <a:rPr lang="en-US" sz="2000" b="1" u="none" strike="noStrike">
                <a:solidFill>
                  <a:srgbClr val="000000"/>
                </a:solidFill>
                <a:effectLst/>
                <a:uFillTx/>
                <a:latin typeface="Symbol"/>
                <a:ea typeface="Symbol"/>
              </a:rPr>
              <a:t></a:t>
            </a:r>
            <a:r>
              <a:rPr lang="en-US" sz="2000" b="0" u="none" strike="noStrike">
                <a:solidFill>
                  <a:srgbClr val="000000"/>
                </a:solidFill>
                <a:effectLst/>
                <a:uFillTx/>
                <a:latin typeface="Arial"/>
                <a:ea typeface="Times New Roman"/>
              </a:rPr>
              <a:t> </a:t>
            </a:r>
            <a:r>
              <a:rPr lang="en-US" sz="2000" b="0" i="1" u="none" strike="noStrike">
                <a:solidFill>
                  <a:srgbClr val="000000"/>
                </a:solidFill>
                <a:effectLst/>
                <a:uFillTx/>
                <a:latin typeface="Arial"/>
                <a:ea typeface="Times New Roman"/>
              </a:rPr>
              <a:t>ca</a:t>
            </a:r>
            <a:r>
              <a:rPr lang="en-US" sz="2000" b="0" u="none" strike="noStrike">
                <a:solidFill>
                  <a:srgbClr val="000000"/>
                </a:solidFill>
                <a:effectLst/>
                <a:uFillTx/>
                <a:latin typeface="Arial"/>
                <a:ea typeface="Times New Roman"/>
              </a:rPr>
              <a:t> outputs of a full-adder are self-dual functions</a:t>
            </a:r>
            <a:endParaRPr lang="en-US" sz="2000" b="0" u="none" strike="noStrike">
              <a:solidFill>
                <a:srgbClr val="000000"/>
              </a:solidFill>
              <a:effectLst/>
              <a:uFillTx/>
              <a:latin typeface="Times New Roman"/>
            </a:endParaRPr>
          </a:p>
        </p:txBody>
      </p:sp>
      <p:sp>
        <p:nvSpPr>
          <p:cNvPr id="1231" name="Text Box 38"/>
          <p:cNvSpPr/>
          <p:nvPr/>
        </p:nvSpPr>
        <p:spPr>
          <a:xfrm>
            <a:off x="457200" y="4267080"/>
            <a:ext cx="822960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Many functions of practical interest are self-dual</a:t>
            </a:r>
            <a:endParaRPr lang="en-US" sz="2000" b="0" u="none" strike="noStrike">
              <a:solidFill>
                <a:srgbClr val="000000"/>
              </a:solidFill>
              <a:effectLst/>
              <a:uFillTx/>
              <a:latin typeface="Times New Roman"/>
            </a:endParaRPr>
          </a:p>
        </p:txBody>
      </p:sp>
      <p:grpSp>
        <p:nvGrpSpPr>
          <p:cNvPr id="1232" name="Group 39"/>
          <p:cNvGrpSpPr/>
          <p:nvPr/>
        </p:nvGrpSpPr>
        <p:grpSpPr>
          <a:xfrm>
            <a:off x="5562360" y="1447560"/>
            <a:ext cx="2743200" cy="1219320"/>
            <a:chOff x="5562360" y="1447560"/>
            <a:chExt cx="2743200" cy="1219320"/>
          </a:xfrm>
        </p:grpSpPr>
        <p:sp>
          <p:nvSpPr>
            <p:cNvPr id="1233" name="Line 40"/>
            <p:cNvSpPr/>
            <p:nvPr/>
          </p:nvSpPr>
          <p:spPr>
            <a:xfrm flipV="1">
              <a:off x="5638680" y="1600200"/>
              <a:ext cx="380880" cy="304560"/>
            </a:xfrm>
            <a:prstGeom prst="line">
              <a:avLst/>
            </a:prstGeom>
            <a:ln w="9360">
              <a:solidFill>
                <a:srgbClr val="FF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34" name="Line 41"/>
            <p:cNvSpPr/>
            <p:nvPr/>
          </p:nvSpPr>
          <p:spPr>
            <a:xfrm flipV="1">
              <a:off x="5562360" y="1676160"/>
              <a:ext cx="457200" cy="990720"/>
            </a:xfrm>
            <a:prstGeom prst="line">
              <a:avLst/>
            </a:prstGeom>
            <a:ln w="9360">
              <a:solidFill>
                <a:srgbClr val="FF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35" name="Text Box 42"/>
            <p:cNvSpPr/>
            <p:nvPr/>
          </p:nvSpPr>
          <p:spPr>
            <a:xfrm>
              <a:off x="5943600" y="1447560"/>
              <a:ext cx="236196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FF0000"/>
                  </a:solidFill>
                  <a:effectLst/>
                  <a:uFillTx/>
                  <a:latin typeface="Arial"/>
                  <a:ea typeface="Times New Roman"/>
                </a:rPr>
                <a:t> Use same circuit twice</a:t>
              </a:r>
              <a:endParaRPr lang="en-US" sz="1600" b="0" u="none" strike="noStrike">
                <a:solidFill>
                  <a:srgbClr val="000000"/>
                </a:solidFill>
                <a:effectLst/>
                <a:uFillTx/>
                <a:latin typeface="Times New Roman"/>
              </a:endParaRPr>
            </a:p>
          </p:txBody>
        </p:sp>
      </p:grpSp>
      <p:sp>
        <p:nvSpPr>
          <p:cNvPr id="1236" name="Text Box 43"/>
          <p:cNvSpPr/>
          <p:nvPr/>
        </p:nvSpPr>
        <p:spPr>
          <a:xfrm>
            <a:off x="457200" y="4876560"/>
            <a:ext cx="8229600" cy="100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Times New Roman"/>
              </a:rPr>
              <a:t>Examples</a:t>
            </a:r>
            <a:r>
              <a:rPr lang="en-US" sz="2000" b="0" u="none" strike="noStrike">
                <a:solidFill>
                  <a:srgbClr val="000000"/>
                </a:solidFill>
                <a:effectLst/>
                <a:uFillTx/>
                <a:latin typeface="Arial"/>
                <a:ea typeface="Times New Roman"/>
              </a:rPr>
              <a:t> (proofs left as exercise)</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a:t>
            </a:r>
            <a:r>
              <a:rPr lang="en-US" sz="2000" b="0" i="1" u="none" strike="noStrike">
                <a:solidFill>
                  <a:srgbClr val="000000"/>
                </a:solidFill>
                <a:effectLst/>
                <a:uFillTx/>
                <a:latin typeface="Arial"/>
                <a:ea typeface="Times New Roman"/>
              </a:rPr>
              <a:t> k</a:t>
            </a:r>
            <a:r>
              <a:rPr lang="en-US" sz="2000" b="0" u="none" strike="noStrike">
                <a:solidFill>
                  <a:srgbClr val="000000"/>
                </a:solidFill>
                <a:effectLst/>
                <a:uFillTx/>
                <a:latin typeface="Arial"/>
                <a:ea typeface="Times New Roman"/>
              </a:rPr>
              <a:t>-bit binary adder, with 2</a:t>
            </a:r>
            <a:r>
              <a:rPr lang="en-US" sz="2000" b="0" i="1" u="none" strike="noStrike">
                <a:solidFill>
                  <a:srgbClr val="000000"/>
                </a:solidFill>
                <a:effectLst/>
                <a:uFillTx/>
                <a:latin typeface="Arial"/>
                <a:ea typeface="Times New Roman"/>
              </a:rPr>
              <a:t>k</a:t>
            </a:r>
            <a:r>
              <a:rPr lang="en-US" sz="2000" b="0" u="none" strike="noStrike">
                <a:solidFill>
                  <a:srgbClr val="000000"/>
                </a:solidFill>
                <a:effectLst/>
                <a:uFillTx/>
                <a:latin typeface="Arial"/>
                <a:ea typeface="Times New Roman"/>
              </a:rPr>
              <a:t> + 1 inputs and </a:t>
            </a:r>
            <a:r>
              <a:rPr lang="en-US" sz="2000" b="0" i="1" u="none" strike="noStrike">
                <a:solidFill>
                  <a:srgbClr val="000000"/>
                </a:solidFill>
                <a:effectLst/>
                <a:uFillTx/>
                <a:latin typeface="Arial"/>
                <a:ea typeface="Times New Roman"/>
              </a:rPr>
              <a:t>k</a:t>
            </a:r>
            <a:r>
              <a:rPr lang="en-US" sz="2000" b="0" u="none" strike="noStrike">
                <a:solidFill>
                  <a:srgbClr val="000000"/>
                </a:solidFill>
                <a:effectLst/>
                <a:uFillTx/>
                <a:latin typeface="Arial"/>
                <a:ea typeface="Times New Roman"/>
              </a:rPr>
              <a:t> + 1 outputs, is self-dual</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So are 1’s-complement and 2’s-complement versions of such an adder</a:t>
            </a:r>
            <a:endParaRPr lang="en-US" sz="2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7"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774B41D6-A819-46EA-A0CA-DB8C2948FCF5}"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238"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239" name="PlaceHolder 1"/>
          <p:cNvSpPr>
            <a:spLocks noGrp="1"/>
          </p:cNvSpPr>
          <p:nvPr>
            <p:ph type="title"/>
          </p:nvPr>
        </p:nvSpPr>
        <p:spPr>
          <a:xfrm>
            <a:off x="228600" y="228240"/>
            <a:ext cx="8686800" cy="609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Recomputing with Transformed Operands</a:t>
            </a:r>
            <a:endParaRPr lang="en-US" sz="3200" b="0" u="none" strike="noStrike">
              <a:solidFill>
                <a:srgbClr val="000000"/>
              </a:solidFill>
              <a:effectLst/>
              <a:uFillTx/>
              <a:latin typeface="Arial"/>
            </a:endParaRPr>
          </a:p>
        </p:txBody>
      </p:sp>
      <p:sp>
        <p:nvSpPr>
          <p:cNvPr id="1240" name="Text Box 4"/>
          <p:cNvSpPr/>
          <p:nvPr/>
        </p:nvSpPr>
        <p:spPr>
          <a:xfrm>
            <a:off x="457200" y="990360"/>
            <a:ext cx="8229600" cy="7030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Alternating logic is a special case of the following general scheme, with its encoding and decoding functions being bitwise complementation</a:t>
            </a:r>
            <a:endParaRPr lang="en-US" sz="2000" b="0" u="none" strike="noStrike">
              <a:solidFill>
                <a:srgbClr val="000000"/>
              </a:solidFill>
              <a:effectLst/>
              <a:uFillTx/>
              <a:latin typeface="Times New Roman"/>
            </a:endParaRPr>
          </a:p>
        </p:txBody>
      </p:sp>
      <p:sp>
        <p:nvSpPr>
          <p:cNvPr id="1241" name="Text Box 5"/>
          <p:cNvSpPr/>
          <p:nvPr/>
        </p:nvSpPr>
        <p:spPr>
          <a:xfrm>
            <a:off x="457200" y="3276360"/>
            <a:ext cx="8229600" cy="1312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Times New Roman"/>
              </a:rPr>
              <a:t>Recompute after shift</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When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 is binary addition, we can use shifts for encoding and decoding</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Shifting causes the adder circuits to be exercised differently each time</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Originally proposed for ALUs with bit-slice organization</a:t>
            </a:r>
            <a:endParaRPr lang="en-US" sz="2000" b="0" u="none" strike="noStrike">
              <a:solidFill>
                <a:srgbClr val="000000"/>
              </a:solidFill>
              <a:effectLst/>
              <a:uFillTx/>
              <a:latin typeface="Times New Roman"/>
            </a:endParaRPr>
          </a:p>
        </p:txBody>
      </p:sp>
      <p:grpSp>
        <p:nvGrpSpPr>
          <p:cNvPr id="1242" name="Group 6"/>
          <p:cNvGrpSpPr/>
          <p:nvPr/>
        </p:nvGrpSpPr>
        <p:grpSpPr>
          <a:xfrm>
            <a:off x="1450080" y="1828800"/>
            <a:ext cx="6246000" cy="1218960"/>
            <a:chOff x="1450080" y="1828800"/>
            <a:chExt cx="6246000" cy="1218960"/>
          </a:xfrm>
        </p:grpSpPr>
        <p:sp>
          <p:nvSpPr>
            <p:cNvPr id="1243" name="Rectangle 7"/>
            <p:cNvSpPr/>
            <p:nvPr/>
          </p:nvSpPr>
          <p:spPr>
            <a:xfrm>
              <a:off x="3428640" y="1828800"/>
              <a:ext cx="838440" cy="45720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f</a:t>
              </a:r>
              <a:endParaRPr lang="en-US" sz="1800" b="0" u="none" strike="noStrike">
                <a:solidFill>
                  <a:srgbClr val="000000"/>
                </a:solidFill>
                <a:effectLst/>
                <a:uFillTx/>
                <a:latin typeface="Times New Roman"/>
              </a:endParaRPr>
            </a:p>
          </p:txBody>
        </p:sp>
        <p:sp>
          <p:nvSpPr>
            <p:cNvPr id="1244" name="Rectangle 8"/>
            <p:cNvSpPr/>
            <p:nvPr/>
          </p:nvSpPr>
          <p:spPr>
            <a:xfrm>
              <a:off x="3428640" y="2590560"/>
              <a:ext cx="838440" cy="45720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g</a:t>
              </a:r>
              <a:endParaRPr lang="en-US" sz="1800" b="0" u="none" strike="noStrike">
                <a:solidFill>
                  <a:srgbClr val="000000"/>
                </a:solidFill>
                <a:effectLst/>
                <a:uFillTx/>
                <a:latin typeface="Times New Roman"/>
              </a:endParaRPr>
            </a:p>
          </p:txBody>
        </p:sp>
        <p:sp>
          <p:nvSpPr>
            <p:cNvPr id="1245" name="Line 9"/>
            <p:cNvSpPr/>
            <p:nvPr/>
          </p:nvSpPr>
          <p:spPr>
            <a:xfrm>
              <a:off x="4267080" y="2057400"/>
              <a:ext cx="25905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46" name="Line 10"/>
            <p:cNvSpPr/>
            <p:nvPr/>
          </p:nvSpPr>
          <p:spPr>
            <a:xfrm>
              <a:off x="2209680" y="2057400"/>
              <a:ext cx="12189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47" name="Line 11"/>
            <p:cNvSpPr/>
            <p:nvPr/>
          </p:nvSpPr>
          <p:spPr>
            <a:xfrm>
              <a:off x="3047760" y="2819160"/>
              <a:ext cx="38088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48" name="Text Box 12"/>
            <p:cNvSpPr/>
            <p:nvPr/>
          </p:nvSpPr>
          <p:spPr>
            <a:xfrm>
              <a:off x="1450080" y="1904760"/>
              <a:ext cx="732960" cy="3376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Inputs</a:t>
              </a:r>
              <a:endParaRPr lang="en-US" sz="1600" b="0" u="none" strike="noStrike">
                <a:solidFill>
                  <a:srgbClr val="000000"/>
                </a:solidFill>
                <a:effectLst/>
                <a:uFillTx/>
                <a:latin typeface="Times New Roman"/>
              </a:endParaRPr>
            </a:p>
          </p:txBody>
        </p:sp>
        <p:grpSp>
          <p:nvGrpSpPr>
            <p:cNvPr id="1249" name="Group 13"/>
            <p:cNvGrpSpPr/>
            <p:nvPr/>
          </p:nvGrpSpPr>
          <p:grpSpPr>
            <a:xfrm>
              <a:off x="5629320" y="2197800"/>
              <a:ext cx="628200" cy="503280"/>
              <a:chOff x="5629320" y="2197800"/>
              <a:chExt cx="628200" cy="503280"/>
            </a:xfrm>
          </p:grpSpPr>
          <p:sp>
            <p:nvSpPr>
              <p:cNvPr id="1250" name="Freeform 14"/>
              <p:cNvSpPr/>
              <p:nvPr/>
            </p:nvSpPr>
            <p:spPr>
              <a:xfrm rot="21463800">
                <a:off x="5714640" y="2229480"/>
                <a:ext cx="88920" cy="457200"/>
              </a:xfrm>
              <a:custGeom>
                <a:avLst/>
                <a:gdLst>
                  <a:gd name="GluePoint1X" fmla="*/ 0 w 56"/>
                  <a:gd name="GluePoint1Y" fmla="*/ 0 h 288"/>
                  <a:gd name="GluePoint2X" fmla="*/ 48 w 56"/>
                  <a:gd name="GluePoint2Y" fmla="*/ 96 h 288"/>
                  <a:gd name="GluePoint3X" fmla="*/ 48 w 56"/>
                  <a:gd name="GluePoint3Y" fmla="*/ 192 h 288"/>
                  <a:gd name="GluePoint4X" fmla="*/ 0 w 56"/>
                  <a:gd name="GluePoint4Y" fmla="*/ 288 h 288"/>
                </a:gdLst>
                <a:ahLst/>
                <a:cxnLst>
                  <a:cxn ang="0">
                    <a:pos x="GluePoint1X" y="GluePoint1Y"/>
                  </a:cxn>
                  <a:cxn ang="0">
                    <a:pos x="GluePoint2X" y="GluePoint2Y"/>
                  </a:cxn>
                  <a:cxn ang="0">
                    <a:pos x="GluePoint3X" y="GluePoint3Y"/>
                  </a:cxn>
                  <a:cxn ang="0">
                    <a:pos x="GluePoint4X" y="GluePoint4Y"/>
                  </a:cxn>
                </a:cxnLst>
                <a:rect l="l" t="t" r="r" b="b"/>
                <a:pathLst>
                  <a:path w="56" h="288">
                    <a:moveTo>
                      <a:pt x="0" y="0"/>
                    </a:moveTo>
                    <a:cubicBezTo>
                      <a:pt x="20" y="32"/>
                      <a:pt x="40" y="64"/>
                      <a:pt x="48" y="96"/>
                    </a:cubicBezTo>
                    <a:cubicBezTo>
                      <a:pt x="56" y="128"/>
                      <a:pt x="56" y="160"/>
                      <a:pt x="48" y="192"/>
                    </a:cubicBezTo>
                    <a:cubicBezTo>
                      <a:pt x="40" y="224"/>
                      <a:pt x="8" y="272"/>
                      <a:pt x="0" y="288"/>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51" name="Freeform 15"/>
              <p:cNvSpPr/>
              <p:nvPr/>
            </p:nvSpPr>
            <p:spPr>
              <a:xfrm rot="21463800">
                <a:off x="5709600" y="2208240"/>
                <a:ext cx="533520" cy="241200"/>
              </a:xfrm>
              <a:custGeom>
                <a:avLst/>
                <a:gdLst>
                  <a:gd name="GluePoint1X" fmla="*/ 0 w 336"/>
                  <a:gd name="GluePoint1Y" fmla="*/ 8 h 152"/>
                  <a:gd name="GluePoint2X" fmla="*/ 96 w 336"/>
                  <a:gd name="GluePoint2Y" fmla="*/ 8 h 152"/>
                  <a:gd name="GluePoint3X" fmla="*/ 240 w 336"/>
                  <a:gd name="GluePoint3Y" fmla="*/ 56 h 152"/>
                  <a:gd name="GluePoint4X" fmla="*/ 336 w 336"/>
                  <a:gd name="GluePoint4Y" fmla="*/ 152 h 152"/>
                </a:gdLst>
                <a:ahLst/>
                <a:cxnLst>
                  <a:cxn ang="0">
                    <a:pos x="GluePoint1X" y="GluePoint1Y"/>
                  </a:cxn>
                  <a:cxn ang="0">
                    <a:pos x="GluePoint2X" y="GluePoint2Y"/>
                  </a:cxn>
                  <a:cxn ang="0">
                    <a:pos x="GluePoint3X" y="GluePoint3Y"/>
                  </a:cxn>
                  <a:cxn ang="0">
                    <a:pos x="GluePoint4X" y="GluePoint4Y"/>
                  </a:cxn>
                </a:cxnLst>
                <a:rect l="l" t="t" r="r" b="b"/>
                <a:pathLst>
                  <a:path w="336" h="152">
                    <a:moveTo>
                      <a:pt x="0" y="8"/>
                    </a:moveTo>
                    <a:cubicBezTo>
                      <a:pt x="28" y="4"/>
                      <a:pt x="56" y="0"/>
                      <a:pt x="96" y="8"/>
                    </a:cubicBezTo>
                    <a:cubicBezTo>
                      <a:pt x="136" y="16"/>
                      <a:pt x="200" y="32"/>
                      <a:pt x="240" y="56"/>
                    </a:cubicBezTo>
                    <a:cubicBezTo>
                      <a:pt x="280" y="80"/>
                      <a:pt x="320" y="136"/>
                      <a:pt x="336" y="152"/>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52" name="Freeform 16"/>
              <p:cNvSpPr/>
              <p:nvPr/>
            </p:nvSpPr>
            <p:spPr>
              <a:xfrm flipV="1" rot="21463200">
                <a:off x="5719320" y="2449440"/>
                <a:ext cx="533520" cy="241200"/>
              </a:xfrm>
              <a:custGeom>
                <a:avLst/>
                <a:gdLst>
                  <a:gd name="GluePoint1X" fmla="*/ 0 w 336"/>
                  <a:gd name="GluePoint1Y" fmla="*/ 8 h 152"/>
                  <a:gd name="GluePoint2X" fmla="*/ 96 w 336"/>
                  <a:gd name="GluePoint2Y" fmla="*/ 8 h 152"/>
                  <a:gd name="GluePoint3X" fmla="*/ 240 w 336"/>
                  <a:gd name="GluePoint3Y" fmla="*/ 56 h 152"/>
                  <a:gd name="GluePoint4X" fmla="*/ 336 w 336"/>
                  <a:gd name="GluePoint4Y" fmla="*/ 152 h 152"/>
                </a:gdLst>
                <a:ahLst/>
                <a:cxnLst>
                  <a:cxn ang="0">
                    <a:pos x="GluePoint1X" y="GluePoint1Y"/>
                  </a:cxn>
                  <a:cxn ang="0">
                    <a:pos x="GluePoint2X" y="GluePoint2Y"/>
                  </a:cxn>
                  <a:cxn ang="0">
                    <a:pos x="GluePoint3X" y="GluePoint3Y"/>
                  </a:cxn>
                  <a:cxn ang="0">
                    <a:pos x="GluePoint4X" y="GluePoint4Y"/>
                  </a:cxn>
                </a:cxnLst>
                <a:rect l="l" t="t" r="r" b="b"/>
                <a:pathLst>
                  <a:path w="336" h="152">
                    <a:moveTo>
                      <a:pt x="0" y="8"/>
                    </a:moveTo>
                    <a:cubicBezTo>
                      <a:pt x="28" y="4"/>
                      <a:pt x="56" y="0"/>
                      <a:pt x="96" y="8"/>
                    </a:cubicBezTo>
                    <a:cubicBezTo>
                      <a:pt x="136" y="16"/>
                      <a:pt x="200" y="32"/>
                      <a:pt x="240" y="56"/>
                    </a:cubicBezTo>
                    <a:cubicBezTo>
                      <a:pt x="280" y="80"/>
                      <a:pt x="320" y="136"/>
                      <a:pt x="336" y="152"/>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53" name="Freeform 17"/>
              <p:cNvSpPr/>
              <p:nvPr/>
            </p:nvSpPr>
            <p:spPr>
              <a:xfrm rot="21463800">
                <a:off x="5638320" y="2219760"/>
                <a:ext cx="88560" cy="457200"/>
              </a:xfrm>
              <a:custGeom>
                <a:avLst/>
                <a:gdLst>
                  <a:gd name="GluePoint1X" fmla="*/ 0 w 56"/>
                  <a:gd name="GluePoint1Y" fmla="*/ 0 h 288"/>
                  <a:gd name="GluePoint2X" fmla="*/ 48 w 56"/>
                  <a:gd name="GluePoint2Y" fmla="*/ 96 h 288"/>
                  <a:gd name="GluePoint3X" fmla="*/ 48 w 56"/>
                  <a:gd name="GluePoint3Y" fmla="*/ 192 h 288"/>
                  <a:gd name="GluePoint4X" fmla="*/ 0 w 56"/>
                  <a:gd name="GluePoint4Y" fmla="*/ 288 h 288"/>
                </a:gdLst>
                <a:ahLst/>
                <a:cxnLst>
                  <a:cxn ang="0">
                    <a:pos x="GluePoint1X" y="GluePoint1Y"/>
                  </a:cxn>
                  <a:cxn ang="0">
                    <a:pos x="GluePoint2X" y="GluePoint2Y"/>
                  </a:cxn>
                  <a:cxn ang="0">
                    <a:pos x="GluePoint3X" y="GluePoint3Y"/>
                  </a:cxn>
                  <a:cxn ang="0">
                    <a:pos x="GluePoint4X" y="GluePoint4Y"/>
                  </a:cxn>
                </a:cxnLst>
                <a:rect l="l" t="t" r="r" b="b"/>
                <a:pathLst>
                  <a:path w="56" h="288">
                    <a:moveTo>
                      <a:pt x="0" y="0"/>
                    </a:moveTo>
                    <a:cubicBezTo>
                      <a:pt x="20" y="32"/>
                      <a:pt x="40" y="64"/>
                      <a:pt x="48" y="96"/>
                    </a:cubicBezTo>
                    <a:cubicBezTo>
                      <a:pt x="56" y="128"/>
                      <a:pt x="56" y="160"/>
                      <a:pt x="48" y="192"/>
                    </a:cubicBezTo>
                    <a:cubicBezTo>
                      <a:pt x="40" y="224"/>
                      <a:pt x="8" y="272"/>
                      <a:pt x="0" y="288"/>
                    </a:cubicBezTo>
                  </a:path>
                </a:pathLst>
              </a:custGeom>
              <a:solidFill>
                <a:srgbClr val="FFFFFF"/>
              </a:solid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1254" name="Text Box 18"/>
            <p:cNvSpPr/>
            <p:nvPr/>
          </p:nvSpPr>
          <p:spPr>
            <a:xfrm>
              <a:off x="6857640" y="2286000"/>
              <a:ext cx="76212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Error</a:t>
              </a:r>
              <a:endParaRPr lang="en-US" sz="1600" b="0" u="none" strike="noStrike">
                <a:solidFill>
                  <a:srgbClr val="000000"/>
                </a:solidFill>
                <a:effectLst/>
                <a:uFillTx/>
                <a:latin typeface="Times New Roman"/>
              </a:endParaRPr>
            </a:p>
          </p:txBody>
        </p:sp>
        <p:sp>
          <p:nvSpPr>
            <p:cNvPr id="1255" name="Line 19"/>
            <p:cNvSpPr/>
            <p:nvPr/>
          </p:nvSpPr>
          <p:spPr>
            <a:xfrm>
              <a:off x="5410080" y="2057400"/>
              <a:ext cx="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56" name="Line 20"/>
            <p:cNvSpPr/>
            <p:nvPr/>
          </p:nvSpPr>
          <p:spPr>
            <a:xfrm>
              <a:off x="5410080" y="2590560"/>
              <a:ext cx="0" cy="228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57" name="Line 21"/>
            <p:cNvSpPr/>
            <p:nvPr/>
          </p:nvSpPr>
          <p:spPr>
            <a:xfrm>
              <a:off x="5410080" y="2286000"/>
              <a:ext cx="3045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58" name="Line 22"/>
            <p:cNvSpPr/>
            <p:nvPr/>
          </p:nvSpPr>
          <p:spPr>
            <a:xfrm>
              <a:off x="5410080" y="2590560"/>
              <a:ext cx="3045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59" name="Line 23"/>
            <p:cNvSpPr/>
            <p:nvPr/>
          </p:nvSpPr>
          <p:spPr>
            <a:xfrm>
              <a:off x="6248160" y="2438280"/>
              <a:ext cx="6094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60" name="Text Box 24"/>
            <p:cNvSpPr/>
            <p:nvPr/>
          </p:nvSpPr>
          <p:spPr>
            <a:xfrm>
              <a:off x="6857640" y="1904760"/>
              <a:ext cx="838440" cy="3376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Output</a:t>
              </a:r>
              <a:endParaRPr lang="en-US" sz="1600" b="0" u="none" strike="noStrike">
                <a:solidFill>
                  <a:srgbClr val="000000"/>
                </a:solidFill>
                <a:effectLst/>
                <a:uFillTx/>
                <a:latin typeface="Times New Roman"/>
              </a:endParaRPr>
            </a:p>
          </p:txBody>
        </p:sp>
        <p:sp>
          <p:nvSpPr>
            <p:cNvPr id="1261" name="Rectangle 25"/>
            <p:cNvSpPr/>
            <p:nvPr/>
          </p:nvSpPr>
          <p:spPr>
            <a:xfrm>
              <a:off x="2590560" y="2590560"/>
              <a:ext cx="457200" cy="45720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e</a:t>
              </a:r>
              <a:endParaRPr lang="en-US" sz="1800" b="0" u="none" strike="noStrike">
                <a:solidFill>
                  <a:srgbClr val="000000"/>
                </a:solidFill>
                <a:effectLst/>
                <a:uFillTx/>
                <a:latin typeface="Times New Roman"/>
              </a:endParaRPr>
            </a:p>
          </p:txBody>
        </p:sp>
        <p:sp>
          <p:nvSpPr>
            <p:cNvPr id="1262" name="Line 26"/>
            <p:cNvSpPr/>
            <p:nvPr/>
          </p:nvSpPr>
          <p:spPr>
            <a:xfrm>
              <a:off x="2209680" y="2819160"/>
              <a:ext cx="38088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63" name="Line 27"/>
            <p:cNvSpPr/>
            <p:nvPr/>
          </p:nvSpPr>
          <p:spPr>
            <a:xfrm>
              <a:off x="4267080" y="2819160"/>
              <a:ext cx="38088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64" name="Line 28"/>
            <p:cNvSpPr/>
            <p:nvPr/>
          </p:nvSpPr>
          <p:spPr>
            <a:xfrm>
              <a:off x="5105160" y="281916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65" name="Rectangle 29"/>
            <p:cNvSpPr/>
            <p:nvPr/>
          </p:nvSpPr>
          <p:spPr>
            <a:xfrm>
              <a:off x="4647960" y="2590560"/>
              <a:ext cx="457200" cy="45720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Arial"/>
                  <a:ea typeface="Times New Roman"/>
                </a:rPr>
                <a:t>d</a:t>
              </a:r>
              <a:endParaRPr lang="en-US" sz="1800" b="0" u="none" strike="noStrike">
                <a:solidFill>
                  <a:srgbClr val="000000"/>
                </a:solidFill>
                <a:effectLst/>
                <a:uFillTx/>
                <a:latin typeface="Times New Roman"/>
              </a:endParaRPr>
            </a:p>
          </p:txBody>
        </p:sp>
        <p:sp>
          <p:nvSpPr>
            <p:cNvPr id="1266" name="Text Box 30"/>
            <p:cNvSpPr/>
            <p:nvPr/>
          </p:nvSpPr>
          <p:spPr>
            <a:xfrm>
              <a:off x="1450080" y="2666880"/>
              <a:ext cx="732960" cy="3376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Arial"/>
                </a:rPr>
                <a:t>Inputs</a:t>
              </a:r>
              <a:endParaRPr lang="en-US" sz="1600" b="0" u="none" strike="noStrike">
                <a:solidFill>
                  <a:srgbClr val="000000"/>
                </a:solidFill>
                <a:effectLst/>
                <a:uFillTx/>
                <a:latin typeface="Times New Roman"/>
              </a:endParaRPr>
            </a:p>
          </p:txBody>
        </p:sp>
        <p:sp>
          <p:nvSpPr>
            <p:cNvPr id="1267" name="Text Box 31"/>
            <p:cNvSpPr/>
            <p:nvPr/>
          </p:nvSpPr>
          <p:spPr>
            <a:xfrm>
              <a:off x="2361960" y="2286000"/>
              <a:ext cx="91440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Encode</a:t>
              </a:r>
              <a:endParaRPr lang="en-US" sz="1600" b="0" u="none" strike="noStrike">
                <a:solidFill>
                  <a:srgbClr val="000000"/>
                </a:solidFill>
                <a:effectLst/>
                <a:uFillTx/>
                <a:latin typeface="Times New Roman"/>
              </a:endParaRPr>
            </a:p>
          </p:txBody>
        </p:sp>
        <p:sp>
          <p:nvSpPr>
            <p:cNvPr id="1268" name="Text Box 32"/>
            <p:cNvSpPr/>
            <p:nvPr/>
          </p:nvSpPr>
          <p:spPr>
            <a:xfrm>
              <a:off x="4419360" y="2286000"/>
              <a:ext cx="914400" cy="3376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Arial"/>
                  <a:ea typeface="Times New Roman"/>
                </a:rPr>
                <a:t>Decode</a:t>
              </a:r>
              <a:endParaRPr lang="en-US" sz="1600" b="0" u="none" strike="noStrike">
                <a:solidFill>
                  <a:srgbClr val="000000"/>
                </a:solidFill>
                <a:effectLst/>
                <a:uFillTx/>
                <a:latin typeface="Times New Roman"/>
              </a:endParaRPr>
            </a:p>
          </p:txBody>
        </p:sp>
      </p:grpSp>
      <p:sp>
        <p:nvSpPr>
          <p:cNvPr id="1269" name="Text Box 33"/>
          <p:cNvSpPr/>
          <p:nvPr/>
        </p:nvSpPr>
        <p:spPr>
          <a:xfrm>
            <a:off x="457200" y="4724280"/>
            <a:ext cx="8305560" cy="13122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Times New Roman"/>
              </a:rPr>
              <a:t>Recompute after swap</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When </a:t>
            </a:r>
            <a:r>
              <a:rPr lang="en-US" sz="2000" b="0" i="1" u="none" strike="noStrike">
                <a:solidFill>
                  <a:srgbClr val="000000"/>
                </a:solidFill>
                <a:effectLst/>
                <a:uFillTx/>
                <a:latin typeface="Arial"/>
                <a:ea typeface="Times New Roman"/>
              </a:rPr>
              <a:t>f</a:t>
            </a:r>
            <a:r>
              <a:rPr lang="en-US" sz="2000" b="0" u="none" strike="noStrike">
                <a:solidFill>
                  <a:srgbClr val="000000"/>
                </a:solidFill>
                <a:effectLst/>
                <a:uFillTx/>
                <a:latin typeface="Arial"/>
                <a:ea typeface="Times New Roman"/>
              </a:rPr>
              <a:t> is binary addition, we can use swaps for encoding and decoding</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Swap the two operands; e.g., compute </a:t>
            </a:r>
            <a:r>
              <a:rPr lang="en-US" sz="2000" b="0" i="1" u="none" strike="noStrike">
                <a:solidFill>
                  <a:srgbClr val="000000"/>
                </a:solidFill>
                <a:effectLst/>
                <a:uFillTx/>
                <a:latin typeface="Arial"/>
                <a:ea typeface="Times New Roman"/>
              </a:rPr>
              <a:t>b</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instead of </a:t>
            </a:r>
            <a:r>
              <a:rPr lang="en-US" sz="2000" b="0" i="1" u="none" strike="noStrike">
                <a:solidFill>
                  <a:srgbClr val="000000"/>
                </a:solidFill>
                <a:effectLst/>
                <a:uFillTx/>
                <a:latin typeface="Arial"/>
                <a:ea typeface="Times New Roman"/>
              </a:rPr>
              <a:t>a</a:t>
            </a:r>
            <a:r>
              <a:rPr lang="en-US" sz="2000" b="0" u="none" strike="noStrike">
                <a:solidFill>
                  <a:srgbClr val="000000"/>
                </a:solidFill>
                <a:effectLst/>
                <a:uFillTx/>
                <a:latin typeface="Arial"/>
                <a:ea typeface="Times New Roman"/>
              </a:rPr>
              <a:t> + </a:t>
            </a:r>
            <a:r>
              <a:rPr lang="en-US" sz="2000" b="0" i="1" u="none" strike="noStrike">
                <a:solidFill>
                  <a:srgbClr val="000000"/>
                </a:solidFill>
                <a:effectLst/>
                <a:uFillTx/>
                <a:latin typeface="Arial"/>
                <a:ea typeface="Times New Roman"/>
              </a:rPr>
              <a:t>b</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    Swap upper and lower halves of the two operands (modified adder)</a:t>
            </a:r>
            <a:endParaRPr lang="en-US" sz="2000" b="0" u="none" strike="noStrike">
              <a:solidFill>
                <a:srgbClr val="000000"/>
              </a:solidFill>
              <a:effectLst/>
              <a:uFillTx/>
              <a:latin typeface="Times New Roman"/>
            </a:endParaRPr>
          </a:p>
        </p:txBody>
      </p:sp>
      <p:grpSp>
        <p:nvGrpSpPr>
          <p:cNvPr id="1270" name="Group 34"/>
          <p:cNvGrpSpPr/>
          <p:nvPr/>
        </p:nvGrpSpPr>
        <p:grpSpPr>
          <a:xfrm>
            <a:off x="5943240" y="2438280"/>
            <a:ext cx="2590920" cy="962280"/>
            <a:chOff x="5943240" y="2438280"/>
            <a:chExt cx="2590920" cy="962280"/>
          </a:xfrm>
        </p:grpSpPr>
        <p:sp>
          <p:nvSpPr>
            <p:cNvPr id="1271" name="Line 35"/>
            <p:cNvSpPr/>
            <p:nvPr/>
          </p:nvSpPr>
          <p:spPr>
            <a:xfrm flipH="1" flipV="1">
              <a:off x="5943240" y="2438280"/>
              <a:ext cx="152280" cy="533520"/>
            </a:xfrm>
            <a:prstGeom prst="line">
              <a:avLst/>
            </a:prstGeom>
            <a:ln w="9360">
              <a:solidFill>
                <a:srgbClr val="FF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72" name="Text Box 36"/>
            <p:cNvSpPr/>
            <p:nvPr/>
          </p:nvSpPr>
          <p:spPr>
            <a:xfrm>
              <a:off x="6019560" y="2819160"/>
              <a:ext cx="2514600" cy="5814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FF0000"/>
                  </a:solidFill>
                  <a:effectLst/>
                  <a:uFillTx/>
                  <a:latin typeface="Arial"/>
                  <a:ea typeface="Times New Roman"/>
                </a:rPr>
                <a:t> XNOR if lower path finds complement of the result</a:t>
              </a:r>
              <a:endParaRPr lang="en-US" sz="1600" b="0"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3" name="Slide Number Placeholder 5"/>
          <p:cNvSpPr/>
          <p:nvPr/>
        </p:nvSpPr>
        <p:spPr>
          <a:xfrm>
            <a:off x="6553080" y="6248160"/>
            <a:ext cx="1905120" cy="457200"/>
          </a:xfrm>
          <a:prstGeom prst="rect">
            <a:avLst/>
          </a:prstGeom>
          <a:noFill/>
          <a:ln w="38160">
            <a:noFill/>
          </a:ln>
        </p:spPr>
        <p:style>
          <a:lnRef idx="0"/>
          <a:fillRef idx="0"/>
          <a:effectRef idx="0"/>
          <a:fontRef idx="minor"/>
        </p:style>
        <p:txBody>
          <a:bodyPr lIns="90000" tIns="46800" rIns="90000" bIns="46800" anchor="t">
            <a:norm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Slide </a:t>
            </a:r>
            <a:fld id="{DB684E04-A284-44C8-97F7-3291F2010BD8}" type="slidenum">
              <a:rPr lang="en-US" sz="1200" b="0" u="none" strike="noStrike">
                <a:solidFill>
                  <a:srgbClr val="000000"/>
                </a:solidFill>
                <a:effectLst/>
                <a:uFillTx/>
                <a:latin typeface="Arial"/>
              </a:rPr>
              <a:t>&lt;number&gt;</a:t>
            </a:fld>
            <a:endParaRPr lang="en-US" sz="1200" b="0" u="none" strike="noStrike">
              <a:solidFill>
                <a:srgbClr val="000000"/>
              </a:solidFill>
              <a:effectLst/>
              <a:uFillTx/>
              <a:latin typeface="Times New Roman"/>
            </a:endParaRPr>
          </a:p>
        </p:txBody>
      </p:sp>
      <p:sp>
        <p:nvSpPr>
          <p:cNvPr id="1274" name="Rectangle 2"/>
          <p:cNvSpPr/>
          <p:nvPr/>
        </p:nvSpPr>
        <p:spPr>
          <a:xfrm>
            <a:off x="0" y="6159240"/>
            <a:ext cx="9144000" cy="459720"/>
          </a:xfrm>
          <a:prstGeom prst="rect">
            <a:avLst/>
          </a:prstGeom>
          <a:noFill/>
          <a:ln w="38160">
            <a:noFill/>
          </a:ln>
        </p:spPr>
        <p:style>
          <a:lnRef idx="0"/>
          <a:fillRef idx="0"/>
          <a:effectRef idx="0"/>
          <a:fontRef idx="minor"/>
        </p:style>
        <p:txBody>
          <a:bodyPr lIns="90000" tIns="46800" rIns="90000" bIns="4680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Times New Roman"/>
              </a:rPr>
              <a:t> </a:t>
            </a:r>
            <a:endParaRPr lang="en-US" sz="12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1275" name="PlaceHolder 1"/>
          <p:cNvSpPr>
            <a:spLocks noGrp="1"/>
          </p:cNvSpPr>
          <p:nvPr>
            <p:ph type="title"/>
          </p:nvPr>
        </p:nvSpPr>
        <p:spPr>
          <a:xfrm>
            <a:off x="685800" y="228240"/>
            <a:ext cx="7772400" cy="6858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Time-Redundant, Segmented Addition</a:t>
            </a:r>
            <a:endParaRPr lang="en-US" sz="3200" b="0" u="none" strike="noStrike">
              <a:solidFill>
                <a:srgbClr val="000000"/>
              </a:solidFill>
              <a:effectLst/>
              <a:uFillTx/>
              <a:latin typeface="Arial"/>
            </a:endParaRPr>
          </a:p>
        </p:txBody>
      </p:sp>
      <p:sp>
        <p:nvSpPr>
          <p:cNvPr id="1276" name="Text Box 4"/>
          <p:cNvSpPr/>
          <p:nvPr/>
        </p:nvSpPr>
        <p:spPr>
          <a:xfrm>
            <a:off x="457200" y="990360"/>
            <a:ext cx="8153280" cy="112932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Instead of using a </a:t>
            </a:r>
            <a:r>
              <a:rPr lang="en-US" sz="2000" b="0" i="1" u="none" strike="noStrike">
                <a:solidFill>
                  <a:srgbClr val="000000"/>
                </a:solidFill>
                <a:effectLst/>
                <a:uFillTx/>
                <a:latin typeface="Arial"/>
                <a:ea typeface="Times New Roman"/>
              </a:rPr>
              <a:t>k</a:t>
            </a:r>
            <a:r>
              <a:rPr lang="en-US" sz="2000" b="0" u="none" strike="noStrike">
                <a:solidFill>
                  <a:srgbClr val="000000"/>
                </a:solidFill>
                <a:effectLst/>
                <a:uFillTx/>
                <a:latin typeface="Arial"/>
                <a:ea typeface="Times New Roman"/>
              </a:rPr>
              <a:t>-bit adder twice for error detection or 3 times for error correction, one can segment the operands into 2 or 3 parts and similarly segment the adder; perform replicated addition on operand segments and use comparison/voting to detect/correct error</a:t>
            </a:r>
            <a:endParaRPr lang="en-US" sz="2000" b="0" u="none" strike="noStrike">
              <a:solidFill>
                <a:srgbClr val="000000"/>
              </a:solidFill>
              <a:effectLst/>
              <a:uFillTx/>
              <a:latin typeface="Times New Roman"/>
            </a:endParaRPr>
          </a:p>
        </p:txBody>
      </p:sp>
      <p:grpSp>
        <p:nvGrpSpPr>
          <p:cNvPr id="1277" name="Group 5"/>
          <p:cNvGrpSpPr/>
          <p:nvPr/>
        </p:nvGrpSpPr>
        <p:grpSpPr>
          <a:xfrm>
            <a:off x="385920" y="2361960"/>
            <a:ext cx="4304520" cy="2135880"/>
            <a:chOff x="385920" y="2361960"/>
            <a:chExt cx="4304520" cy="2135880"/>
          </a:xfrm>
        </p:grpSpPr>
        <p:sp>
          <p:nvSpPr>
            <p:cNvPr id="1278" name="Line 6"/>
            <p:cNvSpPr/>
            <p:nvPr/>
          </p:nvSpPr>
          <p:spPr>
            <a:xfrm>
              <a:off x="1143000" y="2514240"/>
              <a:ext cx="0" cy="38124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79" name="Line 7"/>
            <p:cNvSpPr/>
            <p:nvPr/>
          </p:nvSpPr>
          <p:spPr>
            <a:xfrm>
              <a:off x="1143000" y="3352680"/>
              <a:ext cx="0" cy="53316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80" name="Oval 8"/>
            <p:cNvSpPr/>
            <p:nvPr/>
          </p:nvSpPr>
          <p:spPr>
            <a:xfrm>
              <a:off x="3352680" y="3733560"/>
              <a:ext cx="457200" cy="45720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ea typeface="Arial"/>
                </a:rPr>
                <a:t>C</a:t>
              </a:r>
              <a:endParaRPr lang="en-US" sz="1800" b="0" u="none" strike="noStrike">
                <a:solidFill>
                  <a:srgbClr val="000000"/>
                </a:solidFill>
                <a:effectLst/>
                <a:uFillTx/>
                <a:latin typeface="Times New Roman"/>
              </a:endParaRPr>
            </a:p>
          </p:txBody>
        </p:sp>
        <p:sp>
          <p:nvSpPr>
            <p:cNvPr id="1281" name="Text Box 9"/>
            <p:cNvSpPr/>
            <p:nvPr/>
          </p:nvSpPr>
          <p:spPr>
            <a:xfrm>
              <a:off x="1373760" y="2361960"/>
              <a:ext cx="366840" cy="27684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ea typeface="Arial"/>
                </a:rPr>
                <a:t>FF</a:t>
              </a:r>
              <a:endParaRPr lang="en-US" sz="1200" b="0" u="none" strike="noStrike">
                <a:solidFill>
                  <a:srgbClr val="000000"/>
                </a:solidFill>
                <a:effectLst/>
                <a:uFillTx/>
                <a:latin typeface="Times New Roman"/>
              </a:endParaRPr>
            </a:p>
          </p:txBody>
        </p:sp>
        <p:sp>
          <p:nvSpPr>
            <p:cNvPr id="1282" name="Line 10"/>
            <p:cNvSpPr/>
            <p:nvPr/>
          </p:nvSpPr>
          <p:spPr>
            <a:xfrm>
              <a:off x="3047760" y="396216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83" name="Line 11"/>
            <p:cNvSpPr/>
            <p:nvPr/>
          </p:nvSpPr>
          <p:spPr>
            <a:xfrm>
              <a:off x="685800" y="2971440"/>
              <a:ext cx="3045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84" name="Line 12"/>
            <p:cNvSpPr/>
            <p:nvPr/>
          </p:nvSpPr>
          <p:spPr>
            <a:xfrm>
              <a:off x="3809880" y="3962160"/>
              <a:ext cx="304920" cy="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85" name="Text Box 13"/>
            <p:cNvSpPr/>
            <p:nvPr/>
          </p:nvSpPr>
          <p:spPr>
            <a:xfrm>
              <a:off x="4116960" y="3809880"/>
              <a:ext cx="57348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Error</a:t>
              </a:r>
              <a:endParaRPr lang="en-US" sz="1400" b="0" u="none" strike="noStrike">
                <a:solidFill>
                  <a:srgbClr val="000000"/>
                </a:solidFill>
                <a:effectLst/>
                <a:uFillTx/>
                <a:latin typeface="Times New Roman"/>
              </a:endParaRPr>
            </a:p>
          </p:txBody>
        </p:sp>
        <p:sp>
          <p:nvSpPr>
            <p:cNvPr id="1286" name="AutoShape 14"/>
            <p:cNvSpPr/>
            <p:nvPr/>
          </p:nvSpPr>
          <p:spPr>
            <a:xfrm rot="16200000">
              <a:off x="838800" y="2970360"/>
              <a:ext cx="609480" cy="306360"/>
            </a:xfrm>
            <a:custGeom>
              <a:avLst/>
              <a:gdLst>
                <a:gd name="textAreaLeft" fmla="*/ 91800 w 609480"/>
                <a:gd name="textAreaRight" fmla="*/ 517680 w 609480"/>
                <a:gd name="textAreaTop" fmla="*/ 46080 h 306360"/>
                <a:gd name="textAreaBottom" fmla="*/ 260280 h 306360"/>
                <a:gd name="GluePoint1X" fmla="*/ 0 w 21600"/>
                <a:gd name="GluePoint1Y" fmla="*/ 0 h 21600"/>
                <a:gd name="GluePoint2X" fmla="*/ 0 w 21600"/>
                <a:gd name="GluePoint2Y" fmla="*/ 0 h 21600"/>
                <a:gd name="GluePoint3X" fmla="*/ 0 w 21600"/>
                <a:gd name="GluePoint3Y" fmla="*/ 0 h 21600"/>
                <a:gd name="GluePoint4X" fmla="*/ 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0" y="0"/>
                  </a:moveTo>
                  <a:lnTo>
                    <a:pt x="2880" y="21600"/>
                  </a:lnTo>
                  <a:lnTo>
                    <a:pt x="18720" y="21600"/>
                  </a:lnTo>
                  <a:lnTo>
                    <a:pt x="21600" y="0"/>
                  </a:lnTo>
                  <a:lnTo>
                    <a:pt x="0" y="0"/>
                  </a:lnTo>
                  <a:close/>
                </a:path>
              </a:pathLst>
            </a:custGeom>
            <a:solidFill>
              <a:srgbClr val="FFFFFF"/>
            </a:solidFill>
            <a:ln w="9360">
              <a:solidFill>
                <a:srgbClr val="000000"/>
              </a:solidFill>
              <a:miter/>
            </a:ln>
          </p:spPr>
          <p:style>
            <a:lnRef idx="0"/>
            <a:fillRef idx="0"/>
            <a:effectRef idx="0"/>
            <a:fontRef idx="minor"/>
          </p:style>
          <p:txBody>
            <a:bodyPr wrap="none" lIns="90000" tIns="46800" rIns="90000" bIns="46800" anchor="t" anchorCtr="1">
              <a:noAutofit/>
            </a:bodyPr>
            <a:p>
              <a:endParaRPr lang="en-US" sz="2400" b="0" u="none" strike="noStrike">
                <a:solidFill>
                  <a:srgbClr val="000000"/>
                </a:solidFill>
                <a:effectLst/>
                <a:uFillTx/>
                <a:latin typeface="Times New Roman"/>
              </a:endParaRPr>
            </a:p>
          </p:txBody>
        </p:sp>
        <p:sp>
          <p:nvSpPr>
            <p:cNvPr id="1287" name="Text Box 15"/>
            <p:cNvSpPr/>
            <p:nvPr/>
          </p:nvSpPr>
          <p:spPr>
            <a:xfrm>
              <a:off x="3809880" y="2590560"/>
              <a:ext cx="507960" cy="33624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i="1" u="none" strike="noStrike">
                  <a:solidFill>
                    <a:srgbClr val="000000"/>
                  </a:solidFill>
                  <a:effectLst/>
                  <a:uFillTx/>
                  <a:latin typeface="Arial"/>
                  <a:ea typeface="Arial"/>
                </a:rPr>
                <a:t>c</a:t>
              </a:r>
              <a:r>
                <a:rPr lang="en-US" sz="1400" b="0" u="none" strike="noStrike" baseline="-25000">
                  <a:solidFill>
                    <a:srgbClr val="000000"/>
                  </a:solidFill>
                  <a:effectLst/>
                  <a:uFillTx/>
                  <a:latin typeface="Arial"/>
                  <a:ea typeface="Arial"/>
                </a:rPr>
                <a:t>out</a:t>
              </a:r>
              <a:endParaRPr lang="en-US" sz="1400" b="0" u="none" strike="noStrike">
                <a:solidFill>
                  <a:srgbClr val="000000"/>
                </a:solidFill>
                <a:effectLst/>
                <a:uFillTx/>
                <a:latin typeface="Times New Roman"/>
              </a:endParaRPr>
            </a:p>
          </p:txBody>
        </p:sp>
        <p:sp>
          <p:nvSpPr>
            <p:cNvPr id="1288" name="Line 16"/>
            <p:cNvSpPr/>
            <p:nvPr/>
          </p:nvSpPr>
          <p:spPr>
            <a:xfrm>
              <a:off x="685800" y="3276360"/>
              <a:ext cx="3045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89" name="Line 17"/>
            <p:cNvSpPr/>
            <p:nvPr/>
          </p:nvSpPr>
          <p:spPr>
            <a:xfrm>
              <a:off x="685800" y="3962160"/>
              <a:ext cx="3045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90" name="AutoShape 18"/>
            <p:cNvSpPr/>
            <p:nvPr/>
          </p:nvSpPr>
          <p:spPr>
            <a:xfrm rot="16200000">
              <a:off x="838800" y="3961080"/>
              <a:ext cx="609480" cy="306360"/>
            </a:xfrm>
            <a:custGeom>
              <a:avLst/>
              <a:gdLst>
                <a:gd name="textAreaLeft" fmla="*/ 91800 w 609480"/>
                <a:gd name="textAreaRight" fmla="*/ 517680 w 609480"/>
                <a:gd name="textAreaTop" fmla="*/ 46080 h 306360"/>
                <a:gd name="textAreaBottom" fmla="*/ 260280 h 306360"/>
                <a:gd name="GluePoint1X" fmla="*/ 0 w 21600"/>
                <a:gd name="GluePoint1Y" fmla="*/ 0 h 21600"/>
                <a:gd name="GluePoint2X" fmla="*/ 0 w 21600"/>
                <a:gd name="GluePoint2Y" fmla="*/ 0 h 21600"/>
                <a:gd name="GluePoint3X" fmla="*/ 0 w 21600"/>
                <a:gd name="GluePoint3Y" fmla="*/ 0 h 21600"/>
                <a:gd name="GluePoint4X" fmla="*/ 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0" y="0"/>
                  </a:moveTo>
                  <a:lnTo>
                    <a:pt x="2880" y="21600"/>
                  </a:lnTo>
                  <a:lnTo>
                    <a:pt x="18720" y="21600"/>
                  </a:lnTo>
                  <a:lnTo>
                    <a:pt x="21600" y="0"/>
                  </a:lnTo>
                  <a:lnTo>
                    <a:pt x="0" y="0"/>
                  </a:lnTo>
                  <a:close/>
                </a:path>
              </a:pathLst>
            </a:custGeom>
            <a:solidFill>
              <a:srgbClr val="FFFFFF"/>
            </a:solidFill>
            <a:ln w="9360">
              <a:solidFill>
                <a:srgbClr val="000000"/>
              </a:solidFill>
              <a:miter/>
            </a:ln>
          </p:spPr>
          <p:style>
            <a:lnRef idx="0"/>
            <a:fillRef idx="0"/>
            <a:effectRef idx="0"/>
            <a:fontRef idx="minor"/>
          </p:style>
          <p:txBody>
            <a:bodyPr wrap="none" lIns="90000" tIns="46800" rIns="90000" bIns="46800" anchor="t" anchorCtr="1">
              <a:noAutofit/>
            </a:bodyPr>
            <a:p>
              <a:endParaRPr lang="en-US" sz="2400" b="0" u="none" strike="noStrike">
                <a:solidFill>
                  <a:srgbClr val="000000"/>
                </a:solidFill>
                <a:effectLst/>
                <a:uFillTx/>
                <a:latin typeface="Times New Roman"/>
              </a:endParaRPr>
            </a:p>
          </p:txBody>
        </p:sp>
        <p:sp>
          <p:nvSpPr>
            <p:cNvPr id="1291" name="Line 19"/>
            <p:cNvSpPr/>
            <p:nvPr/>
          </p:nvSpPr>
          <p:spPr>
            <a:xfrm>
              <a:off x="685800" y="4267080"/>
              <a:ext cx="3045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92" name="Line 20"/>
            <p:cNvSpPr/>
            <p:nvPr/>
          </p:nvSpPr>
          <p:spPr>
            <a:xfrm>
              <a:off x="1295280" y="3124080"/>
              <a:ext cx="7621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93" name="Line 21"/>
            <p:cNvSpPr/>
            <p:nvPr/>
          </p:nvSpPr>
          <p:spPr>
            <a:xfrm>
              <a:off x="1676160" y="3276360"/>
              <a:ext cx="3812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94" name="Rectangle 22"/>
            <p:cNvSpPr/>
            <p:nvPr/>
          </p:nvSpPr>
          <p:spPr>
            <a:xfrm>
              <a:off x="2057400" y="2819160"/>
              <a:ext cx="990360" cy="60948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295" name="Text Box 23"/>
            <p:cNvSpPr/>
            <p:nvPr/>
          </p:nvSpPr>
          <p:spPr>
            <a:xfrm>
              <a:off x="1981080" y="2850840"/>
              <a:ext cx="1143000" cy="5202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Lower half of adder</a:t>
              </a:r>
              <a:endParaRPr lang="en-US" sz="1400" b="0" u="none" strike="noStrike">
                <a:solidFill>
                  <a:srgbClr val="000000"/>
                </a:solidFill>
                <a:effectLst/>
                <a:uFillTx/>
                <a:latin typeface="Times New Roman"/>
              </a:endParaRPr>
            </a:p>
          </p:txBody>
        </p:sp>
        <p:sp>
          <p:nvSpPr>
            <p:cNvPr id="1296" name="Line 24"/>
            <p:cNvSpPr/>
            <p:nvPr/>
          </p:nvSpPr>
          <p:spPr>
            <a:xfrm>
              <a:off x="1295280" y="4114440"/>
              <a:ext cx="7621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97" name="Line 25"/>
            <p:cNvSpPr/>
            <p:nvPr/>
          </p:nvSpPr>
          <p:spPr>
            <a:xfrm>
              <a:off x="1523880" y="3962160"/>
              <a:ext cx="533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298" name="Rectangle 26"/>
            <p:cNvSpPr/>
            <p:nvPr/>
          </p:nvSpPr>
          <p:spPr>
            <a:xfrm>
              <a:off x="2057400" y="3657240"/>
              <a:ext cx="990360" cy="60984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299" name="Text Box 27"/>
            <p:cNvSpPr/>
            <p:nvPr/>
          </p:nvSpPr>
          <p:spPr>
            <a:xfrm>
              <a:off x="1981080" y="3692160"/>
              <a:ext cx="1143000" cy="5202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Upper half of adder</a:t>
              </a:r>
              <a:endParaRPr lang="en-US" sz="1400" b="0" u="none" strike="noStrike">
                <a:solidFill>
                  <a:srgbClr val="000000"/>
                </a:solidFill>
                <a:effectLst/>
                <a:uFillTx/>
                <a:latin typeface="Times New Roman"/>
              </a:endParaRPr>
            </a:p>
          </p:txBody>
        </p:sp>
        <p:sp>
          <p:nvSpPr>
            <p:cNvPr id="1300" name="Line 28"/>
            <p:cNvSpPr/>
            <p:nvPr/>
          </p:nvSpPr>
          <p:spPr>
            <a:xfrm>
              <a:off x="1523880" y="3124080"/>
              <a:ext cx="0" cy="8380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01" name="Line 29"/>
            <p:cNvSpPr/>
            <p:nvPr/>
          </p:nvSpPr>
          <p:spPr>
            <a:xfrm>
              <a:off x="1676160" y="3276360"/>
              <a:ext cx="0" cy="8380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02" name="Line 30"/>
            <p:cNvSpPr/>
            <p:nvPr/>
          </p:nvSpPr>
          <p:spPr>
            <a:xfrm>
              <a:off x="3047760" y="3124080"/>
              <a:ext cx="12193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03" name="Line 31"/>
            <p:cNvSpPr/>
            <p:nvPr/>
          </p:nvSpPr>
          <p:spPr>
            <a:xfrm>
              <a:off x="3581280" y="3124080"/>
              <a:ext cx="0" cy="6094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04" name="Rectangle 32"/>
            <p:cNvSpPr/>
            <p:nvPr/>
          </p:nvSpPr>
          <p:spPr>
            <a:xfrm>
              <a:off x="1676160" y="2361960"/>
              <a:ext cx="304920" cy="30492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305" name="Line 33"/>
            <p:cNvSpPr/>
            <p:nvPr/>
          </p:nvSpPr>
          <p:spPr>
            <a:xfrm>
              <a:off x="1828800" y="2666880"/>
              <a:ext cx="0" cy="114300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06" name="Line 34"/>
            <p:cNvSpPr/>
            <p:nvPr/>
          </p:nvSpPr>
          <p:spPr>
            <a:xfrm>
              <a:off x="1828800" y="3809880"/>
              <a:ext cx="228600" cy="0"/>
            </a:xfrm>
            <a:prstGeom prst="line">
              <a:avLst/>
            </a:prstGeom>
            <a:ln w="9360">
              <a:solidFill>
                <a:srgbClr val="000000"/>
              </a:solidFill>
              <a:prstDash val="dash"/>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07" name="Line 35"/>
            <p:cNvSpPr/>
            <p:nvPr/>
          </p:nvSpPr>
          <p:spPr>
            <a:xfrm>
              <a:off x="1828800" y="2971440"/>
              <a:ext cx="228600" cy="0"/>
            </a:xfrm>
            <a:prstGeom prst="line">
              <a:avLst/>
            </a:prstGeom>
            <a:ln w="9360">
              <a:solidFill>
                <a:srgbClr val="000000"/>
              </a:solidFill>
              <a:prstDash val="dash"/>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08" name="Line 36"/>
            <p:cNvSpPr/>
            <p:nvPr/>
          </p:nvSpPr>
          <p:spPr>
            <a:xfrm flipH="1">
              <a:off x="1981080" y="2514240"/>
              <a:ext cx="1905120" cy="0"/>
            </a:xfrm>
            <a:prstGeom prst="line">
              <a:avLst/>
            </a:prstGeom>
            <a:ln w="9360">
              <a:solidFill>
                <a:srgbClr val="000000"/>
              </a:solidFill>
              <a:prstDash val="dash"/>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09" name="Line 37"/>
            <p:cNvSpPr/>
            <p:nvPr/>
          </p:nvSpPr>
          <p:spPr>
            <a:xfrm>
              <a:off x="3886200" y="2514240"/>
              <a:ext cx="0" cy="60984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10" name="Text Box 38"/>
            <p:cNvSpPr/>
            <p:nvPr/>
          </p:nvSpPr>
          <p:spPr>
            <a:xfrm>
              <a:off x="3050280" y="4190760"/>
              <a:ext cx="1114200" cy="30708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Arial"/>
                  <a:ea typeface="Arial"/>
                </a:rPr>
                <a:t>Comparator</a:t>
              </a:r>
              <a:endParaRPr lang="en-US" sz="1400" b="0" u="none" strike="noStrike">
                <a:solidFill>
                  <a:srgbClr val="000000"/>
                </a:solidFill>
                <a:effectLst/>
                <a:uFillTx/>
                <a:latin typeface="Times New Roman"/>
              </a:endParaRPr>
            </a:p>
          </p:txBody>
        </p:sp>
        <p:sp>
          <p:nvSpPr>
            <p:cNvPr id="1311" name="Text Box 39"/>
            <p:cNvSpPr/>
            <p:nvPr/>
          </p:nvSpPr>
          <p:spPr>
            <a:xfrm>
              <a:off x="385920" y="2819160"/>
              <a:ext cx="326160" cy="33624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i="1" u="none" strike="noStrike">
                  <a:solidFill>
                    <a:srgbClr val="000000"/>
                  </a:solidFill>
                  <a:effectLst/>
                  <a:uFillTx/>
                  <a:latin typeface="Arial"/>
                  <a:ea typeface="Arial"/>
                </a:rPr>
                <a:t>x</a:t>
              </a:r>
              <a:r>
                <a:rPr lang="en-US" sz="1400" b="0" u="none" strike="noStrike" baseline="-25000">
                  <a:solidFill>
                    <a:srgbClr val="000000"/>
                  </a:solidFill>
                  <a:effectLst/>
                  <a:uFillTx/>
                  <a:latin typeface="Arial"/>
                  <a:ea typeface="Arial"/>
                </a:rPr>
                <a:t>L</a:t>
              </a:r>
              <a:endParaRPr lang="en-US" sz="1400" b="0" u="none" strike="noStrike">
                <a:solidFill>
                  <a:srgbClr val="000000"/>
                </a:solidFill>
                <a:effectLst/>
                <a:uFillTx/>
                <a:latin typeface="Times New Roman"/>
              </a:endParaRPr>
            </a:p>
          </p:txBody>
        </p:sp>
        <p:sp>
          <p:nvSpPr>
            <p:cNvPr id="1312" name="Text Box 40"/>
            <p:cNvSpPr/>
            <p:nvPr/>
          </p:nvSpPr>
          <p:spPr>
            <a:xfrm>
              <a:off x="387000" y="3047760"/>
              <a:ext cx="343080" cy="33624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i="1" u="none" strike="noStrike">
                  <a:solidFill>
                    <a:srgbClr val="000000"/>
                  </a:solidFill>
                  <a:effectLst/>
                  <a:uFillTx/>
                  <a:latin typeface="Arial"/>
                  <a:ea typeface="Arial"/>
                </a:rPr>
                <a:t>x</a:t>
              </a:r>
              <a:r>
                <a:rPr lang="en-US" sz="1400" b="0" u="none" strike="noStrike" baseline="-25000">
                  <a:solidFill>
                    <a:srgbClr val="000000"/>
                  </a:solidFill>
                  <a:effectLst/>
                  <a:uFillTx/>
                  <a:latin typeface="Arial"/>
                  <a:ea typeface="Arial"/>
                </a:rPr>
                <a:t>H</a:t>
              </a:r>
              <a:endParaRPr lang="en-US" sz="1400" b="0" u="none" strike="noStrike">
                <a:solidFill>
                  <a:srgbClr val="000000"/>
                </a:solidFill>
                <a:effectLst/>
                <a:uFillTx/>
                <a:latin typeface="Times New Roman"/>
              </a:endParaRPr>
            </a:p>
          </p:txBody>
        </p:sp>
        <p:sp>
          <p:nvSpPr>
            <p:cNvPr id="1313" name="Text Box 41"/>
            <p:cNvSpPr/>
            <p:nvPr/>
          </p:nvSpPr>
          <p:spPr>
            <a:xfrm>
              <a:off x="385920" y="3809880"/>
              <a:ext cx="326160" cy="33624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i="1" u="none" strike="noStrike">
                  <a:solidFill>
                    <a:srgbClr val="000000"/>
                  </a:solidFill>
                  <a:effectLst/>
                  <a:uFillTx/>
                  <a:latin typeface="Arial"/>
                  <a:ea typeface="Arial"/>
                </a:rPr>
                <a:t>y</a:t>
              </a:r>
              <a:r>
                <a:rPr lang="en-US" sz="1400" b="0" u="none" strike="noStrike" baseline="-25000">
                  <a:solidFill>
                    <a:srgbClr val="000000"/>
                  </a:solidFill>
                  <a:effectLst/>
                  <a:uFillTx/>
                  <a:latin typeface="Arial"/>
                  <a:ea typeface="Arial"/>
                </a:rPr>
                <a:t>L</a:t>
              </a:r>
              <a:endParaRPr lang="en-US" sz="1400" b="0" u="none" strike="noStrike">
                <a:solidFill>
                  <a:srgbClr val="000000"/>
                </a:solidFill>
                <a:effectLst/>
                <a:uFillTx/>
                <a:latin typeface="Times New Roman"/>
              </a:endParaRPr>
            </a:p>
          </p:txBody>
        </p:sp>
        <p:sp>
          <p:nvSpPr>
            <p:cNvPr id="1314" name="Text Box 42"/>
            <p:cNvSpPr/>
            <p:nvPr/>
          </p:nvSpPr>
          <p:spPr>
            <a:xfrm>
              <a:off x="387000" y="4038480"/>
              <a:ext cx="343080" cy="33624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i="1" u="none" strike="noStrike">
                  <a:solidFill>
                    <a:srgbClr val="000000"/>
                  </a:solidFill>
                  <a:effectLst/>
                  <a:uFillTx/>
                  <a:latin typeface="Arial"/>
                  <a:ea typeface="Arial"/>
                </a:rPr>
                <a:t>y</a:t>
              </a:r>
              <a:r>
                <a:rPr lang="en-US" sz="1400" b="0" u="none" strike="noStrike" baseline="-25000">
                  <a:solidFill>
                    <a:srgbClr val="000000"/>
                  </a:solidFill>
                  <a:effectLst/>
                  <a:uFillTx/>
                  <a:latin typeface="Arial"/>
                  <a:ea typeface="Arial"/>
                </a:rPr>
                <a:t>H</a:t>
              </a:r>
              <a:endParaRPr lang="en-US" sz="1400" b="0" u="none" strike="noStrike">
                <a:solidFill>
                  <a:srgbClr val="000000"/>
                </a:solidFill>
                <a:effectLst/>
                <a:uFillTx/>
                <a:latin typeface="Times New Roman"/>
              </a:endParaRPr>
            </a:p>
          </p:txBody>
        </p:sp>
        <p:sp>
          <p:nvSpPr>
            <p:cNvPr id="1315" name="Text Box 43"/>
            <p:cNvSpPr/>
            <p:nvPr/>
          </p:nvSpPr>
          <p:spPr>
            <a:xfrm>
              <a:off x="1600200" y="2361960"/>
              <a:ext cx="507960" cy="33624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i="1" u="none" strike="noStrike">
                  <a:solidFill>
                    <a:srgbClr val="000000"/>
                  </a:solidFill>
                  <a:effectLst/>
                  <a:uFillTx/>
                  <a:latin typeface="Arial"/>
                  <a:ea typeface="Arial"/>
                </a:rPr>
                <a:t>c</a:t>
              </a:r>
              <a:r>
                <a:rPr lang="en-US" sz="1400" b="0" u="none" strike="noStrike" baseline="-25000">
                  <a:solidFill>
                    <a:srgbClr val="000000"/>
                  </a:solidFill>
                  <a:effectLst/>
                  <a:uFillTx/>
                  <a:latin typeface="Arial"/>
                  <a:ea typeface="Arial"/>
                </a:rPr>
                <a:t>in</a:t>
              </a:r>
              <a:endParaRPr lang="en-US" sz="1400" b="0" u="none" strike="noStrike">
                <a:solidFill>
                  <a:srgbClr val="000000"/>
                </a:solidFill>
                <a:effectLst/>
                <a:uFillTx/>
                <a:latin typeface="Times New Roman"/>
              </a:endParaRPr>
            </a:p>
          </p:txBody>
        </p:sp>
      </p:grpSp>
      <p:sp>
        <p:nvSpPr>
          <p:cNvPr id="1316" name="Text Box 44"/>
          <p:cNvSpPr/>
          <p:nvPr/>
        </p:nvSpPr>
        <p:spPr>
          <a:xfrm>
            <a:off x="457200" y="4800600"/>
            <a:ext cx="3962160" cy="123264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Various other segmentation schemes have been suggested</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Arial"/>
                <a:ea typeface="Times New Roman"/>
              </a:rPr>
              <a:t>Example:</a:t>
            </a:r>
            <a:r>
              <a:rPr lang="en-US" sz="2000" b="0" u="none" strike="noStrike">
                <a:solidFill>
                  <a:srgbClr val="000000"/>
                </a:solidFill>
                <a:effectLst/>
                <a:uFillTx/>
                <a:latin typeface="Arial"/>
                <a:ea typeface="Times New Roman"/>
              </a:rPr>
              <a:t> 16-bit adder with </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4-way segmentation and voting</a:t>
            </a:r>
            <a:endParaRPr lang="en-US" sz="2000" b="0" u="none" strike="noStrike">
              <a:solidFill>
                <a:srgbClr val="000000"/>
              </a:solidFill>
              <a:effectLst/>
              <a:uFillTx/>
              <a:latin typeface="Times New Roman"/>
            </a:endParaRPr>
          </a:p>
        </p:txBody>
      </p:sp>
      <p:sp>
        <p:nvSpPr>
          <p:cNvPr id="1317" name="Text Box 45"/>
          <p:cNvSpPr/>
          <p:nvPr/>
        </p:nvSpPr>
        <p:spPr>
          <a:xfrm>
            <a:off x="4800600" y="2286000"/>
            <a:ext cx="3733560" cy="870480"/>
          </a:xfrm>
          <a:prstGeom prst="rect">
            <a:avLst/>
          </a:prstGeom>
          <a:noFill/>
          <a:ln w="38160">
            <a:noFill/>
          </a:ln>
        </p:spPr>
        <p:style>
          <a:lnRef idx="0"/>
          <a:fillRef idx="0"/>
          <a:effectRef idx="0"/>
          <a:fontRef idx="minor"/>
        </p:style>
        <p:txBody>
          <a:bodyPr lIns="90000" tIns="46800" rIns="90000" bIns="46800" anchor="t">
            <a:spAutoFit/>
          </a:bodyPr>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Sum computed in two cycles: The lower half in cycle 1, and</a:t>
            </a:r>
            <a:endParaRPr lang="en-US" sz="2000" b="0" u="none" strike="noStrike">
              <a:solidFill>
                <a:srgbClr val="000000"/>
              </a:solidFill>
              <a:effectLst/>
              <a:uFillTx/>
              <a:latin typeface="Times New Roman"/>
            </a:endParaRPr>
          </a:p>
          <a:p>
            <a:pPr>
              <a:lnSpc>
                <a:spcPct val="8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Times New Roman"/>
              </a:rPr>
              <a:t>the upper half in cycle 2</a:t>
            </a:r>
            <a:endParaRPr lang="en-US" sz="2000" b="0" u="none" strike="noStrike">
              <a:solidFill>
                <a:srgbClr val="000000"/>
              </a:solidFill>
              <a:effectLst/>
              <a:uFillTx/>
              <a:latin typeface="Times New Roman"/>
            </a:endParaRPr>
          </a:p>
        </p:txBody>
      </p:sp>
      <p:grpSp>
        <p:nvGrpSpPr>
          <p:cNvPr id="1318" name="Group 46"/>
          <p:cNvGrpSpPr/>
          <p:nvPr/>
        </p:nvGrpSpPr>
        <p:grpSpPr>
          <a:xfrm>
            <a:off x="4876560" y="3352680"/>
            <a:ext cx="3733920" cy="2773800"/>
            <a:chOff x="4876560" y="3352680"/>
            <a:chExt cx="3733920" cy="2773800"/>
          </a:xfrm>
        </p:grpSpPr>
        <p:pic>
          <p:nvPicPr>
            <p:cNvPr id="1319" name="Picture 47"/>
            <p:cNvPicPr/>
            <p:nvPr/>
          </p:nvPicPr>
          <p:blipFill>
            <a:blip r:embed="rId1"/>
            <a:srcRect l="0" t="0" r="1548" b="0"/>
            <a:stretch/>
          </p:blipFill>
          <p:spPr>
            <a:xfrm>
              <a:off x="4876560" y="3352680"/>
              <a:ext cx="3733920" cy="2516040"/>
            </a:xfrm>
            <a:prstGeom prst="rect">
              <a:avLst/>
            </a:prstGeom>
            <a:noFill/>
            <a:ln w="38160">
              <a:noFill/>
            </a:ln>
          </p:spPr>
        </p:pic>
        <p:sp>
          <p:nvSpPr>
            <p:cNvPr id="1320" name="Text Box 48"/>
            <p:cNvSpPr/>
            <p:nvPr/>
          </p:nvSpPr>
          <p:spPr>
            <a:xfrm>
              <a:off x="5096160" y="5849640"/>
              <a:ext cx="3281400" cy="276840"/>
            </a:xfrm>
            <a:prstGeom prst="rect">
              <a:avLst/>
            </a:prstGeom>
            <a:noFill/>
            <a:ln w="3816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ea typeface="Arial"/>
                </a:rPr>
                <a:t>Townsend, Abraham, and Swartzlander, 2003</a:t>
              </a:r>
              <a:endParaRPr lang="en-US" sz="1200" b="0"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2740</TotalTime>
  <Application>LibreOffice/26.8.0.3$Linux_X86_64 LibreOffice_project/680$Build-3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2003-03-02T02:14:00Z</dcterms:created>
  <dc:creator>Behrooz Parhami</dc:creator>
  <dc:description/>
  <dc:language>en-US</dc:language>
  <cp:lastModifiedBy>Xin Xin</cp:lastModifiedBy>
  <cp:lastPrinted>2021-09-29T00:46:54Z</cp:lastPrinted>
  <dcterms:modified xsi:type="dcterms:W3CDTF">2026-10-16T12:15:19Z</dcterms:modified>
  <cp:revision>489</cp:revision>
  <dc:subject/>
  <dc:title>Fault Tolerance, Lecture 01</dc:title>
</cp:coreProperties>
</file>