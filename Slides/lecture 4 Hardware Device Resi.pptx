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3.wmf" ContentType="image/x-wmf"/>
  <Override PartName="/ppt/media/image28.wmf" ContentType="image/x-wmf"/>
  <Override PartName="/ppt/media/image4.wmf" ContentType="image/x-wmf"/>
  <Override PartName="/ppt/media/image27.wmf" ContentType="image/x-wmf"/>
  <Override PartName="/ppt/media/image26.wmf" ContentType="image/x-wmf"/>
  <Override PartName="/ppt/media/image24.wmf" ContentType="image/x-wmf"/>
  <Override PartName="/ppt/media/image15.wmf" ContentType="image/x-wmf"/>
  <Override PartName="/ppt/media/image14.wmf" ContentType="image/x-wmf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-360"/>
            <a:ext cx="2971800" cy="46332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2"/>
          </p:nvPr>
        </p:nvSpPr>
        <p:spPr>
          <a:xfrm>
            <a:off x="3885840" y="-360"/>
            <a:ext cx="2971800" cy="46332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05920" y="698400"/>
            <a:ext cx="464652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-36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388584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731F7C9-C93A-483B-A1D9-5F79EBDC46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49021F1-F9A9-42B0-BE81-6404B6B6A7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9CDA6CE-959E-482E-86B2-3DA93FC91BF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Defect in a piece of rail, exposed after cutting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46DEFAF-46AC-4198-AB21-B2BDBDD5A23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817E3DC-926A-4E7D-8125-C9669D75BCAA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BDA3B5B-6115-444B-ADAB-E8CD73CED1D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9813AC-2179-4DA7-8E7C-47C66B9E0AD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74C118-6839-4ED5-95C4-556E476DCD9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E740A1-4FD4-4DFF-AECA-4EBB735DC7C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B8A73DA-DF52-403E-A289-807782AF5CED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91646D0-DD9F-4885-9F60-FC5070338E5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Ciciani, B.,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Manufacturing Yield Evaluation of VLSI/WSI Systems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 IEEE Computer Society Press, 1995.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D6C5BE-30E8-41F2-8736-6C38603B1E0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Note that the product of defect density and die area is the expected number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of defects per die. If this expected number is very small, then, (1 +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)^(–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) =approx 1/(1 +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) =approx 1 –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. So, if we expect an average of 0.01 defects per die, say, the yield will be 0.99. For larger values of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 however, nonlinearity kicks in and yield is substantially reduced.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59E283-94A7-4FED-BC72-7FFC1A37584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D160A78-D96C-4AF9-BBB4-F9D0019A591A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Rectangle 7"/>
          <p:cNvSpPr/>
          <p:nvPr/>
        </p:nvSpPr>
        <p:spPr>
          <a:xfrm>
            <a:off x="4144680" y="9121680"/>
            <a:ext cx="3170520" cy="479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6480" tIns="48240" rIns="96480" bIns="4824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E967A80-3F29-472E-B420-747758A79D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1BCBA33-106B-4EA4-9DF9-D7EDCC75F6B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Rectangle 7"/>
          <p:cNvSpPr/>
          <p:nvPr/>
        </p:nvSpPr>
        <p:spPr>
          <a:xfrm>
            <a:off x="4144680" y="9121680"/>
            <a:ext cx="3170520" cy="479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6480" tIns="48240" rIns="96480" bIns="4824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E24BAE2-2CAA-4E02-B035-34F00A309D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39AE70E-4B6E-4D28-83D4-AA3BCC9C3A7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752DF7D-6B6D-4475-A9AF-24D1C983A00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17CD4C-4ECE-4DF2-AB59-A7D5FD7AB8F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Stress testing may include vibration, impacts, drops, and so on.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B7D9436-D42E-4D76-BF73-BCE8EC95419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There are companies that offer burn-in service for a fee, so there is no need to purchase an expensive burn-in oven for low production volumes.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Slide Number Placeholder 3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44CE0D9-BD41-49F2-AECE-9414DD6FDF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EC153F8-9438-477A-A6B1-B86549333EFB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B6A7415-8852-4B02-8C42-F86E0FCEBFD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8C88972-0A33-4CFC-9CA3-F1AA210DF7A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9BC32A-D8A4-4389-A991-5AA894860C6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6665F8C-2A19-4A70-BDCA-149AB0E60FB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This and the next few slides are based on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Introduction to Parallel Processing: Algorithms and Architectures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 by B. Parhami, Plenum Press, 1999.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scheme shown at the top can be made tolerant to defects in switches and associated interconnects via the provision of two rows of switching elements.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2DFAFA8-348A-4B50-823E-505281092EA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E156977-1A30-4796-8BBB-841DCF51F0E4}" type="slidenum">
              <a:t>&lt;#&gt;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7467480" y="6248160"/>
            <a:ext cx="99072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48536C7-46E3-4485-B89B-5C8E12AF89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4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hyperlink" Target="http://www.weibull.com/hotwire/issue21/hottopics21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23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24.wmf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oleObject" Target="../embeddings/oleObject5.bin"/><Relationship Id="rId2" Type="http://schemas.openxmlformats.org/officeDocument/2006/relationships/image" Target="../media/image26.wmf"/><Relationship Id="rId3" Type="http://schemas.openxmlformats.org/officeDocument/2006/relationships/oleObject" Target="../embeddings/oleObject6.bin"/><Relationship Id="rId4" Type="http://schemas.openxmlformats.org/officeDocument/2006/relationships/image" Target="../media/image27.wmf"/><Relationship Id="rId5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8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066320"/>
            <a:ext cx="914400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ECE 5706: Resilient Computer System Design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AutoShape 3"/>
          <p:cNvSpPr/>
          <p:nvPr/>
        </p:nvSpPr>
        <p:spPr>
          <a:xfrm>
            <a:off x="1376280" y="1452240"/>
            <a:ext cx="6629400" cy="4218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6"/>
          <p:cNvSpPr/>
          <p:nvPr/>
        </p:nvSpPr>
        <p:spPr>
          <a:xfrm>
            <a:off x="2590560" y="2590560"/>
            <a:ext cx="4186440" cy="26517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Resilient Hardware Design –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Device-Level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Xin Xin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Assistant Professor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Electrical and Computer Engineering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Box 2"/>
          <p:cNvSpPr/>
          <p:nvPr/>
        </p:nvSpPr>
        <p:spPr>
          <a:xfrm>
            <a:off x="2604960" y="5562360"/>
            <a:ext cx="4419720" cy="11901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ACKNOWLEDGEMENT: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Prof. Behrooz Parhami at UCSB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Prof. Ronald F. DeMara at UCF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E128CA2B-9D49-4601-8D01-35AF993091D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04200" y="228600"/>
            <a:ext cx="853452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1  Defect Avoidance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Picture 3" descr="safety3"/>
          <p:cNvPicPr/>
          <p:nvPr/>
        </p:nvPicPr>
        <p:blipFill>
          <a:blip r:embed="rId1"/>
          <a:stretch/>
        </p:blipFill>
        <p:spPr>
          <a:xfrm>
            <a:off x="990360" y="1218960"/>
            <a:ext cx="7086600" cy="47293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8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B7D55DF-2422-48B7-B38A-EAB9F298975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1.1   Types and Causes of Defects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Rectangle 5"/>
          <p:cNvSpPr/>
          <p:nvPr/>
        </p:nvSpPr>
        <p:spPr>
          <a:xfrm>
            <a:off x="304560" y="5105160"/>
            <a:ext cx="4191120" cy="685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Resistive open due to unfilled via [R. Madge et al.,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IEEE D&amp;T,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2003]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" name="Picture 6"/>
          <p:cNvPicPr/>
          <p:nvPr/>
        </p:nvPicPr>
        <p:blipFill>
          <a:blip r:embed="rId1"/>
          <a:srcRect l="0" t="2101" r="0" b="0"/>
          <a:stretch/>
        </p:blipFill>
        <p:spPr>
          <a:xfrm>
            <a:off x="228600" y="1295280"/>
            <a:ext cx="4343400" cy="35812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4" name="Rectangle 8"/>
          <p:cNvSpPr/>
          <p:nvPr/>
        </p:nvSpPr>
        <p:spPr>
          <a:xfrm>
            <a:off x="5486400" y="5105160"/>
            <a:ext cx="2590560" cy="685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Particle embedded between layers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5" name="Group 10"/>
          <p:cNvGrpSpPr/>
          <p:nvPr/>
        </p:nvGrpSpPr>
        <p:grpSpPr>
          <a:xfrm>
            <a:off x="4800600" y="1295280"/>
            <a:ext cx="4043160" cy="3505320"/>
            <a:chOff x="4800600" y="1295280"/>
            <a:chExt cx="4043160" cy="3505320"/>
          </a:xfrm>
        </p:grpSpPr>
        <p:pic>
          <p:nvPicPr>
            <p:cNvPr id="26" name="Picture 7" descr="fig17"/>
            <p:cNvPicPr/>
            <p:nvPr/>
          </p:nvPicPr>
          <p:blipFill>
            <a:blip r:embed="rId2">
              <a:lum contrast="12000"/>
            </a:blip>
            <a:srcRect l="26888" t="16160" r="8963" b="16160"/>
            <a:stretch/>
          </p:blipFill>
          <p:spPr>
            <a:xfrm>
              <a:off x="4800600" y="1295280"/>
              <a:ext cx="4043160" cy="3505320"/>
            </a:xfrm>
            <a:prstGeom prst="rect">
              <a:avLst/>
            </a:prstGeom>
            <a:noFill/>
            <a:ln w="38160">
              <a:noFill/>
            </a:ln>
          </p:spPr>
        </p:pic>
        <p:sp>
          <p:nvSpPr>
            <p:cNvPr id="27" name="Line 9"/>
            <p:cNvSpPr/>
            <p:nvPr/>
          </p:nvSpPr>
          <p:spPr>
            <a:xfrm flipH="1">
              <a:off x="7009920" y="1904760"/>
              <a:ext cx="685800" cy="885960"/>
            </a:xfrm>
            <a:prstGeom prst="line">
              <a:avLst/>
            </a:prstGeom>
            <a:ln w="56880">
              <a:solidFill>
                <a:srgbClr val="FF66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2D89E84-8874-48B3-9A28-AF9FA0C41CE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Process and Operational Variations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Picture 11"/>
          <p:cNvPicPr/>
          <p:nvPr/>
        </p:nvPicPr>
        <p:blipFill>
          <a:blip r:embed="rId1"/>
          <a:stretch/>
        </p:blipFill>
        <p:spPr>
          <a:xfrm>
            <a:off x="5105160" y="1447560"/>
            <a:ext cx="3657600" cy="33638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32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380880" y="4419360"/>
            <a:ext cx="4343400" cy="12193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 if there isn’t a complete short or open, resistance and capacitance variations can lead to trouble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5333760" y="4952880"/>
            <a:ext cx="2743200" cy="685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 temperature 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Picture 14" descr="litho-short-open"/>
          <p:cNvPicPr/>
          <p:nvPr/>
        </p:nvPicPr>
        <p:blipFill>
          <a:blip r:embed="rId2"/>
          <a:stretch/>
        </p:blipFill>
        <p:spPr>
          <a:xfrm>
            <a:off x="304560" y="1447560"/>
            <a:ext cx="4343400" cy="27036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04ADD02-1EC1-4E45-ADAD-19107CF24A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Analogy: Ideal vs. Real Clock Signals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12" descr="pcf8591-osc-output"/>
          <p:cNvPicPr/>
          <p:nvPr/>
        </p:nvPicPr>
        <p:blipFill>
          <a:blip r:embed="rId1"/>
          <a:stretch/>
        </p:blipFill>
        <p:spPr>
          <a:xfrm>
            <a:off x="5181480" y="1371600"/>
            <a:ext cx="3429000" cy="3429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40" name="Rectangle 5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Rectangle 7"/>
          <p:cNvSpPr/>
          <p:nvPr/>
        </p:nvSpPr>
        <p:spPr>
          <a:xfrm>
            <a:off x="5562360" y="4952880"/>
            <a:ext cx="2743200" cy="685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clock signal is quite different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Picture 15" descr="P212"/>
          <p:cNvPicPr/>
          <p:nvPr/>
        </p:nvPicPr>
        <p:blipFill>
          <a:blip r:embed="rId2"/>
          <a:stretch/>
        </p:blipFill>
        <p:spPr>
          <a:xfrm>
            <a:off x="0" y="1295280"/>
            <a:ext cx="5257800" cy="3321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43" name="Rectangle 6"/>
          <p:cNvSpPr/>
          <p:nvPr/>
        </p:nvSpPr>
        <p:spPr>
          <a:xfrm>
            <a:off x="609480" y="3733560"/>
            <a:ext cx="4343400" cy="121932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Ideal clock signal has sharp edges and an exact constant period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8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39C1F567-F117-4413-BF9F-16D8425F7AB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Disk Memory Defects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13" descr="AZoNano - The A to Z of Nanotechnology - MFM measurement (phase contrast mode). White and black areas connote magnetisation reversal, where white stands for repulsive forces and black for attractive forces. Scan range 2 μm × 2 μm / Phase range 5°"/>
          <p:cNvPicPr/>
          <p:nvPr/>
        </p:nvPicPr>
        <p:blipFill>
          <a:blip r:embed="rId1"/>
          <a:stretch/>
        </p:blipFill>
        <p:spPr>
          <a:xfrm>
            <a:off x="5410080" y="3276360"/>
            <a:ext cx="2819520" cy="280836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48" name="Picture 17" descr="scratch_small"/>
          <p:cNvPicPr/>
          <p:nvPr/>
        </p:nvPicPr>
        <p:blipFill>
          <a:blip r:embed="rId2"/>
          <a:stretch/>
        </p:blipFill>
        <p:spPr>
          <a:xfrm>
            <a:off x="5410080" y="1066680"/>
            <a:ext cx="2819520" cy="211464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49" name="Group 21"/>
          <p:cNvGrpSpPr/>
          <p:nvPr/>
        </p:nvGrpSpPr>
        <p:grpSpPr>
          <a:xfrm>
            <a:off x="533160" y="990360"/>
            <a:ext cx="4724280" cy="5181480"/>
            <a:chOff x="533160" y="990360"/>
            <a:chExt cx="4724280" cy="5181480"/>
          </a:xfrm>
        </p:grpSpPr>
        <p:pic>
          <p:nvPicPr>
            <p:cNvPr id="50" name="Picture 15" descr="HEDCRASH"/>
            <p:cNvPicPr/>
            <p:nvPr/>
          </p:nvPicPr>
          <p:blipFill>
            <a:blip r:embed="rId3"/>
            <a:stretch/>
          </p:blipFill>
          <p:spPr>
            <a:xfrm>
              <a:off x="533160" y="990360"/>
              <a:ext cx="4493520" cy="5181480"/>
            </a:xfrm>
            <a:prstGeom prst="rect">
              <a:avLst/>
            </a:prstGeom>
            <a:noFill/>
            <a:ln w="38160">
              <a:noFill/>
            </a:ln>
          </p:spPr>
        </p:pic>
        <p:sp>
          <p:nvSpPr>
            <p:cNvPr id="51" name="Rectangle 20"/>
            <p:cNvSpPr/>
            <p:nvPr/>
          </p:nvSpPr>
          <p:spPr>
            <a:xfrm>
              <a:off x="3367800" y="990360"/>
              <a:ext cx="1889640" cy="22860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2" name="Rectangle 8"/>
          <p:cNvSpPr/>
          <p:nvPr/>
        </p:nvSpPr>
        <p:spPr>
          <a:xfrm>
            <a:off x="2057400" y="1066680"/>
            <a:ext cx="2971800" cy="106668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tiniest particle or scratch can wipe out many thousands of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8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D97F597-14E9-4142-9A2B-2F25BF1782F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Protective Error Coding in Disk Memories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8"/>
          <p:cNvSpPr/>
          <p:nvPr/>
        </p:nvSpPr>
        <p:spPr>
          <a:xfrm>
            <a:off x="536400" y="1001520"/>
            <a:ext cx="7921800" cy="178596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Disks typically use CRC or similarly strong error-correcting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virtually impossible for data to become contaminated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sector repeatedly violates the code, it is assumed to be bad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sectors reduce the disk’s capacity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Disk crashes and other catastrophic failures are a different story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2" descr="fig5"/>
          <p:cNvPicPr/>
          <p:nvPr/>
        </p:nvPicPr>
        <p:blipFill>
          <a:blip r:embed="rId1"/>
          <a:stretch/>
        </p:blipFill>
        <p:spPr>
          <a:xfrm>
            <a:off x="993600" y="2962080"/>
            <a:ext cx="6477120" cy="28954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58" name="Rectangle 8"/>
          <p:cNvSpPr/>
          <p:nvPr/>
        </p:nvSpPr>
        <p:spPr>
          <a:xfrm>
            <a:off x="380880" y="4568760"/>
            <a:ext cx="1523880" cy="47124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credit: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Hitachi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6473520" y="3211200"/>
            <a:ext cx="2667240" cy="201312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Black: Sector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Red: Sector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90E5"/>
                </a:solidFill>
                <a:effectLst/>
                <a:uFillTx/>
                <a:latin typeface="Arial"/>
              </a:rPr>
              <a:t>Blue: Block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FF00"/>
                </a:solidFill>
                <a:effectLst/>
                <a:uFillTx/>
                <a:latin typeface="Arial"/>
              </a:rPr>
              <a:t>Green: Super-block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EBFA2BCD-34EA-4330-9789-5089E31A0E1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228240"/>
            <a:ext cx="86868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Learning from Failed Disk Drives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4"/>
          <p:cNvSpPr/>
          <p:nvPr/>
        </p:nvSpPr>
        <p:spPr>
          <a:xfrm>
            <a:off x="533160" y="1066680"/>
            <a:ext cx="8077320" cy="50893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Analyses of failed disk drives have led to the following monitoring suggestions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predict when a disk drive is about to go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thus allowing a preemptive replacement before a hard failure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Head flying height: Downward trend often precedes a head crash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Number of remapped sectors: A bad sector is remapped to a different physical location on disk to avoid repeat errors, so having too many remapped sectors signal persistent problems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Frequency of error correction via the built-in code: Disks routinely use CRC and other coding schemes to protect against data loss, but as errors accumulate, they may go beyond the code’s tolerance limit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following are signs of mechanical or electrical problems: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Changes in spin-up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Rising temperatures in the unit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Reduction in data throughput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83F2618-56AE-40E1-A406-63226909AAA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240"/>
            <a:ext cx="86868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25"/>
          <p:cNvGrpSpPr/>
          <p:nvPr/>
        </p:nvGrpSpPr>
        <p:grpSpPr>
          <a:xfrm>
            <a:off x="2286000" y="1285560"/>
            <a:ext cx="3408120" cy="801720"/>
            <a:chOff x="2286000" y="1285560"/>
            <a:chExt cx="3408120" cy="801720"/>
          </a:xfrm>
        </p:grpSpPr>
        <p:sp>
          <p:nvSpPr>
            <p:cNvPr id="68" name="Rectangle 1"/>
            <p:cNvSpPr/>
            <p:nvPr/>
          </p:nvSpPr>
          <p:spPr>
            <a:xfrm>
              <a:off x="2286000" y="1285560"/>
              <a:ext cx="601200" cy="80172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Rectangle 2"/>
            <p:cNvSpPr/>
            <p:nvPr/>
          </p:nvSpPr>
          <p:spPr>
            <a:xfrm>
              <a:off x="3221640" y="1285560"/>
              <a:ext cx="601200" cy="80172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Rectangle 3"/>
            <p:cNvSpPr/>
            <p:nvPr/>
          </p:nvSpPr>
          <p:spPr>
            <a:xfrm>
              <a:off x="4157280" y="1285560"/>
              <a:ext cx="601200" cy="80172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Rectangle 4"/>
            <p:cNvSpPr/>
            <p:nvPr/>
          </p:nvSpPr>
          <p:spPr>
            <a:xfrm>
              <a:off x="5092920" y="1285560"/>
              <a:ext cx="601200" cy="80172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2" name="Group 19"/>
          <p:cNvGrpSpPr/>
          <p:nvPr/>
        </p:nvGrpSpPr>
        <p:grpSpPr>
          <a:xfrm>
            <a:off x="2286000" y="2527200"/>
            <a:ext cx="6567480" cy="2038320"/>
            <a:chOff x="2286000" y="2527200"/>
            <a:chExt cx="6567480" cy="2038320"/>
          </a:xfrm>
        </p:grpSpPr>
        <p:sp>
          <p:nvSpPr>
            <p:cNvPr id="73" name="Rectangle 5"/>
            <p:cNvSpPr/>
            <p:nvPr/>
          </p:nvSpPr>
          <p:spPr>
            <a:xfrm>
              <a:off x="2286000" y="3129480"/>
              <a:ext cx="601200" cy="8020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Rectangle 6"/>
            <p:cNvSpPr/>
            <p:nvPr/>
          </p:nvSpPr>
          <p:spPr>
            <a:xfrm>
              <a:off x="3221640" y="3129480"/>
              <a:ext cx="601200" cy="8020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Rectangle 7"/>
            <p:cNvSpPr/>
            <p:nvPr/>
          </p:nvSpPr>
          <p:spPr>
            <a:xfrm>
              <a:off x="4157280" y="3129480"/>
              <a:ext cx="601200" cy="8020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Rectangle 8"/>
            <p:cNvSpPr/>
            <p:nvPr/>
          </p:nvSpPr>
          <p:spPr>
            <a:xfrm>
              <a:off x="5092920" y="3129480"/>
              <a:ext cx="601200" cy="8020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Rectangle 9"/>
            <p:cNvSpPr/>
            <p:nvPr/>
          </p:nvSpPr>
          <p:spPr>
            <a:xfrm>
              <a:off x="6028560" y="3129480"/>
              <a:ext cx="601200" cy="8020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Rectangle 3"/>
            <p:cNvSpPr/>
            <p:nvPr/>
          </p:nvSpPr>
          <p:spPr>
            <a:xfrm>
              <a:off x="5573160" y="2527200"/>
              <a:ext cx="1512000" cy="4204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rmAutofit fontScale="55000" lnSpcReduction="19999"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Spare Component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Rectangle 3"/>
            <p:cNvSpPr/>
            <p:nvPr/>
          </p:nvSpPr>
          <p:spPr>
            <a:xfrm>
              <a:off x="4629240" y="4145040"/>
              <a:ext cx="4224240" cy="4204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rmAutofit fontScale="62500" lnSpcReduction="19999"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e.g., the spare component combines the four data components using an XOR operation.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0" name="Group 24"/>
          <p:cNvGrpSpPr/>
          <p:nvPr/>
        </p:nvGrpSpPr>
        <p:grpSpPr>
          <a:xfrm>
            <a:off x="2286000" y="4541760"/>
            <a:ext cx="4343400" cy="1305000"/>
            <a:chOff x="2286000" y="4541760"/>
            <a:chExt cx="4343400" cy="1305000"/>
          </a:xfrm>
        </p:grpSpPr>
        <p:sp>
          <p:nvSpPr>
            <p:cNvPr id="81" name="Rectangle 18"/>
            <p:cNvSpPr/>
            <p:nvPr/>
          </p:nvSpPr>
          <p:spPr>
            <a:xfrm>
              <a:off x="3221280" y="5044320"/>
              <a:ext cx="601200" cy="80244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Rectangle 12"/>
            <p:cNvSpPr/>
            <p:nvPr/>
          </p:nvSpPr>
          <p:spPr>
            <a:xfrm>
              <a:off x="2286000" y="5044320"/>
              <a:ext cx="601200" cy="80244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3" name="Rectangle 13"/>
            <p:cNvSpPr/>
            <p:nvPr/>
          </p:nvSpPr>
          <p:spPr>
            <a:xfrm>
              <a:off x="6028200" y="5044320"/>
              <a:ext cx="601200" cy="80244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Rectangle 14"/>
            <p:cNvSpPr/>
            <p:nvPr/>
          </p:nvSpPr>
          <p:spPr>
            <a:xfrm>
              <a:off x="4156920" y="5044320"/>
              <a:ext cx="601200" cy="80244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Rectangle 15"/>
            <p:cNvSpPr/>
            <p:nvPr/>
          </p:nvSpPr>
          <p:spPr>
            <a:xfrm>
              <a:off x="5092560" y="5044320"/>
              <a:ext cx="601200" cy="80244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6" name="Rectangle 3"/>
            <p:cNvSpPr/>
            <p:nvPr/>
          </p:nvSpPr>
          <p:spPr>
            <a:xfrm>
              <a:off x="2778840" y="4541760"/>
              <a:ext cx="1511640" cy="4204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rm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Recovering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pic>
        <p:nvPicPr>
          <p:cNvPr id="87" name="Graphic 21" descr="Lightning bolt with solid fill"/>
          <p:cNvPicPr/>
          <p:nvPr/>
        </p:nvPicPr>
        <p:blipFill>
          <a:blip r:embed="rId3"/>
          <a:stretch/>
        </p:blipFill>
        <p:spPr>
          <a:xfrm>
            <a:off x="3085920" y="2866680"/>
            <a:ext cx="914400" cy="9144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8" name="Rectangle 3"/>
          <p:cNvSpPr/>
          <p:nvPr/>
        </p:nvSpPr>
        <p:spPr>
          <a:xfrm>
            <a:off x="2895480" y="2481120"/>
            <a:ext cx="1724040" cy="479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Failure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65A1668-9213-4E16-B13B-DA7B088E619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1.2  Yield and Its Associated Costs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3" name="Object 5"/>
          <p:cNvGraphicFramePr/>
          <p:nvPr/>
        </p:nvGraphicFramePr>
        <p:xfrm>
          <a:off x="304560" y="1218960"/>
          <a:ext cx="8534520" cy="44514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4" name="Object 5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04560" y="1218960"/>
                    <a:ext cx="8534520" cy="445140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4859E5D-6192-481C-89F0-977CAD8585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 Box 2"/>
          <p:cNvSpPr/>
          <p:nvPr/>
        </p:nvSpPr>
        <p:spPr>
          <a:xfrm>
            <a:off x="1218960" y="3200400"/>
            <a:ext cx="6629400" cy="45936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dramatic decrease in yield with larger dies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Effect of Die Size on Yield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Object 5"/>
          <p:cNvGraphicFramePr/>
          <p:nvPr/>
        </p:nvGraphicFramePr>
        <p:xfrm>
          <a:off x="2057400" y="990360"/>
          <a:ext cx="5105160" cy="2127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0" name="Object 5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57400" y="990360"/>
                    <a:ext cx="5105160" cy="212724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101" name="Text Box 6"/>
          <p:cNvSpPr/>
          <p:nvPr/>
        </p:nvSpPr>
        <p:spPr>
          <a:xfrm>
            <a:off x="838080" y="3886200"/>
            <a:ext cx="7543800" cy="2511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Die yield =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(Number of good dies) / (Total number of dies)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Die yield = Wafer yield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[1 + (Defect density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Die area) /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]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Die cost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 (Cost of wafer) / (Total number of dies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Die yield)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 (Cost of wafer)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(Die area / Wafer area) / (Die yield)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parameter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ranges from 3 to 4 for modern CMOS processes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7"/>
          <p:cNvSpPr/>
          <p:nvPr/>
        </p:nvSpPr>
        <p:spPr>
          <a:xfrm>
            <a:off x="304560" y="1143000"/>
            <a:ext cx="2133720" cy="17398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Shown are some random defects; there are also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bulk or clustered defects that affect a large region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4E6BD0E-61FF-420B-B815-6E5C62DC4BB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8600" y="228240"/>
            <a:ext cx="86868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Effects of Yield on Testing and Part Reliability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Box 4"/>
          <p:cNvSpPr/>
          <p:nvPr/>
        </p:nvSpPr>
        <p:spPr>
          <a:xfrm>
            <a:off x="533160" y="1066680"/>
            <a:ext cx="8077320" cy="2165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Assume a die yield of 50%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Out of 2,000,000 dies manufactured,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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1,000,000 are defective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To achieve the goal of 100 defects per million (DPM) in parts shipped, we must catch 999,900 of the 1,000,000 defective parts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Therefore, we need a test coverage of 99.99%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Text Box 5"/>
          <p:cNvSpPr/>
          <p:nvPr/>
        </p:nvSpPr>
        <p:spPr>
          <a:xfrm>
            <a:off x="533160" y="3429000"/>
            <a:ext cx="80773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Testing is imperfect: missed defects/faults (coverage), false positives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 Box 6"/>
          <p:cNvSpPr/>
          <p:nvPr/>
        </p:nvSpPr>
        <p:spPr>
          <a:xfrm>
            <a:off x="533160" y="3962160"/>
            <a:ext cx="80773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Going from a coverage of 99.9% to 99.99% involves a significant investment in test development and application times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 Box 7"/>
          <p:cNvSpPr/>
          <p:nvPr/>
        </p:nvSpPr>
        <p:spPr>
          <a:xfrm>
            <a:off x="533160" y="4800600"/>
            <a:ext cx="8077320" cy="11293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False positives are not a source of difficulty in this context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Discarding another 1-2% due to false positives in testing does not change the scale of the loss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357EFED0-ADF0-49E3-A8D0-A6C81CF6150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1.3  Defect Modeling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Rectangle 5"/>
          <p:cNvSpPr/>
          <p:nvPr/>
        </p:nvSpPr>
        <p:spPr>
          <a:xfrm>
            <a:off x="533160" y="1066680"/>
            <a:ext cx="792504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Defect are of two main types: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Rectangle 6"/>
          <p:cNvSpPr/>
          <p:nvPr/>
        </p:nvSpPr>
        <p:spPr>
          <a:xfrm>
            <a:off x="533160" y="4343400"/>
            <a:ext cx="8077320" cy="914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every spot defect leads to structural or parametric damage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Actual damage depends on location and size (relative to feature size)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533160" y="1600200"/>
            <a:ext cx="6248520" cy="1447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Global or gross-area defects are due to: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Scratches (e.g., from wafer mishandling)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Mask misalignment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over- and under-etching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Rectangle 5"/>
          <p:cNvSpPr/>
          <p:nvPr/>
        </p:nvSpPr>
        <p:spPr>
          <a:xfrm>
            <a:off x="533160" y="3124080"/>
            <a:ext cx="6248520" cy="1143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 or spot defects are due to: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Imperfect process (e.g., extra or missing material)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Effects of airborne particles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Rectangle 5"/>
          <p:cNvSpPr/>
          <p:nvPr/>
        </p:nvSpPr>
        <p:spPr>
          <a:xfrm>
            <a:off x="6933960" y="1676160"/>
            <a:ext cx="1676520" cy="1067040"/>
          </a:xfrm>
          <a:prstGeom prst="rect">
            <a:avLst/>
          </a:prstGeom>
          <a:solidFill>
            <a:srgbClr val="FFFF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be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eliminated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minimized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6933960" y="3200400"/>
            <a:ext cx="1676520" cy="838080"/>
          </a:xfrm>
          <a:prstGeom prst="rect">
            <a:avLst/>
          </a:prstGeom>
          <a:solidFill>
            <a:srgbClr val="FFC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" indent="-259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deal with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3"/>
          <p:cNvSpPr/>
          <p:nvPr/>
        </p:nvSpPr>
        <p:spPr>
          <a:xfrm>
            <a:off x="5095800" y="4086000"/>
            <a:ext cx="3809880" cy="2130480"/>
          </a:xfrm>
          <a:prstGeom prst="rect">
            <a:avLst/>
          </a:prstGeom>
          <a:solidFill>
            <a:srgbClr val="EEEEEE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rmAutofit fontScale="92500" lnSpcReduction="9999"/>
          </a:bodyPr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Hints?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models can be trained based on characterized systematic defects.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models are often tolerant to small, light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Slide Number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10BEA57-A1E2-47FE-82C6-9FECB4C6E4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43"/>
          <p:cNvGrpSpPr/>
          <p:nvPr/>
        </p:nvGrpSpPr>
        <p:grpSpPr>
          <a:xfrm>
            <a:off x="944280" y="1487160"/>
            <a:ext cx="3737160" cy="3706920"/>
            <a:chOff x="944280" y="1487160"/>
            <a:chExt cx="3737160" cy="3706920"/>
          </a:xfrm>
        </p:grpSpPr>
        <p:sp>
          <p:nvSpPr>
            <p:cNvPr id="125" name="Rectangle 3"/>
            <p:cNvSpPr/>
            <p:nvPr/>
          </p:nvSpPr>
          <p:spPr>
            <a:xfrm>
              <a:off x="944280" y="211392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" name="Rectangle 4"/>
            <p:cNvSpPr/>
            <p:nvPr/>
          </p:nvSpPr>
          <p:spPr>
            <a:xfrm>
              <a:off x="1577160" y="211392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" name="Rectangle 5"/>
            <p:cNvSpPr/>
            <p:nvPr/>
          </p:nvSpPr>
          <p:spPr>
            <a:xfrm>
              <a:off x="2210400" y="211392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Rectangle 6"/>
            <p:cNvSpPr/>
            <p:nvPr/>
          </p:nvSpPr>
          <p:spPr>
            <a:xfrm>
              <a:off x="2843640" y="211392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" name="Rectangle 7"/>
            <p:cNvSpPr/>
            <p:nvPr/>
          </p:nvSpPr>
          <p:spPr>
            <a:xfrm>
              <a:off x="3476880" y="211392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Rectangle 8"/>
            <p:cNvSpPr/>
            <p:nvPr/>
          </p:nvSpPr>
          <p:spPr>
            <a:xfrm>
              <a:off x="4109760" y="211392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" name="Rectangle 9"/>
            <p:cNvSpPr/>
            <p:nvPr/>
          </p:nvSpPr>
          <p:spPr>
            <a:xfrm>
              <a:off x="944280" y="3368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" name="Rectangle 10"/>
            <p:cNvSpPr/>
            <p:nvPr/>
          </p:nvSpPr>
          <p:spPr>
            <a:xfrm>
              <a:off x="1577160" y="336816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Rectangle 11"/>
            <p:cNvSpPr/>
            <p:nvPr/>
          </p:nvSpPr>
          <p:spPr>
            <a:xfrm>
              <a:off x="2210400" y="3368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" name="Rectangle 16"/>
            <p:cNvSpPr/>
            <p:nvPr/>
          </p:nvSpPr>
          <p:spPr>
            <a:xfrm>
              <a:off x="2843640" y="3368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" name="Rectangle 17"/>
            <p:cNvSpPr/>
            <p:nvPr/>
          </p:nvSpPr>
          <p:spPr>
            <a:xfrm>
              <a:off x="3476880" y="3368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" name="Rectangle 18"/>
            <p:cNvSpPr/>
            <p:nvPr/>
          </p:nvSpPr>
          <p:spPr>
            <a:xfrm>
              <a:off x="4109760" y="3368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" name="Rectangle 19"/>
            <p:cNvSpPr/>
            <p:nvPr/>
          </p:nvSpPr>
          <p:spPr>
            <a:xfrm>
              <a:off x="944280" y="399528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" name="Rectangle 20"/>
            <p:cNvSpPr/>
            <p:nvPr/>
          </p:nvSpPr>
          <p:spPr>
            <a:xfrm>
              <a:off x="1577160" y="399528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Rectangle 21"/>
            <p:cNvSpPr/>
            <p:nvPr/>
          </p:nvSpPr>
          <p:spPr>
            <a:xfrm>
              <a:off x="2210400" y="399528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Rectangle 22"/>
            <p:cNvSpPr/>
            <p:nvPr/>
          </p:nvSpPr>
          <p:spPr>
            <a:xfrm>
              <a:off x="2843640" y="399528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Rectangle 23"/>
            <p:cNvSpPr/>
            <p:nvPr/>
          </p:nvSpPr>
          <p:spPr>
            <a:xfrm>
              <a:off x="3476880" y="399528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Rectangle 24"/>
            <p:cNvSpPr/>
            <p:nvPr/>
          </p:nvSpPr>
          <p:spPr>
            <a:xfrm>
              <a:off x="4109760" y="399528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Rectangle 25"/>
            <p:cNvSpPr/>
            <p:nvPr/>
          </p:nvSpPr>
          <p:spPr>
            <a:xfrm>
              <a:off x="944280" y="462240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Rectangle 26"/>
            <p:cNvSpPr/>
            <p:nvPr/>
          </p:nvSpPr>
          <p:spPr>
            <a:xfrm>
              <a:off x="1577160" y="462240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Rectangle 27"/>
            <p:cNvSpPr/>
            <p:nvPr/>
          </p:nvSpPr>
          <p:spPr>
            <a:xfrm>
              <a:off x="2210400" y="462240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6" name="Rectangle 28"/>
            <p:cNvSpPr/>
            <p:nvPr/>
          </p:nvSpPr>
          <p:spPr>
            <a:xfrm>
              <a:off x="2843640" y="462240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Rectangle 29"/>
            <p:cNvSpPr/>
            <p:nvPr/>
          </p:nvSpPr>
          <p:spPr>
            <a:xfrm>
              <a:off x="3476880" y="462240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Rectangle 30"/>
            <p:cNvSpPr/>
            <p:nvPr/>
          </p:nvSpPr>
          <p:spPr>
            <a:xfrm>
              <a:off x="4109760" y="462240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9" name="Rectangle 31"/>
            <p:cNvSpPr/>
            <p:nvPr/>
          </p:nvSpPr>
          <p:spPr>
            <a:xfrm>
              <a:off x="944280" y="148716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Rectangle 32"/>
            <p:cNvSpPr/>
            <p:nvPr/>
          </p:nvSpPr>
          <p:spPr>
            <a:xfrm>
              <a:off x="1577160" y="1487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Rectangle 33"/>
            <p:cNvSpPr/>
            <p:nvPr/>
          </p:nvSpPr>
          <p:spPr>
            <a:xfrm>
              <a:off x="2210400" y="1487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2" name="Rectangle 34"/>
            <p:cNvSpPr/>
            <p:nvPr/>
          </p:nvSpPr>
          <p:spPr>
            <a:xfrm>
              <a:off x="2843640" y="1487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Rectangle 35"/>
            <p:cNvSpPr/>
            <p:nvPr/>
          </p:nvSpPr>
          <p:spPr>
            <a:xfrm>
              <a:off x="3476880" y="1487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Rectangle 36"/>
            <p:cNvSpPr/>
            <p:nvPr/>
          </p:nvSpPr>
          <p:spPr>
            <a:xfrm>
              <a:off x="4109760" y="148716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5" name="Rectangle 37"/>
            <p:cNvSpPr/>
            <p:nvPr/>
          </p:nvSpPr>
          <p:spPr>
            <a:xfrm>
              <a:off x="944280" y="274104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Rectangle 38"/>
            <p:cNvSpPr/>
            <p:nvPr/>
          </p:nvSpPr>
          <p:spPr>
            <a:xfrm>
              <a:off x="1577160" y="274104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Rectangle 39"/>
            <p:cNvSpPr/>
            <p:nvPr/>
          </p:nvSpPr>
          <p:spPr>
            <a:xfrm>
              <a:off x="2210400" y="274104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8" name="Rectangle 40"/>
            <p:cNvSpPr/>
            <p:nvPr/>
          </p:nvSpPr>
          <p:spPr>
            <a:xfrm>
              <a:off x="2843640" y="274104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Rectangle 41"/>
            <p:cNvSpPr/>
            <p:nvPr/>
          </p:nvSpPr>
          <p:spPr>
            <a:xfrm>
              <a:off x="3476880" y="2741040"/>
              <a:ext cx="571680" cy="571680"/>
            </a:xfrm>
            <a:prstGeom prst="rect">
              <a:avLst/>
            </a:prstGeom>
            <a:solidFill>
              <a:srgbClr val="00B0F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Rectangle 42"/>
            <p:cNvSpPr/>
            <p:nvPr/>
          </p:nvSpPr>
          <p:spPr>
            <a:xfrm>
              <a:off x="4109760" y="2741040"/>
              <a:ext cx="571680" cy="571680"/>
            </a:xfrm>
            <a:prstGeom prst="rect">
              <a:avLst/>
            </a:prstGeom>
            <a:solidFill>
              <a:srgbClr val="0070C0"/>
            </a:solidFill>
            <a:ln w="25200">
              <a:solidFill>
                <a:srgbClr val="001D2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1" name="Rectangle 3"/>
          <p:cNvSpPr/>
          <p:nvPr/>
        </p:nvSpPr>
        <p:spPr>
          <a:xfrm>
            <a:off x="5095800" y="1217520"/>
            <a:ext cx="3695760" cy="27223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rmAutofit/>
          </a:bodyPr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Systematic Defects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Process Variation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be characterized (predictable)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Defects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Cell-level Defect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Often unpredictable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9992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2" name="Straight Arrow Connector 52"/>
          <p:cNvCxnSpPr/>
          <p:nvPr/>
        </p:nvCxnSpPr>
        <p:spPr>
          <a:xfrm flipH="1">
            <a:off x="4190040" y="4944600"/>
            <a:ext cx="205560" cy="702360"/>
          </a:xfrm>
          <a:prstGeom prst="straightConnector1">
            <a:avLst/>
          </a:prstGeom>
          <a:ln w="9360">
            <a:solidFill>
              <a:srgbClr val="001D2E"/>
            </a:solidFill>
            <a:miter/>
            <a:tailEnd len="med" type="triangle" w="med"/>
          </a:ln>
        </p:spPr>
      </p:cxnSp>
      <p:sp>
        <p:nvSpPr>
          <p:cNvPr id="163" name="Rectangle 3"/>
          <p:cNvSpPr/>
          <p:nvPr/>
        </p:nvSpPr>
        <p:spPr>
          <a:xfrm>
            <a:off x="2562120" y="5873400"/>
            <a:ext cx="2543040" cy="459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rmAutofit fontScale="55000" lnSpcReduction="19999"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Weak / unhealthy blocks due to process variation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4" name="Straight Arrow Connector 55"/>
          <p:cNvCxnSpPr/>
          <p:nvPr/>
        </p:nvCxnSpPr>
        <p:spPr>
          <a:xfrm flipH="1">
            <a:off x="1019880" y="4953960"/>
            <a:ext cx="159480" cy="545400"/>
          </a:xfrm>
          <a:prstGeom prst="straightConnector1">
            <a:avLst/>
          </a:prstGeom>
          <a:ln w="9360">
            <a:solidFill>
              <a:srgbClr val="001D2E"/>
            </a:solidFill>
            <a:miter/>
            <a:tailEnd len="med" type="triangle" w="med"/>
          </a:ln>
        </p:spPr>
      </p:cxnSp>
      <p:sp>
        <p:nvSpPr>
          <p:cNvPr id="165" name="Rectangle 3"/>
          <p:cNvSpPr/>
          <p:nvPr/>
        </p:nvSpPr>
        <p:spPr>
          <a:xfrm>
            <a:off x="487080" y="5835600"/>
            <a:ext cx="1866960" cy="458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rmAutofit fontScale="55000" lnSpcReduction="19999"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Randomly occurred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Oval 59"/>
          <p:cNvSpPr/>
          <p:nvPr/>
        </p:nvSpPr>
        <p:spPr>
          <a:xfrm>
            <a:off x="1133280" y="4898880"/>
            <a:ext cx="92160" cy="921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Oval 60"/>
          <p:cNvSpPr/>
          <p:nvPr/>
        </p:nvSpPr>
        <p:spPr>
          <a:xfrm>
            <a:off x="1696680" y="4763880"/>
            <a:ext cx="92160" cy="903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Oval 61"/>
          <p:cNvSpPr/>
          <p:nvPr/>
        </p:nvSpPr>
        <p:spPr>
          <a:xfrm>
            <a:off x="1817640" y="3128760"/>
            <a:ext cx="90360" cy="921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Oval 62"/>
          <p:cNvSpPr/>
          <p:nvPr/>
        </p:nvSpPr>
        <p:spPr>
          <a:xfrm>
            <a:off x="2997000" y="4230360"/>
            <a:ext cx="92160" cy="921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Oval 26623"/>
          <p:cNvSpPr/>
          <p:nvPr/>
        </p:nvSpPr>
        <p:spPr>
          <a:xfrm>
            <a:off x="3128760" y="2990520"/>
            <a:ext cx="92160" cy="921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Oval 26624"/>
          <p:cNvSpPr/>
          <p:nvPr/>
        </p:nvSpPr>
        <p:spPr>
          <a:xfrm>
            <a:off x="4400280" y="3719160"/>
            <a:ext cx="92160" cy="9072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Oval 26629"/>
          <p:cNvSpPr/>
          <p:nvPr/>
        </p:nvSpPr>
        <p:spPr>
          <a:xfrm>
            <a:off x="3211200" y="4421160"/>
            <a:ext cx="92160" cy="9180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Oval 26630"/>
          <p:cNvSpPr/>
          <p:nvPr/>
        </p:nvSpPr>
        <p:spPr>
          <a:xfrm>
            <a:off x="3246120" y="4086000"/>
            <a:ext cx="92160" cy="903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Oval 26631"/>
          <p:cNvSpPr/>
          <p:nvPr/>
        </p:nvSpPr>
        <p:spPr>
          <a:xfrm>
            <a:off x="2601720" y="2492280"/>
            <a:ext cx="92160" cy="92160"/>
          </a:xfrm>
          <a:prstGeom prst="ellipse">
            <a:avLst/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DRAM Reliability a Big Problem in the AI era?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75560" y="2292120"/>
            <a:ext cx="4294440" cy="3735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Fault Tolerance in AI Models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Intrinsic Tolerance to Numerical Approximation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a Small Fraction of Bits Are Highly Critical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Quantization Can Further Improve Error Resilience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Commodity DRAM Already Has a Very Low Error Rate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10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-6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Picture 4"/>
          <p:cNvPicPr/>
          <p:nvPr/>
        </p:nvPicPr>
        <p:blipFill>
          <a:blip r:embed="rId1"/>
          <a:stretch/>
        </p:blipFill>
        <p:spPr>
          <a:xfrm>
            <a:off x="5105160" y="1904760"/>
            <a:ext cx="3640320" cy="37353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78" name="TextBox 6"/>
          <p:cNvSpPr/>
          <p:nvPr/>
        </p:nvSpPr>
        <p:spPr>
          <a:xfrm>
            <a:off x="5491080" y="5735520"/>
            <a:ext cx="3254400" cy="58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Skanda Koppula, et al, EDEN, MICRO 2019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FF75FD37-6715-4B37-A53D-46D07DA4B29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0"/>
          <p:cNvPicPr/>
          <p:nvPr/>
        </p:nvPicPr>
        <p:blipFill>
          <a:blip r:embed="rId1"/>
          <a:srcRect l="0" t="20043" r="19870" b="29261"/>
          <a:stretch/>
        </p:blipFill>
        <p:spPr>
          <a:xfrm>
            <a:off x="711000" y="1752480"/>
            <a:ext cx="7327800" cy="26096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Covered by More Effective System-Level Approaches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75920" y="4419000"/>
            <a:ext cx="8196480" cy="2048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8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System-level reliability mechanisms may already provide sufficient protection against DRAM errors.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Checkpoint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Statistical protection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 errors at runtime using abnormal activation distributions.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Algorithm-based Fault Tolerance (ABFT)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0D7BBAC-0AAE-4A0F-BD6A-E8BE001968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62B132F1-4B28-448F-A437-A9CB5C8333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 Size Distribution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Picture 9" descr="ponte4"/>
          <p:cNvPicPr/>
          <p:nvPr/>
        </p:nvPicPr>
        <p:blipFill>
          <a:blip r:embed="rId1"/>
          <a:stretch/>
        </p:blipFill>
        <p:spPr>
          <a:xfrm>
            <a:off x="304560" y="1143000"/>
            <a:ext cx="6705720" cy="48574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88" name="Rectangle 4"/>
          <p:cNvSpPr/>
          <p:nvPr/>
        </p:nvSpPr>
        <p:spPr>
          <a:xfrm>
            <a:off x="533160" y="1143000"/>
            <a:ext cx="5943600" cy="106668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random defect size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distribution, assuming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 defects per cm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1981080" y="5105160"/>
            <a:ext cx="4267080" cy="9144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 Box 6"/>
          <p:cNvSpPr/>
          <p:nvPr/>
        </p:nvSpPr>
        <p:spPr>
          <a:xfrm>
            <a:off x="304560" y="5638680"/>
            <a:ext cx="84582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From: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http://www.design-reuse.com/articles/10164/model-based-approach-allows-design-for-yield.html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Text Box 13"/>
          <p:cNvSpPr/>
          <p:nvPr/>
        </p:nvSpPr>
        <p:spPr>
          <a:xfrm>
            <a:off x="3201840" y="5105160"/>
            <a:ext cx="1933560" cy="368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Defect size (nm)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92" name="Group 25"/>
          <p:cNvGrpSpPr/>
          <p:nvPr/>
        </p:nvGrpSpPr>
        <p:grpSpPr>
          <a:xfrm>
            <a:off x="4724280" y="1371600"/>
            <a:ext cx="4038480" cy="2573280"/>
            <a:chOff x="4724280" y="1371600"/>
            <a:chExt cx="4038480" cy="2573280"/>
          </a:xfrm>
        </p:grpSpPr>
        <p:grpSp>
          <p:nvGrpSpPr>
            <p:cNvPr id="193" name="Group 24"/>
            <p:cNvGrpSpPr/>
            <p:nvPr/>
          </p:nvGrpSpPr>
          <p:grpSpPr>
            <a:xfrm>
              <a:off x="4724280" y="1371600"/>
              <a:ext cx="4038480" cy="917640"/>
              <a:chOff x="4724280" y="1371600"/>
              <a:chExt cx="4038480" cy="917640"/>
            </a:xfrm>
          </p:grpSpPr>
          <p:sp>
            <p:nvSpPr>
              <p:cNvPr id="194" name="Text Box 15"/>
              <p:cNvSpPr/>
              <p:nvPr/>
            </p:nvSpPr>
            <p:spPr>
              <a:xfrm>
                <a:off x="4724280" y="1600200"/>
                <a:ext cx="83808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f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(</a:t>
                </a: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) =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5" name="Text Box 17"/>
              <p:cNvSpPr/>
              <p:nvPr/>
            </p:nvSpPr>
            <p:spPr>
              <a:xfrm>
                <a:off x="5715000" y="1371600"/>
                <a:ext cx="3047760" cy="9176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kx</a:t>
                </a:r>
                <a:r>
                  <a:rPr lang="en-US" sz="2000" b="0" u="none" strike="noStrike" baseline="30000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–</a:t>
                </a:r>
                <a:r>
                  <a:rPr lang="en-US" sz="2000" b="0" i="1" u="none" strike="noStrike" baseline="30000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	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for </a:t>
                </a: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min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&lt; </a:t>
                </a: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&lt; </a:t>
                </a: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max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0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	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otherwise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6" name="AutoShape 18"/>
              <p:cNvSpPr/>
              <p:nvPr/>
            </p:nvSpPr>
            <p:spPr>
              <a:xfrm>
                <a:off x="5562360" y="1447560"/>
                <a:ext cx="152640" cy="685800"/>
              </a:xfrm>
              <a:custGeom>
                <a:avLst/>
                <a:gdLst>
                  <a:gd name="textAreaLeft" fmla="*/ 97560 w 152640"/>
                  <a:gd name="textAreaRight" fmla="*/ 153000 w 152640"/>
                  <a:gd name="textAreaTop" fmla="*/ 17640 h 685800"/>
                  <a:gd name="textAreaBottom" fmla="*/ 668160 h 685800"/>
                  <a:gd name="GluePoint1X" fmla="*/ 21600 w 21600"/>
                  <a:gd name="GluePoint1Y" fmla="*/ 0 h 21600"/>
                  <a:gd name="GluePoint2X" fmla="*/ 0 w 21600"/>
                  <a:gd name="GluePoint2Y" fmla="*/ 10800 h 21600"/>
                  <a:gd name="GluePoint3X" fmla="*/ 21600 w 21600"/>
                  <a:gd name="GluePoint3Y" fmla="*/ 2160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21600" y="0"/>
                    </a:moveTo>
                    <a:cubicBezTo>
                      <a:pt x="16200" y="0"/>
                      <a:pt x="10800" y="900"/>
                      <a:pt x="10800" y="1800"/>
                    </a:cubicBezTo>
                    <a:lnTo>
                      <a:pt x="10800" y="9000"/>
                    </a:lnTo>
                    <a:cubicBezTo>
                      <a:pt x="10800" y="9900"/>
                      <a:pt x="5400" y="10800"/>
                      <a:pt x="0" y="10800"/>
                    </a:cubicBezTo>
                    <a:cubicBezTo>
                      <a:pt x="5400" y="10800"/>
                      <a:pt x="10800" y="11700"/>
                      <a:pt x="10800" y="12600"/>
                    </a:cubicBezTo>
                    <a:lnTo>
                      <a:pt x="10800" y="19800"/>
                    </a:lnTo>
                    <a:cubicBezTo>
                      <a:pt x="10800" y="20700"/>
                      <a:pt x="16200" y="21600"/>
                      <a:pt x="21600" y="21600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97" name="Group 23"/>
            <p:cNvGrpSpPr/>
            <p:nvPr/>
          </p:nvGrpSpPr>
          <p:grpSpPr>
            <a:xfrm>
              <a:off x="5486400" y="2576160"/>
              <a:ext cx="3200760" cy="1368720"/>
              <a:chOff x="5486400" y="2576160"/>
              <a:chExt cx="3200760" cy="1368720"/>
            </a:xfrm>
          </p:grpSpPr>
          <p:sp>
            <p:nvSpPr>
              <p:cNvPr id="198" name="Text Box 14"/>
              <p:cNvSpPr/>
              <p:nvPr/>
            </p:nvSpPr>
            <p:spPr>
              <a:xfrm>
                <a:off x="5712480" y="2576160"/>
                <a:ext cx="2394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= Defect diameter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9" name="Text Box 16"/>
              <p:cNvSpPr/>
              <p:nvPr/>
            </p:nvSpPr>
            <p:spPr>
              <a:xfrm>
                <a:off x="5486400" y="2906640"/>
                <a:ext cx="25905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f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(</a:t>
                </a: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x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) = Defect density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0" name="Text Box 21"/>
              <p:cNvSpPr/>
              <p:nvPr/>
            </p:nvSpPr>
            <p:spPr>
              <a:xfrm>
                <a:off x="5712840" y="3235320"/>
                <a:ext cx="297432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k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= Normalizing constant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1" name="Text Box 22"/>
              <p:cNvSpPr/>
              <p:nvPr/>
            </p:nvSpPr>
            <p:spPr>
              <a:xfrm>
                <a:off x="5712120" y="3546360"/>
                <a:ext cx="288252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</a:t>
                </a: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is typically in [2.0, 3.5]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lide Number Placeholder 8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710912E-709D-42E3-AA1E-EE381BB364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1.4  The Bathtub Curve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 Box 5"/>
          <p:cNvSpPr/>
          <p:nvPr/>
        </p:nvSpPr>
        <p:spPr>
          <a:xfrm>
            <a:off x="457200" y="990360"/>
            <a:ext cx="815328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Many components fail early on because of residual or latent defects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Components may also wear out due to aging (less so for electronics)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between the two high-mortality regions lies the useful life period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Line 6"/>
          <p:cNvSpPr/>
          <p:nvPr/>
        </p:nvSpPr>
        <p:spPr>
          <a:xfrm flipV="1">
            <a:off x="1218960" y="2742840"/>
            <a:ext cx="0" cy="2971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Line 7"/>
          <p:cNvSpPr/>
          <p:nvPr/>
        </p:nvSpPr>
        <p:spPr>
          <a:xfrm>
            <a:off x="1218960" y="5715000"/>
            <a:ext cx="71629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 8"/>
          <p:cNvSpPr/>
          <p:nvPr/>
        </p:nvSpPr>
        <p:spPr>
          <a:xfrm>
            <a:off x="1346040" y="2743200"/>
            <a:ext cx="6794640" cy="2709720"/>
          </a:xfrm>
          <a:custGeom>
            <a:avLst/>
            <a:gdLst>
              <a:gd name="GluePoint1X" fmla="*/ 0 w 4280"/>
              <a:gd name="GluePoint1Y" fmla="*/ 0 h 1707"/>
              <a:gd name="GluePoint2X" fmla="*/ 2147483646 w 4280"/>
              <a:gd name="GluePoint2Y" fmla="*/ 2147483646 h 1707"/>
              <a:gd name="GluePoint3X" fmla="*/ 2147483646 w 4280"/>
              <a:gd name="GluePoint3Y" fmla="*/ 2147483646 h 1707"/>
              <a:gd name="GluePoint4X" fmla="*/ 2147483646 w 4280"/>
              <a:gd name="GluePoint4Y" fmla="*/ 2147483646 h 1707"/>
              <a:gd name="GluePoint5X" fmla="*/ 2147483646 w 4280"/>
              <a:gd name="GluePoint5Y" fmla="*/ 2147483646 h 1707"/>
              <a:gd name="GluePoint6X" fmla="*/ 2147483646 w 4280"/>
              <a:gd name="GluePoint6Y" fmla="*/ 2147483646 h 1707"/>
              <a:gd name="GluePoint7X" fmla="*/ 2147483646 w 4280"/>
              <a:gd name="GluePoint7Y" fmla="*/ 2147483646 h 170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4280" h="1707">
                <a:moveTo>
                  <a:pt x="0" y="0"/>
                </a:moveTo>
                <a:cubicBezTo>
                  <a:pt x="20" y="112"/>
                  <a:pt x="52" y="457"/>
                  <a:pt x="120" y="672"/>
                </a:cubicBezTo>
                <a:cubicBezTo>
                  <a:pt x="188" y="887"/>
                  <a:pt x="248" y="1129"/>
                  <a:pt x="408" y="1288"/>
                </a:cubicBezTo>
                <a:cubicBezTo>
                  <a:pt x="568" y="1447"/>
                  <a:pt x="641" y="1567"/>
                  <a:pt x="1080" y="1624"/>
                </a:cubicBezTo>
                <a:cubicBezTo>
                  <a:pt x="1519" y="1681"/>
                  <a:pt x="2583" y="1707"/>
                  <a:pt x="3040" y="1632"/>
                </a:cubicBezTo>
                <a:cubicBezTo>
                  <a:pt x="3497" y="1557"/>
                  <a:pt x="3617" y="1373"/>
                  <a:pt x="3824" y="1176"/>
                </a:cubicBezTo>
                <a:cubicBezTo>
                  <a:pt x="4031" y="979"/>
                  <a:pt x="4185" y="600"/>
                  <a:pt x="4280" y="448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 Box 9"/>
          <p:cNvSpPr/>
          <p:nvPr/>
        </p:nvSpPr>
        <p:spPr>
          <a:xfrm>
            <a:off x="8076960" y="5333760"/>
            <a:ext cx="762120" cy="368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Text Box 10"/>
          <p:cNvSpPr/>
          <p:nvPr/>
        </p:nvSpPr>
        <p:spPr>
          <a:xfrm>
            <a:off x="304560" y="2743200"/>
            <a:ext cx="91440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Failure rate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Line 11"/>
          <p:cNvSpPr/>
          <p:nvPr/>
        </p:nvSpPr>
        <p:spPr>
          <a:xfrm>
            <a:off x="2743200" y="2895480"/>
            <a:ext cx="0" cy="2895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Line 12"/>
          <p:cNvSpPr/>
          <p:nvPr/>
        </p:nvSpPr>
        <p:spPr>
          <a:xfrm>
            <a:off x="6324480" y="2895480"/>
            <a:ext cx="0" cy="2895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13"/>
          <p:cNvSpPr/>
          <p:nvPr/>
        </p:nvSpPr>
        <p:spPr>
          <a:xfrm>
            <a:off x="1600200" y="2971800"/>
            <a:ext cx="106668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Infant mortality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Text Box 14"/>
          <p:cNvSpPr/>
          <p:nvPr/>
        </p:nvSpPr>
        <p:spPr>
          <a:xfrm>
            <a:off x="6476760" y="2971800"/>
            <a:ext cx="144792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End-of-life wearout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 Box 15"/>
          <p:cNvSpPr/>
          <p:nvPr/>
        </p:nvSpPr>
        <p:spPr>
          <a:xfrm>
            <a:off x="2971800" y="2971800"/>
            <a:ext cx="304776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Useful life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(low, constant failure rate)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7" name="Group 16"/>
          <p:cNvGrpSpPr/>
          <p:nvPr/>
        </p:nvGrpSpPr>
        <p:grpSpPr>
          <a:xfrm>
            <a:off x="6273720" y="4114800"/>
            <a:ext cx="2565360" cy="1206360"/>
            <a:chOff x="6273720" y="4114800"/>
            <a:chExt cx="2565360" cy="1206360"/>
          </a:xfrm>
        </p:grpSpPr>
        <p:sp>
          <p:nvSpPr>
            <p:cNvPr id="218" name="Freeform 17"/>
            <p:cNvSpPr/>
            <p:nvPr/>
          </p:nvSpPr>
          <p:spPr>
            <a:xfrm>
              <a:off x="6273720" y="4991040"/>
              <a:ext cx="1904760" cy="330120"/>
            </a:xfrm>
            <a:custGeom>
              <a:avLst/>
              <a:gdLst>
                <a:gd name="GluePoint1X" fmla="*/ 0 w 1200"/>
                <a:gd name="GluePoint1Y" fmla="*/ 208 h 208"/>
                <a:gd name="GluePoint2X" fmla="*/ 472 w 1200"/>
                <a:gd name="GluePoint2Y" fmla="*/ 144 h 208"/>
                <a:gd name="GluePoint3X" fmla="*/ 848 w 1200"/>
                <a:gd name="GluePoint3Y" fmla="*/ 80 h 208"/>
                <a:gd name="GluePoint4X" fmla="*/ 1200 w 1200"/>
                <a:gd name="GluePoint4Y" fmla="*/ 0 h 2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1200" h="208">
                  <a:moveTo>
                    <a:pt x="0" y="208"/>
                  </a:moveTo>
                  <a:cubicBezTo>
                    <a:pt x="79" y="197"/>
                    <a:pt x="331" y="165"/>
                    <a:pt x="472" y="144"/>
                  </a:cubicBezTo>
                  <a:cubicBezTo>
                    <a:pt x="613" y="123"/>
                    <a:pt x="727" y="104"/>
                    <a:pt x="848" y="80"/>
                  </a:cubicBezTo>
                  <a:cubicBezTo>
                    <a:pt x="969" y="56"/>
                    <a:pt x="1127" y="17"/>
                    <a:pt x="1200" y="0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9" name="Text Box 18"/>
            <p:cNvSpPr/>
            <p:nvPr/>
          </p:nvSpPr>
          <p:spPr>
            <a:xfrm>
              <a:off x="7696080" y="4114800"/>
              <a:ext cx="1143000" cy="307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Mechanical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Text Box 19"/>
            <p:cNvSpPr/>
            <p:nvPr/>
          </p:nvSpPr>
          <p:spPr>
            <a:xfrm>
              <a:off x="7696080" y="4647960"/>
              <a:ext cx="1143000" cy="307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Electronic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1" name="AutoShape 20"/>
          <p:cNvSpPr/>
          <p:nvPr/>
        </p:nvSpPr>
        <p:spPr>
          <a:xfrm>
            <a:off x="2476440" y="2349360"/>
            <a:ext cx="3200400" cy="304920"/>
          </a:xfrm>
          <a:prstGeom prst="borderCallout1">
            <a:avLst>
              <a:gd name="adj1" fmla="val 18750"/>
              <a:gd name="adj2" fmla="val -8333"/>
              <a:gd name="adj3" fmla="val 212500"/>
              <a:gd name="adj4" fmla="val -12944"/>
            </a:avLst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 fontScale="77500" lnSpcReduction="19999"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Primarily due to latent defects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2" name="Group 21"/>
          <p:cNvGrpSpPr/>
          <p:nvPr/>
        </p:nvGrpSpPr>
        <p:grpSpPr>
          <a:xfrm>
            <a:off x="533160" y="5029200"/>
            <a:ext cx="5867640" cy="398520"/>
            <a:chOff x="533160" y="5029200"/>
            <a:chExt cx="5867640" cy="398520"/>
          </a:xfrm>
        </p:grpSpPr>
        <p:sp>
          <p:nvSpPr>
            <p:cNvPr id="223" name="Line 22"/>
            <p:cNvSpPr/>
            <p:nvPr/>
          </p:nvSpPr>
          <p:spPr>
            <a:xfrm>
              <a:off x="1143000" y="5257800"/>
              <a:ext cx="5257800" cy="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4" name="Text Box 23"/>
            <p:cNvSpPr/>
            <p:nvPr/>
          </p:nvSpPr>
          <p:spPr>
            <a:xfrm>
              <a:off x="533160" y="5029200"/>
              <a:ext cx="91440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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A88C5A6-8BFE-4D97-B704-923A478348A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6" name="Picture 2" descr="Figure 5: Comparison of Failures from Raw and Burned-in Parts"/>
          <p:cNvPicPr/>
          <p:nvPr/>
        </p:nvPicPr>
        <p:blipFill>
          <a:blip r:embed="rId1"/>
          <a:srcRect l="0" t="7182" r="0" b="0"/>
          <a:stretch/>
        </p:blipFill>
        <p:spPr>
          <a:xfrm>
            <a:off x="1828800" y="1066680"/>
            <a:ext cx="7010280" cy="46749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27" name="Rectangle 3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28600" y="228240"/>
            <a:ext cx="86868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1.5  Burn-in and Stress Testing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5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 Box 6"/>
          <p:cNvSpPr/>
          <p:nvPr/>
        </p:nvSpPr>
        <p:spPr>
          <a:xfrm>
            <a:off x="2743200" y="5715000"/>
            <a:ext cx="601956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From: </a:t>
            </a:r>
            <a:r>
              <a:rPr lang="en-US" sz="1600" b="0" u="sng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  <a:hlinkClick r:id="rId2"/>
              </a:rPr>
              <a:t>http://www.weibull.com/hotwire/issue21/hottopics21.htm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Text Box 7"/>
          <p:cNvSpPr/>
          <p:nvPr/>
        </p:nvSpPr>
        <p:spPr>
          <a:xfrm>
            <a:off x="4724280" y="5486400"/>
            <a:ext cx="2057400" cy="33768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 in years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Text Box 8"/>
          <p:cNvSpPr/>
          <p:nvPr/>
        </p:nvSpPr>
        <p:spPr>
          <a:xfrm rot="16200000">
            <a:off x="282600" y="3069000"/>
            <a:ext cx="3581640" cy="33768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Percent of parts still working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 Box 9"/>
          <p:cNvSpPr/>
          <p:nvPr/>
        </p:nvSpPr>
        <p:spPr>
          <a:xfrm>
            <a:off x="304560" y="1066680"/>
            <a:ext cx="1524240" cy="14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Burn-in and stress tests are done in accelerated 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 Box 10"/>
          <p:cNvSpPr/>
          <p:nvPr/>
        </p:nvSpPr>
        <p:spPr>
          <a:xfrm>
            <a:off x="304560" y="2743200"/>
            <a:ext cx="1524240" cy="2014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Difficult to perform on complex and delicate ICs without damaging good parts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11"/>
          <p:cNvSpPr/>
          <p:nvPr/>
        </p:nvSpPr>
        <p:spPr>
          <a:xfrm>
            <a:off x="304560" y="4952880"/>
            <a:ext cx="1524240" cy="9169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Expensive “ovens” are required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9D5F2EA-B857-46DA-8FED-BC44092CA3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80520" y="151920"/>
            <a:ext cx="838188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Burn-in Oven Example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Box 4"/>
          <p:cNvSpPr/>
          <p:nvPr/>
        </p:nvSpPr>
        <p:spPr>
          <a:xfrm>
            <a:off x="1218960" y="5790960"/>
            <a:ext cx="66294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From: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http://www.goldenaltos.com/environmental_options.html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Picture 5" descr="Operator at Burn-in Oven"/>
          <p:cNvPicPr/>
          <p:nvPr/>
        </p:nvPicPr>
        <p:blipFill>
          <a:blip r:embed="rId1"/>
          <a:stretch/>
        </p:blipFill>
        <p:spPr>
          <a:xfrm>
            <a:off x="1218960" y="838080"/>
            <a:ext cx="6629400" cy="4976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Old chips are not necessarily unreliable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17040" y="2568240"/>
            <a:ext cx="3508200" cy="125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2720" indent="-3427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Slow, old chips are often cheaper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Employ slow, old chips as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write-only ECC chip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8"/>
          <p:cNvSpPr/>
          <p:nvPr/>
        </p:nvSpPr>
        <p:spPr>
          <a:xfrm>
            <a:off x="7296120" y="4098600"/>
            <a:ext cx="279360" cy="586080"/>
          </a:xfrm>
          <a:prstGeom prst="rect">
            <a:avLst/>
          </a:prstGeom>
          <a:solidFill>
            <a:srgbClr val="E6E6E6"/>
          </a:solidFill>
          <a:ln w="28440">
            <a:solidFill>
              <a:srgbClr val="C55A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ontent Placeholder 2"/>
          <p:cNvSpPr/>
          <p:nvPr/>
        </p:nvSpPr>
        <p:spPr>
          <a:xfrm>
            <a:off x="4878360" y="2328840"/>
            <a:ext cx="1280880" cy="309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Data Chips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ontent Placeholder 2"/>
          <p:cNvSpPr/>
          <p:nvPr/>
        </p:nvSpPr>
        <p:spPr>
          <a:xfrm>
            <a:off x="6649920" y="2328840"/>
            <a:ext cx="1166760" cy="309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ECC Chips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Rectangle 1509"/>
          <p:cNvSpPr/>
          <p:nvPr/>
        </p:nvSpPr>
        <p:spPr>
          <a:xfrm>
            <a:off x="6835680" y="2707920"/>
            <a:ext cx="361800" cy="587520"/>
          </a:xfrm>
          <a:prstGeom prst="rect">
            <a:avLst/>
          </a:prstGeom>
          <a:solidFill>
            <a:srgbClr val="41578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ontent Placeholder 2"/>
          <p:cNvSpPr/>
          <p:nvPr/>
        </p:nvSpPr>
        <p:spPr>
          <a:xfrm>
            <a:off x="5983200" y="2773080"/>
            <a:ext cx="672840" cy="422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400" tIns="34200" rIns="68400" bIns="342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Rectangle 1511"/>
          <p:cNvSpPr/>
          <p:nvPr/>
        </p:nvSpPr>
        <p:spPr>
          <a:xfrm>
            <a:off x="5568840" y="27079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Rectangle 1512"/>
          <p:cNvSpPr/>
          <p:nvPr/>
        </p:nvSpPr>
        <p:spPr>
          <a:xfrm>
            <a:off x="4632120" y="27079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Rectangle 1513"/>
          <p:cNvSpPr/>
          <p:nvPr/>
        </p:nvSpPr>
        <p:spPr>
          <a:xfrm>
            <a:off x="5100480" y="27079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Rectangle 1514"/>
          <p:cNvSpPr/>
          <p:nvPr/>
        </p:nvSpPr>
        <p:spPr>
          <a:xfrm>
            <a:off x="6375240" y="2707920"/>
            <a:ext cx="3636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Rectangle 1211"/>
          <p:cNvSpPr/>
          <p:nvPr/>
        </p:nvSpPr>
        <p:spPr>
          <a:xfrm>
            <a:off x="7296120" y="2707920"/>
            <a:ext cx="361800" cy="586080"/>
          </a:xfrm>
          <a:prstGeom prst="rect">
            <a:avLst/>
          </a:prstGeom>
          <a:solidFill>
            <a:srgbClr val="E6E6E6"/>
          </a:solidFill>
          <a:ln w="28440">
            <a:solidFill>
              <a:srgbClr val="262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Box 1636"/>
          <p:cNvSpPr/>
          <p:nvPr/>
        </p:nvSpPr>
        <p:spPr>
          <a:xfrm>
            <a:off x="7115040" y="3649320"/>
            <a:ext cx="97452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3200MT/s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× 4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Box 1637"/>
          <p:cNvSpPr/>
          <p:nvPr/>
        </p:nvSpPr>
        <p:spPr>
          <a:xfrm>
            <a:off x="5522760" y="3649320"/>
            <a:ext cx="129708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6400MT/s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× 4 (× 9 chips)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Left Brace 1639"/>
          <p:cNvSpPr/>
          <p:nvPr/>
        </p:nvSpPr>
        <p:spPr>
          <a:xfrm rot="16200000">
            <a:off x="7405560" y="3384360"/>
            <a:ext cx="187200" cy="396720"/>
          </a:xfrm>
          <a:custGeom>
            <a:avLst/>
            <a:gdLst>
              <a:gd name="textAreaLeft" fmla="*/ 119520 w 187200"/>
              <a:gd name="textAreaRight" fmla="*/ 187560 w 187200"/>
              <a:gd name="textAreaTop" fmla="*/ 19440 h 396720"/>
              <a:gd name="textAreaBottom" fmla="*/ 377280 h 396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1691"/>
                  <a:pt x="10800" y="3381"/>
                </a:cubicBezTo>
                <a:lnTo>
                  <a:pt x="10800" y="7419"/>
                </a:lnTo>
                <a:cubicBezTo>
                  <a:pt x="10800" y="9110"/>
                  <a:pt x="5400" y="10800"/>
                  <a:pt x="0" y="10800"/>
                </a:cubicBezTo>
                <a:cubicBezTo>
                  <a:pt x="5400" y="10800"/>
                  <a:pt x="10800" y="12491"/>
                  <a:pt x="10800" y="14181"/>
                </a:cubicBezTo>
                <a:lnTo>
                  <a:pt x="10800" y="18219"/>
                </a:lnTo>
                <a:cubicBezTo>
                  <a:pt x="10800" y="19910"/>
                  <a:pt x="16200" y="21600"/>
                  <a:pt x="21600" y="21600"/>
                </a:cubicBezTo>
              </a:path>
            </a:pathLst>
          </a:custGeom>
          <a:noFill/>
          <a:ln w="6120">
            <a:solidFill>
              <a:srgbClr val="E3E1E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Left Brace 1641"/>
          <p:cNvSpPr/>
          <p:nvPr/>
        </p:nvSpPr>
        <p:spPr>
          <a:xfrm rot="16200000">
            <a:off x="5827320" y="2287080"/>
            <a:ext cx="187200" cy="2590920"/>
          </a:xfrm>
          <a:custGeom>
            <a:avLst/>
            <a:gdLst>
              <a:gd name="textAreaLeft" fmla="*/ 119520 w 187200"/>
              <a:gd name="textAreaRight" fmla="*/ 187560 w 187200"/>
              <a:gd name="textAreaTop" fmla="*/ 19440 h 2590920"/>
              <a:gd name="textAreaBottom" fmla="*/ 2571480 h 25909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260"/>
                  <a:pt x="10800" y="519"/>
                </a:cubicBezTo>
                <a:lnTo>
                  <a:pt x="10800" y="10281"/>
                </a:lnTo>
                <a:cubicBezTo>
                  <a:pt x="10800" y="10541"/>
                  <a:pt x="5400" y="10800"/>
                  <a:pt x="0" y="10800"/>
                </a:cubicBezTo>
                <a:cubicBezTo>
                  <a:pt x="5400" y="10800"/>
                  <a:pt x="10800" y="11060"/>
                  <a:pt x="10800" y="11319"/>
                </a:cubicBezTo>
                <a:lnTo>
                  <a:pt x="10800" y="21081"/>
                </a:lnTo>
                <a:cubicBezTo>
                  <a:pt x="10800" y="21341"/>
                  <a:pt x="16200" y="21600"/>
                  <a:pt x="21600" y="21600"/>
                </a:cubicBezTo>
              </a:path>
            </a:pathLst>
          </a:custGeom>
          <a:noFill/>
          <a:ln w="6120">
            <a:solidFill>
              <a:srgbClr val="E3E1E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57" name="Straight Arrow Connector 1642"/>
          <p:cNvCxnSpPr/>
          <p:nvPr/>
        </p:nvCxnSpPr>
        <p:spPr>
          <a:xfrm>
            <a:off x="483516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58" name="Straight Arrow Connector 1643"/>
          <p:cNvCxnSpPr/>
          <p:nvPr/>
        </p:nvCxnSpPr>
        <p:spPr>
          <a:xfrm>
            <a:off x="470484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59" name="Straight Arrow Connector 1644"/>
          <p:cNvCxnSpPr/>
          <p:nvPr/>
        </p:nvCxnSpPr>
        <p:spPr>
          <a:xfrm>
            <a:off x="483516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0" name="Straight Arrow Connector 1645"/>
          <p:cNvCxnSpPr/>
          <p:nvPr/>
        </p:nvCxnSpPr>
        <p:spPr>
          <a:xfrm>
            <a:off x="470484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1" name="Straight Arrow Connector 1646"/>
          <p:cNvCxnSpPr/>
          <p:nvPr/>
        </p:nvCxnSpPr>
        <p:spPr>
          <a:xfrm>
            <a:off x="530028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62" name="Straight Arrow Connector 1647"/>
          <p:cNvCxnSpPr/>
          <p:nvPr/>
        </p:nvCxnSpPr>
        <p:spPr>
          <a:xfrm>
            <a:off x="517140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63" name="Straight Arrow Connector 1648"/>
          <p:cNvCxnSpPr/>
          <p:nvPr/>
        </p:nvCxnSpPr>
        <p:spPr>
          <a:xfrm>
            <a:off x="530028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4" name="Straight Arrow Connector 1649"/>
          <p:cNvCxnSpPr/>
          <p:nvPr/>
        </p:nvCxnSpPr>
        <p:spPr>
          <a:xfrm>
            <a:off x="517140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5" name="Straight Arrow Connector 1650"/>
          <p:cNvCxnSpPr/>
          <p:nvPr/>
        </p:nvCxnSpPr>
        <p:spPr>
          <a:xfrm>
            <a:off x="576540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66" name="Straight Arrow Connector 1651"/>
          <p:cNvCxnSpPr/>
          <p:nvPr/>
        </p:nvCxnSpPr>
        <p:spPr>
          <a:xfrm>
            <a:off x="563652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67" name="Straight Arrow Connector 1652"/>
          <p:cNvCxnSpPr/>
          <p:nvPr/>
        </p:nvCxnSpPr>
        <p:spPr>
          <a:xfrm>
            <a:off x="576540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8" name="Straight Arrow Connector 1653"/>
          <p:cNvCxnSpPr/>
          <p:nvPr/>
        </p:nvCxnSpPr>
        <p:spPr>
          <a:xfrm>
            <a:off x="5636520" y="3340080"/>
            <a:ext cx="1080" cy="1879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69" name="Straight Arrow Connector 1666"/>
          <p:cNvCxnSpPr/>
          <p:nvPr/>
        </p:nvCxnSpPr>
        <p:spPr>
          <a:xfrm>
            <a:off x="488088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70" name="Straight Arrow Connector 1667"/>
          <p:cNvCxnSpPr/>
          <p:nvPr/>
        </p:nvCxnSpPr>
        <p:spPr>
          <a:xfrm>
            <a:off x="475236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71" name="Straight Arrow Connector 1668"/>
          <p:cNvCxnSpPr/>
          <p:nvPr/>
        </p:nvCxnSpPr>
        <p:spPr>
          <a:xfrm>
            <a:off x="534600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72" name="Straight Arrow Connector 1669"/>
          <p:cNvCxnSpPr/>
          <p:nvPr/>
        </p:nvCxnSpPr>
        <p:spPr>
          <a:xfrm>
            <a:off x="521748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73" name="Straight Arrow Connector 1670"/>
          <p:cNvCxnSpPr/>
          <p:nvPr/>
        </p:nvCxnSpPr>
        <p:spPr>
          <a:xfrm>
            <a:off x="581292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74" name="Straight Arrow Connector 1671"/>
          <p:cNvCxnSpPr/>
          <p:nvPr/>
        </p:nvCxnSpPr>
        <p:spPr>
          <a:xfrm>
            <a:off x="5684400" y="3381120"/>
            <a:ext cx="1080" cy="18648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grpSp>
        <p:nvGrpSpPr>
          <p:cNvPr id="275" name="Group 1680"/>
          <p:cNvGrpSpPr/>
          <p:nvPr/>
        </p:nvGrpSpPr>
        <p:grpSpPr>
          <a:xfrm>
            <a:off x="6446160" y="3300120"/>
            <a:ext cx="177120" cy="266760"/>
            <a:chOff x="6446160" y="3300120"/>
            <a:chExt cx="177120" cy="266760"/>
          </a:xfrm>
        </p:grpSpPr>
        <p:cxnSp>
          <p:nvCxnSpPr>
            <p:cNvPr id="276" name="Straight Arrow Connector 1658"/>
            <p:cNvCxnSpPr/>
            <p:nvPr/>
          </p:nvCxnSpPr>
          <p:spPr>
            <a:xfrm>
              <a:off x="6575760" y="33001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277" name="Straight Arrow Connector 1659"/>
            <p:cNvCxnSpPr/>
            <p:nvPr/>
          </p:nvCxnSpPr>
          <p:spPr>
            <a:xfrm>
              <a:off x="6446160" y="33001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278" name="Straight Arrow Connector 1660"/>
            <p:cNvCxnSpPr/>
            <p:nvPr/>
          </p:nvCxnSpPr>
          <p:spPr>
            <a:xfrm>
              <a:off x="6575760" y="3340440"/>
              <a:ext cx="1080" cy="18684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79" name="Straight Arrow Connector 1661"/>
            <p:cNvCxnSpPr/>
            <p:nvPr/>
          </p:nvCxnSpPr>
          <p:spPr>
            <a:xfrm>
              <a:off x="6446160" y="3340440"/>
              <a:ext cx="1080" cy="18684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80" name="Straight Arrow Connector 1674"/>
            <p:cNvCxnSpPr/>
            <p:nvPr/>
          </p:nvCxnSpPr>
          <p:spPr>
            <a:xfrm>
              <a:off x="6622560" y="3380400"/>
              <a:ext cx="1080" cy="18684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81" name="Straight Arrow Connector 1675"/>
            <p:cNvCxnSpPr/>
            <p:nvPr/>
          </p:nvCxnSpPr>
          <p:spPr>
            <a:xfrm>
              <a:off x="6492960" y="3380400"/>
              <a:ext cx="1080" cy="18684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</p:grpSp>
      <p:grpSp>
        <p:nvGrpSpPr>
          <p:cNvPr id="282" name="Group 1681"/>
          <p:cNvGrpSpPr/>
          <p:nvPr/>
        </p:nvGrpSpPr>
        <p:grpSpPr>
          <a:xfrm>
            <a:off x="6908400" y="3300120"/>
            <a:ext cx="176760" cy="266760"/>
            <a:chOff x="6908400" y="3300120"/>
            <a:chExt cx="176760" cy="266760"/>
          </a:xfrm>
        </p:grpSpPr>
        <p:cxnSp>
          <p:nvCxnSpPr>
            <p:cNvPr id="283" name="Straight Arrow Connector 1682"/>
            <p:cNvCxnSpPr/>
            <p:nvPr/>
          </p:nvCxnSpPr>
          <p:spPr>
            <a:xfrm>
              <a:off x="7037640" y="33001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284" name="Straight Arrow Connector 1683"/>
            <p:cNvCxnSpPr/>
            <p:nvPr/>
          </p:nvCxnSpPr>
          <p:spPr>
            <a:xfrm>
              <a:off x="6908400" y="33001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285" name="Straight Arrow Connector 1684"/>
            <p:cNvCxnSpPr/>
            <p:nvPr/>
          </p:nvCxnSpPr>
          <p:spPr>
            <a:xfrm>
              <a:off x="7037640" y="3340440"/>
              <a:ext cx="1080" cy="18684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86" name="Straight Arrow Connector 1685"/>
            <p:cNvCxnSpPr/>
            <p:nvPr/>
          </p:nvCxnSpPr>
          <p:spPr>
            <a:xfrm>
              <a:off x="6908400" y="3340440"/>
              <a:ext cx="1080" cy="18684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87" name="Straight Arrow Connector 1686"/>
            <p:cNvCxnSpPr/>
            <p:nvPr/>
          </p:nvCxnSpPr>
          <p:spPr>
            <a:xfrm>
              <a:off x="7084440" y="3380400"/>
              <a:ext cx="1080" cy="18684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288" name="Straight Arrow Connector 1687"/>
            <p:cNvCxnSpPr/>
            <p:nvPr/>
          </p:nvCxnSpPr>
          <p:spPr>
            <a:xfrm>
              <a:off x="6955200" y="3380400"/>
              <a:ext cx="1080" cy="18684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</p:grpSp>
      <p:cxnSp>
        <p:nvCxnSpPr>
          <p:cNvPr id="289" name="Straight Arrow Connector 1689"/>
          <p:cNvCxnSpPr/>
          <p:nvPr/>
        </p:nvCxnSpPr>
        <p:spPr>
          <a:xfrm>
            <a:off x="749880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90" name="Straight Arrow Connector 1690"/>
          <p:cNvCxnSpPr/>
          <p:nvPr/>
        </p:nvCxnSpPr>
        <p:spPr>
          <a:xfrm>
            <a:off x="7370280" y="3299760"/>
            <a:ext cx="1080" cy="118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291" name="Straight Arrow Connector 1691"/>
          <p:cNvCxnSpPr/>
          <p:nvPr/>
        </p:nvCxnSpPr>
        <p:spPr>
          <a:xfrm>
            <a:off x="7498800" y="3340080"/>
            <a:ext cx="1080" cy="18792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92" name="Straight Arrow Connector 1692"/>
          <p:cNvCxnSpPr/>
          <p:nvPr/>
        </p:nvCxnSpPr>
        <p:spPr>
          <a:xfrm>
            <a:off x="7370280" y="3340080"/>
            <a:ext cx="1080" cy="18792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93" name="Straight Arrow Connector 1693"/>
          <p:cNvCxnSpPr/>
          <p:nvPr/>
        </p:nvCxnSpPr>
        <p:spPr>
          <a:xfrm>
            <a:off x="7546320" y="3381120"/>
            <a:ext cx="1080" cy="18648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294" name="Straight Arrow Connector 1694"/>
          <p:cNvCxnSpPr/>
          <p:nvPr/>
        </p:nvCxnSpPr>
        <p:spPr>
          <a:xfrm>
            <a:off x="7416360" y="3381120"/>
            <a:ext cx="1080" cy="18648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sp>
        <p:nvSpPr>
          <p:cNvPr id="295" name="TextBox 1695"/>
          <p:cNvSpPr/>
          <p:nvPr/>
        </p:nvSpPr>
        <p:spPr>
          <a:xfrm>
            <a:off x="7638840" y="2670120"/>
            <a:ext cx="1220760" cy="322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r>
              <a:rPr lang="en-US" sz="1500" b="1" u="none" strike="noStrike">
                <a:solidFill>
                  <a:srgbClr val="C55A11"/>
                </a:solidFill>
                <a:effectLst/>
                <a:uFillTx/>
                <a:latin typeface="Calibri"/>
              </a:rPr>
              <a:t>WRITE-ONLY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96" name="Straight Arrow Connector 1832"/>
          <p:cNvCxnSpPr>
            <a:endCxn id="252" idx="3"/>
          </p:cNvCxnSpPr>
          <p:nvPr/>
        </p:nvCxnSpPr>
        <p:spPr>
          <a:xfrm flipH="1">
            <a:off x="7657200" y="2912400"/>
            <a:ext cx="143640" cy="87840"/>
          </a:xfrm>
          <a:prstGeom prst="straightConnector1">
            <a:avLst/>
          </a:prstGeom>
          <a:ln w="6120">
            <a:solidFill>
              <a:srgbClr val="262699"/>
            </a:solidFill>
            <a:miter/>
          </a:ln>
        </p:spPr>
      </p:cxnSp>
      <p:sp>
        <p:nvSpPr>
          <p:cNvPr id="297" name="Rectangle 1837"/>
          <p:cNvSpPr/>
          <p:nvPr/>
        </p:nvSpPr>
        <p:spPr>
          <a:xfrm>
            <a:off x="6835680" y="4362120"/>
            <a:ext cx="361800" cy="587520"/>
          </a:xfrm>
          <a:prstGeom prst="rect">
            <a:avLst/>
          </a:prstGeom>
          <a:solidFill>
            <a:srgbClr val="41578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ontent Placeholder 2"/>
          <p:cNvSpPr/>
          <p:nvPr/>
        </p:nvSpPr>
        <p:spPr>
          <a:xfrm>
            <a:off x="5983200" y="4429080"/>
            <a:ext cx="672840" cy="4204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400" tIns="34200" rIns="68400" bIns="342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Rectangle 1839"/>
          <p:cNvSpPr/>
          <p:nvPr/>
        </p:nvSpPr>
        <p:spPr>
          <a:xfrm>
            <a:off x="5568840" y="43621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Rectangle 1840"/>
          <p:cNvSpPr/>
          <p:nvPr/>
        </p:nvSpPr>
        <p:spPr>
          <a:xfrm>
            <a:off x="4632120" y="43621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Rectangle 1841"/>
          <p:cNvSpPr/>
          <p:nvPr/>
        </p:nvSpPr>
        <p:spPr>
          <a:xfrm>
            <a:off x="5100480" y="4362120"/>
            <a:ext cx="3618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Rectangle 1842"/>
          <p:cNvSpPr/>
          <p:nvPr/>
        </p:nvSpPr>
        <p:spPr>
          <a:xfrm>
            <a:off x="6375240" y="4362120"/>
            <a:ext cx="363600" cy="587520"/>
          </a:xfrm>
          <a:prstGeom prst="rect">
            <a:avLst/>
          </a:prstGeom>
          <a:solidFill>
            <a:srgbClr val="5D5A52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TextBox 1843"/>
          <p:cNvSpPr/>
          <p:nvPr/>
        </p:nvSpPr>
        <p:spPr>
          <a:xfrm>
            <a:off x="7315200" y="5473440"/>
            <a:ext cx="1276200" cy="276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6400MT/s × 4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TextBox 1844"/>
          <p:cNvSpPr/>
          <p:nvPr/>
        </p:nvSpPr>
        <p:spPr>
          <a:xfrm>
            <a:off x="5522760" y="5303520"/>
            <a:ext cx="136044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6400MT/s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× 4 (× 9 chips)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Left Brace 1845"/>
          <p:cNvSpPr/>
          <p:nvPr/>
        </p:nvSpPr>
        <p:spPr>
          <a:xfrm rot="16200000">
            <a:off x="7610400" y="5209920"/>
            <a:ext cx="187200" cy="393840"/>
          </a:xfrm>
          <a:custGeom>
            <a:avLst/>
            <a:gdLst>
              <a:gd name="textAreaLeft" fmla="*/ 119520 w 187200"/>
              <a:gd name="textAreaRight" fmla="*/ 187560 w 187200"/>
              <a:gd name="textAreaTop" fmla="*/ 19440 h 393840"/>
              <a:gd name="textAreaBottom" fmla="*/ 374400 h 3938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1709"/>
                  <a:pt x="10800" y="3418"/>
                </a:cubicBezTo>
                <a:lnTo>
                  <a:pt x="10800" y="7382"/>
                </a:lnTo>
                <a:cubicBezTo>
                  <a:pt x="10800" y="9091"/>
                  <a:pt x="5400" y="10800"/>
                  <a:pt x="0" y="10800"/>
                </a:cubicBezTo>
                <a:cubicBezTo>
                  <a:pt x="5400" y="10800"/>
                  <a:pt x="10800" y="12509"/>
                  <a:pt x="10800" y="14218"/>
                </a:cubicBezTo>
                <a:lnTo>
                  <a:pt x="10800" y="18182"/>
                </a:lnTo>
                <a:cubicBezTo>
                  <a:pt x="10800" y="19891"/>
                  <a:pt x="16200" y="21600"/>
                  <a:pt x="21600" y="21600"/>
                </a:cubicBezTo>
              </a:path>
            </a:pathLst>
          </a:custGeom>
          <a:noFill/>
          <a:ln w="6120">
            <a:solidFill>
              <a:srgbClr val="E3E1E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Left Brace 1846"/>
          <p:cNvSpPr/>
          <p:nvPr/>
        </p:nvSpPr>
        <p:spPr>
          <a:xfrm rot="16200000">
            <a:off x="5827320" y="3941280"/>
            <a:ext cx="187200" cy="2590920"/>
          </a:xfrm>
          <a:custGeom>
            <a:avLst/>
            <a:gdLst>
              <a:gd name="textAreaLeft" fmla="*/ 119520 w 187200"/>
              <a:gd name="textAreaRight" fmla="*/ 187560 w 187200"/>
              <a:gd name="textAreaTop" fmla="*/ 19440 h 2590920"/>
              <a:gd name="textAreaBottom" fmla="*/ 2571480 h 25909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260"/>
                  <a:pt x="10800" y="519"/>
                </a:cubicBezTo>
                <a:lnTo>
                  <a:pt x="10800" y="10281"/>
                </a:lnTo>
                <a:cubicBezTo>
                  <a:pt x="10800" y="10541"/>
                  <a:pt x="5400" y="10800"/>
                  <a:pt x="0" y="10800"/>
                </a:cubicBezTo>
                <a:cubicBezTo>
                  <a:pt x="5400" y="10800"/>
                  <a:pt x="10800" y="11060"/>
                  <a:pt x="10800" y="11319"/>
                </a:cubicBezTo>
                <a:lnTo>
                  <a:pt x="10800" y="21081"/>
                </a:lnTo>
                <a:cubicBezTo>
                  <a:pt x="10800" y="21341"/>
                  <a:pt x="16200" y="21600"/>
                  <a:pt x="21600" y="21600"/>
                </a:cubicBezTo>
              </a:path>
            </a:pathLst>
          </a:custGeom>
          <a:noFill/>
          <a:ln w="6120">
            <a:solidFill>
              <a:srgbClr val="E3E1E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07" name="Straight Arrow Connector 1847"/>
          <p:cNvCxnSpPr/>
          <p:nvPr/>
        </p:nvCxnSpPr>
        <p:spPr>
          <a:xfrm>
            <a:off x="483336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08" name="Straight Arrow Connector 1848"/>
          <p:cNvCxnSpPr/>
          <p:nvPr/>
        </p:nvCxnSpPr>
        <p:spPr>
          <a:xfrm>
            <a:off x="470484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09" name="Straight Arrow Connector 1849"/>
          <p:cNvCxnSpPr/>
          <p:nvPr/>
        </p:nvCxnSpPr>
        <p:spPr>
          <a:xfrm>
            <a:off x="483336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0" name="Straight Arrow Connector 1850"/>
          <p:cNvCxnSpPr/>
          <p:nvPr/>
        </p:nvCxnSpPr>
        <p:spPr>
          <a:xfrm>
            <a:off x="470484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1" name="Straight Arrow Connector 1851"/>
          <p:cNvCxnSpPr/>
          <p:nvPr/>
        </p:nvCxnSpPr>
        <p:spPr>
          <a:xfrm>
            <a:off x="530028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12" name="Straight Arrow Connector 1852"/>
          <p:cNvCxnSpPr/>
          <p:nvPr/>
        </p:nvCxnSpPr>
        <p:spPr>
          <a:xfrm>
            <a:off x="517140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13" name="Straight Arrow Connector 1853"/>
          <p:cNvCxnSpPr/>
          <p:nvPr/>
        </p:nvCxnSpPr>
        <p:spPr>
          <a:xfrm>
            <a:off x="530028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4" name="Straight Arrow Connector 1854"/>
          <p:cNvCxnSpPr/>
          <p:nvPr/>
        </p:nvCxnSpPr>
        <p:spPr>
          <a:xfrm>
            <a:off x="517140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5" name="Straight Arrow Connector 1855"/>
          <p:cNvCxnSpPr/>
          <p:nvPr/>
        </p:nvCxnSpPr>
        <p:spPr>
          <a:xfrm>
            <a:off x="576540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16" name="Straight Arrow Connector 1856"/>
          <p:cNvCxnSpPr/>
          <p:nvPr/>
        </p:nvCxnSpPr>
        <p:spPr>
          <a:xfrm>
            <a:off x="5636520" y="495432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17" name="Straight Arrow Connector 1857"/>
          <p:cNvCxnSpPr/>
          <p:nvPr/>
        </p:nvCxnSpPr>
        <p:spPr>
          <a:xfrm>
            <a:off x="576540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8" name="Straight Arrow Connector 1858"/>
          <p:cNvCxnSpPr/>
          <p:nvPr/>
        </p:nvCxnSpPr>
        <p:spPr>
          <a:xfrm>
            <a:off x="5636520" y="4995720"/>
            <a:ext cx="1080" cy="1864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19" name="Straight Arrow Connector 1859"/>
          <p:cNvCxnSpPr/>
          <p:nvPr/>
        </p:nvCxnSpPr>
        <p:spPr>
          <a:xfrm>
            <a:off x="488088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20" name="Straight Arrow Connector 1860"/>
          <p:cNvCxnSpPr/>
          <p:nvPr/>
        </p:nvCxnSpPr>
        <p:spPr>
          <a:xfrm>
            <a:off x="475236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21" name="Straight Arrow Connector 1861"/>
          <p:cNvCxnSpPr/>
          <p:nvPr/>
        </p:nvCxnSpPr>
        <p:spPr>
          <a:xfrm>
            <a:off x="534600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22" name="Straight Arrow Connector 1862"/>
          <p:cNvCxnSpPr/>
          <p:nvPr/>
        </p:nvCxnSpPr>
        <p:spPr>
          <a:xfrm>
            <a:off x="521748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23" name="Straight Arrow Connector 1863"/>
          <p:cNvCxnSpPr/>
          <p:nvPr/>
        </p:nvCxnSpPr>
        <p:spPr>
          <a:xfrm>
            <a:off x="581292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24" name="Straight Arrow Connector 1864"/>
          <p:cNvCxnSpPr/>
          <p:nvPr/>
        </p:nvCxnSpPr>
        <p:spPr>
          <a:xfrm>
            <a:off x="5684400" y="5035320"/>
            <a:ext cx="1080" cy="187920"/>
          </a:xfrm>
          <a:prstGeom prst="straightConnector1">
            <a:avLst/>
          </a:prstGeom>
          <a:ln w="25200">
            <a:solidFill>
              <a:srgbClr val="595959"/>
            </a:solidFill>
            <a:miter/>
            <a:headEnd len="sm" type="triangle" w="sm"/>
            <a:tailEnd len="sm" type="triangle" w="sm"/>
          </a:ln>
        </p:spPr>
      </p:cxnSp>
      <p:grpSp>
        <p:nvGrpSpPr>
          <p:cNvPr id="325" name="Group 1865"/>
          <p:cNvGrpSpPr/>
          <p:nvPr/>
        </p:nvGrpSpPr>
        <p:grpSpPr>
          <a:xfrm>
            <a:off x="6446160" y="4954320"/>
            <a:ext cx="177120" cy="268560"/>
            <a:chOff x="6446160" y="4954320"/>
            <a:chExt cx="177120" cy="268560"/>
          </a:xfrm>
        </p:grpSpPr>
        <p:cxnSp>
          <p:nvCxnSpPr>
            <p:cNvPr id="326" name="Straight Arrow Connector 1866"/>
            <p:cNvCxnSpPr/>
            <p:nvPr/>
          </p:nvCxnSpPr>
          <p:spPr>
            <a:xfrm>
              <a:off x="6575760" y="49543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27" name="Straight Arrow Connector 1867"/>
            <p:cNvCxnSpPr/>
            <p:nvPr/>
          </p:nvCxnSpPr>
          <p:spPr>
            <a:xfrm>
              <a:off x="6446160" y="49543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28" name="Straight Arrow Connector 1868"/>
            <p:cNvCxnSpPr/>
            <p:nvPr/>
          </p:nvCxnSpPr>
          <p:spPr>
            <a:xfrm>
              <a:off x="6575760" y="499536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29" name="Straight Arrow Connector 1869"/>
            <p:cNvCxnSpPr/>
            <p:nvPr/>
          </p:nvCxnSpPr>
          <p:spPr>
            <a:xfrm>
              <a:off x="6446160" y="499536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30" name="Straight Arrow Connector 1870"/>
            <p:cNvCxnSpPr/>
            <p:nvPr/>
          </p:nvCxnSpPr>
          <p:spPr>
            <a:xfrm>
              <a:off x="6622560" y="503532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31" name="Straight Arrow Connector 1871"/>
            <p:cNvCxnSpPr/>
            <p:nvPr/>
          </p:nvCxnSpPr>
          <p:spPr>
            <a:xfrm>
              <a:off x="6492960" y="503532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</p:grpSp>
      <p:grpSp>
        <p:nvGrpSpPr>
          <p:cNvPr id="332" name="Group 1872"/>
          <p:cNvGrpSpPr/>
          <p:nvPr/>
        </p:nvGrpSpPr>
        <p:grpSpPr>
          <a:xfrm>
            <a:off x="6908400" y="4954320"/>
            <a:ext cx="176760" cy="268560"/>
            <a:chOff x="6908400" y="4954320"/>
            <a:chExt cx="176760" cy="268560"/>
          </a:xfrm>
        </p:grpSpPr>
        <p:cxnSp>
          <p:nvCxnSpPr>
            <p:cNvPr id="333" name="Straight Arrow Connector 1873"/>
            <p:cNvCxnSpPr/>
            <p:nvPr/>
          </p:nvCxnSpPr>
          <p:spPr>
            <a:xfrm>
              <a:off x="7037640" y="49543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34" name="Straight Arrow Connector 1874"/>
            <p:cNvCxnSpPr/>
            <p:nvPr/>
          </p:nvCxnSpPr>
          <p:spPr>
            <a:xfrm>
              <a:off x="6908400" y="495432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35" name="Straight Arrow Connector 1875"/>
            <p:cNvCxnSpPr/>
            <p:nvPr/>
          </p:nvCxnSpPr>
          <p:spPr>
            <a:xfrm>
              <a:off x="7037640" y="499536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36" name="Straight Arrow Connector 1876"/>
            <p:cNvCxnSpPr/>
            <p:nvPr/>
          </p:nvCxnSpPr>
          <p:spPr>
            <a:xfrm>
              <a:off x="6908400" y="499536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37" name="Straight Arrow Connector 1877"/>
            <p:cNvCxnSpPr/>
            <p:nvPr/>
          </p:nvCxnSpPr>
          <p:spPr>
            <a:xfrm>
              <a:off x="7084440" y="503532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38" name="Straight Arrow Connector 1878"/>
            <p:cNvCxnSpPr/>
            <p:nvPr/>
          </p:nvCxnSpPr>
          <p:spPr>
            <a:xfrm>
              <a:off x="6955200" y="503532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</p:grpSp>
      <p:sp>
        <p:nvSpPr>
          <p:cNvPr id="339" name="Rectangle 1882"/>
          <p:cNvSpPr/>
          <p:nvPr/>
        </p:nvSpPr>
        <p:spPr>
          <a:xfrm>
            <a:off x="7323120" y="4976640"/>
            <a:ext cx="780840" cy="117360"/>
          </a:xfrm>
          <a:prstGeom prst="rect">
            <a:avLst/>
          </a:prstGeom>
          <a:solidFill>
            <a:srgbClr val="843C0C"/>
          </a:solidFill>
          <a:ln w="28440">
            <a:solidFill>
              <a:srgbClr val="49494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tIns="90000" rIns="46800" bIns="90000" anchor="ctr" anchorCtr="1" vert="eaVert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TextBox 1901"/>
          <p:cNvSpPr/>
          <p:nvPr/>
        </p:nvSpPr>
        <p:spPr>
          <a:xfrm>
            <a:off x="8073720" y="4319280"/>
            <a:ext cx="966960" cy="876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4800MT/s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×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3200MT/s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× 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Rectangle 1905"/>
          <p:cNvSpPr/>
          <p:nvPr/>
        </p:nvSpPr>
        <p:spPr>
          <a:xfrm>
            <a:off x="7672320" y="4098600"/>
            <a:ext cx="450720" cy="586080"/>
          </a:xfrm>
          <a:prstGeom prst="rect">
            <a:avLst/>
          </a:prstGeom>
          <a:solidFill>
            <a:srgbClr val="E6E6E6"/>
          </a:solidFill>
          <a:ln w="28440">
            <a:solidFill>
              <a:srgbClr val="262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42" name="Group 1912"/>
          <p:cNvGrpSpPr/>
          <p:nvPr/>
        </p:nvGrpSpPr>
        <p:grpSpPr>
          <a:xfrm>
            <a:off x="7638480" y="5105160"/>
            <a:ext cx="177120" cy="268560"/>
            <a:chOff x="7638480" y="5105160"/>
            <a:chExt cx="177120" cy="268560"/>
          </a:xfrm>
        </p:grpSpPr>
        <p:cxnSp>
          <p:nvCxnSpPr>
            <p:cNvPr id="343" name="Straight Arrow Connector 1913"/>
            <p:cNvCxnSpPr/>
            <p:nvPr/>
          </p:nvCxnSpPr>
          <p:spPr>
            <a:xfrm>
              <a:off x="7768080" y="510516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44" name="Straight Arrow Connector 1914"/>
            <p:cNvCxnSpPr/>
            <p:nvPr/>
          </p:nvCxnSpPr>
          <p:spPr>
            <a:xfrm>
              <a:off x="7638480" y="5105160"/>
              <a:ext cx="1080" cy="1296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med" type="oval" w="med"/>
            </a:ln>
          </p:spPr>
        </p:cxnSp>
        <p:cxnSp>
          <p:nvCxnSpPr>
            <p:cNvPr id="345" name="Straight Arrow Connector 1915"/>
            <p:cNvCxnSpPr/>
            <p:nvPr/>
          </p:nvCxnSpPr>
          <p:spPr>
            <a:xfrm>
              <a:off x="7768080" y="514620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46" name="Straight Arrow Connector 1916"/>
            <p:cNvCxnSpPr/>
            <p:nvPr/>
          </p:nvCxnSpPr>
          <p:spPr>
            <a:xfrm>
              <a:off x="7638480" y="5146200"/>
              <a:ext cx="1080" cy="187920"/>
            </a:xfrm>
            <a:prstGeom prst="straightConnector1">
              <a:avLst/>
            </a:prstGeom>
            <a:ln w="25200">
              <a:solidFill>
                <a:srgbClr val="000000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47" name="Straight Arrow Connector 1917"/>
            <p:cNvCxnSpPr/>
            <p:nvPr/>
          </p:nvCxnSpPr>
          <p:spPr>
            <a:xfrm>
              <a:off x="7814880" y="518616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  <p:cxnSp>
          <p:nvCxnSpPr>
            <p:cNvPr id="348" name="Straight Arrow Connector 1918"/>
            <p:cNvCxnSpPr/>
            <p:nvPr/>
          </p:nvCxnSpPr>
          <p:spPr>
            <a:xfrm>
              <a:off x="7685280" y="5186160"/>
              <a:ext cx="1080" cy="187920"/>
            </a:xfrm>
            <a:prstGeom prst="straightConnector1">
              <a:avLst/>
            </a:prstGeom>
            <a:ln w="25200">
              <a:solidFill>
                <a:srgbClr val="595959"/>
              </a:solidFill>
              <a:miter/>
              <a:headEnd len="sm" type="triangle" w="sm"/>
              <a:tailEnd len="sm" type="triangle" w="sm"/>
            </a:ln>
          </p:spPr>
        </p:cxnSp>
      </p:grpSp>
      <p:cxnSp>
        <p:nvCxnSpPr>
          <p:cNvPr id="349" name="Straight Arrow Connector 1919"/>
          <p:cNvCxnSpPr/>
          <p:nvPr/>
        </p:nvCxnSpPr>
        <p:spPr>
          <a:xfrm>
            <a:off x="7747920" y="4973040"/>
            <a:ext cx="1080" cy="133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0" name="Straight Arrow Connector 1920"/>
          <p:cNvCxnSpPr/>
          <p:nvPr/>
        </p:nvCxnSpPr>
        <p:spPr>
          <a:xfrm>
            <a:off x="7878240" y="4973040"/>
            <a:ext cx="1080" cy="133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1" name="Straight Arrow Connector 1921"/>
          <p:cNvCxnSpPr/>
          <p:nvPr/>
        </p:nvCxnSpPr>
        <p:spPr>
          <a:xfrm>
            <a:off x="7878240" y="469080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2" name="Straight Arrow Connector 1922"/>
          <p:cNvCxnSpPr/>
          <p:nvPr/>
        </p:nvCxnSpPr>
        <p:spPr>
          <a:xfrm>
            <a:off x="7747920" y="469080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3" name="Straight Arrow Connector 1923"/>
          <p:cNvCxnSpPr/>
          <p:nvPr/>
        </p:nvCxnSpPr>
        <p:spPr>
          <a:xfrm>
            <a:off x="7878240" y="4732200"/>
            <a:ext cx="1080" cy="18648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54" name="Straight Arrow Connector 1924"/>
          <p:cNvCxnSpPr/>
          <p:nvPr/>
        </p:nvCxnSpPr>
        <p:spPr>
          <a:xfrm>
            <a:off x="7747920" y="4732200"/>
            <a:ext cx="1080" cy="18648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55" name="Straight Arrow Connector 1925"/>
          <p:cNvCxnSpPr/>
          <p:nvPr/>
        </p:nvCxnSpPr>
        <p:spPr>
          <a:xfrm>
            <a:off x="7924320" y="4771800"/>
            <a:ext cx="1080" cy="18792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56" name="Straight Arrow Connector 1926"/>
          <p:cNvCxnSpPr/>
          <p:nvPr/>
        </p:nvCxnSpPr>
        <p:spPr>
          <a:xfrm>
            <a:off x="7795800" y="4771800"/>
            <a:ext cx="1080" cy="18792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57" name="Straight Arrow Connector 1883"/>
          <p:cNvCxnSpPr/>
          <p:nvPr/>
        </p:nvCxnSpPr>
        <p:spPr>
          <a:xfrm>
            <a:off x="8005320" y="4973040"/>
            <a:ext cx="1080" cy="133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8" name="Straight Arrow Connector 1884"/>
          <p:cNvCxnSpPr/>
          <p:nvPr/>
        </p:nvCxnSpPr>
        <p:spPr>
          <a:xfrm>
            <a:off x="7494120" y="4973040"/>
            <a:ext cx="1080" cy="1332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59" name="Straight Arrow Connector 1894"/>
          <p:cNvCxnSpPr/>
          <p:nvPr/>
        </p:nvCxnSpPr>
        <p:spPr>
          <a:xfrm>
            <a:off x="7494120" y="469080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60" name="Straight Arrow Connector 1895"/>
          <p:cNvCxnSpPr/>
          <p:nvPr/>
        </p:nvCxnSpPr>
        <p:spPr>
          <a:xfrm>
            <a:off x="8005320" y="4690800"/>
            <a:ext cx="1080" cy="13680"/>
          </a:xfrm>
          <a:prstGeom prst="straightConnector1">
            <a:avLst/>
          </a:prstGeom>
          <a:ln w="25200">
            <a:solidFill>
              <a:srgbClr val="000000"/>
            </a:solidFill>
            <a:miter/>
            <a:headEnd len="med" type="oval" w="med"/>
          </a:ln>
        </p:spPr>
      </p:cxnSp>
      <p:cxnSp>
        <p:nvCxnSpPr>
          <p:cNvPr id="361" name="Straight Arrow Connector 1896"/>
          <p:cNvCxnSpPr/>
          <p:nvPr/>
        </p:nvCxnSpPr>
        <p:spPr>
          <a:xfrm>
            <a:off x="7494120" y="4732200"/>
            <a:ext cx="1080" cy="18648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62" name="Straight Arrow Connector 1897"/>
          <p:cNvCxnSpPr/>
          <p:nvPr/>
        </p:nvCxnSpPr>
        <p:spPr>
          <a:xfrm>
            <a:off x="8005320" y="4732200"/>
            <a:ext cx="1080" cy="186480"/>
          </a:xfrm>
          <a:prstGeom prst="straightConnector1">
            <a:avLst/>
          </a:prstGeom>
          <a:ln w="25200">
            <a:solidFill>
              <a:srgbClr val="191966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63" name="Straight Arrow Connector 1898"/>
          <p:cNvCxnSpPr/>
          <p:nvPr/>
        </p:nvCxnSpPr>
        <p:spPr>
          <a:xfrm>
            <a:off x="7540200" y="4771800"/>
            <a:ext cx="1080" cy="18792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cxnSp>
        <p:nvCxnSpPr>
          <p:cNvPr id="364" name="Straight Arrow Connector 1899"/>
          <p:cNvCxnSpPr/>
          <p:nvPr/>
        </p:nvCxnSpPr>
        <p:spPr>
          <a:xfrm>
            <a:off x="8052840" y="4771800"/>
            <a:ext cx="1080" cy="187920"/>
          </a:xfrm>
          <a:prstGeom prst="straightConnector1">
            <a:avLst/>
          </a:prstGeom>
          <a:ln w="25200">
            <a:solidFill>
              <a:srgbClr val="262699"/>
            </a:solidFill>
            <a:miter/>
            <a:headEnd len="sm" type="triangle" w="sm"/>
            <a:tailEnd len="sm" type="triangle" w="sm"/>
          </a:ln>
        </p:spPr>
      </p:cxnSp>
      <p:sp>
        <p:nvSpPr>
          <p:cNvPr id="365" name="Oval 18"/>
          <p:cNvSpPr/>
          <p:nvPr/>
        </p:nvSpPr>
        <p:spPr>
          <a:xfrm>
            <a:off x="7313400" y="4286160"/>
            <a:ext cx="241200" cy="239760"/>
          </a:xfrm>
          <a:prstGeom prst="ellipse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Oval 20"/>
          <p:cNvSpPr/>
          <p:nvPr/>
        </p:nvSpPr>
        <p:spPr>
          <a:xfrm>
            <a:off x="7781760" y="4286160"/>
            <a:ext cx="239760" cy="239760"/>
          </a:xfrm>
          <a:prstGeom prst="ellipse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Oval 21"/>
          <p:cNvSpPr/>
          <p:nvPr/>
        </p:nvSpPr>
        <p:spPr>
          <a:xfrm>
            <a:off x="7365960" y="2901600"/>
            <a:ext cx="241200" cy="239760"/>
          </a:xfrm>
          <a:prstGeom prst="ellipse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Box 1695"/>
          <p:cNvSpPr/>
          <p:nvPr/>
        </p:nvSpPr>
        <p:spPr>
          <a:xfrm>
            <a:off x="7800840" y="3840120"/>
            <a:ext cx="1220760" cy="322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  <a:tab pos="8229600" algn="l"/>
                <a:tab pos="8915400" algn="l"/>
                <a:tab pos="9601200" algn="l"/>
                <a:tab pos="10287000" algn="l"/>
              </a:tabLst>
            </a:pPr>
            <a:r>
              <a:rPr lang="en-US" sz="1500" b="1" u="none" strike="noStrike">
                <a:solidFill>
                  <a:srgbClr val="C55A11"/>
                </a:solidFill>
                <a:effectLst/>
                <a:uFillTx/>
                <a:latin typeface="Calibri"/>
              </a:rPr>
              <a:t>WRITE-ONLY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Box 5"/>
          <p:cNvSpPr/>
          <p:nvPr/>
        </p:nvSpPr>
        <p:spPr>
          <a:xfrm>
            <a:off x="583920" y="4429080"/>
            <a:ext cx="365616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Employ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various slow chips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 store parity data with buffer support.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lide Number Placeholder 8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C3DE058-53B4-4359-A23C-97561784A14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1.6  Active Defect Prevention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4"/>
          <p:cNvSpPr/>
          <p:nvPr/>
        </p:nvSpPr>
        <p:spPr>
          <a:xfrm>
            <a:off x="0" y="2330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Text Box 5"/>
          <p:cNvSpPr/>
          <p:nvPr/>
        </p:nvSpPr>
        <p:spPr>
          <a:xfrm>
            <a:off x="457200" y="990360"/>
            <a:ext cx="81532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Other than initial or manufacturing imperfections, defects can develop over the course of a device’s lifetime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Text Box 24"/>
          <p:cNvSpPr/>
          <p:nvPr/>
        </p:nvSpPr>
        <p:spPr>
          <a:xfrm>
            <a:off x="457200" y="3886200"/>
            <a:ext cx="8153280" cy="1920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Radiation-induced defects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Defects due to shock and vibration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Defects due to mishandling (e.g., scratch or smudge on disk)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. . discussed in Chap. 7 dealing with shielding and hardening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 Box 25"/>
          <p:cNvSpPr/>
          <p:nvPr/>
        </p:nvSpPr>
        <p:spPr>
          <a:xfrm>
            <a:off x="457200" y="2057400"/>
            <a:ext cx="81532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Defects induced by harsh operating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Temperature control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Load redistribution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Clock scaling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229F173-3147-43D4-8827-67F62DCCF34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304200" y="228600"/>
            <a:ext cx="853452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2  Defect Circumvention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Picture 10" descr="03-the-air-out-there"/>
          <p:cNvPicPr/>
          <p:nvPr/>
        </p:nvPicPr>
        <p:blipFill>
          <a:blip r:embed="rId1"/>
          <a:stretch/>
        </p:blipFill>
        <p:spPr>
          <a:xfrm>
            <a:off x="838080" y="1091880"/>
            <a:ext cx="7467480" cy="4981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D1A21BD4-99A0-4EFC-9CE3-1BC545F2B0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380520" y="304200"/>
            <a:ext cx="8381880" cy="83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 Avoidance vs. Circumvention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Box 4"/>
          <p:cNvSpPr/>
          <p:nvPr/>
        </p:nvSpPr>
        <p:spPr>
          <a:xfrm>
            <a:off x="457200" y="1218960"/>
            <a:ext cx="81532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Defect Avoidance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 awareness in design, particularly floorplanning and routing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Extensive quality control during the manufacturing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Comprehensive screening, including burn-in and stress tests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 Box 5"/>
          <p:cNvSpPr/>
          <p:nvPr/>
        </p:nvSpPr>
        <p:spPr>
          <a:xfrm>
            <a:off x="457200" y="2819160"/>
            <a:ext cx="81532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A50021"/>
                </a:solidFill>
                <a:effectLst/>
                <a:uFillTx/>
                <a:latin typeface="Arial"/>
                <a:ea typeface="Arial"/>
              </a:rPr>
              <a:t>Defect Circumvention (Removal)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Built-in dynamic redundancy on the die or wafer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Identification of defective parts (visual inspection, testing, association)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Bypassing or reconfiguration via embedded switches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Text Box 6"/>
          <p:cNvSpPr/>
          <p:nvPr/>
        </p:nvSpPr>
        <p:spPr>
          <a:xfrm>
            <a:off x="457200" y="4419360"/>
            <a:ext cx="81532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Defect Circumvention (Masking)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Built-in static redundancy on the die or wafer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Identification of defective parts (external test or self-test)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Adjustment or tuning of redundant structures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BEB8FA2-346D-49F1-9897-E03284449CA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7" name="Group 2"/>
          <p:cNvGrpSpPr/>
          <p:nvPr/>
        </p:nvGrpSpPr>
        <p:grpSpPr>
          <a:xfrm>
            <a:off x="4343400" y="2819160"/>
            <a:ext cx="4267080" cy="3155760"/>
            <a:chOff x="4343400" y="2819160"/>
            <a:chExt cx="4267080" cy="3155760"/>
          </a:xfrm>
        </p:grpSpPr>
        <p:sp>
          <p:nvSpPr>
            <p:cNvPr id="388" name="Rectangle 3"/>
            <p:cNvSpPr/>
            <p:nvPr/>
          </p:nvSpPr>
          <p:spPr>
            <a:xfrm>
              <a:off x="4343400" y="2851560"/>
              <a:ext cx="4267080" cy="3123360"/>
            </a:xfrm>
            <a:prstGeom prst="rect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9" name="Text Box 4"/>
            <p:cNvSpPr/>
            <p:nvPr/>
          </p:nvSpPr>
          <p:spPr>
            <a:xfrm>
              <a:off x="4724280" y="2819160"/>
              <a:ext cx="3505320" cy="307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Peripheral reconfiguration elements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90" name="Rectangle 5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80520" y="304200"/>
            <a:ext cx="83818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2.1  Defective Memory Arrays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Box 7"/>
          <p:cNvSpPr/>
          <p:nvPr/>
        </p:nvSpPr>
        <p:spPr>
          <a:xfrm>
            <a:off x="457200" y="1066680"/>
            <a:ext cx="815328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 circumvention (removal)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Provide several extra (spare) rows and/or columns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Route external connections to defect-free rows and columns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93" name="Group 8"/>
          <p:cNvGrpSpPr/>
          <p:nvPr/>
        </p:nvGrpSpPr>
        <p:grpSpPr>
          <a:xfrm>
            <a:off x="4572000" y="3079440"/>
            <a:ext cx="3809520" cy="381240"/>
            <a:chOff x="4572000" y="3079440"/>
            <a:chExt cx="3809520" cy="381240"/>
          </a:xfrm>
        </p:grpSpPr>
        <p:sp>
          <p:nvSpPr>
            <p:cNvPr id="394" name="Rectangle 9"/>
            <p:cNvSpPr/>
            <p:nvPr/>
          </p:nvSpPr>
          <p:spPr>
            <a:xfrm>
              <a:off x="4572000" y="3079440"/>
              <a:ext cx="1447560" cy="38124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Spare rows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5" name="Rectangle 10"/>
            <p:cNvSpPr/>
            <p:nvPr/>
          </p:nvSpPr>
          <p:spPr>
            <a:xfrm>
              <a:off x="6933960" y="3079440"/>
              <a:ext cx="1447560" cy="38124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Spare rows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96" name="Group 11"/>
          <p:cNvGrpSpPr/>
          <p:nvPr/>
        </p:nvGrpSpPr>
        <p:grpSpPr>
          <a:xfrm>
            <a:off x="4572000" y="3460680"/>
            <a:ext cx="3809520" cy="2286000"/>
            <a:chOff x="4572000" y="3460680"/>
            <a:chExt cx="3809520" cy="2286000"/>
          </a:xfrm>
        </p:grpSpPr>
        <p:sp>
          <p:nvSpPr>
            <p:cNvPr id="397" name="Rectangle 12"/>
            <p:cNvSpPr/>
            <p:nvPr/>
          </p:nvSpPr>
          <p:spPr>
            <a:xfrm>
              <a:off x="4572000" y="3460680"/>
              <a:ext cx="1447560" cy="2286000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Memory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array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8" name="Rectangle 13"/>
            <p:cNvSpPr/>
            <p:nvPr/>
          </p:nvSpPr>
          <p:spPr>
            <a:xfrm>
              <a:off x="6933960" y="3460680"/>
              <a:ext cx="1447560" cy="2286000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Memory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array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99" name="Group 14"/>
          <p:cNvGrpSpPr/>
          <p:nvPr/>
        </p:nvGrpSpPr>
        <p:grpSpPr>
          <a:xfrm>
            <a:off x="4343400" y="3689280"/>
            <a:ext cx="1904760" cy="307080"/>
            <a:chOff x="4343400" y="3689280"/>
            <a:chExt cx="1904760" cy="307080"/>
          </a:xfrm>
        </p:grpSpPr>
        <p:sp>
          <p:nvSpPr>
            <p:cNvPr id="400" name="Line 15"/>
            <p:cNvSpPr/>
            <p:nvPr/>
          </p:nvSpPr>
          <p:spPr>
            <a:xfrm>
              <a:off x="4571640" y="3993840"/>
              <a:ext cx="1447560" cy="0"/>
            </a:xfrm>
            <a:prstGeom prst="line">
              <a:avLst/>
            </a:prstGeom>
            <a:ln w="378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1" name="Text Box 16"/>
            <p:cNvSpPr/>
            <p:nvPr/>
          </p:nvSpPr>
          <p:spPr>
            <a:xfrm>
              <a:off x="4343400" y="3689280"/>
              <a:ext cx="1904760" cy="307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Defective row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02" name="Group 17"/>
          <p:cNvGrpSpPr/>
          <p:nvPr/>
        </p:nvGrpSpPr>
        <p:grpSpPr>
          <a:xfrm>
            <a:off x="7162560" y="3460680"/>
            <a:ext cx="1066680" cy="2286000"/>
            <a:chOff x="7162560" y="3460680"/>
            <a:chExt cx="1066680" cy="2286000"/>
          </a:xfrm>
        </p:grpSpPr>
        <p:sp>
          <p:nvSpPr>
            <p:cNvPr id="403" name="Line 18"/>
            <p:cNvSpPr/>
            <p:nvPr/>
          </p:nvSpPr>
          <p:spPr>
            <a:xfrm flipV="1">
              <a:off x="7162560" y="3460680"/>
              <a:ext cx="0" cy="2286000"/>
            </a:xfrm>
            <a:prstGeom prst="line">
              <a:avLst/>
            </a:prstGeom>
            <a:ln w="378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4" name="Text Box 19"/>
            <p:cNvSpPr/>
            <p:nvPr/>
          </p:nvSpPr>
          <p:spPr>
            <a:xfrm>
              <a:off x="7162560" y="3536640"/>
              <a:ext cx="1066680" cy="5202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Defective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column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05" name="Text Box 20"/>
          <p:cNvSpPr/>
          <p:nvPr/>
        </p:nvSpPr>
        <p:spPr>
          <a:xfrm>
            <a:off x="457200" y="2209680"/>
            <a:ext cx="45720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Defect circumvention (masking)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Error-correcting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 Box 21"/>
          <p:cNvSpPr/>
          <p:nvPr/>
        </p:nvSpPr>
        <p:spPr>
          <a:xfrm>
            <a:off x="457200" y="3124080"/>
            <a:ext cx="3733560" cy="1768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rows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spares,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model as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-out-of-(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Somewhat more complex with both spare rows and columns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(still combinational, though)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 Box 22"/>
          <p:cNvSpPr/>
          <p:nvPr/>
        </p:nvSpPr>
        <p:spPr>
          <a:xfrm>
            <a:off x="457200" y="5105160"/>
            <a:ext cx="373356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Modeling with coded scheme has been discussed in prior lectures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 Box 23"/>
          <p:cNvSpPr/>
          <p:nvPr/>
        </p:nvSpPr>
        <p:spPr>
          <a:xfrm>
            <a:off x="5410080" y="2133360"/>
            <a:ext cx="3124080" cy="581400"/>
          </a:xfrm>
          <a:prstGeom prst="rect">
            <a:avLst/>
          </a:prstGeom>
          <a:solidFill>
            <a:srgbClr val="FFFF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Methods in use since the 1970s;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e.g., IBM’s defect-tolerant chip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9" name="Group 24"/>
          <p:cNvGrpSpPr/>
          <p:nvPr/>
        </p:nvGrpSpPr>
        <p:grpSpPr>
          <a:xfrm>
            <a:off x="6019560" y="3079440"/>
            <a:ext cx="914400" cy="2667240"/>
            <a:chOff x="6019560" y="3079440"/>
            <a:chExt cx="914400" cy="2667240"/>
          </a:xfrm>
        </p:grpSpPr>
        <p:grpSp>
          <p:nvGrpSpPr>
            <p:cNvPr id="410" name="Group 25"/>
            <p:cNvGrpSpPr/>
            <p:nvPr/>
          </p:nvGrpSpPr>
          <p:grpSpPr>
            <a:xfrm>
              <a:off x="6019560" y="3079440"/>
              <a:ext cx="914400" cy="2667240"/>
              <a:chOff x="6019560" y="3079440"/>
              <a:chExt cx="914400" cy="2667240"/>
            </a:xfrm>
          </p:grpSpPr>
          <p:grpSp>
            <p:nvGrpSpPr>
              <p:cNvPr id="411" name="Group 26"/>
              <p:cNvGrpSpPr/>
              <p:nvPr/>
            </p:nvGrpSpPr>
            <p:grpSpPr>
              <a:xfrm>
                <a:off x="6019560" y="3079440"/>
                <a:ext cx="914400" cy="2667240"/>
                <a:chOff x="6019560" y="3079440"/>
                <a:chExt cx="914400" cy="2667240"/>
              </a:xfrm>
            </p:grpSpPr>
            <p:sp>
              <p:nvSpPr>
                <p:cNvPr id="412" name="Rectangle 27"/>
                <p:cNvSpPr/>
                <p:nvPr/>
              </p:nvSpPr>
              <p:spPr>
                <a:xfrm>
                  <a:off x="6019560" y="3079440"/>
                  <a:ext cx="457200" cy="2667240"/>
                </a:xfrm>
                <a:prstGeom prst="rect">
                  <a:avLst/>
                </a:prstGeom>
                <a:solidFill>
                  <a:srgbClr val="00CC99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46800" tIns="90000" rIns="46800" bIns="90000" anchor="ctr" anchorCtr="1" vert="eaVert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13" name="Rectangle 28"/>
                <p:cNvSpPr/>
                <p:nvPr/>
              </p:nvSpPr>
              <p:spPr>
                <a:xfrm>
                  <a:off x="6476760" y="3079440"/>
                  <a:ext cx="457200" cy="2667240"/>
                </a:xfrm>
                <a:prstGeom prst="rect">
                  <a:avLst/>
                </a:prstGeom>
                <a:solidFill>
                  <a:srgbClr val="00CC99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414" name="Text Box 29"/>
              <p:cNvSpPr/>
              <p:nvPr/>
            </p:nvSpPr>
            <p:spPr>
              <a:xfrm rot="16200000">
                <a:off x="5955120" y="4289040"/>
                <a:ext cx="1532520" cy="33768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Spare columns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5" name="Text Box 30"/>
              <p:cNvSpPr/>
              <p:nvPr/>
            </p:nvSpPr>
            <p:spPr>
              <a:xfrm rot="16200000">
                <a:off x="5497920" y="4289040"/>
                <a:ext cx="1532520" cy="33768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Spare columns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416" name="Line 31"/>
            <p:cNvSpPr/>
            <p:nvPr/>
          </p:nvSpPr>
          <p:spPr>
            <a:xfrm>
              <a:off x="6019560" y="34542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C34D63C-D7F7-483D-AE0F-324BA85C05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8" name="Picture 7"/>
          <p:cNvPicPr/>
          <p:nvPr/>
        </p:nvPicPr>
        <p:blipFill>
          <a:blip r:embed="rId1"/>
          <a:stretch/>
        </p:blipFill>
        <p:spPr>
          <a:xfrm>
            <a:off x="1828800" y="1295280"/>
            <a:ext cx="5113080" cy="47242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 and spare decoder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2C6B696-302A-41A9-9D7F-CBB9B9FBE8B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2.2  Defective 1D and 2D Arrays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3"/>
          <p:cNvSpPr/>
          <p:nvPr/>
        </p:nvSpPr>
        <p:spPr>
          <a:xfrm>
            <a:off x="0" y="303840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 Box 436"/>
          <p:cNvSpPr/>
          <p:nvPr/>
        </p:nvSpPr>
        <p:spPr>
          <a:xfrm>
            <a:off x="380880" y="990360"/>
            <a:ext cx="83059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Multiple resources on a chip not a challenge if they are independent in logic and I/O connections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Text Box 458"/>
          <p:cNvSpPr/>
          <p:nvPr/>
        </p:nvSpPr>
        <p:spPr>
          <a:xfrm>
            <a:off x="380880" y="1828800"/>
            <a:ext cx="8305920" cy="1464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Example: To build an MPP out of 64-processor chips, one might place 72 processors on each chip to allow for up to 8 defective processors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Given the probability of a processor (including its external connections) being defective, the chip yield can be modeled as a 64-out-of-72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25" name="Group 518"/>
          <p:cNvGrpSpPr/>
          <p:nvPr/>
        </p:nvGrpSpPr>
        <p:grpSpPr>
          <a:xfrm>
            <a:off x="380880" y="3429000"/>
            <a:ext cx="8305920" cy="2666880"/>
            <a:chOff x="380880" y="3429000"/>
            <a:chExt cx="8305920" cy="2666880"/>
          </a:xfrm>
        </p:grpSpPr>
        <p:sp>
          <p:nvSpPr>
            <p:cNvPr id="426" name="Rectangle 464"/>
            <p:cNvSpPr/>
            <p:nvPr/>
          </p:nvSpPr>
          <p:spPr>
            <a:xfrm>
              <a:off x="1600200" y="4343400"/>
              <a:ext cx="1904760" cy="1676520"/>
            </a:xfrm>
            <a:prstGeom prst="rect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7" name="Text Box 459"/>
            <p:cNvSpPr/>
            <p:nvPr/>
          </p:nvSpPr>
          <p:spPr>
            <a:xfrm>
              <a:off x="380880" y="3429000"/>
              <a:ext cx="830592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In practice, we interconnect such processors on the chip to allow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higher-bandwidth interprocessor communication and I/O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8" name="Rectangle 460"/>
            <p:cNvSpPr/>
            <p:nvPr/>
          </p:nvSpPr>
          <p:spPr>
            <a:xfrm>
              <a:off x="1752480" y="4495680"/>
              <a:ext cx="609480" cy="53352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9" name="Rectangle 461"/>
            <p:cNvSpPr/>
            <p:nvPr/>
          </p:nvSpPr>
          <p:spPr>
            <a:xfrm>
              <a:off x="2743200" y="4495680"/>
              <a:ext cx="609480" cy="53352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0" name="Rectangle 462"/>
            <p:cNvSpPr/>
            <p:nvPr/>
          </p:nvSpPr>
          <p:spPr>
            <a:xfrm>
              <a:off x="1752480" y="5334120"/>
              <a:ext cx="609480" cy="53316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1" name="Rectangle 463"/>
            <p:cNvSpPr/>
            <p:nvPr/>
          </p:nvSpPr>
          <p:spPr>
            <a:xfrm>
              <a:off x="2743200" y="5334120"/>
              <a:ext cx="609480" cy="53316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2" name="Line 465"/>
            <p:cNvSpPr/>
            <p:nvPr/>
          </p:nvSpPr>
          <p:spPr>
            <a:xfrm>
              <a:off x="3352680" y="472428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3" name="Line 466"/>
            <p:cNvSpPr/>
            <p:nvPr/>
          </p:nvSpPr>
          <p:spPr>
            <a:xfrm flipV="1">
              <a:off x="3124080" y="426672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4" name="Line 467"/>
            <p:cNvSpPr/>
            <p:nvPr/>
          </p:nvSpPr>
          <p:spPr>
            <a:xfrm>
              <a:off x="3352680" y="563868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5" name="Line 468"/>
            <p:cNvSpPr/>
            <p:nvPr/>
          </p:nvSpPr>
          <p:spPr>
            <a:xfrm>
              <a:off x="1447560" y="472428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6" name="Line 469"/>
            <p:cNvSpPr/>
            <p:nvPr/>
          </p:nvSpPr>
          <p:spPr>
            <a:xfrm>
              <a:off x="1447560" y="563868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7" name="Line 470"/>
            <p:cNvSpPr/>
            <p:nvPr/>
          </p:nvSpPr>
          <p:spPr>
            <a:xfrm>
              <a:off x="3124080" y="586728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8" name="Line 471"/>
            <p:cNvSpPr/>
            <p:nvPr/>
          </p:nvSpPr>
          <p:spPr>
            <a:xfrm flipV="1">
              <a:off x="1981080" y="426672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9" name="Line 472"/>
            <p:cNvSpPr/>
            <p:nvPr/>
          </p:nvSpPr>
          <p:spPr>
            <a:xfrm>
              <a:off x="1981080" y="586728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0" name="Line 473"/>
            <p:cNvSpPr/>
            <p:nvPr/>
          </p:nvSpPr>
          <p:spPr>
            <a:xfrm flipV="1">
              <a:off x="3124080" y="5257800"/>
              <a:ext cx="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1" name="Line 474"/>
            <p:cNvSpPr/>
            <p:nvPr/>
          </p:nvSpPr>
          <p:spPr>
            <a:xfrm>
              <a:off x="3124080" y="5257800"/>
              <a:ext cx="533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2" name="Line 475"/>
            <p:cNvSpPr/>
            <p:nvPr/>
          </p:nvSpPr>
          <p:spPr>
            <a:xfrm flipV="1">
              <a:off x="1981080" y="5257800"/>
              <a:ext cx="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3" name="Line 476"/>
            <p:cNvSpPr/>
            <p:nvPr/>
          </p:nvSpPr>
          <p:spPr>
            <a:xfrm>
              <a:off x="1447560" y="5257800"/>
              <a:ext cx="533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4" name="Line 477"/>
            <p:cNvSpPr/>
            <p:nvPr/>
          </p:nvSpPr>
          <p:spPr>
            <a:xfrm flipV="1">
              <a:off x="3124080" y="5029200"/>
              <a:ext cx="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5" name="Line 478"/>
            <p:cNvSpPr/>
            <p:nvPr/>
          </p:nvSpPr>
          <p:spPr>
            <a:xfrm>
              <a:off x="3124080" y="5105520"/>
              <a:ext cx="533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6" name="Line 479"/>
            <p:cNvSpPr/>
            <p:nvPr/>
          </p:nvSpPr>
          <p:spPr>
            <a:xfrm flipV="1">
              <a:off x="1981080" y="5029200"/>
              <a:ext cx="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7" name="Line 480"/>
            <p:cNvSpPr/>
            <p:nvPr/>
          </p:nvSpPr>
          <p:spPr>
            <a:xfrm>
              <a:off x="1447560" y="5105520"/>
              <a:ext cx="533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8" name="Line 481"/>
            <p:cNvSpPr/>
            <p:nvPr/>
          </p:nvSpPr>
          <p:spPr>
            <a:xfrm flipH="1">
              <a:off x="2666880" y="4724280"/>
              <a:ext cx="763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9" name="Line 482"/>
            <p:cNvSpPr/>
            <p:nvPr/>
          </p:nvSpPr>
          <p:spPr>
            <a:xfrm flipV="1">
              <a:off x="2666880" y="42670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0" name="Line 483"/>
            <p:cNvSpPr/>
            <p:nvPr/>
          </p:nvSpPr>
          <p:spPr>
            <a:xfrm flipH="1">
              <a:off x="2361960" y="4724280"/>
              <a:ext cx="763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1" name="Line 484"/>
            <p:cNvSpPr/>
            <p:nvPr/>
          </p:nvSpPr>
          <p:spPr>
            <a:xfrm flipV="1">
              <a:off x="2438280" y="42670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2" name="Line 485"/>
            <p:cNvSpPr/>
            <p:nvPr/>
          </p:nvSpPr>
          <p:spPr>
            <a:xfrm flipH="1">
              <a:off x="2666880" y="5638680"/>
              <a:ext cx="763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3" name="Line 486"/>
            <p:cNvSpPr/>
            <p:nvPr/>
          </p:nvSpPr>
          <p:spPr>
            <a:xfrm flipV="1">
              <a:off x="2666880" y="56386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4" name="Line 487"/>
            <p:cNvSpPr/>
            <p:nvPr/>
          </p:nvSpPr>
          <p:spPr>
            <a:xfrm flipH="1">
              <a:off x="2361960" y="5638680"/>
              <a:ext cx="763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5" name="Line 488"/>
            <p:cNvSpPr/>
            <p:nvPr/>
          </p:nvSpPr>
          <p:spPr>
            <a:xfrm flipV="1">
              <a:off x="2438280" y="56386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6" name="Rectangle 489"/>
            <p:cNvSpPr/>
            <p:nvPr/>
          </p:nvSpPr>
          <p:spPr>
            <a:xfrm>
              <a:off x="5410080" y="4343400"/>
              <a:ext cx="1905120" cy="1676520"/>
            </a:xfrm>
            <a:prstGeom prst="rect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7" name="Rectangle 490"/>
            <p:cNvSpPr/>
            <p:nvPr/>
          </p:nvSpPr>
          <p:spPr>
            <a:xfrm>
              <a:off x="5562360" y="4495680"/>
              <a:ext cx="609840" cy="53352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8" name="Rectangle 491"/>
            <p:cNvSpPr/>
            <p:nvPr/>
          </p:nvSpPr>
          <p:spPr>
            <a:xfrm>
              <a:off x="6553080" y="4495680"/>
              <a:ext cx="609480" cy="53352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9" name="Rectangle 492"/>
            <p:cNvSpPr/>
            <p:nvPr/>
          </p:nvSpPr>
          <p:spPr>
            <a:xfrm>
              <a:off x="5562360" y="5334120"/>
              <a:ext cx="609840" cy="53316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0" name="Rectangle 493"/>
            <p:cNvSpPr/>
            <p:nvPr/>
          </p:nvSpPr>
          <p:spPr>
            <a:xfrm>
              <a:off x="6553080" y="5334120"/>
              <a:ext cx="609480" cy="533160"/>
            </a:xfrm>
            <a:prstGeom prst="rect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1" name="Line 494"/>
            <p:cNvSpPr/>
            <p:nvPr/>
          </p:nvSpPr>
          <p:spPr>
            <a:xfrm>
              <a:off x="7162560" y="4724280"/>
              <a:ext cx="3049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2" name="Line 495"/>
            <p:cNvSpPr/>
            <p:nvPr/>
          </p:nvSpPr>
          <p:spPr>
            <a:xfrm flipV="1">
              <a:off x="6933960" y="4266720"/>
              <a:ext cx="0" cy="228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3" name="Line 496"/>
            <p:cNvSpPr/>
            <p:nvPr/>
          </p:nvSpPr>
          <p:spPr>
            <a:xfrm>
              <a:off x="7162560" y="5638680"/>
              <a:ext cx="3049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4" name="Line 497"/>
            <p:cNvSpPr/>
            <p:nvPr/>
          </p:nvSpPr>
          <p:spPr>
            <a:xfrm>
              <a:off x="5257800" y="4724280"/>
              <a:ext cx="30456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5" name="Line 498"/>
            <p:cNvSpPr/>
            <p:nvPr/>
          </p:nvSpPr>
          <p:spPr>
            <a:xfrm>
              <a:off x="5257800" y="5638680"/>
              <a:ext cx="30456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6" name="Line 499"/>
            <p:cNvSpPr/>
            <p:nvPr/>
          </p:nvSpPr>
          <p:spPr>
            <a:xfrm>
              <a:off x="6933960" y="5867280"/>
              <a:ext cx="0" cy="228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7" name="Line 500"/>
            <p:cNvSpPr/>
            <p:nvPr/>
          </p:nvSpPr>
          <p:spPr>
            <a:xfrm flipV="1">
              <a:off x="5790960" y="4266720"/>
              <a:ext cx="0" cy="228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8" name="Line 501"/>
            <p:cNvSpPr/>
            <p:nvPr/>
          </p:nvSpPr>
          <p:spPr>
            <a:xfrm>
              <a:off x="5790960" y="5867280"/>
              <a:ext cx="0" cy="228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9" name="Line 506"/>
            <p:cNvSpPr/>
            <p:nvPr/>
          </p:nvSpPr>
          <p:spPr>
            <a:xfrm flipV="1">
              <a:off x="6933960" y="5028840"/>
              <a:ext cx="0" cy="30492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0" name="Line 508"/>
            <p:cNvSpPr/>
            <p:nvPr/>
          </p:nvSpPr>
          <p:spPr>
            <a:xfrm flipV="1">
              <a:off x="5790960" y="5028840"/>
              <a:ext cx="0" cy="30492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1" name="Line 512"/>
            <p:cNvSpPr/>
            <p:nvPr/>
          </p:nvSpPr>
          <p:spPr>
            <a:xfrm flipH="1">
              <a:off x="6172200" y="4724280"/>
              <a:ext cx="38088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2" name="Line 516"/>
            <p:cNvSpPr/>
            <p:nvPr/>
          </p:nvSpPr>
          <p:spPr>
            <a:xfrm flipH="1">
              <a:off x="6172200" y="5638680"/>
              <a:ext cx="38088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ED5EF05-15C1-4B91-850C-9248F0906A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Defect Circumvention in Regular Arrays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3"/>
          <p:cNvSpPr/>
          <p:nvPr/>
        </p:nvSpPr>
        <p:spPr>
          <a:xfrm>
            <a:off x="0" y="303840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76" name="Group 4"/>
          <p:cNvGrpSpPr/>
          <p:nvPr/>
        </p:nvGrpSpPr>
        <p:grpSpPr>
          <a:xfrm>
            <a:off x="5105160" y="990360"/>
            <a:ext cx="3657600" cy="457200"/>
            <a:chOff x="5105160" y="990360"/>
            <a:chExt cx="3657600" cy="457200"/>
          </a:xfrm>
        </p:grpSpPr>
        <p:grpSp>
          <p:nvGrpSpPr>
            <p:cNvPr id="477" name="Group 5"/>
            <p:cNvGrpSpPr/>
            <p:nvPr/>
          </p:nvGrpSpPr>
          <p:grpSpPr>
            <a:xfrm>
              <a:off x="5105160" y="990360"/>
              <a:ext cx="457200" cy="457200"/>
              <a:chOff x="5105160" y="990360"/>
              <a:chExt cx="457200" cy="457200"/>
            </a:xfrm>
          </p:grpSpPr>
          <p:sp>
            <p:nvSpPr>
              <p:cNvPr id="478" name="Line 6"/>
              <p:cNvSpPr/>
              <p:nvPr/>
            </p:nvSpPr>
            <p:spPr>
              <a:xfrm>
                <a:off x="51051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9" name="Line 7"/>
              <p:cNvSpPr/>
              <p:nvPr/>
            </p:nvSpPr>
            <p:spPr>
              <a:xfrm flipV="1">
                <a:off x="51051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0" name="Line 8"/>
              <p:cNvSpPr/>
              <p:nvPr/>
            </p:nvSpPr>
            <p:spPr>
              <a:xfrm>
                <a:off x="51051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1" name="Line 9"/>
              <p:cNvSpPr/>
              <p:nvPr/>
            </p:nvSpPr>
            <p:spPr>
              <a:xfrm>
                <a:off x="53337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2" name="Rectangle 10"/>
              <p:cNvSpPr/>
              <p:nvPr/>
            </p:nvSpPr>
            <p:spPr>
              <a:xfrm>
                <a:off x="51811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83" name="Group 11"/>
            <p:cNvGrpSpPr/>
            <p:nvPr/>
          </p:nvGrpSpPr>
          <p:grpSpPr>
            <a:xfrm>
              <a:off x="5562360" y="990360"/>
              <a:ext cx="457200" cy="457200"/>
              <a:chOff x="5562360" y="990360"/>
              <a:chExt cx="457200" cy="457200"/>
            </a:xfrm>
          </p:grpSpPr>
          <p:sp>
            <p:nvSpPr>
              <p:cNvPr id="484" name="Line 12"/>
              <p:cNvSpPr/>
              <p:nvPr/>
            </p:nvSpPr>
            <p:spPr>
              <a:xfrm>
                <a:off x="55623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5" name="Line 13"/>
              <p:cNvSpPr/>
              <p:nvPr/>
            </p:nvSpPr>
            <p:spPr>
              <a:xfrm flipV="1">
                <a:off x="55623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6" name="Line 14"/>
              <p:cNvSpPr/>
              <p:nvPr/>
            </p:nvSpPr>
            <p:spPr>
              <a:xfrm>
                <a:off x="55623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7" name="Line 15"/>
              <p:cNvSpPr/>
              <p:nvPr/>
            </p:nvSpPr>
            <p:spPr>
              <a:xfrm>
                <a:off x="57909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8" name="Rectangle 16"/>
              <p:cNvSpPr/>
              <p:nvPr/>
            </p:nvSpPr>
            <p:spPr>
              <a:xfrm>
                <a:off x="56383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89" name="Group 17"/>
            <p:cNvGrpSpPr/>
            <p:nvPr/>
          </p:nvGrpSpPr>
          <p:grpSpPr>
            <a:xfrm>
              <a:off x="6019560" y="990360"/>
              <a:ext cx="457200" cy="457200"/>
              <a:chOff x="6019560" y="990360"/>
              <a:chExt cx="457200" cy="457200"/>
            </a:xfrm>
          </p:grpSpPr>
          <p:sp>
            <p:nvSpPr>
              <p:cNvPr id="490" name="Line 18"/>
              <p:cNvSpPr/>
              <p:nvPr/>
            </p:nvSpPr>
            <p:spPr>
              <a:xfrm>
                <a:off x="60195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1" name="Line 19"/>
              <p:cNvSpPr/>
              <p:nvPr/>
            </p:nvSpPr>
            <p:spPr>
              <a:xfrm flipV="1">
                <a:off x="60195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2" name="Line 20"/>
              <p:cNvSpPr/>
              <p:nvPr/>
            </p:nvSpPr>
            <p:spPr>
              <a:xfrm>
                <a:off x="60195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3" name="Line 21"/>
              <p:cNvSpPr/>
              <p:nvPr/>
            </p:nvSpPr>
            <p:spPr>
              <a:xfrm>
                <a:off x="62481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4" name="Rectangle 22"/>
              <p:cNvSpPr/>
              <p:nvPr/>
            </p:nvSpPr>
            <p:spPr>
              <a:xfrm>
                <a:off x="60955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95" name="Group 23"/>
            <p:cNvGrpSpPr/>
            <p:nvPr/>
          </p:nvGrpSpPr>
          <p:grpSpPr>
            <a:xfrm>
              <a:off x="6476760" y="990360"/>
              <a:ext cx="457200" cy="457200"/>
              <a:chOff x="6476760" y="990360"/>
              <a:chExt cx="457200" cy="457200"/>
            </a:xfrm>
          </p:grpSpPr>
          <p:sp>
            <p:nvSpPr>
              <p:cNvPr id="496" name="Line 24"/>
              <p:cNvSpPr/>
              <p:nvPr/>
            </p:nvSpPr>
            <p:spPr>
              <a:xfrm>
                <a:off x="64767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7" name="Line 25"/>
              <p:cNvSpPr/>
              <p:nvPr/>
            </p:nvSpPr>
            <p:spPr>
              <a:xfrm flipV="1">
                <a:off x="64767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8" name="Line 26"/>
              <p:cNvSpPr/>
              <p:nvPr/>
            </p:nvSpPr>
            <p:spPr>
              <a:xfrm>
                <a:off x="64767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9" name="Line 27"/>
              <p:cNvSpPr/>
              <p:nvPr/>
            </p:nvSpPr>
            <p:spPr>
              <a:xfrm>
                <a:off x="67053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0" name="Rectangle 28"/>
              <p:cNvSpPr/>
              <p:nvPr/>
            </p:nvSpPr>
            <p:spPr>
              <a:xfrm>
                <a:off x="65527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01" name="Group 29"/>
            <p:cNvGrpSpPr/>
            <p:nvPr/>
          </p:nvGrpSpPr>
          <p:grpSpPr>
            <a:xfrm>
              <a:off x="6933960" y="990360"/>
              <a:ext cx="457200" cy="457200"/>
              <a:chOff x="6933960" y="990360"/>
              <a:chExt cx="457200" cy="457200"/>
            </a:xfrm>
          </p:grpSpPr>
          <p:sp>
            <p:nvSpPr>
              <p:cNvPr id="502" name="Line 30"/>
              <p:cNvSpPr/>
              <p:nvPr/>
            </p:nvSpPr>
            <p:spPr>
              <a:xfrm>
                <a:off x="69339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3" name="Line 31"/>
              <p:cNvSpPr/>
              <p:nvPr/>
            </p:nvSpPr>
            <p:spPr>
              <a:xfrm flipV="1">
                <a:off x="69339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4" name="Line 32"/>
              <p:cNvSpPr/>
              <p:nvPr/>
            </p:nvSpPr>
            <p:spPr>
              <a:xfrm>
                <a:off x="69339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5" name="Line 33"/>
              <p:cNvSpPr/>
              <p:nvPr/>
            </p:nvSpPr>
            <p:spPr>
              <a:xfrm>
                <a:off x="71625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6" name="Rectangle 34"/>
              <p:cNvSpPr/>
              <p:nvPr/>
            </p:nvSpPr>
            <p:spPr>
              <a:xfrm>
                <a:off x="70099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07" name="Group 35"/>
            <p:cNvGrpSpPr/>
            <p:nvPr/>
          </p:nvGrpSpPr>
          <p:grpSpPr>
            <a:xfrm>
              <a:off x="7391160" y="990360"/>
              <a:ext cx="457200" cy="457200"/>
              <a:chOff x="7391160" y="990360"/>
              <a:chExt cx="457200" cy="457200"/>
            </a:xfrm>
          </p:grpSpPr>
          <p:sp>
            <p:nvSpPr>
              <p:cNvPr id="508" name="Line 36"/>
              <p:cNvSpPr/>
              <p:nvPr/>
            </p:nvSpPr>
            <p:spPr>
              <a:xfrm>
                <a:off x="73911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9" name="Line 37"/>
              <p:cNvSpPr/>
              <p:nvPr/>
            </p:nvSpPr>
            <p:spPr>
              <a:xfrm flipV="1">
                <a:off x="73911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0" name="Line 38"/>
              <p:cNvSpPr/>
              <p:nvPr/>
            </p:nvSpPr>
            <p:spPr>
              <a:xfrm>
                <a:off x="73911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1" name="Line 39"/>
              <p:cNvSpPr/>
              <p:nvPr/>
            </p:nvSpPr>
            <p:spPr>
              <a:xfrm>
                <a:off x="76197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2" name="Rectangle 40"/>
              <p:cNvSpPr/>
              <p:nvPr/>
            </p:nvSpPr>
            <p:spPr>
              <a:xfrm>
                <a:off x="74671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13" name="Group 41"/>
            <p:cNvGrpSpPr/>
            <p:nvPr/>
          </p:nvGrpSpPr>
          <p:grpSpPr>
            <a:xfrm>
              <a:off x="7848360" y="990360"/>
              <a:ext cx="457200" cy="457200"/>
              <a:chOff x="7848360" y="990360"/>
              <a:chExt cx="457200" cy="457200"/>
            </a:xfrm>
          </p:grpSpPr>
          <p:sp>
            <p:nvSpPr>
              <p:cNvPr id="514" name="Line 42"/>
              <p:cNvSpPr/>
              <p:nvPr/>
            </p:nvSpPr>
            <p:spPr>
              <a:xfrm>
                <a:off x="78483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5" name="Line 43"/>
              <p:cNvSpPr/>
              <p:nvPr/>
            </p:nvSpPr>
            <p:spPr>
              <a:xfrm flipV="1">
                <a:off x="78483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6" name="Line 44"/>
              <p:cNvSpPr/>
              <p:nvPr/>
            </p:nvSpPr>
            <p:spPr>
              <a:xfrm>
                <a:off x="78483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7" name="Line 45"/>
              <p:cNvSpPr/>
              <p:nvPr/>
            </p:nvSpPr>
            <p:spPr>
              <a:xfrm>
                <a:off x="80769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8" name="Rectangle 46"/>
              <p:cNvSpPr/>
              <p:nvPr/>
            </p:nvSpPr>
            <p:spPr>
              <a:xfrm>
                <a:off x="79243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19" name="Group 47"/>
            <p:cNvGrpSpPr/>
            <p:nvPr/>
          </p:nvGrpSpPr>
          <p:grpSpPr>
            <a:xfrm>
              <a:off x="8305560" y="990360"/>
              <a:ext cx="457200" cy="457200"/>
              <a:chOff x="8305560" y="990360"/>
              <a:chExt cx="457200" cy="457200"/>
            </a:xfrm>
          </p:grpSpPr>
          <p:sp>
            <p:nvSpPr>
              <p:cNvPr id="520" name="Line 48"/>
              <p:cNvSpPr/>
              <p:nvPr/>
            </p:nvSpPr>
            <p:spPr>
              <a:xfrm>
                <a:off x="83055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1" name="Line 49"/>
              <p:cNvSpPr/>
              <p:nvPr/>
            </p:nvSpPr>
            <p:spPr>
              <a:xfrm flipV="1">
                <a:off x="8305560" y="990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2" name="Line 50"/>
              <p:cNvSpPr/>
              <p:nvPr/>
            </p:nvSpPr>
            <p:spPr>
              <a:xfrm>
                <a:off x="8305560" y="1218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3" name="Line 51"/>
              <p:cNvSpPr/>
              <p:nvPr/>
            </p:nvSpPr>
            <p:spPr>
              <a:xfrm>
                <a:off x="8534160" y="990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4" name="Rectangle 52"/>
              <p:cNvSpPr/>
              <p:nvPr/>
            </p:nvSpPr>
            <p:spPr>
              <a:xfrm>
                <a:off x="8381520" y="1066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525" name="Group 53"/>
          <p:cNvGrpSpPr/>
          <p:nvPr/>
        </p:nvGrpSpPr>
        <p:grpSpPr>
          <a:xfrm>
            <a:off x="5105160" y="1447560"/>
            <a:ext cx="3657600" cy="457200"/>
            <a:chOff x="5105160" y="1447560"/>
            <a:chExt cx="3657600" cy="457200"/>
          </a:xfrm>
        </p:grpSpPr>
        <p:grpSp>
          <p:nvGrpSpPr>
            <p:cNvPr id="526" name="Group 54"/>
            <p:cNvGrpSpPr/>
            <p:nvPr/>
          </p:nvGrpSpPr>
          <p:grpSpPr>
            <a:xfrm>
              <a:off x="5105160" y="1447560"/>
              <a:ext cx="457200" cy="457200"/>
              <a:chOff x="5105160" y="1447560"/>
              <a:chExt cx="457200" cy="457200"/>
            </a:xfrm>
          </p:grpSpPr>
          <p:sp>
            <p:nvSpPr>
              <p:cNvPr id="527" name="Line 55"/>
              <p:cNvSpPr/>
              <p:nvPr/>
            </p:nvSpPr>
            <p:spPr>
              <a:xfrm>
                <a:off x="51051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8" name="Line 56"/>
              <p:cNvSpPr/>
              <p:nvPr/>
            </p:nvSpPr>
            <p:spPr>
              <a:xfrm flipV="1">
                <a:off x="51051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9" name="Line 57"/>
              <p:cNvSpPr/>
              <p:nvPr/>
            </p:nvSpPr>
            <p:spPr>
              <a:xfrm>
                <a:off x="51051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0" name="Line 58"/>
              <p:cNvSpPr/>
              <p:nvPr/>
            </p:nvSpPr>
            <p:spPr>
              <a:xfrm>
                <a:off x="53337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1" name="Rectangle 59"/>
              <p:cNvSpPr/>
              <p:nvPr/>
            </p:nvSpPr>
            <p:spPr>
              <a:xfrm>
                <a:off x="51811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32" name="Group 60"/>
            <p:cNvGrpSpPr/>
            <p:nvPr/>
          </p:nvGrpSpPr>
          <p:grpSpPr>
            <a:xfrm>
              <a:off x="5562360" y="1447560"/>
              <a:ext cx="457200" cy="457200"/>
              <a:chOff x="5562360" y="1447560"/>
              <a:chExt cx="457200" cy="457200"/>
            </a:xfrm>
          </p:grpSpPr>
          <p:sp>
            <p:nvSpPr>
              <p:cNvPr id="533" name="Line 61"/>
              <p:cNvSpPr/>
              <p:nvPr/>
            </p:nvSpPr>
            <p:spPr>
              <a:xfrm>
                <a:off x="55623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4" name="Line 62"/>
              <p:cNvSpPr/>
              <p:nvPr/>
            </p:nvSpPr>
            <p:spPr>
              <a:xfrm flipV="1">
                <a:off x="55623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5" name="Line 63"/>
              <p:cNvSpPr/>
              <p:nvPr/>
            </p:nvSpPr>
            <p:spPr>
              <a:xfrm>
                <a:off x="55623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6" name="Line 64"/>
              <p:cNvSpPr/>
              <p:nvPr/>
            </p:nvSpPr>
            <p:spPr>
              <a:xfrm>
                <a:off x="57909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7" name="Rectangle 65"/>
              <p:cNvSpPr/>
              <p:nvPr/>
            </p:nvSpPr>
            <p:spPr>
              <a:xfrm>
                <a:off x="56383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38" name="Group 66"/>
            <p:cNvGrpSpPr/>
            <p:nvPr/>
          </p:nvGrpSpPr>
          <p:grpSpPr>
            <a:xfrm>
              <a:off x="6019560" y="1447560"/>
              <a:ext cx="457200" cy="457200"/>
              <a:chOff x="6019560" y="1447560"/>
              <a:chExt cx="457200" cy="457200"/>
            </a:xfrm>
          </p:grpSpPr>
          <p:sp>
            <p:nvSpPr>
              <p:cNvPr id="539" name="Line 67"/>
              <p:cNvSpPr/>
              <p:nvPr/>
            </p:nvSpPr>
            <p:spPr>
              <a:xfrm>
                <a:off x="60195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0" name="Line 68"/>
              <p:cNvSpPr/>
              <p:nvPr/>
            </p:nvSpPr>
            <p:spPr>
              <a:xfrm flipV="1">
                <a:off x="60195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1" name="Line 69"/>
              <p:cNvSpPr/>
              <p:nvPr/>
            </p:nvSpPr>
            <p:spPr>
              <a:xfrm>
                <a:off x="60195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2" name="Line 70"/>
              <p:cNvSpPr/>
              <p:nvPr/>
            </p:nvSpPr>
            <p:spPr>
              <a:xfrm>
                <a:off x="62481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3" name="Rectangle 71"/>
              <p:cNvSpPr/>
              <p:nvPr/>
            </p:nvSpPr>
            <p:spPr>
              <a:xfrm>
                <a:off x="60955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44" name="Group 72"/>
            <p:cNvGrpSpPr/>
            <p:nvPr/>
          </p:nvGrpSpPr>
          <p:grpSpPr>
            <a:xfrm>
              <a:off x="6476760" y="1447560"/>
              <a:ext cx="457200" cy="457200"/>
              <a:chOff x="6476760" y="1447560"/>
              <a:chExt cx="457200" cy="457200"/>
            </a:xfrm>
          </p:grpSpPr>
          <p:sp>
            <p:nvSpPr>
              <p:cNvPr id="545" name="Line 73"/>
              <p:cNvSpPr/>
              <p:nvPr/>
            </p:nvSpPr>
            <p:spPr>
              <a:xfrm>
                <a:off x="64767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6" name="Line 74"/>
              <p:cNvSpPr/>
              <p:nvPr/>
            </p:nvSpPr>
            <p:spPr>
              <a:xfrm flipV="1">
                <a:off x="64767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7" name="Line 75"/>
              <p:cNvSpPr/>
              <p:nvPr/>
            </p:nvSpPr>
            <p:spPr>
              <a:xfrm>
                <a:off x="64767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8" name="Line 76"/>
              <p:cNvSpPr/>
              <p:nvPr/>
            </p:nvSpPr>
            <p:spPr>
              <a:xfrm>
                <a:off x="67053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49" name="Rectangle 77"/>
              <p:cNvSpPr/>
              <p:nvPr/>
            </p:nvSpPr>
            <p:spPr>
              <a:xfrm>
                <a:off x="65527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50" name="Group 78"/>
            <p:cNvGrpSpPr/>
            <p:nvPr/>
          </p:nvGrpSpPr>
          <p:grpSpPr>
            <a:xfrm>
              <a:off x="6933960" y="1447560"/>
              <a:ext cx="457200" cy="457200"/>
              <a:chOff x="6933960" y="1447560"/>
              <a:chExt cx="457200" cy="457200"/>
            </a:xfrm>
          </p:grpSpPr>
          <p:sp>
            <p:nvSpPr>
              <p:cNvPr id="551" name="Line 79"/>
              <p:cNvSpPr/>
              <p:nvPr/>
            </p:nvSpPr>
            <p:spPr>
              <a:xfrm>
                <a:off x="69339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2" name="Line 80"/>
              <p:cNvSpPr/>
              <p:nvPr/>
            </p:nvSpPr>
            <p:spPr>
              <a:xfrm flipV="1">
                <a:off x="69339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3" name="Line 81"/>
              <p:cNvSpPr/>
              <p:nvPr/>
            </p:nvSpPr>
            <p:spPr>
              <a:xfrm>
                <a:off x="69339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4" name="Line 82"/>
              <p:cNvSpPr/>
              <p:nvPr/>
            </p:nvSpPr>
            <p:spPr>
              <a:xfrm>
                <a:off x="71625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5" name="Rectangle 83"/>
              <p:cNvSpPr/>
              <p:nvPr/>
            </p:nvSpPr>
            <p:spPr>
              <a:xfrm>
                <a:off x="70099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56" name="Group 84"/>
            <p:cNvGrpSpPr/>
            <p:nvPr/>
          </p:nvGrpSpPr>
          <p:grpSpPr>
            <a:xfrm>
              <a:off x="7391160" y="1447560"/>
              <a:ext cx="457200" cy="457200"/>
              <a:chOff x="7391160" y="1447560"/>
              <a:chExt cx="457200" cy="457200"/>
            </a:xfrm>
          </p:grpSpPr>
          <p:sp>
            <p:nvSpPr>
              <p:cNvPr id="557" name="Line 85"/>
              <p:cNvSpPr/>
              <p:nvPr/>
            </p:nvSpPr>
            <p:spPr>
              <a:xfrm>
                <a:off x="73911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8" name="Line 86"/>
              <p:cNvSpPr/>
              <p:nvPr/>
            </p:nvSpPr>
            <p:spPr>
              <a:xfrm flipV="1">
                <a:off x="73911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9" name="Line 87"/>
              <p:cNvSpPr/>
              <p:nvPr/>
            </p:nvSpPr>
            <p:spPr>
              <a:xfrm>
                <a:off x="73911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0" name="Line 88"/>
              <p:cNvSpPr/>
              <p:nvPr/>
            </p:nvSpPr>
            <p:spPr>
              <a:xfrm>
                <a:off x="76197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1" name="Rectangle 89"/>
              <p:cNvSpPr/>
              <p:nvPr/>
            </p:nvSpPr>
            <p:spPr>
              <a:xfrm>
                <a:off x="74671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62" name="Group 90"/>
            <p:cNvGrpSpPr/>
            <p:nvPr/>
          </p:nvGrpSpPr>
          <p:grpSpPr>
            <a:xfrm>
              <a:off x="7848360" y="1447560"/>
              <a:ext cx="457200" cy="457200"/>
              <a:chOff x="7848360" y="1447560"/>
              <a:chExt cx="457200" cy="457200"/>
            </a:xfrm>
          </p:grpSpPr>
          <p:sp>
            <p:nvSpPr>
              <p:cNvPr id="563" name="Line 91"/>
              <p:cNvSpPr/>
              <p:nvPr/>
            </p:nvSpPr>
            <p:spPr>
              <a:xfrm>
                <a:off x="78483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4" name="Line 92"/>
              <p:cNvSpPr/>
              <p:nvPr/>
            </p:nvSpPr>
            <p:spPr>
              <a:xfrm flipV="1">
                <a:off x="78483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5" name="Line 93"/>
              <p:cNvSpPr/>
              <p:nvPr/>
            </p:nvSpPr>
            <p:spPr>
              <a:xfrm>
                <a:off x="78483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6" name="Line 94"/>
              <p:cNvSpPr/>
              <p:nvPr/>
            </p:nvSpPr>
            <p:spPr>
              <a:xfrm>
                <a:off x="80769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7" name="Rectangle 95"/>
              <p:cNvSpPr/>
              <p:nvPr/>
            </p:nvSpPr>
            <p:spPr>
              <a:xfrm>
                <a:off x="79243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68" name="Group 96"/>
            <p:cNvGrpSpPr/>
            <p:nvPr/>
          </p:nvGrpSpPr>
          <p:grpSpPr>
            <a:xfrm>
              <a:off x="8305560" y="1447560"/>
              <a:ext cx="457200" cy="457200"/>
              <a:chOff x="8305560" y="1447560"/>
              <a:chExt cx="457200" cy="457200"/>
            </a:xfrm>
          </p:grpSpPr>
          <p:sp>
            <p:nvSpPr>
              <p:cNvPr id="569" name="Line 97"/>
              <p:cNvSpPr/>
              <p:nvPr/>
            </p:nvSpPr>
            <p:spPr>
              <a:xfrm>
                <a:off x="83055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0" name="Line 98"/>
              <p:cNvSpPr/>
              <p:nvPr/>
            </p:nvSpPr>
            <p:spPr>
              <a:xfrm flipV="1">
                <a:off x="8305560" y="1447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1" name="Line 99"/>
              <p:cNvSpPr/>
              <p:nvPr/>
            </p:nvSpPr>
            <p:spPr>
              <a:xfrm>
                <a:off x="8305560" y="1676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2" name="Line 100"/>
              <p:cNvSpPr/>
              <p:nvPr/>
            </p:nvSpPr>
            <p:spPr>
              <a:xfrm>
                <a:off x="8534160" y="1447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3" name="Rectangle 101"/>
              <p:cNvSpPr/>
              <p:nvPr/>
            </p:nvSpPr>
            <p:spPr>
              <a:xfrm>
                <a:off x="8381520" y="1523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574" name="Group 102"/>
          <p:cNvGrpSpPr/>
          <p:nvPr/>
        </p:nvGrpSpPr>
        <p:grpSpPr>
          <a:xfrm>
            <a:off x="5105160" y="1904760"/>
            <a:ext cx="3657600" cy="457200"/>
            <a:chOff x="5105160" y="1904760"/>
            <a:chExt cx="3657600" cy="457200"/>
          </a:xfrm>
        </p:grpSpPr>
        <p:grpSp>
          <p:nvGrpSpPr>
            <p:cNvPr id="575" name="Group 103"/>
            <p:cNvGrpSpPr/>
            <p:nvPr/>
          </p:nvGrpSpPr>
          <p:grpSpPr>
            <a:xfrm>
              <a:off x="5105160" y="1904760"/>
              <a:ext cx="457200" cy="457200"/>
              <a:chOff x="5105160" y="1904760"/>
              <a:chExt cx="457200" cy="457200"/>
            </a:xfrm>
          </p:grpSpPr>
          <p:sp>
            <p:nvSpPr>
              <p:cNvPr id="576" name="Line 104"/>
              <p:cNvSpPr/>
              <p:nvPr/>
            </p:nvSpPr>
            <p:spPr>
              <a:xfrm>
                <a:off x="51051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7" name="Line 105"/>
              <p:cNvSpPr/>
              <p:nvPr/>
            </p:nvSpPr>
            <p:spPr>
              <a:xfrm flipV="1">
                <a:off x="51051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8" name="Line 106"/>
              <p:cNvSpPr/>
              <p:nvPr/>
            </p:nvSpPr>
            <p:spPr>
              <a:xfrm>
                <a:off x="51051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9" name="Line 107"/>
              <p:cNvSpPr/>
              <p:nvPr/>
            </p:nvSpPr>
            <p:spPr>
              <a:xfrm>
                <a:off x="53337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0" name="Rectangle 108"/>
              <p:cNvSpPr/>
              <p:nvPr/>
            </p:nvSpPr>
            <p:spPr>
              <a:xfrm>
                <a:off x="51811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81" name="Group 109"/>
            <p:cNvGrpSpPr/>
            <p:nvPr/>
          </p:nvGrpSpPr>
          <p:grpSpPr>
            <a:xfrm>
              <a:off x="5562360" y="1904760"/>
              <a:ext cx="457200" cy="457200"/>
              <a:chOff x="5562360" y="1904760"/>
              <a:chExt cx="457200" cy="457200"/>
            </a:xfrm>
          </p:grpSpPr>
          <p:sp>
            <p:nvSpPr>
              <p:cNvPr id="582" name="Line 110"/>
              <p:cNvSpPr/>
              <p:nvPr/>
            </p:nvSpPr>
            <p:spPr>
              <a:xfrm>
                <a:off x="55623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3" name="Line 111"/>
              <p:cNvSpPr/>
              <p:nvPr/>
            </p:nvSpPr>
            <p:spPr>
              <a:xfrm flipV="1">
                <a:off x="55623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4" name="Line 112"/>
              <p:cNvSpPr/>
              <p:nvPr/>
            </p:nvSpPr>
            <p:spPr>
              <a:xfrm>
                <a:off x="55623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5" name="Line 113"/>
              <p:cNvSpPr/>
              <p:nvPr/>
            </p:nvSpPr>
            <p:spPr>
              <a:xfrm>
                <a:off x="57909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6" name="Rectangle 114"/>
              <p:cNvSpPr/>
              <p:nvPr/>
            </p:nvSpPr>
            <p:spPr>
              <a:xfrm>
                <a:off x="56383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87" name="Group 115"/>
            <p:cNvGrpSpPr/>
            <p:nvPr/>
          </p:nvGrpSpPr>
          <p:grpSpPr>
            <a:xfrm>
              <a:off x="6019560" y="1904760"/>
              <a:ext cx="457200" cy="457200"/>
              <a:chOff x="6019560" y="1904760"/>
              <a:chExt cx="457200" cy="457200"/>
            </a:xfrm>
          </p:grpSpPr>
          <p:sp>
            <p:nvSpPr>
              <p:cNvPr id="588" name="Line 116"/>
              <p:cNvSpPr/>
              <p:nvPr/>
            </p:nvSpPr>
            <p:spPr>
              <a:xfrm>
                <a:off x="60195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9" name="Line 117"/>
              <p:cNvSpPr/>
              <p:nvPr/>
            </p:nvSpPr>
            <p:spPr>
              <a:xfrm flipV="1">
                <a:off x="60195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0" name="Line 118"/>
              <p:cNvSpPr/>
              <p:nvPr/>
            </p:nvSpPr>
            <p:spPr>
              <a:xfrm>
                <a:off x="60195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1" name="Line 119"/>
              <p:cNvSpPr/>
              <p:nvPr/>
            </p:nvSpPr>
            <p:spPr>
              <a:xfrm>
                <a:off x="62481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2" name="Rectangle 120"/>
              <p:cNvSpPr/>
              <p:nvPr/>
            </p:nvSpPr>
            <p:spPr>
              <a:xfrm>
                <a:off x="60955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93" name="Group 121"/>
            <p:cNvGrpSpPr/>
            <p:nvPr/>
          </p:nvGrpSpPr>
          <p:grpSpPr>
            <a:xfrm>
              <a:off x="6476760" y="1904760"/>
              <a:ext cx="457200" cy="457200"/>
              <a:chOff x="6476760" y="1904760"/>
              <a:chExt cx="457200" cy="457200"/>
            </a:xfrm>
          </p:grpSpPr>
          <p:sp>
            <p:nvSpPr>
              <p:cNvPr id="594" name="Line 122"/>
              <p:cNvSpPr/>
              <p:nvPr/>
            </p:nvSpPr>
            <p:spPr>
              <a:xfrm>
                <a:off x="64767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5" name="Line 123"/>
              <p:cNvSpPr/>
              <p:nvPr/>
            </p:nvSpPr>
            <p:spPr>
              <a:xfrm flipV="1">
                <a:off x="64767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6" name="Line 124"/>
              <p:cNvSpPr/>
              <p:nvPr/>
            </p:nvSpPr>
            <p:spPr>
              <a:xfrm>
                <a:off x="64767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7" name="Line 125"/>
              <p:cNvSpPr/>
              <p:nvPr/>
            </p:nvSpPr>
            <p:spPr>
              <a:xfrm>
                <a:off x="67053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98" name="Rectangle 126"/>
              <p:cNvSpPr/>
              <p:nvPr/>
            </p:nvSpPr>
            <p:spPr>
              <a:xfrm>
                <a:off x="65527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99" name="Group 127"/>
            <p:cNvGrpSpPr/>
            <p:nvPr/>
          </p:nvGrpSpPr>
          <p:grpSpPr>
            <a:xfrm>
              <a:off x="6933960" y="1904760"/>
              <a:ext cx="457200" cy="457200"/>
              <a:chOff x="6933960" y="1904760"/>
              <a:chExt cx="457200" cy="457200"/>
            </a:xfrm>
          </p:grpSpPr>
          <p:sp>
            <p:nvSpPr>
              <p:cNvPr id="600" name="Line 128"/>
              <p:cNvSpPr/>
              <p:nvPr/>
            </p:nvSpPr>
            <p:spPr>
              <a:xfrm>
                <a:off x="69339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1" name="Line 129"/>
              <p:cNvSpPr/>
              <p:nvPr/>
            </p:nvSpPr>
            <p:spPr>
              <a:xfrm flipV="1">
                <a:off x="69339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2" name="Line 130"/>
              <p:cNvSpPr/>
              <p:nvPr/>
            </p:nvSpPr>
            <p:spPr>
              <a:xfrm>
                <a:off x="69339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3" name="Line 131"/>
              <p:cNvSpPr/>
              <p:nvPr/>
            </p:nvSpPr>
            <p:spPr>
              <a:xfrm>
                <a:off x="71625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4" name="Rectangle 132"/>
              <p:cNvSpPr/>
              <p:nvPr/>
            </p:nvSpPr>
            <p:spPr>
              <a:xfrm>
                <a:off x="70099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05" name="Group 133"/>
            <p:cNvGrpSpPr/>
            <p:nvPr/>
          </p:nvGrpSpPr>
          <p:grpSpPr>
            <a:xfrm>
              <a:off x="7391160" y="1904760"/>
              <a:ext cx="457200" cy="457200"/>
              <a:chOff x="7391160" y="1904760"/>
              <a:chExt cx="457200" cy="457200"/>
            </a:xfrm>
          </p:grpSpPr>
          <p:sp>
            <p:nvSpPr>
              <p:cNvPr id="606" name="Line 134"/>
              <p:cNvSpPr/>
              <p:nvPr/>
            </p:nvSpPr>
            <p:spPr>
              <a:xfrm>
                <a:off x="73911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7" name="Line 135"/>
              <p:cNvSpPr/>
              <p:nvPr/>
            </p:nvSpPr>
            <p:spPr>
              <a:xfrm flipV="1">
                <a:off x="73911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8" name="Line 136"/>
              <p:cNvSpPr/>
              <p:nvPr/>
            </p:nvSpPr>
            <p:spPr>
              <a:xfrm>
                <a:off x="73911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9" name="Line 137"/>
              <p:cNvSpPr/>
              <p:nvPr/>
            </p:nvSpPr>
            <p:spPr>
              <a:xfrm>
                <a:off x="76197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0" name="Rectangle 138"/>
              <p:cNvSpPr/>
              <p:nvPr/>
            </p:nvSpPr>
            <p:spPr>
              <a:xfrm>
                <a:off x="74671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11" name="Group 139"/>
            <p:cNvGrpSpPr/>
            <p:nvPr/>
          </p:nvGrpSpPr>
          <p:grpSpPr>
            <a:xfrm>
              <a:off x="7848360" y="1904760"/>
              <a:ext cx="457200" cy="457200"/>
              <a:chOff x="7848360" y="1904760"/>
              <a:chExt cx="457200" cy="457200"/>
            </a:xfrm>
          </p:grpSpPr>
          <p:sp>
            <p:nvSpPr>
              <p:cNvPr id="612" name="Line 140"/>
              <p:cNvSpPr/>
              <p:nvPr/>
            </p:nvSpPr>
            <p:spPr>
              <a:xfrm>
                <a:off x="78483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3" name="Line 141"/>
              <p:cNvSpPr/>
              <p:nvPr/>
            </p:nvSpPr>
            <p:spPr>
              <a:xfrm flipV="1">
                <a:off x="78483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4" name="Line 142"/>
              <p:cNvSpPr/>
              <p:nvPr/>
            </p:nvSpPr>
            <p:spPr>
              <a:xfrm>
                <a:off x="78483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5" name="Line 143"/>
              <p:cNvSpPr/>
              <p:nvPr/>
            </p:nvSpPr>
            <p:spPr>
              <a:xfrm>
                <a:off x="80769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6" name="Rectangle 144"/>
              <p:cNvSpPr/>
              <p:nvPr/>
            </p:nvSpPr>
            <p:spPr>
              <a:xfrm>
                <a:off x="79243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17" name="Group 145"/>
            <p:cNvGrpSpPr/>
            <p:nvPr/>
          </p:nvGrpSpPr>
          <p:grpSpPr>
            <a:xfrm>
              <a:off x="8305560" y="1904760"/>
              <a:ext cx="457200" cy="457200"/>
              <a:chOff x="8305560" y="1904760"/>
              <a:chExt cx="457200" cy="457200"/>
            </a:xfrm>
          </p:grpSpPr>
          <p:sp>
            <p:nvSpPr>
              <p:cNvPr id="618" name="Line 146"/>
              <p:cNvSpPr/>
              <p:nvPr/>
            </p:nvSpPr>
            <p:spPr>
              <a:xfrm>
                <a:off x="83055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9" name="Line 147"/>
              <p:cNvSpPr/>
              <p:nvPr/>
            </p:nvSpPr>
            <p:spPr>
              <a:xfrm flipV="1">
                <a:off x="8305560" y="1904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0" name="Line 148"/>
              <p:cNvSpPr/>
              <p:nvPr/>
            </p:nvSpPr>
            <p:spPr>
              <a:xfrm>
                <a:off x="8305560" y="2133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1" name="Line 149"/>
              <p:cNvSpPr/>
              <p:nvPr/>
            </p:nvSpPr>
            <p:spPr>
              <a:xfrm>
                <a:off x="8534160" y="1904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2" name="Rectangle 150"/>
              <p:cNvSpPr/>
              <p:nvPr/>
            </p:nvSpPr>
            <p:spPr>
              <a:xfrm>
                <a:off x="8381520" y="1981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623" name="Group 151"/>
          <p:cNvGrpSpPr/>
          <p:nvPr/>
        </p:nvGrpSpPr>
        <p:grpSpPr>
          <a:xfrm>
            <a:off x="5105160" y="2361960"/>
            <a:ext cx="3657600" cy="457200"/>
            <a:chOff x="5105160" y="2361960"/>
            <a:chExt cx="3657600" cy="457200"/>
          </a:xfrm>
        </p:grpSpPr>
        <p:grpSp>
          <p:nvGrpSpPr>
            <p:cNvPr id="624" name="Group 152"/>
            <p:cNvGrpSpPr/>
            <p:nvPr/>
          </p:nvGrpSpPr>
          <p:grpSpPr>
            <a:xfrm>
              <a:off x="5105160" y="2361960"/>
              <a:ext cx="457200" cy="457200"/>
              <a:chOff x="5105160" y="2361960"/>
              <a:chExt cx="457200" cy="457200"/>
            </a:xfrm>
          </p:grpSpPr>
          <p:sp>
            <p:nvSpPr>
              <p:cNvPr id="625" name="Line 153"/>
              <p:cNvSpPr/>
              <p:nvPr/>
            </p:nvSpPr>
            <p:spPr>
              <a:xfrm>
                <a:off x="51051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6" name="Line 154"/>
              <p:cNvSpPr/>
              <p:nvPr/>
            </p:nvSpPr>
            <p:spPr>
              <a:xfrm flipV="1">
                <a:off x="51051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7" name="Line 155"/>
              <p:cNvSpPr/>
              <p:nvPr/>
            </p:nvSpPr>
            <p:spPr>
              <a:xfrm>
                <a:off x="51051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8" name="Line 156"/>
              <p:cNvSpPr/>
              <p:nvPr/>
            </p:nvSpPr>
            <p:spPr>
              <a:xfrm>
                <a:off x="53337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9" name="Rectangle 157"/>
              <p:cNvSpPr/>
              <p:nvPr/>
            </p:nvSpPr>
            <p:spPr>
              <a:xfrm>
                <a:off x="51811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30" name="Group 158"/>
            <p:cNvGrpSpPr/>
            <p:nvPr/>
          </p:nvGrpSpPr>
          <p:grpSpPr>
            <a:xfrm>
              <a:off x="5562360" y="2361960"/>
              <a:ext cx="457200" cy="457200"/>
              <a:chOff x="5562360" y="2361960"/>
              <a:chExt cx="457200" cy="457200"/>
            </a:xfrm>
          </p:grpSpPr>
          <p:sp>
            <p:nvSpPr>
              <p:cNvPr id="631" name="Line 159"/>
              <p:cNvSpPr/>
              <p:nvPr/>
            </p:nvSpPr>
            <p:spPr>
              <a:xfrm>
                <a:off x="55623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2" name="Line 160"/>
              <p:cNvSpPr/>
              <p:nvPr/>
            </p:nvSpPr>
            <p:spPr>
              <a:xfrm flipV="1">
                <a:off x="55623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3" name="Line 161"/>
              <p:cNvSpPr/>
              <p:nvPr/>
            </p:nvSpPr>
            <p:spPr>
              <a:xfrm>
                <a:off x="55623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4" name="Line 162"/>
              <p:cNvSpPr/>
              <p:nvPr/>
            </p:nvSpPr>
            <p:spPr>
              <a:xfrm>
                <a:off x="57909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5" name="Rectangle 163"/>
              <p:cNvSpPr/>
              <p:nvPr/>
            </p:nvSpPr>
            <p:spPr>
              <a:xfrm>
                <a:off x="56383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36" name="Group 164"/>
            <p:cNvGrpSpPr/>
            <p:nvPr/>
          </p:nvGrpSpPr>
          <p:grpSpPr>
            <a:xfrm>
              <a:off x="6019560" y="2361960"/>
              <a:ext cx="457200" cy="457200"/>
              <a:chOff x="6019560" y="2361960"/>
              <a:chExt cx="457200" cy="457200"/>
            </a:xfrm>
          </p:grpSpPr>
          <p:sp>
            <p:nvSpPr>
              <p:cNvPr id="637" name="Line 165"/>
              <p:cNvSpPr/>
              <p:nvPr/>
            </p:nvSpPr>
            <p:spPr>
              <a:xfrm>
                <a:off x="60195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8" name="Line 166"/>
              <p:cNvSpPr/>
              <p:nvPr/>
            </p:nvSpPr>
            <p:spPr>
              <a:xfrm flipV="1">
                <a:off x="60195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9" name="Line 167"/>
              <p:cNvSpPr/>
              <p:nvPr/>
            </p:nvSpPr>
            <p:spPr>
              <a:xfrm>
                <a:off x="60195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0" name="Line 168"/>
              <p:cNvSpPr/>
              <p:nvPr/>
            </p:nvSpPr>
            <p:spPr>
              <a:xfrm>
                <a:off x="62481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1" name="Rectangle 169"/>
              <p:cNvSpPr/>
              <p:nvPr/>
            </p:nvSpPr>
            <p:spPr>
              <a:xfrm>
                <a:off x="60955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42" name="Group 170"/>
            <p:cNvGrpSpPr/>
            <p:nvPr/>
          </p:nvGrpSpPr>
          <p:grpSpPr>
            <a:xfrm>
              <a:off x="6476760" y="2361960"/>
              <a:ext cx="457200" cy="457200"/>
              <a:chOff x="6476760" y="2361960"/>
              <a:chExt cx="457200" cy="457200"/>
            </a:xfrm>
          </p:grpSpPr>
          <p:sp>
            <p:nvSpPr>
              <p:cNvPr id="643" name="Line 171"/>
              <p:cNvSpPr/>
              <p:nvPr/>
            </p:nvSpPr>
            <p:spPr>
              <a:xfrm>
                <a:off x="64767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4" name="Line 172"/>
              <p:cNvSpPr/>
              <p:nvPr/>
            </p:nvSpPr>
            <p:spPr>
              <a:xfrm flipV="1">
                <a:off x="64767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5" name="Line 173"/>
              <p:cNvSpPr/>
              <p:nvPr/>
            </p:nvSpPr>
            <p:spPr>
              <a:xfrm>
                <a:off x="64767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6" name="Line 174"/>
              <p:cNvSpPr/>
              <p:nvPr/>
            </p:nvSpPr>
            <p:spPr>
              <a:xfrm>
                <a:off x="67053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7" name="Rectangle 175"/>
              <p:cNvSpPr/>
              <p:nvPr/>
            </p:nvSpPr>
            <p:spPr>
              <a:xfrm>
                <a:off x="65527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48" name="Group 176"/>
            <p:cNvGrpSpPr/>
            <p:nvPr/>
          </p:nvGrpSpPr>
          <p:grpSpPr>
            <a:xfrm>
              <a:off x="6933960" y="2361960"/>
              <a:ext cx="457200" cy="457200"/>
              <a:chOff x="6933960" y="2361960"/>
              <a:chExt cx="457200" cy="457200"/>
            </a:xfrm>
          </p:grpSpPr>
          <p:sp>
            <p:nvSpPr>
              <p:cNvPr id="649" name="Line 177"/>
              <p:cNvSpPr/>
              <p:nvPr/>
            </p:nvSpPr>
            <p:spPr>
              <a:xfrm>
                <a:off x="69339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0" name="Line 178"/>
              <p:cNvSpPr/>
              <p:nvPr/>
            </p:nvSpPr>
            <p:spPr>
              <a:xfrm flipV="1">
                <a:off x="69339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1" name="Line 179"/>
              <p:cNvSpPr/>
              <p:nvPr/>
            </p:nvSpPr>
            <p:spPr>
              <a:xfrm>
                <a:off x="69339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2" name="Line 180"/>
              <p:cNvSpPr/>
              <p:nvPr/>
            </p:nvSpPr>
            <p:spPr>
              <a:xfrm>
                <a:off x="71625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3" name="Rectangle 181"/>
              <p:cNvSpPr/>
              <p:nvPr/>
            </p:nvSpPr>
            <p:spPr>
              <a:xfrm>
                <a:off x="70099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54" name="Group 182"/>
            <p:cNvGrpSpPr/>
            <p:nvPr/>
          </p:nvGrpSpPr>
          <p:grpSpPr>
            <a:xfrm>
              <a:off x="7391160" y="2361960"/>
              <a:ext cx="457200" cy="457200"/>
              <a:chOff x="7391160" y="2361960"/>
              <a:chExt cx="457200" cy="457200"/>
            </a:xfrm>
          </p:grpSpPr>
          <p:sp>
            <p:nvSpPr>
              <p:cNvPr id="655" name="Line 183"/>
              <p:cNvSpPr/>
              <p:nvPr/>
            </p:nvSpPr>
            <p:spPr>
              <a:xfrm>
                <a:off x="73911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6" name="Line 184"/>
              <p:cNvSpPr/>
              <p:nvPr/>
            </p:nvSpPr>
            <p:spPr>
              <a:xfrm flipV="1">
                <a:off x="73911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7" name="Line 185"/>
              <p:cNvSpPr/>
              <p:nvPr/>
            </p:nvSpPr>
            <p:spPr>
              <a:xfrm>
                <a:off x="73911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8" name="Line 186"/>
              <p:cNvSpPr/>
              <p:nvPr/>
            </p:nvSpPr>
            <p:spPr>
              <a:xfrm>
                <a:off x="76197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9" name="Rectangle 187"/>
              <p:cNvSpPr/>
              <p:nvPr/>
            </p:nvSpPr>
            <p:spPr>
              <a:xfrm>
                <a:off x="74671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60" name="Group 188"/>
            <p:cNvGrpSpPr/>
            <p:nvPr/>
          </p:nvGrpSpPr>
          <p:grpSpPr>
            <a:xfrm>
              <a:off x="7848360" y="2361960"/>
              <a:ext cx="457200" cy="457200"/>
              <a:chOff x="7848360" y="2361960"/>
              <a:chExt cx="457200" cy="457200"/>
            </a:xfrm>
          </p:grpSpPr>
          <p:sp>
            <p:nvSpPr>
              <p:cNvPr id="661" name="Line 189"/>
              <p:cNvSpPr/>
              <p:nvPr/>
            </p:nvSpPr>
            <p:spPr>
              <a:xfrm>
                <a:off x="78483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2" name="Line 190"/>
              <p:cNvSpPr/>
              <p:nvPr/>
            </p:nvSpPr>
            <p:spPr>
              <a:xfrm flipV="1">
                <a:off x="78483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3" name="Line 191"/>
              <p:cNvSpPr/>
              <p:nvPr/>
            </p:nvSpPr>
            <p:spPr>
              <a:xfrm>
                <a:off x="78483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4" name="Line 192"/>
              <p:cNvSpPr/>
              <p:nvPr/>
            </p:nvSpPr>
            <p:spPr>
              <a:xfrm>
                <a:off x="80769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5" name="Rectangle 193"/>
              <p:cNvSpPr/>
              <p:nvPr/>
            </p:nvSpPr>
            <p:spPr>
              <a:xfrm>
                <a:off x="79243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66" name="Group 194"/>
            <p:cNvGrpSpPr/>
            <p:nvPr/>
          </p:nvGrpSpPr>
          <p:grpSpPr>
            <a:xfrm>
              <a:off x="8305560" y="2361960"/>
              <a:ext cx="457200" cy="457200"/>
              <a:chOff x="8305560" y="2361960"/>
              <a:chExt cx="457200" cy="457200"/>
            </a:xfrm>
          </p:grpSpPr>
          <p:sp>
            <p:nvSpPr>
              <p:cNvPr id="667" name="Line 195"/>
              <p:cNvSpPr/>
              <p:nvPr/>
            </p:nvSpPr>
            <p:spPr>
              <a:xfrm>
                <a:off x="83055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8" name="Line 196"/>
              <p:cNvSpPr/>
              <p:nvPr/>
            </p:nvSpPr>
            <p:spPr>
              <a:xfrm flipV="1">
                <a:off x="8305560" y="23619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9" name="Line 197"/>
              <p:cNvSpPr/>
              <p:nvPr/>
            </p:nvSpPr>
            <p:spPr>
              <a:xfrm>
                <a:off x="8305560" y="25905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0" name="Line 198"/>
              <p:cNvSpPr/>
              <p:nvPr/>
            </p:nvSpPr>
            <p:spPr>
              <a:xfrm>
                <a:off x="8534160" y="23619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1" name="Rectangle 199"/>
              <p:cNvSpPr/>
              <p:nvPr/>
            </p:nvSpPr>
            <p:spPr>
              <a:xfrm>
                <a:off x="8381520" y="24382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672" name="Group 200"/>
          <p:cNvGrpSpPr/>
          <p:nvPr/>
        </p:nvGrpSpPr>
        <p:grpSpPr>
          <a:xfrm>
            <a:off x="5105160" y="2819160"/>
            <a:ext cx="3657600" cy="457200"/>
            <a:chOff x="5105160" y="2819160"/>
            <a:chExt cx="3657600" cy="457200"/>
          </a:xfrm>
        </p:grpSpPr>
        <p:grpSp>
          <p:nvGrpSpPr>
            <p:cNvPr id="673" name="Group 201"/>
            <p:cNvGrpSpPr/>
            <p:nvPr/>
          </p:nvGrpSpPr>
          <p:grpSpPr>
            <a:xfrm>
              <a:off x="5105160" y="2819160"/>
              <a:ext cx="457200" cy="457200"/>
              <a:chOff x="5105160" y="2819160"/>
              <a:chExt cx="457200" cy="457200"/>
            </a:xfrm>
          </p:grpSpPr>
          <p:sp>
            <p:nvSpPr>
              <p:cNvPr id="674" name="Line 202"/>
              <p:cNvSpPr/>
              <p:nvPr/>
            </p:nvSpPr>
            <p:spPr>
              <a:xfrm>
                <a:off x="51051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5" name="Line 203"/>
              <p:cNvSpPr/>
              <p:nvPr/>
            </p:nvSpPr>
            <p:spPr>
              <a:xfrm flipV="1">
                <a:off x="51051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6" name="Line 204"/>
              <p:cNvSpPr/>
              <p:nvPr/>
            </p:nvSpPr>
            <p:spPr>
              <a:xfrm>
                <a:off x="51051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7" name="Line 205"/>
              <p:cNvSpPr/>
              <p:nvPr/>
            </p:nvSpPr>
            <p:spPr>
              <a:xfrm>
                <a:off x="53337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8" name="Rectangle 206"/>
              <p:cNvSpPr/>
              <p:nvPr/>
            </p:nvSpPr>
            <p:spPr>
              <a:xfrm>
                <a:off x="51811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79" name="Group 207"/>
            <p:cNvGrpSpPr/>
            <p:nvPr/>
          </p:nvGrpSpPr>
          <p:grpSpPr>
            <a:xfrm>
              <a:off x="5562360" y="2819160"/>
              <a:ext cx="457200" cy="457200"/>
              <a:chOff x="5562360" y="2819160"/>
              <a:chExt cx="457200" cy="457200"/>
            </a:xfrm>
          </p:grpSpPr>
          <p:sp>
            <p:nvSpPr>
              <p:cNvPr id="680" name="Line 208"/>
              <p:cNvSpPr/>
              <p:nvPr/>
            </p:nvSpPr>
            <p:spPr>
              <a:xfrm>
                <a:off x="55623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1" name="Line 209"/>
              <p:cNvSpPr/>
              <p:nvPr/>
            </p:nvSpPr>
            <p:spPr>
              <a:xfrm flipV="1">
                <a:off x="55623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2" name="Line 210"/>
              <p:cNvSpPr/>
              <p:nvPr/>
            </p:nvSpPr>
            <p:spPr>
              <a:xfrm>
                <a:off x="55623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3" name="Line 211"/>
              <p:cNvSpPr/>
              <p:nvPr/>
            </p:nvSpPr>
            <p:spPr>
              <a:xfrm>
                <a:off x="57909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4" name="Rectangle 212"/>
              <p:cNvSpPr/>
              <p:nvPr/>
            </p:nvSpPr>
            <p:spPr>
              <a:xfrm>
                <a:off x="56383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85" name="Group 213"/>
            <p:cNvGrpSpPr/>
            <p:nvPr/>
          </p:nvGrpSpPr>
          <p:grpSpPr>
            <a:xfrm>
              <a:off x="6019560" y="2819160"/>
              <a:ext cx="457200" cy="457200"/>
              <a:chOff x="6019560" y="2819160"/>
              <a:chExt cx="457200" cy="457200"/>
            </a:xfrm>
          </p:grpSpPr>
          <p:sp>
            <p:nvSpPr>
              <p:cNvPr id="686" name="Line 214"/>
              <p:cNvSpPr/>
              <p:nvPr/>
            </p:nvSpPr>
            <p:spPr>
              <a:xfrm>
                <a:off x="60195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7" name="Line 215"/>
              <p:cNvSpPr/>
              <p:nvPr/>
            </p:nvSpPr>
            <p:spPr>
              <a:xfrm flipV="1">
                <a:off x="60195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8" name="Line 216"/>
              <p:cNvSpPr/>
              <p:nvPr/>
            </p:nvSpPr>
            <p:spPr>
              <a:xfrm>
                <a:off x="60195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9" name="Line 217"/>
              <p:cNvSpPr/>
              <p:nvPr/>
            </p:nvSpPr>
            <p:spPr>
              <a:xfrm>
                <a:off x="62481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0" name="Rectangle 218"/>
              <p:cNvSpPr/>
              <p:nvPr/>
            </p:nvSpPr>
            <p:spPr>
              <a:xfrm>
                <a:off x="60955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91" name="Group 219"/>
            <p:cNvGrpSpPr/>
            <p:nvPr/>
          </p:nvGrpSpPr>
          <p:grpSpPr>
            <a:xfrm>
              <a:off x="6476760" y="2819160"/>
              <a:ext cx="457200" cy="457200"/>
              <a:chOff x="6476760" y="2819160"/>
              <a:chExt cx="457200" cy="457200"/>
            </a:xfrm>
          </p:grpSpPr>
          <p:sp>
            <p:nvSpPr>
              <p:cNvPr id="692" name="Line 220"/>
              <p:cNvSpPr/>
              <p:nvPr/>
            </p:nvSpPr>
            <p:spPr>
              <a:xfrm>
                <a:off x="64767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3" name="Line 221"/>
              <p:cNvSpPr/>
              <p:nvPr/>
            </p:nvSpPr>
            <p:spPr>
              <a:xfrm flipV="1">
                <a:off x="64767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4" name="Line 222"/>
              <p:cNvSpPr/>
              <p:nvPr/>
            </p:nvSpPr>
            <p:spPr>
              <a:xfrm>
                <a:off x="64767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5" name="Line 223"/>
              <p:cNvSpPr/>
              <p:nvPr/>
            </p:nvSpPr>
            <p:spPr>
              <a:xfrm>
                <a:off x="67053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6" name="Rectangle 224"/>
              <p:cNvSpPr/>
              <p:nvPr/>
            </p:nvSpPr>
            <p:spPr>
              <a:xfrm>
                <a:off x="65527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97" name="Group 225"/>
            <p:cNvGrpSpPr/>
            <p:nvPr/>
          </p:nvGrpSpPr>
          <p:grpSpPr>
            <a:xfrm>
              <a:off x="6933960" y="2819160"/>
              <a:ext cx="457200" cy="457200"/>
              <a:chOff x="6933960" y="2819160"/>
              <a:chExt cx="457200" cy="457200"/>
            </a:xfrm>
          </p:grpSpPr>
          <p:sp>
            <p:nvSpPr>
              <p:cNvPr id="698" name="Line 226"/>
              <p:cNvSpPr/>
              <p:nvPr/>
            </p:nvSpPr>
            <p:spPr>
              <a:xfrm>
                <a:off x="69339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9" name="Line 227"/>
              <p:cNvSpPr/>
              <p:nvPr/>
            </p:nvSpPr>
            <p:spPr>
              <a:xfrm flipV="1">
                <a:off x="69339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0" name="Line 228"/>
              <p:cNvSpPr/>
              <p:nvPr/>
            </p:nvSpPr>
            <p:spPr>
              <a:xfrm>
                <a:off x="69339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1" name="Line 229"/>
              <p:cNvSpPr/>
              <p:nvPr/>
            </p:nvSpPr>
            <p:spPr>
              <a:xfrm>
                <a:off x="71625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2" name="Rectangle 230"/>
              <p:cNvSpPr/>
              <p:nvPr/>
            </p:nvSpPr>
            <p:spPr>
              <a:xfrm>
                <a:off x="70099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03" name="Group 231"/>
            <p:cNvGrpSpPr/>
            <p:nvPr/>
          </p:nvGrpSpPr>
          <p:grpSpPr>
            <a:xfrm>
              <a:off x="7391160" y="2819160"/>
              <a:ext cx="457200" cy="457200"/>
              <a:chOff x="7391160" y="2819160"/>
              <a:chExt cx="457200" cy="457200"/>
            </a:xfrm>
          </p:grpSpPr>
          <p:sp>
            <p:nvSpPr>
              <p:cNvPr id="704" name="Line 232"/>
              <p:cNvSpPr/>
              <p:nvPr/>
            </p:nvSpPr>
            <p:spPr>
              <a:xfrm>
                <a:off x="73911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5" name="Line 233"/>
              <p:cNvSpPr/>
              <p:nvPr/>
            </p:nvSpPr>
            <p:spPr>
              <a:xfrm flipV="1">
                <a:off x="73911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6" name="Line 234"/>
              <p:cNvSpPr/>
              <p:nvPr/>
            </p:nvSpPr>
            <p:spPr>
              <a:xfrm>
                <a:off x="73911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7" name="Line 235"/>
              <p:cNvSpPr/>
              <p:nvPr/>
            </p:nvSpPr>
            <p:spPr>
              <a:xfrm>
                <a:off x="76197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8" name="Rectangle 236"/>
              <p:cNvSpPr/>
              <p:nvPr/>
            </p:nvSpPr>
            <p:spPr>
              <a:xfrm>
                <a:off x="74671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09" name="Group 237"/>
            <p:cNvGrpSpPr/>
            <p:nvPr/>
          </p:nvGrpSpPr>
          <p:grpSpPr>
            <a:xfrm>
              <a:off x="7848360" y="2819160"/>
              <a:ext cx="457200" cy="457200"/>
              <a:chOff x="7848360" y="2819160"/>
              <a:chExt cx="457200" cy="457200"/>
            </a:xfrm>
          </p:grpSpPr>
          <p:sp>
            <p:nvSpPr>
              <p:cNvPr id="710" name="Line 238"/>
              <p:cNvSpPr/>
              <p:nvPr/>
            </p:nvSpPr>
            <p:spPr>
              <a:xfrm>
                <a:off x="78483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1" name="Line 239"/>
              <p:cNvSpPr/>
              <p:nvPr/>
            </p:nvSpPr>
            <p:spPr>
              <a:xfrm flipV="1">
                <a:off x="78483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2" name="Line 240"/>
              <p:cNvSpPr/>
              <p:nvPr/>
            </p:nvSpPr>
            <p:spPr>
              <a:xfrm>
                <a:off x="78483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3" name="Line 241"/>
              <p:cNvSpPr/>
              <p:nvPr/>
            </p:nvSpPr>
            <p:spPr>
              <a:xfrm>
                <a:off x="80769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4" name="Rectangle 242"/>
              <p:cNvSpPr/>
              <p:nvPr/>
            </p:nvSpPr>
            <p:spPr>
              <a:xfrm>
                <a:off x="79243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15" name="Group 243"/>
            <p:cNvGrpSpPr/>
            <p:nvPr/>
          </p:nvGrpSpPr>
          <p:grpSpPr>
            <a:xfrm>
              <a:off x="8305560" y="2819160"/>
              <a:ext cx="457200" cy="457200"/>
              <a:chOff x="8305560" y="2819160"/>
              <a:chExt cx="457200" cy="457200"/>
            </a:xfrm>
          </p:grpSpPr>
          <p:sp>
            <p:nvSpPr>
              <p:cNvPr id="716" name="Line 244"/>
              <p:cNvSpPr/>
              <p:nvPr/>
            </p:nvSpPr>
            <p:spPr>
              <a:xfrm>
                <a:off x="83055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7" name="Line 245"/>
              <p:cNvSpPr/>
              <p:nvPr/>
            </p:nvSpPr>
            <p:spPr>
              <a:xfrm flipV="1">
                <a:off x="8305560" y="28191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8" name="Line 246"/>
              <p:cNvSpPr/>
              <p:nvPr/>
            </p:nvSpPr>
            <p:spPr>
              <a:xfrm>
                <a:off x="8305560" y="30477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9" name="Line 247"/>
              <p:cNvSpPr/>
              <p:nvPr/>
            </p:nvSpPr>
            <p:spPr>
              <a:xfrm>
                <a:off x="8534160" y="28191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0" name="Rectangle 248"/>
              <p:cNvSpPr/>
              <p:nvPr/>
            </p:nvSpPr>
            <p:spPr>
              <a:xfrm>
                <a:off x="8381520" y="28954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721" name="Group 249"/>
          <p:cNvGrpSpPr/>
          <p:nvPr/>
        </p:nvGrpSpPr>
        <p:grpSpPr>
          <a:xfrm>
            <a:off x="5105160" y="3276360"/>
            <a:ext cx="3657600" cy="457200"/>
            <a:chOff x="5105160" y="3276360"/>
            <a:chExt cx="3657600" cy="457200"/>
          </a:xfrm>
        </p:grpSpPr>
        <p:grpSp>
          <p:nvGrpSpPr>
            <p:cNvPr id="722" name="Group 250"/>
            <p:cNvGrpSpPr/>
            <p:nvPr/>
          </p:nvGrpSpPr>
          <p:grpSpPr>
            <a:xfrm>
              <a:off x="5105160" y="3276360"/>
              <a:ext cx="457200" cy="457200"/>
              <a:chOff x="5105160" y="3276360"/>
              <a:chExt cx="457200" cy="457200"/>
            </a:xfrm>
          </p:grpSpPr>
          <p:sp>
            <p:nvSpPr>
              <p:cNvPr id="723" name="Line 251"/>
              <p:cNvSpPr/>
              <p:nvPr/>
            </p:nvSpPr>
            <p:spPr>
              <a:xfrm>
                <a:off x="51051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4" name="Line 252"/>
              <p:cNvSpPr/>
              <p:nvPr/>
            </p:nvSpPr>
            <p:spPr>
              <a:xfrm flipV="1">
                <a:off x="51051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5" name="Line 253"/>
              <p:cNvSpPr/>
              <p:nvPr/>
            </p:nvSpPr>
            <p:spPr>
              <a:xfrm>
                <a:off x="51051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6" name="Line 254"/>
              <p:cNvSpPr/>
              <p:nvPr/>
            </p:nvSpPr>
            <p:spPr>
              <a:xfrm>
                <a:off x="53337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7" name="Rectangle 255"/>
              <p:cNvSpPr/>
              <p:nvPr/>
            </p:nvSpPr>
            <p:spPr>
              <a:xfrm>
                <a:off x="51811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28" name="Group 256"/>
            <p:cNvGrpSpPr/>
            <p:nvPr/>
          </p:nvGrpSpPr>
          <p:grpSpPr>
            <a:xfrm>
              <a:off x="5562360" y="3276360"/>
              <a:ext cx="457200" cy="457200"/>
              <a:chOff x="5562360" y="3276360"/>
              <a:chExt cx="457200" cy="457200"/>
            </a:xfrm>
          </p:grpSpPr>
          <p:sp>
            <p:nvSpPr>
              <p:cNvPr id="729" name="Line 257"/>
              <p:cNvSpPr/>
              <p:nvPr/>
            </p:nvSpPr>
            <p:spPr>
              <a:xfrm>
                <a:off x="55623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0" name="Line 258"/>
              <p:cNvSpPr/>
              <p:nvPr/>
            </p:nvSpPr>
            <p:spPr>
              <a:xfrm flipV="1">
                <a:off x="55623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1" name="Line 259"/>
              <p:cNvSpPr/>
              <p:nvPr/>
            </p:nvSpPr>
            <p:spPr>
              <a:xfrm>
                <a:off x="55623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2" name="Line 260"/>
              <p:cNvSpPr/>
              <p:nvPr/>
            </p:nvSpPr>
            <p:spPr>
              <a:xfrm>
                <a:off x="57909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3" name="Rectangle 261"/>
              <p:cNvSpPr/>
              <p:nvPr/>
            </p:nvSpPr>
            <p:spPr>
              <a:xfrm>
                <a:off x="56383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34" name="Group 262"/>
            <p:cNvGrpSpPr/>
            <p:nvPr/>
          </p:nvGrpSpPr>
          <p:grpSpPr>
            <a:xfrm>
              <a:off x="6019560" y="3276360"/>
              <a:ext cx="457200" cy="457200"/>
              <a:chOff x="6019560" y="3276360"/>
              <a:chExt cx="457200" cy="457200"/>
            </a:xfrm>
          </p:grpSpPr>
          <p:sp>
            <p:nvSpPr>
              <p:cNvPr id="735" name="Line 263"/>
              <p:cNvSpPr/>
              <p:nvPr/>
            </p:nvSpPr>
            <p:spPr>
              <a:xfrm>
                <a:off x="60195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6" name="Line 264"/>
              <p:cNvSpPr/>
              <p:nvPr/>
            </p:nvSpPr>
            <p:spPr>
              <a:xfrm flipV="1">
                <a:off x="60195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7" name="Line 265"/>
              <p:cNvSpPr/>
              <p:nvPr/>
            </p:nvSpPr>
            <p:spPr>
              <a:xfrm>
                <a:off x="60195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8" name="Line 266"/>
              <p:cNvSpPr/>
              <p:nvPr/>
            </p:nvSpPr>
            <p:spPr>
              <a:xfrm>
                <a:off x="62481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9" name="Rectangle 267"/>
              <p:cNvSpPr/>
              <p:nvPr/>
            </p:nvSpPr>
            <p:spPr>
              <a:xfrm>
                <a:off x="60955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40" name="Group 268"/>
            <p:cNvGrpSpPr/>
            <p:nvPr/>
          </p:nvGrpSpPr>
          <p:grpSpPr>
            <a:xfrm>
              <a:off x="6476760" y="3276360"/>
              <a:ext cx="457200" cy="457200"/>
              <a:chOff x="6476760" y="3276360"/>
              <a:chExt cx="457200" cy="457200"/>
            </a:xfrm>
          </p:grpSpPr>
          <p:sp>
            <p:nvSpPr>
              <p:cNvPr id="741" name="Line 269"/>
              <p:cNvSpPr/>
              <p:nvPr/>
            </p:nvSpPr>
            <p:spPr>
              <a:xfrm>
                <a:off x="64767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2" name="Line 270"/>
              <p:cNvSpPr/>
              <p:nvPr/>
            </p:nvSpPr>
            <p:spPr>
              <a:xfrm flipV="1">
                <a:off x="64767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3" name="Line 271"/>
              <p:cNvSpPr/>
              <p:nvPr/>
            </p:nvSpPr>
            <p:spPr>
              <a:xfrm>
                <a:off x="64767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4" name="Line 272"/>
              <p:cNvSpPr/>
              <p:nvPr/>
            </p:nvSpPr>
            <p:spPr>
              <a:xfrm>
                <a:off x="67053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5" name="Rectangle 273"/>
              <p:cNvSpPr/>
              <p:nvPr/>
            </p:nvSpPr>
            <p:spPr>
              <a:xfrm>
                <a:off x="65527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46" name="Group 274"/>
            <p:cNvGrpSpPr/>
            <p:nvPr/>
          </p:nvGrpSpPr>
          <p:grpSpPr>
            <a:xfrm>
              <a:off x="6933960" y="3276360"/>
              <a:ext cx="457200" cy="457200"/>
              <a:chOff x="6933960" y="3276360"/>
              <a:chExt cx="457200" cy="457200"/>
            </a:xfrm>
          </p:grpSpPr>
          <p:sp>
            <p:nvSpPr>
              <p:cNvPr id="747" name="Line 275"/>
              <p:cNvSpPr/>
              <p:nvPr/>
            </p:nvSpPr>
            <p:spPr>
              <a:xfrm>
                <a:off x="69339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8" name="Line 276"/>
              <p:cNvSpPr/>
              <p:nvPr/>
            </p:nvSpPr>
            <p:spPr>
              <a:xfrm flipV="1">
                <a:off x="69339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9" name="Line 277"/>
              <p:cNvSpPr/>
              <p:nvPr/>
            </p:nvSpPr>
            <p:spPr>
              <a:xfrm>
                <a:off x="69339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0" name="Line 278"/>
              <p:cNvSpPr/>
              <p:nvPr/>
            </p:nvSpPr>
            <p:spPr>
              <a:xfrm>
                <a:off x="71625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1" name="Rectangle 279"/>
              <p:cNvSpPr/>
              <p:nvPr/>
            </p:nvSpPr>
            <p:spPr>
              <a:xfrm>
                <a:off x="70099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52" name="Group 280"/>
            <p:cNvGrpSpPr/>
            <p:nvPr/>
          </p:nvGrpSpPr>
          <p:grpSpPr>
            <a:xfrm>
              <a:off x="7391160" y="3276360"/>
              <a:ext cx="457200" cy="457200"/>
              <a:chOff x="7391160" y="3276360"/>
              <a:chExt cx="457200" cy="457200"/>
            </a:xfrm>
          </p:grpSpPr>
          <p:sp>
            <p:nvSpPr>
              <p:cNvPr id="753" name="Line 281"/>
              <p:cNvSpPr/>
              <p:nvPr/>
            </p:nvSpPr>
            <p:spPr>
              <a:xfrm>
                <a:off x="73911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4" name="Line 282"/>
              <p:cNvSpPr/>
              <p:nvPr/>
            </p:nvSpPr>
            <p:spPr>
              <a:xfrm flipV="1">
                <a:off x="73911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5" name="Line 283"/>
              <p:cNvSpPr/>
              <p:nvPr/>
            </p:nvSpPr>
            <p:spPr>
              <a:xfrm>
                <a:off x="73911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6" name="Line 284"/>
              <p:cNvSpPr/>
              <p:nvPr/>
            </p:nvSpPr>
            <p:spPr>
              <a:xfrm>
                <a:off x="76197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7" name="Rectangle 285"/>
              <p:cNvSpPr/>
              <p:nvPr/>
            </p:nvSpPr>
            <p:spPr>
              <a:xfrm>
                <a:off x="74671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58" name="Group 286"/>
            <p:cNvGrpSpPr/>
            <p:nvPr/>
          </p:nvGrpSpPr>
          <p:grpSpPr>
            <a:xfrm>
              <a:off x="7848360" y="3276360"/>
              <a:ext cx="457200" cy="457200"/>
              <a:chOff x="7848360" y="3276360"/>
              <a:chExt cx="457200" cy="457200"/>
            </a:xfrm>
          </p:grpSpPr>
          <p:sp>
            <p:nvSpPr>
              <p:cNvPr id="759" name="Line 287"/>
              <p:cNvSpPr/>
              <p:nvPr/>
            </p:nvSpPr>
            <p:spPr>
              <a:xfrm>
                <a:off x="78483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0" name="Line 288"/>
              <p:cNvSpPr/>
              <p:nvPr/>
            </p:nvSpPr>
            <p:spPr>
              <a:xfrm flipV="1">
                <a:off x="78483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1" name="Line 289"/>
              <p:cNvSpPr/>
              <p:nvPr/>
            </p:nvSpPr>
            <p:spPr>
              <a:xfrm>
                <a:off x="78483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2" name="Line 290"/>
              <p:cNvSpPr/>
              <p:nvPr/>
            </p:nvSpPr>
            <p:spPr>
              <a:xfrm>
                <a:off x="80769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3" name="Rectangle 291"/>
              <p:cNvSpPr/>
              <p:nvPr/>
            </p:nvSpPr>
            <p:spPr>
              <a:xfrm>
                <a:off x="79243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64" name="Group 292"/>
            <p:cNvGrpSpPr/>
            <p:nvPr/>
          </p:nvGrpSpPr>
          <p:grpSpPr>
            <a:xfrm>
              <a:off x="8305560" y="3276360"/>
              <a:ext cx="457200" cy="457200"/>
              <a:chOff x="8305560" y="3276360"/>
              <a:chExt cx="457200" cy="457200"/>
            </a:xfrm>
          </p:grpSpPr>
          <p:sp>
            <p:nvSpPr>
              <p:cNvPr id="765" name="Line 293"/>
              <p:cNvSpPr/>
              <p:nvPr/>
            </p:nvSpPr>
            <p:spPr>
              <a:xfrm>
                <a:off x="83055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6" name="Line 294"/>
              <p:cNvSpPr/>
              <p:nvPr/>
            </p:nvSpPr>
            <p:spPr>
              <a:xfrm flipV="1">
                <a:off x="8305560" y="32763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7" name="Line 295"/>
              <p:cNvSpPr/>
              <p:nvPr/>
            </p:nvSpPr>
            <p:spPr>
              <a:xfrm>
                <a:off x="8305560" y="35049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8" name="Line 296"/>
              <p:cNvSpPr/>
              <p:nvPr/>
            </p:nvSpPr>
            <p:spPr>
              <a:xfrm>
                <a:off x="8534160" y="32763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9" name="Rectangle 297"/>
              <p:cNvSpPr/>
              <p:nvPr/>
            </p:nvSpPr>
            <p:spPr>
              <a:xfrm>
                <a:off x="8381520" y="33526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770" name="Group 298"/>
          <p:cNvGrpSpPr/>
          <p:nvPr/>
        </p:nvGrpSpPr>
        <p:grpSpPr>
          <a:xfrm>
            <a:off x="5105160" y="3733560"/>
            <a:ext cx="3657600" cy="457200"/>
            <a:chOff x="5105160" y="3733560"/>
            <a:chExt cx="3657600" cy="457200"/>
          </a:xfrm>
        </p:grpSpPr>
        <p:grpSp>
          <p:nvGrpSpPr>
            <p:cNvPr id="771" name="Group 299"/>
            <p:cNvGrpSpPr/>
            <p:nvPr/>
          </p:nvGrpSpPr>
          <p:grpSpPr>
            <a:xfrm>
              <a:off x="5105160" y="3733560"/>
              <a:ext cx="457200" cy="457200"/>
              <a:chOff x="5105160" y="3733560"/>
              <a:chExt cx="457200" cy="457200"/>
            </a:xfrm>
          </p:grpSpPr>
          <p:sp>
            <p:nvSpPr>
              <p:cNvPr id="772" name="Line 300"/>
              <p:cNvSpPr/>
              <p:nvPr/>
            </p:nvSpPr>
            <p:spPr>
              <a:xfrm>
                <a:off x="51051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3" name="Line 301"/>
              <p:cNvSpPr/>
              <p:nvPr/>
            </p:nvSpPr>
            <p:spPr>
              <a:xfrm flipV="1">
                <a:off x="51051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4" name="Line 302"/>
              <p:cNvSpPr/>
              <p:nvPr/>
            </p:nvSpPr>
            <p:spPr>
              <a:xfrm>
                <a:off x="51051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5" name="Line 303"/>
              <p:cNvSpPr/>
              <p:nvPr/>
            </p:nvSpPr>
            <p:spPr>
              <a:xfrm>
                <a:off x="53337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6" name="Rectangle 304"/>
              <p:cNvSpPr/>
              <p:nvPr/>
            </p:nvSpPr>
            <p:spPr>
              <a:xfrm>
                <a:off x="51811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77" name="Group 305"/>
            <p:cNvGrpSpPr/>
            <p:nvPr/>
          </p:nvGrpSpPr>
          <p:grpSpPr>
            <a:xfrm>
              <a:off x="5562360" y="3733560"/>
              <a:ext cx="457200" cy="457200"/>
              <a:chOff x="5562360" y="3733560"/>
              <a:chExt cx="457200" cy="457200"/>
            </a:xfrm>
          </p:grpSpPr>
          <p:sp>
            <p:nvSpPr>
              <p:cNvPr id="778" name="Line 306"/>
              <p:cNvSpPr/>
              <p:nvPr/>
            </p:nvSpPr>
            <p:spPr>
              <a:xfrm>
                <a:off x="55623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9" name="Line 307"/>
              <p:cNvSpPr/>
              <p:nvPr/>
            </p:nvSpPr>
            <p:spPr>
              <a:xfrm flipV="1">
                <a:off x="55623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0" name="Line 308"/>
              <p:cNvSpPr/>
              <p:nvPr/>
            </p:nvSpPr>
            <p:spPr>
              <a:xfrm>
                <a:off x="55623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1" name="Line 309"/>
              <p:cNvSpPr/>
              <p:nvPr/>
            </p:nvSpPr>
            <p:spPr>
              <a:xfrm>
                <a:off x="57909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2" name="Rectangle 310"/>
              <p:cNvSpPr/>
              <p:nvPr/>
            </p:nvSpPr>
            <p:spPr>
              <a:xfrm>
                <a:off x="56383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83" name="Group 311"/>
            <p:cNvGrpSpPr/>
            <p:nvPr/>
          </p:nvGrpSpPr>
          <p:grpSpPr>
            <a:xfrm>
              <a:off x="6019560" y="3733560"/>
              <a:ext cx="457200" cy="457200"/>
              <a:chOff x="6019560" y="3733560"/>
              <a:chExt cx="457200" cy="457200"/>
            </a:xfrm>
          </p:grpSpPr>
          <p:sp>
            <p:nvSpPr>
              <p:cNvPr id="784" name="Line 312"/>
              <p:cNvSpPr/>
              <p:nvPr/>
            </p:nvSpPr>
            <p:spPr>
              <a:xfrm>
                <a:off x="60195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5" name="Line 313"/>
              <p:cNvSpPr/>
              <p:nvPr/>
            </p:nvSpPr>
            <p:spPr>
              <a:xfrm flipV="1">
                <a:off x="60195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6" name="Line 314"/>
              <p:cNvSpPr/>
              <p:nvPr/>
            </p:nvSpPr>
            <p:spPr>
              <a:xfrm>
                <a:off x="60195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7" name="Line 315"/>
              <p:cNvSpPr/>
              <p:nvPr/>
            </p:nvSpPr>
            <p:spPr>
              <a:xfrm>
                <a:off x="62481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8" name="Rectangle 316"/>
              <p:cNvSpPr/>
              <p:nvPr/>
            </p:nvSpPr>
            <p:spPr>
              <a:xfrm>
                <a:off x="60955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89" name="Group 317"/>
            <p:cNvGrpSpPr/>
            <p:nvPr/>
          </p:nvGrpSpPr>
          <p:grpSpPr>
            <a:xfrm>
              <a:off x="6476760" y="3733560"/>
              <a:ext cx="457200" cy="457200"/>
              <a:chOff x="6476760" y="3733560"/>
              <a:chExt cx="457200" cy="457200"/>
            </a:xfrm>
          </p:grpSpPr>
          <p:sp>
            <p:nvSpPr>
              <p:cNvPr id="790" name="Line 318"/>
              <p:cNvSpPr/>
              <p:nvPr/>
            </p:nvSpPr>
            <p:spPr>
              <a:xfrm>
                <a:off x="64767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1" name="Line 319"/>
              <p:cNvSpPr/>
              <p:nvPr/>
            </p:nvSpPr>
            <p:spPr>
              <a:xfrm flipV="1">
                <a:off x="64767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2" name="Line 320"/>
              <p:cNvSpPr/>
              <p:nvPr/>
            </p:nvSpPr>
            <p:spPr>
              <a:xfrm>
                <a:off x="64767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3" name="Line 321"/>
              <p:cNvSpPr/>
              <p:nvPr/>
            </p:nvSpPr>
            <p:spPr>
              <a:xfrm>
                <a:off x="67053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4" name="Rectangle 322"/>
              <p:cNvSpPr/>
              <p:nvPr/>
            </p:nvSpPr>
            <p:spPr>
              <a:xfrm>
                <a:off x="65527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795" name="Group 323"/>
            <p:cNvGrpSpPr/>
            <p:nvPr/>
          </p:nvGrpSpPr>
          <p:grpSpPr>
            <a:xfrm>
              <a:off x="6933960" y="3733560"/>
              <a:ext cx="457200" cy="457200"/>
              <a:chOff x="6933960" y="3733560"/>
              <a:chExt cx="457200" cy="457200"/>
            </a:xfrm>
          </p:grpSpPr>
          <p:sp>
            <p:nvSpPr>
              <p:cNvPr id="796" name="Line 324"/>
              <p:cNvSpPr/>
              <p:nvPr/>
            </p:nvSpPr>
            <p:spPr>
              <a:xfrm>
                <a:off x="69339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7" name="Line 325"/>
              <p:cNvSpPr/>
              <p:nvPr/>
            </p:nvSpPr>
            <p:spPr>
              <a:xfrm flipV="1">
                <a:off x="69339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8" name="Line 326"/>
              <p:cNvSpPr/>
              <p:nvPr/>
            </p:nvSpPr>
            <p:spPr>
              <a:xfrm>
                <a:off x="69339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9" name="Line 327"/>
              <p:cNvSpPr/>
              <p:nvPr/>
            </p:nvSpPr>
            <p:spPr>
              <a:xfrm>
                <a:off x="71625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0" name="Rectangle 328"/>
              <p:cNvSpPr/>
              <p:nvPr/>
            </p:nvSpPr>
            <p:spPr>
              <a:xfrm>
                <a:off x="70099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01" name="Group 329"/>
            <p:cNvGrpSpPr/>
            <p:nvPr/>
          </p:nvGrpSpPr>
          <p:grpSpPr>
            <a:xfrm>
              <a:off x="7391160" y="3733560"/>
              <a:ext cx="457200" cy="457200"/>
              <a:chOff x="7391160" y="3733560"/>
              <a:chExt cx="457200" cy="457200"/>
            </a:xfrm>
          </p:grpSpPr>
          <p:sp>
            <p:nvSpPr>
              <p:cNvPr id="802" name="Line 330"/>
              <p:cNvSpPr/>
              <p:nvPr/>
            </p:nvSpPr>
            <p:spPr>
              <a:xfrm>
                <a:off x="73911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3" name="Line 331"/>
              <p:cNvSpPr/>
              <p:nvPr/>
            </p:nvSpPr>
            <p:spPr>
              <a:xfrm flipV="1">
                <a:off x="73911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4" name="Line 332"/>
              <p:cNvSpPr/>
              <p:nvPr/>
            </p:nvSpPr>
            <p:spPr>
              <a:xfrm>
                <a:off x="73911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5" name="Line 333"/>
              <p:cNvSpPr/>
              <p:nvPr/>
            </p:nvSpPr>
            <p:spPr>
              <a:xfrm>
                <a:off x="76197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6" name="Rectangle 334"/>
              <p:cNvSpPr/>
              <p:nvPr/>
            </p:nvSpPr>
            <p:spPr>
              <a:xfrm>
                <a:off x="74671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07" name="Group 335"/>
            <p:cNvGrpSpPr/>
            <p:nvPr/>
          </p:nvGrpSpPr>
          <p:grpSpPr>
            <a:xfrm>
              <a:off x="7848360" y="3733560"/>
              <a:ext cx="457200" cy="457200"/>
              <a:chOff x="7848360" y="3733560"/>
              <a:chExt cx="457200" cy="457200"/>
            </a:xfrm>
          </p:grpSpPr>
          <p:sp>
            <p:nvSpPr>
              <p:cNvPr id="808" name="Line 336"/>
              <p:cNvSpPr/>
              <p:nvPr/>
            </p:nvSpPr>
            <p:spPr>
              <a:xfrm>
                <a:off x="78483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9" name="Line 337"/>
              <p:cNvSpPr/>
              <p:nvPr/>
            </p:nvSpPr>
            <p:spPr>
              <a:xfrm flipV="1">
                <a:off x="78483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0" name="Line 338"/>
              <p:cNvSpPr/>
              <p:nvPr/>
            </p:nvSpPr>
            <p:spPr>
              <a:xfrm>
                <a:off x="78483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1" name="Line 339"/>
              <p:cNvSpPr/>
              <p:nvPr/>
            </p:nvSpPr>
            <p:spPr>
              <a:xfrm>
                <a:off x="80769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2" name="Rectangle 340"/>
              <p:cNvSpPr/>
              <p:nvPr/>
            </p:nvSpPr>
            <p:spPr>
              <a:xfrm>
                <a:off x="79243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13" name="Group 341"/>
            <p:cNvGrpSpPr/>
            <p:nvPr/>
          </p:nvGrpSpPr>
          <p:grpSpPr>
            <a:xfrm>
              <a:off x="8305560" y="3733560"/>
              <a:ext cx="457200" cy="457200"/>
              <a:chOff x="8305560" y="3733560"/>
              <a:chExt cx="457200" cy="457200"/>
            </a:xfrm>
          </p:grpSpPr>
          <p:sp>
            <p:nvSpPr>
              <p:cNvPr id="814" name="Line 342"/>
              <p:cNvSpPr/>
              <p:nvPr/>
            </p:nvSpPr>
            <p:spPr>
              <a:xfrm>
                <a:off x="83055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5" name="Line 343"/>
              <p:cNvSpPr/>
              <p:nvPr/>
            </p:nvSpPr>
            <p:spPr>
              <a:xfrm flipV="1">
                <a:off x="8305560" y="37335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6" name="Line 344"/>
              <p:cNvSpPr/>
              <p:nvPr/>
            </p:nvSpPr>
            <p:spPr>
              <a:xfrm>
                <a:off x="8305560" y="39621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7" name="Line 345"/>
              <p:cNvSpPr/>
              <p:nvPr/>
            </p:nvSpPr>
            <p:spPr>
              <a:xfrm>
                <a:off x="8534160" y="37335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8" name="Rectangle 346"/>
              <p:cNvSpPr/>
              <p:nvPr/>
            </p:nvSpPr>
            <p:spPr>
              <a:xfrm>
                <a:off x="8381520" y="38098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819" name="Group 347"/>
          <p:cNvGrpSpPr/>
          <p:nvPr/>
        </p:nvGrpSpPr>
        <p:grpSpPr>
          <a:xfrm>
            <a:off x="5105160" y="4190760"/>
            <a:ext cx="3657600" cy="457200"/>
            <a:chOff x="5105160" y="4190760"/>
            <a:chExt cx="3657600" cy="457200"/>
          </a:xfrm>
        </p:grpSpPr>
        <p:grpSp>
          <p:nvGrpSpPr>
            <p:cNvPr id="820" name="Group 348"/>
            <p:cNvGrpSpPr/>
            <p:nvPr/>
          </p:nvGrpSpPr>
          <p:grpSpPr>
            <a:xfrm>
              <a:off x="5105160" y="4190760"/>
              <a:ext cx="457200" cy="457200"/>
              <a:chOff x="5105160" y="4190760"/>
              <a:chExt cx="457200" cy="457200"/>
            </a:xfrm>
          </p:grpSpPr>
          <p:sp>
            <p:nvSpPr>
              <p:cNvPr id="821" name="Line 349"/>
              <p:cNvSpPr/>
              <p:nvPr/>
            </p:nvSpPr>
            <p:spPr>
              <a:xfrm>
                <a:off x="51051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2" name="Line 350"/>
              <p:cNvSpPr/>
              <p:nvPr/>
            </p:nvSpPr>
            <p:spPr>
              <a:xfrm flipV="1">
                <a:off x="51051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3" name="Line 351"/>
              <p:cNvSpPr/>
              <p:nvPr/>
            </p:nvSpPr>
            <p:spPr>
              <a:xfrm>
                <a:off x="51051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4" name="Line 352"/>
              <p:cNvSpPr/>
              <p:nvPr/>
            </p:nvSpPr>
            <p:spPr>
              <a:xfrm>
                <a:off x="53337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5" name="Rectangle 353"/>
              <p:cNvSpPr/>
              <p:nvPr/>
            </p:nvSpPr>
            <p:spPr>
              <a:xfrm>
                <a:off x="51811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26" name="Group 354"/>
            <p:cNvGrpSpPr/>
            <p:nvPr/>
          </p:nvGrpSpPr>
          <p:grpSpPr>
            <a:xfrm>
              <a:off x="5562360" y="4190760"/>
              <a:ext cx="457200" cy="457200"/>
              <a:chOff x="5562360" y="4190760"/>
              <a:chExt cx="457200" cy="457200"/>
            </a:xfrm>
          </p:grpSpPr>
          <p:sp>
            <p:nvSpPr>
              <p:cNvPr id="827" name="Line 355"/>
              <p:cNvSpPr/>
              <p:nvPr/>
            </p:nvSpPr>
            <p:spPr>
              <a:xfrm>
                <a:off x="55623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8" name="Line 356"/>
              <p:cNvSpPr/>
              <p:nvPr/>
            </p:nvSpPr>
            <p:spPr>
              <a:xfrm flipV="1">
                <a:off x="55623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9" name="Line 357"/>
              <p:cNvSpPr/>
              <p:nvPr/>
            </p:nvSpPr>
            <p:spPr>
              <a:xfrm>
                <a:off x="55623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0" name="Line 358"/>
              <p:cNvSpPr/>
              <p:nvPr/>
            </p:nvSpPr>
            <p:spPr>
              <a:xfrm>
                <a:off x="57909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1" name="Rectangle 359"/>
              <p:cNvSpPr/>
              <p:nvPr/>
            </p:nvSpPr>
            <p:spPr>
              <a:xfrm>
                <a:off x="56383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32" name="Group 360"/>
            <p:cNvGrpSpPr/>
            <p:nvPr/>
          </p:nvGrpSpPr>
          <p:grpSpPr>
            <a:xfrm>
              <a:off x="6019560" y="4190760"/>
              <a:ext cx="457200" cy="457200"/>
              <a:chOff x="6019560" y="4190760"/>
              <a:chExt cx="457200" cy="457200"/>
            </a:xfrm>
          </p:grpSpPr>
          <p:sp>
            <p:nvSpPr>
              <p:cNvPr id="833" name="Line 361"/>
              <p:cNvSpPr/>
              <p:nvPr/>
            </p:nvSpPr>
            <p:spPr>
              <a:xfrm>
                <a:off x="60195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4" name="Line 362"/>
              <p:cNvSpPr/>
              <p:nvPr/>
            </p:nvSpPr>
            <p:spPr>
              <a:xfrm flipV="1">
                <a:off x="60195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5" name="Line 363"/>
              <p:cNvSpPr/>
              <p:nvPr/>
            </p:nvSpPr>
            <p:spPr>
              <a:xfrm>
                <a:off x="60195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6" name="Line 364"/>
              <p:cNvSpPr/>
              <p:nvPr/>
            </p:nvSpPr>
            <p:spPr>
              <a:xfrm>
                <a:off x="62481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7" name="Rectangle 365"/>
              <p:cNvSpPr/>
              <p:nvPr/>
            </p:nvSpPr>
            <p:spPr>
              <a:xfrm>
                <a:off x="60955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38" name="Group 366"/>
            <p:cNvGrpSpPr/>
            <p:nvPr/>
          </p:nvGrpSpPr>
          <p:grpSpPr>
            <a:xfrm>
              <a:off x="6476760" y="4190760"/>
              <a:ext cx="457200" cy="457200"/>
              <a:chOff x="6476760" y="4190760"/>
              <a:chExt cx="457200" cy="457200"/>
            </a:xfrm>
          </p:grpSpPr>
          <p:sp>
            <p:nvSpPr>
              <p:cNvPr id="839" name="Line 367"/>
              <p:cNvSpPr/>
              <p:nvPr/>
            </p:nvSpPr>
            <p:spPr>
              <a:xfrm>
                <a:off x="64767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0" name="Line 368"/>
              <p:cNvSpPr/>
              <p:nvPr/>
            </p:nvSpPr>
            <p:spPr>
              <a:xfrm flipV="1">
                <a:off x="64767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1" name="Line 369"/>
              <p:cNvSpPr/>
              <p:nvPr/>
            </p:nvSpPr>
            <p:spPr>
              <a:xfrm>
                <a:off x="64767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2" name="Line 370"/>
              <p:cNvSpPr/>
              <p:nvPr/>
            </p:nvSpPr>
            <p:spPr>
              <a:xfrm>
                <a:off x="67053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3" name="Rectangle 371"/>
              <p:cNvSpPr/>
              <p:nvPr/>
            </p:nvSpPr>
            <p:spPr>
              <a:xfrm>
                <a:off x="65527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44" name="Group 372"/>
            <p:cNvGrpSpPr/>
            <p:nvPr/>
          </p:nvGrpSpPr>
          <p:grpSpPr>
            <a:xfrm>
              <a:off x="6933960" y="4190760"/>
              <a:ext cx="457200" cy="457200"/>
              <a:chOff x="6933960" y="4190760"/>
              <a:chExt cx="457200" cy="457200"/>
            </a:xfrm>
          </p:grpSpPr>
          <p:sp>
            <p:nvSpPr>
              <p:cNvPr id="845" name="Line 373"/>
              <p:cNvSpPr/>
              <p:nvPr/>
            </p:nvSpPr>
            <p:spPr>
              <a:xfrm>
                <a:off x="69339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6" name="Line 374"/>
              <p:cNvSpPr/>
              <p:nvPr/>
            </p:nvSpPr>
            <p:spPr>
              <a:xfrm flipV="1">
                <a:off x="69339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7" name="Line 375"/>
              <p:cNvSpPr/>
              <p:nvPr/>
            </p:nvSpPr>
            <p:spPr>
              <a:xfrm>
                <a:off x="69339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8" name="Line 376"/>
              <p:cNvSpPr/>
              <p:nvPr/>
            </p:nvSpPr>
            <p:spPr>
              <a:xfrm>
                <a:off x="71625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9" name="Rectangle 377"/>
              <p:cNvSpPr/>
              <p:nvPr/>
            </p:nvSpPr>
            <p:spPr>
              <a:xfrm>
                <a:off x="70099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50" name="Group 378"/>
            <p:cNvGrpSpPr/>
            <p:nvPr/>
          </p:nvGrpSpPr>
          <p:grpSpPr>
            <a:xfrm>
              <a:off x="7391160" y="4190760"/>
              <a:ext cx="457200" cy="457200"/>
              <a:chOff x="7391160" y="4190760"/>
              <a:chExt cx="457200" cy="457200"/>
            </a:xfrm>
          </p:grpSpPr>
          <p:sp>
            <p:nvSpPr>
              <p:cNvPr id="851" name="Line 379"/>
              <p:cNvSpPr/>
              <p:nvPr/>
            </p:nvSpPr>
            <p:spPr>
              <a:xfrm>
                <a:off x="73911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2" name="Line 380"/>
              <p:cNvSpPr/>
              <p:nvPr/>
            </p:nvSpPr>
            <p:spPr>
              <a:xfrm flipV="1">
                <a:off x="73911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3" name="Line 381"/>
              <p:cNvSpPr/>
              <p:nvPr/>
            </p:nvSpPr>
            <p:spPr>
              <a:xfrm>
                <a:off x="73911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4" name="Line 382"/>
              <p:cNvSpPr/>
              <p:nvPr/>
            </p:nvSpPr>
            <p:spPr>
              <a:xfrm>
                <a:off x="76197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5" name="Rectangle 383"/>
              <p:cNvSpPr/>
              <p:nvPr/>
            </p:nvSpPr>
            <p:spPr>
              <a:xfrm>
                <a:off x="74671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56" name="Group 384"/>
            <p:cNvGrpSpPr/>
            <p:nvPr/>
          </p:nvGrpSpPr>
          <p:grpSpPr>
            <a:xfrm>
              <a:off x="7848360" y="4190760"/>
              <a:ext cx="457200" cy="457200"/>
              <a:chOff x="7848360" y="4190760"/>
              <a:chExt cx="457200" cy="457200"/>
            </a:xfrm>
          </p:grpSpPr>
          <p:sp>
            <p:nvSpPr>
              <p:cNvPr id="857" name="Line 385"/>
              <p:cNvSpPr/>
              <p:nvPr/>
            </p:nvSpPr>
            <p:spPr>
              <a:xfrm>
                <a:off x="78483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8" name="Line 386"/>
              <p:cNvSpPr/>
              <p:nvPr/>
            </p:nvSpPr>
            <p:spPr>
              <a:xfrm flipV="1">
                <a:off x="78483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9" name="Line 387"/>
              <p:cNvSpPr/>
              <p:nvPr/>
            </p:nvSpPr>
            <p:spPr>
              <a:xfrm>
                <a:off x="78483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0" name="Line 388"/>
              <p:cNvSpPr/>
              <p:nvPr/>
            </p:nvSpPr>
            <p:spPr>
              <a:xfrm>
                <a:off x="80769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1" name="Rectangle 389"/>
              <p:cNvSpPr/>
              <p:nvPr/>
            </p:nvSpPr>
            <p:spPr>
              <a:xfrm>
                <a:off x="79243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62" name="Group 390"/>
            <p:cNvGrpSpPr/>
            <p:nvPr/>
          </p:nvGrpSpPr>
          <p:grpSpPr>
            <a:xfrm>
              <a:off x="8305560" y="4190760"/>
              <a:ext cx="457200" cy="457200"/>
              <a:chOff x="8305560" y="4190760"/>
              <a:chExt cx="457200" cy="457200"/>
            </a:xfrm>
          </p:grpSpPr>
          <p:sp>
            <p:nvSpPr>
              <p:cNvPr id="863" name="Line 391"/>
              <p:cNvSpPr/>
              <p:nvPr/>
            </p:nvSpPr>
            <p:spPr>
              <a:xfrm>
                <a:off x="83055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4" name="Line 392"/>
              <p:cNvSpPr/>
              <p:nvPr/>
            </p:nvSpPr>
            <p:spPr>
              <a:xfrm flipV="1">
                <a:off x="8305560" y="4190760"/>
                <a:ext cx="45720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5" name="Line 393"/>
              <p:cNvSpPr/>
              <p:nvPr/>
            </p:nvSpPr>
            <p:spPr>
              <a:xfrm>
                <a:off x="8305560" y="4419360"/>
                <a:ext cx="457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6" name="Line 394"/>
              <p:cNvSpPr/>
              <p:nvPr/>
            </p:nvSpPr>
            <p:spPr>
              <a:xfrm>
                <a:off x="8534160" y="4190760"/>
                <a:ext cx="0" cy="4572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7" name="Rectangle 395"/>
              <p:cNvSpPr/>
              <p:nvPr/>
            </p:nvSpPr>
            <p:spPr>
              <a:xfrm>
                <a:off x="8381520" y="4267080"/>
                <a:ext cx="304920" cy="304920"/>
              </a:xfrm>
              <a:prstGeom prst="rect">
                <a:avLst/>
              </a:prstGeom>
              <a:solidFill>
                <a:srgbClr val="FFFF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868" name="Group 396"/>
          <p:cNvGrpSpPr/>
          <p:nvPr/>
        </p:nvGrpSpPr>
        <p:grpSpPr>
          <a:xfrm>
            <a:off x="5333760" y="990360"/>
            <a:ext cx="3200400" cy="3657600"/>
            <a:chOff x="5333760" y="990360"/>
            <a:chExt cx="3200400" cy="3657600"/>
          </a:xfrm>
        </p:grpSpPr>
        <p:sp>
          <p:nvSpPr>
            <p:cNvPr id="869" name="Line 397"/>
            <p:cNvSpPr/>
            <p:nvPr/>
          </p:nvSpPr>
          <p:spPr>
            <a:xfrm>
              <a:off x="5333760" y="990360"/>
              <a:ext cx="0" cy="3657600"/>
            </a:xfrm>
            <a:prstGeom prst="line">
              <a:avLst/>
            </a:prstGeom>
            <a:ln w="37800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0" name="Line 398"/>
            <p:cNvSpPr/>
            <p:nvPr/>
          </p:nvSpPr>
          <p:spPr>
            <a:xfrm>
              <a:off x="5790960" y="990360"/>
              <a:ext cx="0" cy="3657600"/>
            </a:xfrm>
            <a:prstGeom prst="line">
              <a:avLst/>
            </a:prstGeom>
            <a:ln w="37800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871" name="Group 399"/>
            <p:cNvGrpSpPr/>
            <p:nvPr/>
          </p:nvGrpSpPr>
          <p:grpSpPr>
            <a:xfrm>
              <a:off x="6248160" y="990360"/>
              <a:ext cx="914400" cy="3657600"/>
              <a:chOff x="6248160" y="990360"/>
              <a:chExt cx="914400" cy="3657600"/>
            </a:xfrm>
          </p:grpSpPr>
          <p:sp>
            <p:nvSpPr>
              <p:cNvPr id="872" name="Line 400"/>
              <p:cNvSpPr/>
              <p:nvPr/>
            </p:nvSpPr>
            <p:spPr>
              <a:xfrm>
                <a:off x="6705360" y="990360"/>
                <a:ext cx="0" cy="2286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3" name="Line 401"/>
              <p:cNvSpPr/>
              <p:nvPr/>
            </p:nvSpPr>
            <p:spPr>
              <a:xfrm>
                <a:off x="6705360" y="12189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4" name="Line 402"/>
              <p:cNvSpPr/>
              <p:nvPr/>
            </p:nvSpPr>
            <p:spPr>
              <a:xfrm>
                <a:off x="7162560" y="1676160"/>
                <a:ext cx="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5" name="Line 403"/>
              <p:cNvSpPr/>
              <p:nvPr/>
            </p:nvSpPr>
            <p:spPr>
              <a:xfrm flipH="1">
                <a:off x="6705360" y="21333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6" name="Line 404"/>
              <p:cNvSpPr/>
              <p:nvPr/>
            </p:nvSpPr>
            <p:spPr>
              <a:xfrm flipH="1">
                <a:off x="6248160" y="25905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7" name="Line 405"/>
              <p:cNvSpPr/>
              <p:nvPr/>
            </p:nvSpPr>
            <p:spPr>
              <a:xfrm>
                <a:off x="6248160" y="3047760"/>
                <a:ext cx="0" cy="1600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78" name="Group 406"/>
            <p:cNvGrpSpPr/>
            <p:nvPr/>
          </p:nvGrpSpPr>
          <p:grpSpPr>
            <a:xfrm>
              <a:off x="6705360" y="990360"/>
              <a:ext cx="914400" cy="3657600"/>
              <a:chOff x="6705360" y="990360"/>
              <a:chExt cx="914400" cy="3657600"/>
            </a:xfrm>
          </p:grpSpPr>
          <p:sp>
            <p:nvSpPr>
              <p:cNvPr id="879" name="Line 407"/>
              <p:cNvSpPr/>
              <p:nvPr/>
            </p:nvSpPr>
            <p:spPr>
              <a:xfrm>
                <a:off x="7162560" y="990360"/>
                <a:ext cx="0" cy="2286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0" name="Line 408"/>
              <p:cNvSpPr/>
              <p:nvPr/>
            </p:nvSpPr>
            <p:spPr>
              <a:xfrm>
                <a:off x="7162560" y="12189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1" name="Line 409"/>
              <p:cNvSpPr/>
              <p:nvPr/>
            </p:nvSpPr>
            <p:spPr>
              <a:xfrm>
                <a:off x="7619760" y="1676160"/>
                <a:ext cx="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2" name="Line 410"/>
              <p:cNvSpPr/>
              <p:nvPr/>
            </p:nvSpPr>
            <p:spPr>
              <a:xfrm flipH="1">
                <a:off x="7162560" y="21333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3" name="Line 411"/>
              <p:cNvSpPr/>
              <p:nvPr/>
            </p:nvSpPr>
            <p:spPr>
              <a:xfrm flipH="1">
                <a:off x="6705360" y="25905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4" name="Line 412"/>
              <p:cNvSpPr/>
              <p:nvPr/>
            </p:nvSpPr>
            <p:spPr>
              <a:xfrm>
                <a:off x="6705360" y="3047760"/>
                <a:ext cx="0" cy="1600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85" name="Group 413"/>
            <p:cNvGrpSpPr/>
            <p:nvPr/>
          </p:nvGrpSpPr>
          <p:grpSpPr>
            <a:xfrm>
              <a:off x="7162560" y="990360"/>
              <a:ext cx="914400" cy="3657600"/>
              <a:chOff x="7162560" y="990360"/>
              <a:chExt cx="914400" cy="3657600"/>
            </a:xfrm>
          </p:grpSpPr>
          <p:sp>
            <p:nvSpPr>
              <p:cNvPr id="886" name="Line 414"/>
              <p:cNvSpPr/>
              <p:nvPr/>
            </p:nvSpPr>
            <p:spPr>
              <a:xfrm>
                <a:off x="7619760" y="990360"/>
                <a:ext cx="0" cy="2286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7" name="Line 415"/>
              <p:cNvSpPr/>
              <p:nvPr/>
            </p:nvSpPr>
            <p:spPr>
              <a:xfrm>
                <a:off x="7619760" y="12189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8" name="Line 416"/>
              <p:cNvSpPr/>
              <p:nvPr/>
            </p:nvSpPr>
            <p:spPr>
              <a:xfrm>
                <a:off x="8076960" y="1676160"/>
                <a:ext cx="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9" name="Line 417"/>
              <p:cNvSpPr/>
              <p:nvPr/>
            </p:nvSpPr>
            <p:spPr>
              <a:xfrm flipH="1">
                <a:off x="7619760" y="21333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0" name="Line 418"/>
              <p:cNvSpPr/>
              <p:nvPr/>
            </p:nvSpPr>
            <p:spPr>
              <a:xfrm flipH="1">
                <a:off x="7162560" y="2590560"/>
                <a:ext cx="457200" cy="457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1" name="Line 419"/>
              <p:cNvSpPr/>
              <p:nvPr/>
            </p:nvSpPr>
            <p:spPr>
              <a:xfrm>
                <a:off x="7162560" y="3047760"/>
                <a:ext cx="0" cy="1600200"/>
              </a:xfrm>
              <a:prstGeom prst="line">
                <a:avLst/>
              </a:prstGeom>
              <a:ln w="37800">
                <a:solidFill>
                  <a:srgbClr val="33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892" name="Line 420"/>
            <p:cNvSpPr/>
            <p:nvPr/>
          </p:nvSpPr>
          <p:spPr>
            <a:xfrm>
              <a:off x="8534160" y="990360"/>
              <a:ext cx="0" cy="3657600"/>
            </a:xfrm>
            <a:prstGeom prst="line">
              <a:avLst/>
            </a:prstGeom>
            <a:ln w="37800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93" name="Group 421"/>
          <p:cNvGrpSpPr/>
          <p:nvPr/>
        </p:nvGrpSpPr>
        <p:grpSpPr>
          <a:xfrm>
            <a:off x="5105160" y="1218960"/>
            <a:ext cx="3657600" cy="3200400"/>
            <a:chOff x="5105160" y="1218960"/>
            <a:chExt cx="3657600" cy="3200400"/>
          </a:xfrm>
        </p:grpSpPr>
        <p:sp>
          <p:nvSpPr>
            <p:cNvPr id="894" name="Line 422"/>
            <p:cNvSpPr/>
            <p:nvPr/>
          </p:nvSpPr>
          <p:spPr>
            <a:xfrm>
              <a:off x="5105160" y="1218960"/>
              <a:ext cx="3657600" cy="0"/>
            </a:xfrm>
            <a:prstGeom prst="line">
              <a:avLst/>
            </a:prstGeom>
            <a:ln w="3780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5" name="Line 423"/>
            <p:cNvSpPr/>
            <p:nvPr/>
          </p:nvSpPr>
          <p:spPr>
            <a:xfrm>
              <a:off x="5105160" y="2590560"/>
              <a:ext cx="3657600" cy="0"/>
            </a:xfrm>
            <a:prstGeom prst="line">
              <a:avLst/>
            </a:prstGeom>
            <a:ln w="3780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896" name="Group 424"/>
            <p:cNvGrpSpPr/>
            <p:nvPr/>
          </p:nvGrpSpPr>
          <p:grpSpPr>
            <a:xfrm>
              <a:off x="5105160" y="3047760"/>
              <a:ext cx="3657600" cy="457200"/>
              <a:chOff x="5105160" y="3047760"/>
              <a:chExt cx="3657600" cy="457200"/>
            </a:xfrm>
          </p:grpSpPr>
          <p:sp>
            <p:nvSpPr>
              <p:cNvPr id="897" name="Line 425"/>
              <p:cNvSpPr/>
              <p:nvPr/>
            </p:nvSpPr>
            <p:spPr>
              <a:xfrm>
                <a:off x="5105160" y="3047760"/>
                <a:ext cx="2057400" cy="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8" name="Line 426"/>
              <p:cNvSpPr/>
              <p:nvPr/>
            </p:nvSpPr>
            <p:spPr>
              <a:xfrm>
                <a:off x="7619760" y="3504960"/>
                <a:ext cx="1143000" cy="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9" name="Line 427"/>
              <p:cNvSpPr/>
              <p:nvPr/>
            </p:nvSpPr>
            <p:spPr>
              <a:xfrm>
                <a:off x="7162560" y="3047760"/>
                <a:ext cx="457200" cy="45720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900" name="Group 428"/>
            <p:cNvGrpSpPr/>
            <p:nvPr/>
          </p:nvGrpSpPr>
          <p:grpSpPr>
            <a:xfrm>
              <a:off x="5105160" y="3504960"/>
              <a:ext cx="3657600" cy="457200"/>
              <a:chOff x="5105160" y="3504960"/>
              <a:chExt cx="3657600" cy="457200"/>
            </a:xfrm>
          </p:grpSpPr>
          <p:sp>
            <p:nvSpPr>
              <p:cNvPr id="901" name="Line 429"/>
              <p:cNvSpPr/>
              <p:nvPr/>
            </p:nvSpPr>
            <p:spPr>
              <a:xfrm>
                <a:off x="5105160" y="3504960"/>
                <a:ext cx="2057400" cy="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2" name="Line 430"/>
              <p:cNvSpPr/>
              <p:nvPr/>
            </p:nvSpPr>
            <p:spPr>
              <a:xfrm>
                <a:off x="7619760" y="3962160"/>
                <a:ext cx="1143000" cy="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3" name="Line 431"/>
              <p:cNvSpPr/>
              <p:nvPr/>
            </p:nvSpPr>
            <p:spPr>
              <a:xfrm>
                <a:off x="7162560" y="3504960"/>
                <a:ext cx="457200" cy="457200"/>
              </a:xfrm>
              <a:prstGeom prst="line">
                <a:avLst/>
              </a:prstGeom>
              <a:ln w="37800">
                <a:solidFill>
                  <a:srgbClr val="0099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904" name="Line 432"/>
            <p:cNvSpPr/>
            <p:nvPr/>
          </p:nvSpPr>
          <p:spPr>
            <a:xfrm>
              <a:off x="5105160" y="4419360"/>
              <a:ext cx="3657600" cy="0"/>
            </a:xfrm>
            <a:prstGeom prst="line">
              <a:avLst/>
            </a:prstGeom>
            <a:ln w="3780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05" name="Group 433"/>
          <p:cNvGrpSpPr/>
          <p:nvPr/>
        </p:nvGrpSpPr>
        <p:grpSpPr>
          <a:xfrm>
            <a:off x="6019560" y="1447560"/>
            <a:ext cx="2286000" cy="1828800"/>
            <a:chOff x="6019560" y="1447560"/>
            <a:chExt cx="2286000" cy="1828800"/>
          </a:xfrm>
        </p:grpSpPr>
        <p:sp>
          <p:nvSpPr>
            <p:cNvPr id="906" name="Oval 434"/>
            <p:cNvSpPr/>
            <p:nvPr/>
          </p:nvSpPr>
          <p:spPr>
            <a:xfrm>
              <a:off x="6019560" y="1447560"/>
              <a:ext cx="914400" cy="91440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7" name="Oval 435"/>
            <p:cNvSpPr/>
            <p:nvPr/>
          </p:nvSpPr>
          <p:spPr>
            <a:xfrm>
              <a:off x="7391160" y="2819160"/>
              <a:ext cx="914400" cy="45720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08" name="Text Box 436"/>
          <p:cNvSpPr/>
          <p:nvPr/>
        </p:nvSpPr>
        <p:spPr>
          <a:xfrm>
            <a:off x="304560" y="990360"/>
            <a:ext cx="426744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Extensive research done on how to salvage a working array from one that has been damaged by defects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Text Box 437"/>
          <p:cNvSpPr/>
          <p:nvPr/>
        </p:nvSpPr>
        <p:spPr>
          <a:xfrm>
            <a:off x="304560" y="2133360"/>
            <a:ext cx="4572000" cy="2530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Proposed methods differ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Types and placement of switches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(e.g., 4-port, single/double-track)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Types and placement of spares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Algorithms for determining working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configurations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Ways of effecting reconfiguration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Methods of assessing resilience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0" name="Group 438"/>
          <p:cNvGrpSpPr/>
          <p:nvPr/>
        </p:nvGrpSpPr>
        <p:grpSpPr>
          <a:xfrm>
            <a:off x="380880" y="5029200"/>
            <a:ext cx="8229600" cy="703080"/>
            <a:chOff x="380880" y="5029200"/>
            <a:chExt cx="8229600" cy="703080"/>
          </a:xfrm>
        </p:grpSpPr>
        <p:sp>
          <p:nvSpPr>
            <p:cNvPr id="911" name="Text Box 439"/>
            <p:cNvSpPr/>
            <p:nvPr/>
          </p:nvSpPr>
          <p:spPr>
            <a:xfrm>
              <a:off x="380880" y="5029200"/>
              <a:ext cx="480060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The next few slides show some methods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based on 4-port, 2-state switches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912" name="Group 440"/>
            <p:cNvGrpSpPr/>
            <p:nvPr/>
          </p:nvGrpSpPr>
          <p:grpSpPr>
            <a:xfrm>
              <a:off x="6781680" y="5105160"/>
              <a:ext cx="609480" cy="609840"/>
              <a:chOff x="6781680" y="5105160"/>
              <a:chExt cx="609480" cy="609840"/>
            </a:xfrm>
          </p:grpSpPr>
          <p:grpSp>
            <p:nvGrpSpPr>
              <p:cNvPr id="913" name="Group 441"/>
              <p:cNvGrpSpPr/>
              <p:nvPr/>
            </p:nvGrpSpPr>
            <p:grpSpPr>
              <a:xfrm>
                <a:off x="6781680" y="5105160"/>
                <a:ext cx="609480" cy="609840"/>
                <a:chOff x="6781680" y="5105160"/>
                <a:chExt cx="609480" cy="609840"/>
              </a:xfrm>
            </p:grpSpPr>
            <p:sp>
              <p:nvSpPr>
                <p:cNvPr id="914" name="Line 442"/>
                <p:cNvSpPr/>
                <p:nvPr/>
              </p:nvSpPr>
              <p:spPr>
                <a:xfrm>
                  <a:off x="6781680" y="5105160"/>
                  <a:ext cx="609480" cy="609840"/>
                </a:xfrm>
                <a:prstGeom prst="line">
                  <a:avLst/>
                </a:prstGeom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15" name="Line 443"/>
                <p:cNvSpPr/>
                <p:nvPr/>
              </p:nvSpPr>
              <p:spPr>
                <a:xfrm flipV="1">
                  <a:off x="6781680" y="5105160"/>
                  <a:ext cx="609480" cy="609840"/>
                </a:xfrm>
                <a:prstGeom prst="line">
                  <a:avLst/>
                </a:prstGeom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16" name="AutoShape 444"/>
                <p:cNvSpPr/>
                <p:nvPr/>
              </p:nvSpPr>
              <p:spPr>
                <a:xfrm>
                  <a:off x="6858000" y="5181480"/>
                  <a:ext cx="452160" cy="452520"/>
                </a:xfrm>
                <a:prstGeom prst="diamond">
                  <a:avLst/>
                </a:prstGeom>
                <a:solidFill>
                  <a:srgbClr val="FFFFFF"/>
                </a:solidFill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917" name="Line 445"/>
              <p:cNvSpPr/>
              <p:nvPr/>
            </p:nvSpPr>
            <p:spPr>
              <a:xfrm>
                <a:off x="6983280" y="5300640"/>
                <a:ext cx="2095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8" name="Line 446"/>
              <p:cNvSpPr/>
              <p:nvPr/>
            </p:nvSpPr>
            <p:spPr>
              <a:xfrm>
                <a:off x="6983280" y="5519520"/>
                <a:ext cx="2095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919" name="Group 447"/>
            <p:cNvGrpSpPr/>
            <p:nvPr/>
          </p:nvGrpSpPr>
          <p:grpSpPr>
            <a:xfrm>
              <a:off x="8001000" y="5105160"/>
              <a:ext cx="609480" cy="609840"/>
              <a:chOff x="8001000" y="5105160"/>
              <a:chExt cx="609480" cy="609840"/>
            </a:xfrm>
          </p:grpSpPr>
          <p:grpSp>
            <p:nvGrpSpPr>
              <p:cNvPr id="920" name="Group 448"/>
              <p:cNvGrpSpPr/>
              <p:nvPr/>
            </p:nvGrpSpPr>
            <p:grpSpPr>
              <a:xfrm>
                <a:off x="8001000" y="5105160"/>
                <a:ext cx="609480" cy="609840"/>
                <a:chOff x="8001000" y="5105160"/>
                <a:chExt cx="609480" cy="609840"/>
              </a:xfrm>
            </p:grpSpPr>
            <p:sp>
              <p:nvSpPr>
                <p:cNvPr id="921" name="Line 449"/>
                <p:cNvSpPr/>
                <p:nvPr/>
              </p:nvSpPr>
              <p:spPr>
                <a:xfrm>
                  <a:off x="8001000" y="5105160"/>
                  <a:ext cx="609480" cy="609840"/>
                </a:xfrm>
                <a:prstGeom prst="line">
                  <a:avLst/>
                </a:prstGeom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22" name="Line 450"/>
                <p:cNvSpPr/>
                <p:nvPr/>
              </p:nvSpPr>
              <p:spPr>
                <a:xfrm flipV="1">
                  <a:off x="8001000" y="5105160"/>
                  <a:ext cx="609480" cy="609840"/>
                </a:xfrm>
                <a:prstGeom prst="line">
                  <a:avLst/>
                </a:prstGeom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23" name="AutoShape 451"/>
                <p:cNvSpPr/>
                <p:nvPr/>
              </p:nvSpPr>
              <p:spPr>
                <a:xfrm>
                  <a:off x="8077320" y="5181480"/>
                  <a:ext cx="452160" cy="452520"/>
                </a:xfrm>
                <a:prstGeom prst="diamond">
                  <a:avLst/>
                </a:prstGeom>
                <a:solidFill>
                  <a:srgbClr val="FFFFFF"/>
                </a:solidFill>
                <a:ln w="1872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924" name="Line 452"/>
              <p:cNvSpPr/>
              <p:nvPr/>
            </p:nvSpPr>
            <p:spPr>
              <a:xfrm>
                <a:off x="8153280" y="5257800"/>
                <a:ext cx="304200" cy="30456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5" name="Line 453"/>
              <p:cNvSpPr/>
              <p:nvPr/>
            </p:nvSpPr>
            <p:spPr>
              <a:xfrm flipV="1">
                <a:off x="8153280" y="5257800"/>
                <a:ext cx="304200" cy="30456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926" name="Group 454"/>
            <p:cNvGrpSpPr/>
            <p:nvPr/>
          </p:nvGrpSpPr>
          <p:grpSpPr>
            <a:xfrm>
              <a:off x="5562360" y="5105160"/>
              <a:ext cx="609480" cy="609840"/>
              <a:chOff x="5562360" y="5105160"/>
              <a:chExt cx="609480" cy="609840"/>
            </a:xfrm>
          </p:grpSpPr>
          <p:sp>
            <p:nvSpPr>
              <p:cNvPr id="927" name="Line 455"/>
              <p:cNvSpPr/>
              <p:nvPr/>
            </p:nvSpPr>
            <p:spPr>
              <a:xfrm>
                <a:off x="5562360" y="510516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8" name="Line 456"/>
              <p:cNvSpPr/>
              <p:nvPr/>
            </p:nvSpPr>
            <p:spPr>
              <a:xfrm flipV="1">
                <a:off x="5562360" y="510516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9" name="AutoShape 457"/>
              <p:cNvSpPr/>
              <p:nvPr/>
            </p:nvSpPr>
            <p:spPr>
              <a:xfrm>
                <a:off x="5638680" y="5181480"/>
                <a:ext cx="452160" cy="452520"/>
              </a:xfrm>
              <a:prstGeom prst="diamond">
                <a:avLst/>
              </a:prstGeom>
              <a:solidFill>
                <a:srgbClr val="FFFFFF"/>
              </a:solidFill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DC6F1CE6-4C56-4371-A852-B5F0826CEA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Defect Circumvention in Linear Arrays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Box 3"/>
          <p:cNvSpPr/>
          <p:nvPr/>
        </p:nvSpPr>
        <p:spPr>
          <a:xfrm>
            <a:off x="1171440" y="5689440"/>
            <a:ext cx="6848280" cy="36828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linear array with a spare processor and embedded switching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Rectangle 4"/>
          <p:cNvSpPr/>
          <p:nvPr/>
        </p:nvSpPr>
        <p:spPr>
          <a:xfrm>
            <a:off x="703080" y="3409920"/>
            <a:ext cx="755316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34" name="Object 5"/>
          <p:cNvGraphicFramePr/>
          <p:nvPr/>
        </p:nvGraphicFramePr>
        <p:xfrm>
          <a:off x="1079280" y="2495520"/>
          <a:ext cx="7176960" cy="12841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35" name="Object 5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079280" y="2495520"/>
                    <a:ext cx="7176960" cy="128412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936" name="Rectangle 6"/>
          <p:cNvSpPr/>
          <p:nvPr/>
        </p:nvSpPr>
        <p:spPr>
          <a:xfrm>
            <a:off x="703080" y="3495600"/>
            <a:ext cx="755316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37" name="Object 7"/>
          <p:cNvGraphicFramePr/>
          <p:nvPr/>
        </p:nvGraphicFramePr>
        <p:xfrm>
          <a:off x="931680" y="4530600"/>
          <a:ext cx="7238880" cy="10731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938" name="Object 7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931680" y="4530600"/>
                    <a:ext cx="7238880" cy="107316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939" name="Text Box 8"/>
          <p:cNvSpPr/>
          <p:nvPr/>
        </p:nvSpPr>
        <p:spPr>
          <a:xfrm>
            <a:off x="1292040" y="3868560"/>
            <a:ext cx="6916680" cy="36828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linear array with a spare processor and reconfiguration switches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Text Box 439"/>
          <p:cNvSpPr/>
          <p:nvPr/>
        </p:nvSpPr>
        <p:spPr>
          <a:xfrm>
            <a:off x="725400" y="1017360"/>
            <a:ext cx="165240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Using 4-port, 2-state switches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41" name="Group 440"/>
          <p:cNvGrpSpPr/>
          <p:nvPr/>
        </p:nvGrpSpPr>
        <p:grpSpPr>
          <a:xfrm>
            <a:off x="3682800" y="1180800"/>
            <a:ext cx="609480" cy="609840"/>
            <a:chOff x="3682800" y="1180800"/>
            <a:chExt cx="609480" cy="609840"/>
          </a:xfrm>
        </p:grpSpPr>
        <p:grpSp>
          <p:nvGrpSpPr>
            <p:cNvPr id="942" name="Group 441"/>
            <p:cNvGrpSpPr/>
            <p:nvPr/>
          </p:nvGrpSpPr>
          <p:grpSpPr>
            <a:xfrm>
              <a:off x="3682800" y="1180800"/>
              <a:ext cx="609480" cy="609840"/>
              <a:chOff x="3682800" y="1180800"/>
              <a:chExt cx="609480" cy="609840"/>
            </a:xfrm>
          </p:grpSpPr>
          <p:sp>
            <p:nvSpPr>
              <p:cNvPr id="943" name="Line 442"/>
              <p:cNvSpPr/>
              <p:nvPr/>
            </p:nvSpPr>
            <p:spPr>
              <a:xfrm>
                <a:off x="3682800" y="118080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4" name="Line 443"/>
              <p:cNvSpPr/>
              <p:nvPr/>
            </p:nvSpPr>
            <p:spPr>
              <a:xfrm flipV="1">
                <a:off x="3682800" y="118080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5" name="AutoShape 444"/>
              <p:cNvSpPr/>
              <p:nvPr/>
            </p:nvSpPr>
            <p:spPr>
              <a:xfrm>
                <a:off x="3759120" y="1257120"/>
                <a:ext cx="452160" cy="452520"/>
              </a:xfrm>
              <a:prstGeom prst="diamond">
                <a:avLst/>
              </a:prstGeom>
              <a:solidFill>
                <a:srgbClr val="FFFFFF"/>
              </a:solidFill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946" name="Line 445"/>
            <p:cNvSpPr/>
            <p:nvPr/>
          </p:nvSpPr>
          <p:spPr>
            <a:xfrm>
              <a:off x="3884400" y="1376280"/>
              <a:ext cx="209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7" name="Line 446"/>
            <p:cNvSpPr/>
            <p:nvPr/>
          </p:nvSpPr>
          <p:spPr>
            <a:xfrm>
              <a:off x="3884400" y="1595160"/>
              <a:ext cx="209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48" name="Group 447"/>
          <p:cNvGrpSpPr/>
          <p:nvPr/>
        </p:nvGrpSpPr>
        <p:grpSpPr>
          <a:xfrm>
            <a:off x="4627440" y="1180800"/>
            <a:ext cx="609480" cy="609840"/>
            <a:chOff x="4627440" y="1180800"/>
            <a:chExt cx="609480" cy="609840"/>
          </a:xfrm>
        </p:grpSpPr>
        <p:grpSp>
          <p:nvGrpSpPr>
            <p:cNvPr id="949" name="Group 448"/>
            <p:cNvGrpSpPr/>
            <p:nvPr/>
          </p:nvGrpSpPr>
          <p:grpSpPr>
            <a:xfrm>
              <a:off x="4627440" y="1180800"/>
              <a:ext cx="609480" cy="609840"/>
              <a:chOff x="4627440" y="1180800"/>
              <a:chExt cx="609480" cy="609840"/>
            </a:xfrm>
          </p:grpSpPr>
          <p:sp>
            <p:nvSpPr>
              <p:cNvPr id="950" name="Line 449"/>
              <p:cNvSpPr/>
              <p:nvPr/>
            </p:nvSpPr>
            <p:spPr>
              <a:xfrm>
                <a:off x="4627440" y="118080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1" name="Line 450"/>
              <p:cNvSpPr/>
              <p:nvPr/>
            </p:nvSpPr>
            <p:spPr>
              <a:xfrm flipV="1">
                <a:off x="4627440" y="1180800"/>
                <a:ext cx="609480" cy="609840"/>
              </a:xfrm>
              <a:prstGeom prst="line">
                <a:avLst/>
              </a:prstGeom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2" name="AutoShape 451"/>
              <p:cNvSpPr/>
              <p:nvPr/>
            </p:nvSpPr>
            <p:spPr>
              <a:xfrm>
                <a:off x="4703760" y="1257120"/>
                <a:ext cx="452160" cy="452520"/>
              </a:xfrm>
              <a:prstGeom prst="diamond">
                <a:avLst/>
              </a:prstGeom>
              <a:solidFill>
                <a:srgbClr val="FFFFFF"/>
              </a:solidFill>
              <a:ln w="1872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953" name="Line 452"/>
            <p:cNvSpPr/>
            <p:nvPr/>
          </p:nvSpPr>
          <p:spPr>
            <a:xfrm>
              <a:off x="4779720" y="1333440"/>
              <a:ext cx="304200" cy="304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4" name="Line 453"/>
            <p:cNvSpPr/>
            <p:nvPr/>
          </p:nvSpPr>
          <p:spPr>
            <a:xfrm flipV="1">
              <a:off x="4779720" y="1333440"/>
              <a:ext cx="304200" cy="304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55" name="Group 454"/>
          <p:cNvGrpSpPr/>
          <p:nvPr/>
        </p:nvGrpSpPr>
        <p:grpSpPr>
          <a:xfrm>
            <a:off x="2717640" y="1180800"/>
            <a:ext cx="609480" cy="609840"/>
            <a:chOff x="2717640" y="1180800"/>
            <a:chExt cx="609480" cy="609840"/>
          </a:xfrm>
        </p:grpSpPr>
        <p:sp>
          <p:nvSpPr>
            <p:cNvPr id="956" name="Line 455"/>
            <p:cNvSpPr/>
            <p:nvPr/>
          </p:nvSpPr>
          <p:spPr>
            <a:xfrm>
              <a:off x="2717640" y="1180800"/>
              <a:ext cx="609480" cy="609840"/>
            </a:xfrm>
            <a:prstGeom prst="line">
              <a:avLst/>
            </a:prstGeom>
            <a:ln w="187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7" name="Line 456"/>
            <p:cNvSpPr/>
            <p:nvPr/>
          </p:nvSpPr>
          <p:spPr>
            <a:xfrm flipV="1">
              <a:off x="2717640" y="1180800"/>
              <a:ext cx="609480" cy="609840"/>
            </a:xfrm>
            <a:prstGeom prst="line">
              <a:avLst/>
            </a:prstGeom>
            <a:ln w="187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8" name="AutoShape 457"/>
            <p:cNvSpPr/>
            <p:nvPr/>
          </p:nvSpPr>
          <p:spPr>
            <a:xfrm>
              <a:off x="2793960" y="1257120"/>
              <a:ext cx="452160" cy="452520"/>
            </a:xfrm>
            <a:prstGeom prst="diamond">
              <a:avLst/>
            </a:prstGeom>
            <a:solidFill>
              <a:srgbClr val="FFFFFF"/>
            </a:solidFill>
            <a:ln w="187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pic>
        <p:nvPicPr>
          <p:cNvPr id="959" name="Picture 13" descr="Crossbar Switch - an overview | ScienceDirect Topics"/>
          <p:cNvPicPr/>
          <p:nvPr/>
        </p:nvPicPr>
        <p:blipFill>
          <a:blip r:embed="rId5"/>
          <a:srcRect l="0" t="40837" r="0" b="5289"/>
          <a:stretch/>
        </p:blipFill>
        <p:spPr>
          <a:xfrm>
            <a:off x="5608440" y="936360"/>
            <a:ext cx="2809800" cy="12654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690016B-367C-4683-A503-B6AC0661CE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52280" y="228240"/>
            <a:ext cx="876312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Reconfiguration Scheme for 2D Arrays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2" name="Object 3"/>
          <p:cNvGraphicFramePr/>
          <p:nvPr/>
        </p:nvGraphicFramePr>
        <p:xfrm>
          <a:off x="228600" y="1066680"/>
          <a:ext cx="4495680" cy="39369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63" name="Object 3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28600" y="1066680"/>
                    <a:ext cx="4495680" cy="393696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964" name="Text Box 4"/>
          <p:cNvSpPr/>
          <p:nvPr/>
        </p:nvSpPr>
        <p:spPr>
          <a:xfrm>
            <a:off x="304560" y="5105160"/>
            <a:ext cx="4038840" cy="91584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5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 working array salvaged from a 6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 redundant mesh through reconfiguration switching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65" name="Group 5"/>
          <p:cNvGrpSpPr/>
          <p:nvPr/>
        </p:nvGrpSpPr>
        <p:grpSpPr>
          <a:xfrm>
            <a:off x="4876560" y="1066680"/>
            <a:ext cx="4038840" cy="4954320"/>
            <a:chOff x="4876560" y="1066680"/>
            <a:chExt cx="4038840" cy="4954320"/>
          </a:xfrm>
        </p:grpSpPr>
        <p:graphicFrame>
          <p:nvGraphicFramePr>
            <p:cNvPr id="966" name="Object 6"/>
            <p:cNvGraphicFramePr/>
            <p:nvPr/>
          </p:nvGraphicFramePr>
          <p:xfrm>
            <a:off x="4876560" y="1066680"/>
            <a:ext cx="4038840" cy="390672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967" name="Object 6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4876560" y="1066680"/>
                      <a:ext cx="4038840" cy="3906720"/>
                    </a:xfrm>
                    <a:prstGeom prst="rect">
                      <a:avLst/>
                    </a:prstGeom>
                    <a:noFill/>
                    <a:ln w="3816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968" name="Text Box 7"/>
            <p:cNvSpPr/>
            <p:nvPr/>
          </p:nvSpPr>
          <p:spPr>
            <a:xfrm>
              <a:off x="5105160" y="5105160"/>
              <a:ext cx="3810240" cy="915840"/>
            </a:xfrm>
            <a:prstGeom prst="rect">
              <a:avLst/>
            </a:prstGeom>
            <a:solidFill>
              <a:srgbClr val="CCFF99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Seven defective processors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 a 5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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5 array and their associated compensation paths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69" name="Group 8"/>
          <p:cNvGrpSpPr/>
          <p:nvPr/>
        </p:nvGrpSpPr>
        <p:grpSpPr>
          <a:xfrm>
            <a:off x="5105160" y="1295280"/>
            <a:ext cx="2819520" cy="2057400"/>
            <a:chOff x="5105160" y="1295280"/>
            <a:chExt cx="2819520" cy="2057400"/>
          </a:xfrm>
        </p:grpSpPr>
        <p:sp>
          <p:nvSpPr>
            <p:cNvPr id="970" name="Oval 9"/>
            <p:cNvSpPr/>
            <p:nvPr/>
          </p:nvSpPr>
          <p:spPr>
            <a:xfrm>
              <a:off x="5105160" y="304776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1" name="Oval 10"/>
            <p:cNvSpPr/>
            <p:nvPr/>
          </p:nvSpPr>
          <p:spPr>
            <a:xfrm>
              <a:off x="5740200" y="190476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2" name="Oval 11"/>
            <p:cNvSpPr/>
            <p:nvPr/>
          </p:nvSpPr>
          <p:spPr>
            <a:xfrm>
              <a:off x="6370560" y="2438280"/>
              <a:ext cx="30456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3" name="Oval 12"/>
            <p:cNvSpPr/>
            <p:nvPr/>
          </p:nvSpPr>
          <p:spPr>
            <a:xfrm>
              <a:off x="7010280" y="304776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4" name="Oval 13"/>
            <p:cNvSpPr/>
            <p:nvPr/>
          </p:nvSpPr>
          <p:spPr>
            <a:xfrm>
              <a:off x="6324480" y="129528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5" name="Oval 14"/>
            <p:cNvSpPr/>
            <p:nvPr/>
          </p:nvSpPr>
          <p:spPr>
            <a:xfrm>
              <a:off x="7010280" y="190476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6" name="Oval 15"/>
            <p:cNvSpPr/>
            <p:nvPr/>
          </p:nvSpPr>
          <p:spPr>
            <a:xfrm>
              <a:off x="7619760" y="2438280"/>
              <a:ext cx="304920" cy="304920"/>
            </a:xfrm>
            <a:prstGeom prst="ellipse">
              <a:avLst/>
            </a:prstGeom>
            <a:solidFill>
              <a:srgbClr val="FFCC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77" name="Group 16"/>
          <p:cNvGrpSpPr/>
          <p:nvPr/>
        </p:nvGrpSpPr>
        <p:grpSpPr>
          <a:xfrm>
            <a:off x="6553080" y="1447560"/>
            <a:ext cx="2362320" cy="1143000"/>
            <a:chOff x="6553080" y="1447560"/>
            <a:chExt cx="2362320" cy="1143000"/>
          </a:xfrm>
        </p:grpSpPr>
        <p:sp>
          <p:nvSpPr>
            <p:cNvPr id="978" name="Line 17"/>
            <p:cNvSpPr/>
            <p:nvPr/>
          </p:nvSpPr>
          <p:spPr>
            <a:xfrm flipH="1">
              <a:off x="6553080" y="1447560"/>
              <a:ext cx="2362320" cy="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9" name="Line 18"/>
            <p:cNvSpPr/>
            <p:nvPr/>
          </p:nvSpPr>
          <p:spPr>
            <a:xfrm flipH="1">
              <a:off x="7238520" y="2057400"/>
              <a:ext cx="1676520" cy="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0" name="Line 19"/>
            <p:cNvSpPr/>
            <p:nvPr/>
          </p:nvSpPr>
          <p:spPr>
            <a:xfrm flipH="1">
              <a:off x="7848360" y="2590560"/>
              <a:ext cx="1067040" cy="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81" name="Group 20"/>
          <p:cNvGrpSpPr/>
          <p:nvPr/>
        </p:nvGrpSpPr>
        <p:grpSpPr>
          <a:xfrm>
            <a:off x="5263920" y="2133000"/>
            <a:ext cx="1898640" cy="2711520"/>
            <a:chOff x="5263920" y="2133000"/>
            <a:chExt cx="1898640" cy="2711520"/>
          </a:xfrm>
        </p:grpSpPr>
        <p:sp>
          <p:nvSpPr>
            <p:cNvPr id="982" name="Line 21"/>
            <p:cNvSpPr/>
            <p:nvPr/>
          </p:nvSpPr>
          <p:spPr>
            <a:xfrm flipV="1">
              <a:off x="5263920" y="3276360"/>
              <a:ext cx="0" cy="152424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3" name="Line 22"/>
            <p:cNvSpPr/>
            <p:nvPr/>
          </p:nvSpPr>
          <p:spPr>
            <a:xfrm flipV="1">
              <a:off x="5895720" y="2133000"/>
              <a:ext cx="0" cy="266724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4" name="Line 23"/>
            <p:cNvSpPr/>
            <p:nvPr/>
          </p:nvSpPr>
          <p:spPr>
            <a:xfrm flipV="1">
              <a:off x="6535440" y="2694960"/>
              <a:ext cx="0" cy="213372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5" name="Line 24"/>
            <p:cNvSpPr/>
            <p:nvPr/>
          </p:nvSpPr>
          <p:spPr>
            <a:xfrm flipV="1">
              <a:off x="7162560" y="3244320"/>
              <a:ext cx="0" cy="1600200"/>
            </a:xfrm>
            <a:prstGeom prst="line">
              <a:avLst/>
            </a:prstGeom>
            <a:ln w="75960">
              <a:solidFill>
                <a:srgbClr val="FF006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BCD353E0-56B3-4F82-BF00-C125F4A8DF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7" name="Picture 8"/>
          <p:cNvPicPr/>
          <p:nvPr/>
        </p:nvPicPr>
        <p:blipFill>
          <a:blip r:embed="rId1"/>
          <a:stretch/>
        </p:blipFill>
        <p:spPr>
          <a:xfrm>
            <a:off x="3809880" y="990360"/>
            <a:ext cx="5105520" cy="47674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988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61084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Highly Redundant Nanoelectronic Memories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Box 5"/>
          <p:cNvSpPr/>
          <p:nvPr/>
        </p:nvSpPr>
        <p:spPr>
          <a:xfrm>
            <a:off x="457200" y="1600200"/>
            <a:ext cx="3276360" cy="16167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Memory with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block-level redundancy: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Based on hybrid semiconductor/nanodevice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Text Box 6"/>
          <p:cNvSpPr/>
          <p:nvPr/>
        </p:nvSpPr>
        <p:spPr>
          <a:xfrm>
            <a:off x="457200" y="3429000"/>
            <a:ext cx="33526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Error-correcting code applied for defect tolerance, as opposed to operational or “soft”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Text Box 7"/>
          <p:cNvSpPr/>
          <p:nvPr/>
        </p:nvSpPr>
        <p:spPr>
          <a:xfrm>
            <a:off x="3886200" y="5790960"/>
            <a:ext cx="5029200" cy="307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 source: Strukov/Likharev,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Nanotechnology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Jan. 2005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2442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2003-03-02T02:14:00Z</dcterms:created>
  <dc:creator>Behrooz Parhami</dc:creator>
  <dc:description/>
  <dc:language>en-US</dc:language>
  <cp:lastModifiedBy>Xin Xin</cp:lastModifiedBy>
  <cp:lastPrinted>2021-09-29T00:46:54Z</cp:lastPrinted>
  <dcterms:modified xsi:type="dcterms:W3CDTF">2026-10-02T10:59:45Z</dcterms:modified>
  <cp:revision>487</cp:revision>
  <dc:subject/>
  <dc:title>Fault Tolerance, Lecture 01</dc:title>
</cp:coreProperties>
</file>