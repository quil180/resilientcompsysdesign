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media/image31.wmf" ContentType="image/x-wmf"/>
  <Override PartName="/ppt/media/image33.wmf" ContentType="image/x-wmf"/>
  <Override PartName="/ppt/media/image34.wmf" ContentType="image/x-wmf"/>
  <Override PartName="/ppt/media/image27.wmf" ContentType="image/x-wmf"/>
  <Override PartName="/ppt/media/image26.wmf" ContentType="image/x-wmf"/>
  <Override PartName="/ppt/media/image32.wmf" ContentType="image/x-wmf"/>
  <Override PartName="/ppt/presentation.xml" ContentType="application/vnd.openxmlformats-officedocument.presentationml.presentation.main+xml"/>
  <Override PartName="/ppt/embeddings/oleObject1.bin" ContentType="application/vnd.openxmlformats-officedocument.oleObject"/>
  <Override PartName="/ppt/slides/slide29.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5.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31.xml" ContentType="application/vnd.openxmlformats-officedocument.presentationml.slide+xml"/>
  <Override PartName="/ppt/slides/slide24.xml" ContentType="application/vnd.openxmlformats-officedocument.presentationml.slide+xml"/>
  <Override PartName="/ppt/slides/slide32.xml" ContentType="application/vnd.openxmlformats-officedocument.presentationml.slide+xml"/>
  <Override PartName="/ppt/slides/slide34.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6.xml" ContentType="application/vnd.openxmlformats-officedocument.presentationml.slide+xml"/>
  <Override PartName="/ppt/slides/slide18.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slides/slide37.xml" ContentType="application/vnd.openxmlformats-officedocument.presentationml.slide+xml"/>
  <Override PartName="/ppt/slides/slide19.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s/slide28.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3.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ppt/notesSlides/notesSlide37.xml" ContentType="application/vnd.openxmlformats-officedocument.presentationml.notesSlide+xml"/>
  <Override PartName="/ppt/notesSlides/notesSlide24.xml" ContentType="application/vnd.openxmlformats-officedocument.presentationml.notesSlide+xml"/>
  <Override PartName="/ppt/notesSlides/notesSlide33.xml" ContentType="application/vnd.openxmlformats-officedocument.presentationml.notesSlide+xml"/>
  <Override PartName="/ppt/notesSlides/notesSlide36.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10.xml" ContentType="application/vnd.openxmlformats-officedocument.presentationml.notesSlide+xml"/>
  <Override PartName="/ppt/notesSlides/notesSlide19.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2.xml" ContentType="application/vnd.openxmlformats-officedocument.presentationml.notesSlide+xml"/>
  <Override PartName="/ppt/notesSlides/notesSlide6.xml" ContentType="application/vnd.openxmlformats-officedocument.presentationml.notesSlide+xml"/>
  <Override PartName="/ppt/notesSlides/notesSlide16.xml" ContentType="application/vnd.openxmlformats-officedocument.presentationml.notesSlide+xml"/>
  <Override PartName="/ppt/notesSlides/notesSlide23.xml" ContentType="application/vnd.openxmlformats-officedocument.presentationml.notesSlide+xml"/>
  <Override PartName="/ppt/notesSlides/notesSlide38.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4.xml" ContentType="application/vnd.openxmlformats-officedocument.presentationml.notesSlide+xml"/>
  <Override PartName="/ppt/notesSlides/notesSlide21.xml" ContentType="application/vnd.openxmlformats-officedocument.presentationml.notesSlide+xml"/>
  <Override PartName="/ppt/notesSlides/notesSlide7.xml" ContentType="application/vnd.openxmlformats-officedocument.presentationml.notesSlide+xml"/>
  <Override PartName="/ppt/notesSlides/notesSlide1.xml" ContentType="application/vnd.openxmlformats-officedocument.presentationml.notesSlide+xml"/>
  <Override PartName="/ppt/notesSlides/notesSlide5.xml" ContentType="application/vnd.openxmlformats-officedocument.presentationml.notesSlide+xml"/>
  <Override PartName="/ppt/notesSlides/notesSlide34.xml" ContentType="application/vnd.openxmlformats-officedocument.presentationml.notesSlide+xml"/>
  <Override PartName="/ppt/notesSlides/notesSlide25.xml" ContentType="application/vnd.openxmlformats-officedocument.presentationml.notesSlide+xml"/>
  <Override PartName="/ppt/notesSlides/notesSlide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Lst>
  <p:sldSz cx="9144000" cy="6858000"/>
  <p:notesSz cx="6858000" cy="9294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 name=""/>
          <p:cNvSpPr/>
          <p:nvPr/>
        </p:nvSpPr>
        <p:spPr>
          <a:xfrm>
            <a:off x="0" y="0"/>
            <a:ext cx="6858000" cy="9295200"/>
          </a:xfrm>
          <a:prstGeom prst="rect">
            <a:avLst/>
          </a:prstGeom>
          <a:solidFill>
            <a:srgbClr val="FFFFFF"/>
          </a:solidFill>
          <a:ln w="38160">
            <a:noFill/>
          </a:ln>
        </p:spPr>
        <p:txBody>
          <a:bodyPr lIns="90000" tIns="45000" rIns="90000" bIns="45000" anchor="ctr" anchorCtr="1">
            <a:noAutofit/>
          </a:bodyPr>
          <a:p>
            <a:endParaRPr lang="en-US" sz="2400" b="0" u="none" strike="noStrike">
              <a:solidFill>
                <a:srgbClr val="000000"/>
              </a:solidFill>
              <a:effectLst/>
              <a:uFillTx/>
              <a:latin typeface="Times New Roman"/>
            </a:endParaRPr>
          </a:p>
        </p:txBody>
      </p:sp>
      <p:sp>
        <p:nvSpPr>
          <p:cNvPr id="6" name="PlaceHolder 1"/>
          <p:cNvSpPr>
            <a:spLocks noGrp="1"/>
          </p:cNvSpPr>
          <p:nvPr>
            <p:ph type="hdr"/>
          </p:nvPr>
        </p:nvSpPr>
        <p:spPr>
          <a:xfrm>
            <a:off x="-360" y="-360"/>
            <a:ext cx="2971800" cy="463320"/>
          </a:xfrm>
          <a:prstGeom prst="rect">
            <a:avLst/>
          </a:prstGeom>
          <a:noFill/>
          <a:ln w="38160">
            <a:noFill/>
          </a:ln>
        </p:spPr>
        <p:txBody>
          <a:bodyPr lIns="92160" tIns="46080" rIns="92160" bIns="4608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7" name="PlaceHolder 2"/>
          <p:cNvSpPr>
            <a:spLocks noGrp="1"/>
          </p:cNvSpPr>
          <p:nvPr>
            <p:ph type="dt" idx="2"/>
          </p:nvPr>
        </p:nvSpPr>
        <p:spPr>
          <a:xfrm>
            <a:off x="3885840" y="-360"/>
            <a:ext cx="2971800" cy="463320"/>
          </a:xfrm>
          <a:prstGeom prst="rect">
            <a:avLst/>
          </a:prstGeom>
          <a:noFill/>
          <a:ln w="38160">
            <a:noFill/>
          </a:ln>
        </p:spPr>
        <p:txBody>
          <a:bodyPr lIns="92160" tIns="46080" rIns="92160" bIns="4608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8" name="PlaceHolder 3"/>
          <p:cNvSpPr>
            <a:spLocks noGrp="1"/>
          </p:cNvSpPr>
          <p:nvPr>
            <p:ph type="sldImg"/>
          </p:nvPr>
        </p:nvSpPr>
        <p:spPr>
          <a:xfrm>
            <a:off x="1105920" y="698400"/>
            <a:ext cx="4646520" cy="3486240"/>
          </a:xfrm>
          <a:prstGeom prst="rect">
            <a:avLst/>
          </a:prstGeom>
          <a:noFill/>
          <a:ln w="9360">
            <a:solidFill>
              <a:srgbClr val="000000"/>
            </a:solidFill>
            <a:miter/>
          </a:ln>
        </p:spPr>
        <p:txBody>
          <a:bodyPr lIns="92160" tIns="46080" rIns="92160" bIns="4608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000000"/>
                </a:solidFill>
                <a:effectLst/>
                <a:uFillTx/>
                <a:latin typeface="Arial"/>
              </a:rPr>
              <a:t>Click to move the slide</a:t>
            </a:r>
            <a:endParaRPr lang="en-US" sz="4400" b="0" u="none" strike="noStrike">
              <a:solidFill>
                <a:srgbClr val="000000"/>
              </a:solidFill>
              <a:effectLst/>
              <a:uFillTx/>
              <a:latin typeface="Arial"/>
            </a:endParaRPr>
          </a:p>
        </p:txBody>
      </p:sp>
      <p:sp>
        <p:nvSpPr>
          <p:cNvPr id="9" name="PlaceHolder 4"/>
          <p:cNvSpPr>
            <a:spLocks noGrp="1"/>
          </p:cNvSpPr>
          <p:nvPr>
            <p:ph type="body"/>
          </p:nvPr>
        </p:nvSpPr>
        <p:spPr>
          <a:xfrm>
            <a:off x="914400" y="4416120"/>
            <a:ext cx="5029200" cy="4181760"/>
          </a:xfrm>
          <a:prstGeom prst="rect">
            <a:avLst/>
          </a:prstGeom>
          <a:noFill/>
          <a:ln w="0">
            <a:noFill/>
          </a:ln>
        </p:spPr>
        <p:txBody>
          <a:bodyPr lIns="92160" tIns="46080" rIns="92160" bIns="4608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rPr>
              <a:t>Click to edit the notes format</a:t>
            </a:r>
            <a:endParaRPr lang="en-US" sz="1200" b="0" u="none" strike="noStrike">
              <a:solidFill>
                <a:srgbClr val="000000"/>
              </a:solidFill>
              <a:effectLst/>
              <a:uFillTx/>
              <a:latin typeface="Times New Roman"/>
            </a:endParaRPr>
          </a:p>
        </p:txBody>
      </p:sp>
      <p:sp>
        <p:nvSpPr>
          <p:cNvPr id="10" name="PlaceHolder 5"/>
          <p:cNvSpPr>
            <a:spLocks noGrp="1"/>
          </p:cNvSpPr>
          <p:nvPr>
            <p:ph type="ftr" idx="3"/>
          </p:nvPr>
        </p:nvSpPr>
        <p:spPr>
          <a:xfrm>
            <a:off x="-360" y="8832600"/>
            <a:ext cx="2971800" cy="463680"/>
          </a:xfrm>
          <a:prstGeom prst="rect">
            <a:avLst/>
          </a:prstGeom>
          <a:noFill/>
          <a:ln w="38160">
            <a:noFill/>
          </a:ln>
        </p:spPr>
        <p:txBody>
          <a:bodyPr lIns="92160" tIns="46080" rIns="92160" bIns="46080" anchor="b">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1" name="PlaceHolder 6"/>
          <p:cNvSpPr>
            <a:spLocks noGrp="1"/>
          </p:cNvSpPr>
          <p:nvPr>
            <p:ph type="sldNum" idx="4"/>
          </p:nvPr>
        </p:nvSpPr>
        <p:spPr>
          <a:xfrm>
            <a:off x="3885840" y="8832600"/>
            <a:ext cx="2971800" cy="463680"/>
          </a:xfrm>
          <a:prstGeom prst="rect">
            <a:avLst/>
          </a:prstGeom>
          <a:noFill/>
          <a:ln w="38160">
            <a:noFill/>
          </a:ln>
        </p:spPr>
        <p:txBody>
          <a:bodyPr lIns="92160" tIns="46080" rIns="92160" bIns="46080" anchor="b">
            <a:noAutofit/>
          </a:bodyPr>
          <a:lstStyle>
            <a:lvl1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200" b="0" u="none" strike="noStrike">
                <a:solidFill>
                  <a:srgbClr val="000000"/>
                </a:solidFill>
                <a:effectLst/>
                <a:uFillTx/>
                <a:latin typeface="Times New Roman"/>
              </a:defRPr>
            </a:lvl1pPr>
          </a:lstStyle>
          <a:p>
            <a: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6C6BF869-34FB-4DDB-B687-83624B1FA924}"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8"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F3EFA05-9F6C-4D93-ACDC-5BCC82E9362C}"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519" name="PlaceHolder 1"/>
          <p:cNvSpPr>
            <a:spLocks noGrp="1"/>
          </p:cNvSpPr>
          <p:nvPr>
            <p:ph type="sldImg"/>
          </p:nvPr>
        </p:nvSpPr>
        <p:spPr>
          <a:xfrm>
            <a:off x="1106280" y="698400"/>
            <a:ext cx="4646520" cy="3486240"/>
          </a:xfrm>
          <a:prstGeom prst="rect">
            <a:avLst/>
          </a:prstGeom>
          <a:ln w="0">
            <a:noFill/>
          </a:ln>
        </p:spPr>
      </p:sp>
      <p:sp>
        <p:nvSpPr>
          <p:cNvPr id="520"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1"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AF9AB904-51EF-4C2C-B02C-763152F28175}"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522" name="PlaceHolder 1"/>
          <p:cNvSpPr>
            <a:spLocks noGrp="1"/>
          </p:cNvSpPr>
          <p:nvPr>
            <p:ph type="sldImg"/>
          </p:nvPr>
        </p:nvSpPr>
        <p:spPr>
          <a:xfrm>
            <a:off x="1106280" y="698400"/>
            <a:ext cx="4646520" cy="3486240"/>
          </a:xfrm>
          <a:prstGeom prst="rect">
            <a:avLst/>
          </a:prstGeom>
          <a:ln w="0">
            <a:noFill/>
          </a:ln>
        </p:spPr>
      </p:sp>
      <p:sp>
        <p:nvSpPr>
          <p:cNvPr id="523" name="PlaceHolder 2"/>
          <p:cNvSpPr>
            <a:spLocks noGrp="1"/>
          </p:cNvSpPr>
          <p:nvPr>
            <p:ph type="body"/>
          </p:nvPr>
        </p:nvSpPr>
        <p:spPr>
          <a:xfrm>
            <a:off x="914400" y="4416120"/>
            <a:ext cx="5029200" cy="4181760"/>
          </a:xfrm>
          <a:prstGeom prst="rect">
            <a:avLst/>
          </a:prstGeom>
          <a:noFill/>
          <a:ln w="0">
            <a:noFill/>
          </a:ln>
        </p:spPr>
        <p:txBody>
          <a:bodyPr lIns="92160" tIns="46080" rIns="92160" bIns="4608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Arial"/>
              </a:rPr>
              <a:t>Improve the least reliable part first also implies the importance of correction</a:t>
            </a:r>
            <a:br>
              <a:rPr sz="1200"/>
            </a:br>
            <a:br>
              <a:rPr sz="1200"/>
            </a:br>
            <a:r>
              <a:rPr lang="en-US" sz="1200" b="1" u="none" strike="noStrike">
                <a:solidFill>
                  <a:srgbClr val="000000"/>
                </a:solidFill>
                <a:effectLst/>
                <a:uFillTx/>
                <a:latin typeface="Times New Roman"/>
              </a:rPr>
              <a:t>Failures are not independent</a:t>
            </a:r>
            <a:r>
              <a:rPr lang="en-US" sz="1200" b="0" u="none" strike="noStrike">
                <a:solidFill>
                  <a:srgbClr val="000000"/>
                </a:solidFill>
                <a:effectLst/>
                <a:uFillTx/>
                <a:latin typeface="Times New Roman"/>
              </a:rPr>
              <a:t>: If failures are correlated—meaning one failure directly influences or triggers another—the redundancy may not be effective. In systems where components are interdependent, the failure of one component can lead to a cascade of failures across the redundant units, negating the safety provided by having multiple units.</a:t>
            </a:r>
            <a:endParaRPr lang="en-US" sz="1200" b="0" u="none" strike="noStrike">
              <a:solidFill>
                <a:srgbClr val="000000"/>
              </a:solidFill>
              <a:effectLst/>
              <a:uFillTx/>
              <a:latin typeface="Times New Roman"/>
            </a:endParaRPr>
          </a:p>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000000"/>
                </a:solidFill>
                <a:effectLst/>
                <a:uFillTx/>
                <a:latin typeface="Times New Roman"/>
              </a:rPr>
              <a:t>Some critical component fails</a:t>
            </a:r>
            <a:r>
              <a:rPr lang="en-US" sz="1200" b="0" u="none" strike="noStrike">
                <a:solidFill>
                  <a:srgbClr val="000000"/>
                </a:solidFill>
                <a:effectLst/>
                <a:uFillTx/>
                <a:latin typeface="Times New Roman"/>
              </a:rPr>
              <a:t>: If the system's design has a single point of failure or a component that, upon failure, causes the entire system to fail, then redundancy in other parts of the system does not contribute to overall safety. For example, if a critical sensor or controller in a system fails and there is no backup for this component, the system can still fail despite redundancies elsewhere.</a:t>
            </a:r>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4" name="PlaceHolder 1"/>
          <p:cNvSpPr>
            <a:spLocks noGrp="1"/>
          </p:cNvSpPr>
          <p:nvPr>
            <p:ph type="sldImg"/>
          </p:nvPr>
        </p:nvSpPr>
        <p:spPr>
          <a:xfrm>
            <a:off x="1106280" y="698400"/>
            <a:ext cx="4646520" cy="3486240"/>
          </a:xfrm>
          <a:prstGeom prst="rect">
            <a:avLst/>
          </a:prstGeom>
          <a:ln w="0">
            <a:noFill/>
          </a:ln>
        </p:spPr>
      </p:sp>
      <p:sp>
        <p:nvSpPr>
          <p:cNvPr id="525" name="PlaceHolder 2"/>
          <p:cNvSpPr>
            <a:spLocks noGrp="1"/>
          </p:cNvSpPr>
          <p:nvPr>
            <p:ph type="body"/>
          </p:nvPr>
        </p:nvSpPr>
        <p:spPr>
          <a:xfrm>
            <a:off x="914400" y="4416120"/>
            <a:ext cx="5029200" cy="4181760"/>
          </a:xfrm>
          <a:prstGeom prst="rect">
            <a:avLst/>
          </a:prstGeom>
          <a:noFill/>
          <a:ln w="0">
            <a:noFill/>
          </a:ln>
        </p:spPr>
        <p:txBody>
          <a:bodyPr lIns="92160" tIns="46080" rIns="92160" bIns="4608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rPr>
              <a:t>From my research PIM, is important</a:t>
            </a:r>
            <a:br>
              <a:rPr sz="1200"/>
            </a:br>
            <a:r>
              <a:rPr lang="en-US" sz="1200" b="0" u="none" strike="noStrike">
                <a:solidFill>
                  <a:srgbClr val="000000"/>
                </a:solidFill>
                <a:effectLst/>
                <a:uFillTx/>
                <a:latin typeface="Times New Roman"/>
              </a:rPr>
              <a:t>But is also not important, because correlated</a:t>
            </a:r>
            <a:endParaRPr lang="en-US" sz="1200" b="0" u="none" strike="noStrike">
              <a:solidFill>
                <a:srgbClr val="000000"/>
              </a:solidFill>
              <a:effectLst/>
              <a:uFillTx/>
              <a:latin typeface="Times New Roman"/>
            </a:endParaRPr>
          </a:p>
        </p:txBody>
      </p:sp>
      <p:sp>
        <p:nvSpPr>
          <p:cNvPr id="526" name="Slide Number Placeholder 3"/>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AC4DE82-EF44-48A0-8392-D6D5D40252A4}"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7"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FFCEA72-BF77-439F-B290-9E62901F0D86}"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528" name="PlaceHolder 1"/>
          <p:cNvSpPr>
            <a:spLocks noGrp="1"/>
          </p:cNvSpPr>
          <p:nvPr>
            <p:ph type="sldImg"/>
          </p:nvPr>
        </p:nvSpPr>
        <p:spPr>
          <a:xfrm>
            <a:off x="1106280" y="698400"/>
            <a:ext cx="4646520" cy="3486240"/>
          </a:xfrm>
          <a:prstGeom prst="rect">
            <a:avLst/>
          </a:prstGeom>
          <a:ln w="0">
            <a:noFill/>
          </a:ln>
        </p:spPr>
      </p:sp>
      <p:sp>
        <p:nvSpPr>
          <p:cNvPr id="529" name="PlaceHolder 2"/>
          <p:cNvSpPr>
            <a:spLocks noGrp="1"/>
          </p:cNvSpPr>
          <p:nvPr>
            <p:ph type="body"/>
          </p:nvPr>
        </p:nvSpPr>
        <p:spPr>
          <a:xfrm>
            <a:off x="914400" y="4416120"/>
            <a:ext cx="5029200" cy="4181760"/>
          </a:xfrm>
          <a:prstGeom prst="rect">
            <a:avLst/>
          </a:prstGeom>
          <a:noFill/>
          <a:ln w="0">
            <a:noFill/>
          </a:ln>
        </p:spPr>
        <p:txBody>
          <a:bodyPr lIns="92160" tIns="46080" rIns="92160" bIns="4608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rPr>
              <a:t>ENIAC had special provisions for fault tolerance and quick repair; otherwise, it could not have done anything useful at all. The early version was up only half the time, but later improvements raised its MTBF to ~2 days.</a:t>
            </a:r>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0"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3F369C82-F82B-43F5-919E-5F32F55645A3}"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531" name="PlaceHolder 1"/>
          <p:cNvSpPr>
            <a:spLocks noGrp="1"/>
          </p:cNvSpPr>
          <p:nvPr>
            <p:ph type="sldImg"/>
          </p:nvPr>
        </p:nvSpPr>
        <p:spPr>
          <a:xfrm>
            <a:off x="1106280" y="698400"/>
            <a:ext cx="4646520" cy="3486240"/>
          </a:xfrm>
          <a:prstGeom prst="rect">
            <a:avLst/>
          </a:prstGeom>
          <a:ln w="0">
            <a:noFill/>
          </a:ln>
        </p:spPr>
      </p:sp>
      <p:sp>
        <p:nvSpPr>
          <p:cNvPr id="532"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3"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1C98195A-1A57-445B-B713-B1692616779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534" name="PlaceHolder 1"/>
          <p:cNvSpPr>
            <a:spLocks noGrp="1"/>
          </p:cNvSpPr>
          <p:nvPr>
            <p:ph type="sldImg"/>
          </p:nvPr>
        </p:nvSpPr>
        <p:spPr>
          <a:xfrm>
            <a:off x="1106280" y="698400"/>
            <a:ext cx="4646520" cy="3486240"/>
          </a:xfrm>
          <a:prstGeom prst="rect">
            <a:avLst/>
          </a:prstGeom>
          <a:ln w="0">
            <a:noFill/>
          </a:ln>
        </p:spPr>
      </p:sp>
      <p:sp>
        <p:nvSpPr>
          <p:cNvPr id="535"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6"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661C42AD-A1FD-4EC5-914D-D9E48CDA6C93}"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537" name="PlaceHolder 1"/>
          <p:cNvSpPr>
            <a:spLocks noGrp="1"/>
          </p:cNvSpPr>
          <p:nvPr>
            <p:ph type="sldImg"/>
          </p:nvPr>
        </p:nvSpPr>
        <p:spPr>
          <a:xfrm>
            <a:off x="1106280" y="698400"/>
            <a:ext cx="4646520" cy="3486240"/>
          </a:xfrm>
          <a:prstGeom prst="rect">
            <a:avLst/>
          </a:prstGeom>
          <a:ln w="0">
            <a:noFill/>
          </a:ln>
        </p:spPr>
      </p:sp>
      <p:sp>
        <p:nvSpPr>
          <p:cNvPr id="538"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9"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358A4244-B29D-4727-B139-BE91A92ADE03}"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540" name="PlaceHolder 1"/>
          <p:cNvSpPr>
            <a:spLocks noGrp="1"/>
          </p:cNvSpPr>
          <p:nvPr>
            <p:ph type="sldImg"/>
          </p:nvPr>
        </p:nvSpPr>
        <p:spPr>
          <a:xfrm>
            <a:off x="1106280" y="698400"/>
            <a:ext cx="4646520" cy="3486240"/>
          </a:xfrm>
          <a:prstGeom prst="rect">
            <a:avLst/>
          </a:prstGeom>
          <a:ln w="0">
            <a:noFill/>
          </a:ln>
        </p:spPr>
      </p:sp>
      <p:sp>
        <p:nvSpPr>
          <p:cNvPr id="541" name="PlaceHolder 2"/>
          <p:cNvSpPr>
            <a:spLocks noGrp="1"/>
          </p:cNvSpPr>
          <p:nvPr>
            <p:ph type="body"/>
          </p:nvPr>
        </p:nvSpPr>
        <p:spPr>
          <a:xfrm>
            <a:off x="914400" y="4416120"/>
            <a:ext cx="5029200" cy="4181760"/>
          </a:xfrm>
          <a:prstGeom prst="rect">
            <a:avLst/>
          </a:prstGeom>
          <a:noFill/>
          <a:ln w="0">
            <a:noFill/>
          </a:ln>
        </p:spPr>
        <p:txBody>
          <a:bodyPr lIns="92160" tIns="46080" rIns="92160" bIns="4608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rPr>
              <a:t>Petroski goes on to conclude that we learn more from failures than from successes</a:t>
            </a:r>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2"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87972D73-1681-4514-8E96-A1A510579A9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543" name="PlaceHolder 1"/>
          <p:cNvSpPr>
            <a:spLocks noGrp="1"/>
          </p:cNvSpPr>
          <p:nvPr>
            <p:ph type="sldImg"/>
          </p:nvPr>
        </p:nvSpPr>
        <p:spPr>
          <a:xfrm>
            <a:off x="1106280" y="698400"/>
            <a:ext cx="4646520" cy="3486240"/>
          </a:xfrm>
          <a:prstGeom prst="rect">
            <a:avLst/>
          </a:prstGeom>
          <a:ln w="0">
            <a:noFill/>
          </a:ln>
        </p:spPr>
      </p:sp>
      <p:sp>
        <p:nvSpPr>
          <p:cNvPr id="544"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5"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275FF172-CC22-4C2D-9C8B-CA5393F01773}"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546" name="PlaceHolder 1"/>
          <p:cNvSpPr>
            <a:spLocks noGrp="1"/>
          </p:cNvSpPr>
          <p:nvPr>
            <p:ph type="sldImg"/>
          </p:nvPr>
        </p:nvSpPr>
        <p:spPr>
          <a:xfrm>
            <a:off x="1106280" y="698400"/>
            <a:ext cx="4646520" cy="3486240"/>
          </a:xfrm>
          <a:prstGeom prst="rect">
            <a:avLst/>
          </a:prstGeom>
          <a:ln w="0">
            <a:noFill/>
          </a:ln>
        </p:spPr>
      </p:sp>
      <p:sp>
        <p:nvSpPr>
          <p:cNvPr id="547"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8"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CB1CE04D-69DF-4D9C-B6CC-4CB041437F67}"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549" name="PlaceHolder 1"/>
          <p:cNvSpPr>
            <a:spLocks noGrp="1"/>
          </p:cNvSpPr>
          <p:nvPr>
            <p:ph type="sldImg"/>
          </p:nvPr>
        </p:nvSpPr>
        <p:spPr>
          <a:xfrm>
            <a:off x="1106280" y="698400"/>
            <a:ext cx="4646520" cy="3486240"/>
          </a:xfrm>
          <a:prstGeom prst="rect">
            <a:avLst/>
          </a:prstGeom>
          <a:ln w="0">
            <a:noFill/>
          </a:ln>
        </p:spPr>
      </p:sp>
      <p:sp>
        <p:nvSpPr>
          <p:cNvPr id="550" name="PlaceHolder 2"/>
          <p:cNvSpPr>
            <a:spLocks noGrp="1"/>
          </p:cNvSpPr>
          <p:nvPr>
            <p:ph type="body"/>
          </p:nvPr>
        </p:nvSpPr>
        <p:spPr>
          <a:xfrm>
            <a:off x="914400" y="4416120"/>
            <a:ext cx="5029200" cy="4181760"/>
          </a:xfrm>
          <a:prstGeom prst="rect">
            <a:avLst/>
          </a:prstGeom>
          <a:noFill/>
          <a:ln w="0">
            <a:noFill/>
          </a:ln>
        </p:spPr>
        <p:txBody>
          <a:bodyPr lIns="92160" tIns="46080" rIns="92160" bIns="4608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rPr>
              <a:t>Microsoft Excel flaw, discovered in late September 2007, was assigned as homework in fall 2007.</a:t>
            </a:r>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1"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2E96BCFC-5FC7-4095-AD90-D5DA9B7E2CF2}"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552" name="PlaceHolder 1"/>
          <p:cNvSpPr>
            <a:spLocks noGrp="1"/>
          </p:cNvSpPr>
          <p:nvPr>
            <p:ph type="sldImg"/>
          </p:nvPr>
        </p:nvSpPr>
        <p:spPr>
          <a:xfrm>
            <a:off x="1106280" y="698400"/>
            <a:ext cx="4646520" cy="3486240"/>
          </a:xfrm>
          <a:prstGeom prst="rect">
            <a:avLst/>
          </a:prstGeom>
          <a:ln w="0">
            <a:noFill/>
          </a:ln>
        </p:spPr>
      </p:sp>
      <p:sp>
        <p:nvSpPr>
          <p:cNvPr id="553" name="PlaceHolder 2"/>
          <p:cNvSpPr>
            <a:spLocks noGrp="1"/>
          </p:cNvSpPr>
          <p:nvPr>
            <p:ph type="body"/>
          </p:nvPr>
        </p:nvSpPr>
        <p:spPr>
          <a:xfrm>
            <a:off x="914400" y="4416120"/>
            <a:ext cx="5029200" cy="4181760"/>
          </a:xfrm>
          <a:prstGeom prst="rect">
            <a:avLst/>
          </a:prstGeom>
          <a:noFill/>
          <a:ln w="0">
            <a:noFill/>
          </a:ln>
        </p:spPr>
        <p:txBody>
          <a:bodyPr lIns="92160" tIns="46080" rIns="92160" bIns="4608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rPr>
              <a:t>Reference for the 7 factors and their share of errors – Robert W. Bailey, </a:t>
            </a:r>
            <a:r>
              <a:rPr lang="en-US" sz="1200" b="0" i="1" u="none" strike="noStrike">
                <a:solidFill>
                  <a:srgbClr val="000000"/>
                </a:solidFill>
                <a:effectLst/>
                <a:uFillTx/>
                <a:latin typeface="Times New Roman"/>
              </a:rPr>
              <a:t>Human Error in Computer Systems</a:t>
            </a:r>
            <a:r>
              <a:rPr lang="en-US" sz="1200" b="0" u="none" strike="noStrike">
                <a:solidFill>
                  <a:srgbClr val="000000"/>
                </a:solidFill>
                <a:effectLst/>
                <a:uFillTx/>
                <a:latin typeface="Times New Roman"/>
              </a:rPr>
              <a:t>, Prentice Hall, 1983.</a:t>
            </a:r>
            <a:endParaRPr lang="en-US" sz="1200" b="0" u="none" strike="noStrike">
              <a:solidFill>
                <a:srgbClr val="000000"/>
              </a:solidFill>
              <a:effectLst/>
              <a:uFillTx/>
              <a:latin typeface="Times New Roman"/>
            </a:endParaRPr>
          </a:p>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rPr>
              <a:t>A more general reference – James Reason, </a:t>
            </a:r>
            <a:r>
              <a:rPr lang="en-US" sz="1200" b="0" i="1" u="none" strike="noStrike">
                <a:solidFill>
                  <a:srgbClr val="000000"/>
                </a:solidFill>
                <a:effectLst/>
                <a:uFillTx/>
                <a:latin typeface="Times New Roman"/>
              </a:rPr>
              <a:t>Human Error</a:t>
            </a:r>
            <a:r>
              <a:rPr lang="en-US" sz="1200" b="0" u="none" strike="noStrike">
                <a:solidFill>
                  <a:srgbClr val="000000"/>
                </a:solidFill>
                <a:effectLst/>
                <a:uFillTx/>
                <a:latin typeface="Times New Roman"/>
              </a:rPr>
              <a:t>, Cambridge U. Press, 1990.</a:t>
            </a:r>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4"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3A9D4626-F3D3-4635-B15E-EBECAA6825B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555" name="PlaceHolder 1"/>
          <p:cNvSpPr>
            <a:spLocks noGrp="1"/>
          </p:cNvSpPr>
          <p:nvPr>
            <p:ph type="sldImg"/>
          </p:nvPr>
        </p:nvSpPr>
        <p:spPr>
          <a:xfrm>
            <a:off x="1106280" y="698400"/>
            <a:ext cx="4646520" cy="3486240"/>
          </a:xfrm>
          <a:prstGeom prst="rect">
            <a:avLst/>
          </a:prstGeom>
          <a:ln w="0">
            <a:noFill/>
          </a:ln>
        </p:spPr>
      </p:sp>
      <p:sp>
        <p:nvSpPr>
          <p:cNvPr id="556" name="PlaceHolder 2"/>
          <p:cNvSpPr>
            <a:spLocks noGrp="1"/>
          </p:cNvSpPr>
          <p:nvPr>
            <p:ph type="body"/>
          </p:nvPr>
        </p:nvSpPr>
        <p:spPr>
          <a:xfrm>
            <a:off x="914400" y="4416120"/>
            <a:ext cx="5029200" cy="4181760"/>
          </a:xfrm>
          <a:prstGeom prst="rect">
            <a:avLst/>
          </a:prstGeom>
          <a:noFill/>
          <a:ln w="0">
            <a:noFill/>
          </a:ln>
        </p:spPr>
        <p:txBody>
          <a:bodyPr lIns="92160" tIns="46080" rIns="92160" bIns="4608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rPr>
              <a:t>Computer error messages are often cryptic, condescending, or unhelpful. Most violate key attributes of a good user interface.</a:t>
            </a:r>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7"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B40356D8-AA9A-40EC-8EED-55FED9CEE7C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558" name="PlaceHolder 1"/>
          <p:cNvSpPr>
            <a:spLocks noGrp="1"/>
          </p:cNvSpPr>
          <p:nvPr>
            <p:ph type="sldImg"/>
          </p:nvPr>
        </p:nvSpPr>
        <p:spPr>
          <a:xfrm>
            <a:off x="1106280" y="698400"/>
            <a:ext cx="4646520" cy="3486240"/>
          </a:xfrm>
          <a:prstGeom prst="rect">
            <a:avLst/>
          </a:prstGeom>
          <a:ln w="0">
            <a:noFill/>
          </a:ln>
        </p:spPr>
      </p:sp>
      <p:sp>
        <p:nvSpPr>
          <p:cNvPr id="559" name="PlaceHolder 2"/>
          <p:cNvSpPr>
            <a:spLocks noGrp="1"/>
          </p:cNvSpPr>
          <p:nvPr>
            <p:ph type="body"/>
          </p:nvPr>
        </p:nvSpPr>
        <p:spPr>
          <a:xfrm>
            <a:off x="914400" y="4416120"/>
            <a:ext cx="5029200" cy="4181760"/>
          </a:xfrm>
          <a:prstGeom prst="rect">
            <a:avLst/>
          </a:prstGeom>
          <a:noFill/>
          <a:ln w="0">
            <a:noFill/>
          </a:ln>
        </p:spPr>
        <p:txBody>
          <a:bodyPr lIns="92160" tIns="46080" rIns="92160" bIns="4608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rPr>
              <a:t>Rules for human interface design (from  http://www.visualexpert.com/Resources/compneg.html )</a:t>
            </a:r>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0"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75378A44-8962-466D-9C90-57357DDE62C8}"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561" name="PlaceHolder 1"/>
          <p:cNvSpPr>
            <a:spLocks noGrp="1"/>
          </p:cNvSpPr>
          <p:nvPr>
            <p:ph type="sldImg"/>
          </p:nvPr>
        </p:nvSpPr>
        <p:spPr>
          <a:xfrm>
            <a:off x="1106280" y="698400"/>
            <a:ext cx="4646520" cy="3486240"/>
          </a:xfrm>
          <a:prstGeom prst="rect">
            <a:avLst/>
          </a:prstGeom>
          <a:ln w="0">
            <a:noFill/>
          </a:ln>
        </p:spPr>
      </p:sp>
      <p:sp>
        <p:nvSpPr>
          <p:cNvPr id="562"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3"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5AE7B077-2032-49F9-A425-E5A38DA9C594}"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564" name="PlaceHolder 1"/>
          <p:cNvSpPr>
            <a:spLocks noGrp="1"/>
          </p:cNvSpPr>
          <p:nvPr>
            <p:ph type="sldImg"/>
          </p:nvPr>
        </p:nvSpPr>
        <p:spPr>
          <a:xfrm>
            <a:off x="1106280" y="698400"/>
            <a:ext cx="4646520" cy="3486240"/>
          </a:xfrm>
          <a:prstGeom prst="rect">
            <a:avLst/>
          </a:prstGeom>
          <a:ln w="0">
            <a:noFill/>
          </a:ln>
        </p:spPr>
      </p:sp>
      <p:sp>
        <p:nvSpPr>
          <p:cNvPr id="565"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6"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7D631ABC-A8AA-42D3-B82A-6E15117DC544}"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567" name="PlaceHolder 1"/>
          <p:cNvSpPr>
            <a:spLocks noGrp="1"/>
          </p:cNvSpPr>
          <p:nvPr>
            <p:ph type="sldImg"/>
          </p:nvPr>
        </p:nvSpPr>
        <p:spPr>
          <a:xfrm>
            <a:off x="1106280" y="698400"/>
            <a:ext cx="4646520" cy="3486240"/>
          </a:xfrm>
          <a:prstGeom prst="rect">
            <a:avLst/>
          </a:prstGeom>
          <a:ln w="0">
            <a:noFill/>
          </a:ln>
        </p:spPr>
      </p:sp>
      <p:sp>
        <p:nvSpPr>
          <p:cNvPr id="568"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9"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CEA1A894-607A-4DAE-955F-9C369929A1BA}"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570" name="PlaceHolder 1"/>
          <p:cNvSpPr>
            <a:spLocks noGrp="1"/>
          </p:cNvSpPr>
          <p:nvPr>
            <p:ph type="sldImg"/>
          </p:nvPr>
        </p:nvSpPr>
        <p:spPr>
          <a:xfrm>
            <a:off x="1106280" y="698400"/>
            <a:ext cx="4646520" cy="3486240"/>
          </a:xfrm>
          <a:prstGeom prst="rect">
            <a:avLst/>
          </a:prstGeom>
          <a:ln w="0">
            <a:noFill/>
          </a:ln>
        </p:spPr>
      </p:sp>
      <p:sp>
        <p:nvSpPr>
          <p:cNvPr id="571"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2"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8A644325-A11B-446F-A67E-0D7EBC8C971A}"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573" name="PlaceHolder 1"/>
          <p:cNvSpPr>
            <a:spLocks noGrp="1"/>
          </p:cNvSpPr>
          <p:nvPr>
            <p:ph type="sldImg"/>
          </p:nvPr>
        </p:nvSpPr>
        <p:spPr>
          <a:xfrm>
            <a:off x="1106280" y="698400"/>
            <a:ext cx="4646520" cy="3486240"/>
          </a:xfrm>
          <a:prstGeom prst="rect">
            <a:avLst/>
          </a:prstGeom>
          <a:ln w="0">
            <a:noFill/>
          </a:ln>
        </p:spPr>
      </p:sp>
      <p:sp>
        <p:nvSpPr>
          <p:cNvPr id="574" name="PlaceHolder 2"/>
          <p:cNvSpPr>
            <a:spLocks noGrp="1"/>
          </p:cNvSpPr>
          <p:nvPr>
            <p:ph type="body"/>
          </p:nvPr>
        </p:nvSpPr>
        <p:spPr>
          <a:xfrm>
            <a:off x="914400" y="4416120"/>
            <a:ext cx="5029200" cy="4181760"/>
          </a:xfrm>
          <a:prstGeom prst="rect">
            <a:avLst/>
          </a:prstGeom>
          <a:noFill/>
          <a:ln w="0">
            <a:noFill/>
          </a:ln>
        </p:spPr>
        <p:txBody>
          <a:bodyPr lIns="92160" tIns="46080" rIns="92160" bIns="4608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F0000"/>
                </a:solidFill>
                <a:effectLst/>
                <a:uFillTx/>
                <a:latin typeface="Times New Roman"/>
              </a:rPr>
              <a:t>Structural engineering</a:t>
            </a:r>
            <a:r>
              <a:rPr lang="en-US" sz="1200" b="0" u="none" strike="noStrike">
                <a:solidFill>
                  <a:srgbClr val="000000"/>
                </a:solidFill>
                <a:effectLst/>
                <a:uFillTx/>
                <a:latin typeface="Times New Roman"/>
              </a:rPr>
              <a:t> is the art and science of molding materials we do not fully understand; into shapes we cannot precisely analyze; to resist forces we cannot accurately predict; all in such a way that the society at large is given no reason to suspect the extent of our ignorance.</a:t>
            </a:r>
            <a:endParaRPr lang="en-US" sz="1200" b="0" u="none" strike="noStrike">
              <a:solidFill>
                <a:srgbClr val="000000"/>
              </a:solidFill>
              <a:effectLst/>
              <a:uFillTx/>
              <a:latin typeface="Times New Roman"/>
            </a:endParaRPr>
          </a:p>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rPr>
              <a:t>The dual-core version of Itanium 2 is already past the 1B-transistor milestone.</a:t>
            </a:r>
            <a:endParaRPr lang="en-US" sz="1200" b="0" u="none" strike="noStrike">
              <a:solidFill>
                <a:srgbClr val="000000"/>
              </a:solidFill>
              <a:effectLst/>
              <a:uFillTx/>
              <a:latin typeface="Times New Roman"/>
            </a:endParaRPr>
          </a:p>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5"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A4B9417A-AC73-4B9D-AA55-5D834BBCC88D}"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576" name="PlaceHolder 1"/>
          <p:cNvSpPr>
            <a:spLocks noGrp="1"/>
          </p:cNvSpPr>
          <p:nvPr>
            <p:ph type="sldImg"/>
          </p:nvPr>
        </p:nvSpPr>
        <p:spPr>
          <a:xfrm>
            <a:off x="1106280" y="698400"/>
            <a:ext cx="4646520" cy="3486240"/>
          </a:xfrm>
          <a:prstGeom prst="rect">
            <a:avLst/>
          </a:prstGeom>
          <a:ln w="0">
            <a:noFill/>
          </a:ln>
        </p:spPr>
      </p:sp>
      <p:sp>
        <p:nvSpPr>
          <p:cNvPr id="577" name="PlaceHolder 2"/>
          <p:cNvSpPr>
            <a:spLocks noGrp="1"/>
          </p:cNvSpPr>
          <p:nvPr>
            <p:ph type="body"/>
          </p:nvPr>
        </p:nvSpPr>
        <p:spPr>
          <a:xfrm>
            <a:off x="914400" y="4416120"/>
            <a:ext cx="5029200" cy="4181760"/>
          </a:xfrm>
          <a:prstGeom prst="rect">
            <a:avLst/>
          </a:prstGeom>
          <a:noFill/>
          <a:ln w="0">
            <a:noFill/>
          </a:ln>
        </p:spPr>
        <p:txBody>
          <a:bodyPr lIns="92160" tIns="46080" rIns="92160" bIns="4608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rPr>
              <a:t>Citation for the definition of failure – Carper, K.L., “Construction Pathology in the United States,” </a:t>
            </a:r>
            <a:r>
              <a:rPr lang="en-US" sz="1200" b="0" i="1" u="none" strike="noStrike">
                <a:solidFill>
                  <a:srgbClr val="000000"/>
                </a:solidFill>
                <a:effectLst/>
                <a:uFillTx/>
                <a:latin typeface="Times New Roman"/>
              </a:rPr>
              <a:t>Structural Engineering International</a:t>
            </a:r>
            <a:r>
              <a:rPr lang="en-US" sz="1200" b="0" u="none" strike="noStrike">
                <a:solidFill>
                  <a:srgbClr val="000000"/>
                </a:solidFill>
                <a:effectLst/>
                <a:uFillTx/>
                <a:latin typeface="Times New Roman"/>
              </a:rPr>
              <a:t>, Vol. 6, No. 1, p. 57-60, February 1996.</a:t>
            </a:r>
            <a:endParaRPr lang="en-US" sz="1200" b="0" u="none" strike="noStrike">
              <a:solidFill>
                <a:srgbClr val="000000"/>
              </a:solidFill>
              <a:effectLst/>
              <a:uFillTx/>
              <a:latin typeface="Times New Roman"/>
            </a:endParaRPr>
          </a:p>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rPr>
              <a:t>Question about the definition: Expected by whom? User expectations may be different from designer’s, if specification incorrect.</a:t>
            </a:r>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8"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408C74A3-210B-4EDD-AC15-BA3341A3B7C2}"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579" name="PlaceHolder 1"/>
          <p:cNvSpPr>
            <a:spLocks noGrp="1"/>
          </p:cNvSpPr>
          <p:nvPr>
            <p:ph type="sldImg"/>
          </p:nvPr>
        </p:nvSpPr>
        <p:spPr>
          <a:xfrm>
            <a:off x="1106280" y="698400"/>
            <a:ext cx="4646520" cy="3486240"/>
          </a:xfrm>
          <a:prstGeom prst="rect">
            <a:avLst/>
          </a:prstGeom>
          <a:ln w="0">
            <a:noFill/>
          </a:ln>
        </p:spPr>
      </p:sp>
      <p:sp>
        <p:nvSpPr>
          <p:cNvPr id="580" name="PlaceHolder 2"/>
          <p:cNvSpPr>
            <a:spLocks noGrp="1"/>
          </p:cNvSpPr>
          <p:nvPr>
            <p:ph type="body"/>
          </p:nvPr>
        </p:nvSpPr>
        <p:spPr>
          <a:xfrm>
            <a:off x="914400" y="4416120"/>
            <a:ext cx="5029200" cy="4181760"/>
          </a:xfrm>
          <a:prstGeom prst="rect">
            <a:avLst/>
          </a:prstGeom>
          <a:noFill/>
          <a:ln w="0">
            <a:noFill/>
          </a:ln>
        </p:spPr>
        <p:txBody>
          <a:bodyPr lIns="92160" tIns="46080" rIns="92160" bIns="4608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rPr>
              <a:t>Many versions of this cartoon idea have appeared over the years. They all show that there is a disconnect between user requirements and the way these requirements are understood or implemented.</a:t>
            </a:r>
            <a:endParaRPr lang="en-US"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1"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709F01BA-B12E-42DA-8362-71E203DDDF52}"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582" name="PlaceHolder 1"/>
          <p:cNvSpPr>
            <a:spLocks noGrp="1"/>
          </p:cNvSpPr>
          <p:nvPr>
            <p:ph type="sldImg"/>
          </p:nvPr>
        </p:nvSpPr>
        <p:spPr>
          <a:xfrm>
            <a:off x="1106280" y="698400"/>
            <a:ext cx="4646520" cy="3486240"/>
          </a:xfrm>
          <a:prstGeom prst="rect">
            <a:avLst/>
          </a:prstGeom>
          <a:ln w="0">
            <a:noFill/>
          </a:ln>
        </p:spPr>
      </p:sp>
      <p:sp>
        <p:nvSpPr>
          <p:cNvPr id="583" name="PlaceHolder 2"/>
          <p:cNvSpPr>
            <a:spLocks noGrp="1"/>
          </p:cNvSpPr>
          <p:nvPr>
            <p:ph type="body"/>
          </p:nvPr>
        </p:nvSpPr>
        <p:spPr>
          <a:xfrm>
            <a:off x="914400" y="4416120"/>
            <a:ext cx="5029200" cy="4181760"/>
          </a:xfrm>
          <a:prstGeom prst="rect">
            <a:avLst/>
          </a:prstGeom>
          <a:noFill/>
          <a:ln w="0">
            <a:noFill/>
          </a:ln>
        </p:spPr>
        <p:txBody>
          <a:bodyPr lIns="92160" tIns="46080" rIns="92160" bIns="4608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rPr>
              <a:t>Another Frank Gehry building (the Weatherhead School of Management at Case Western Reserve Univ.) shed snow and ice off its sloping stainless steel roof, presenting a hazard to pedestrians. Solution: installation of heating cables to prevent snow and ice from building up. [Petroski, </a:t>
            </a:r>
            <a:r>
              <a:rPr lang="en-US" sz="1200" b="0" i="1" u="none" strike="noStrike">
                <a:solidFill>
                  <a:srgbClr val="000000"/>
                </a:solidFill>
                <a:effectLst/>
                <a:uFillTx/>
                <a:latin typeface="Times New Roman"/>
              </a:rPr>
              <a:t>Success through Failure</a:t>
            </a:r>
            <a:r>
              <a:rPr lang="en-US" sz="1200" b="0" u="none" strike="noStrike">
                <a:solidFill>
                  <a:srgbClr val="000000"/>
                </a:solidFill>
                <a:effectLst/>
                <a:uFillTx/>
                <a:latin typeface="Times New Roman"/>
              </a:rPr>
              <a:t>, p. 52]. </a:t>
            </a:r>
            <a:endParaRPr lang="en-US"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4"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5432785D-4175-423C-9354-C62D7AE6C26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585" name="PlaceHolder 1"/>
          <p:cNvSpPr>
            <a:spLocks noGrp="1"/>
          </p:cNvSpPr>
          <p:nvPr>
            <p:ph type="sldImg"/>
          </p:nvPr>
        </p:nvSpPr>
        <p:spPr>
          <a:xfrm>
            <a:off x="1106280" y="698400"/>
            <a:ext cx="4646520" cy="3486240"/>
          </a:xfrm>
          <a:prstGeom prst="rect">
            <a:avLst/>
          </a:prstGeom>
          <a:ln w="0">
            <a:noFill/>
          </a:ln>
        </p:spPr>
      </p:sp>
      <p:sp>
        <p:nvSpPr>
          <p:cNvPr id="586"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7"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377A56A-09E4-463E-A6AA-62A54149CD13}"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588" name="PlaceHolder 1"/>
          <p:cNvSpPr>
            <a:spLocks noGrp="1"/>
          </p:cNvSpPr>
          <p:nvPr>
            <p:ph type="sldImg"/>
          </p:nvPr>
        </p:nvSpPr>
        <p:spPr>
          <a:xfrm>
            <a:off x="1106280" y="698400"/>
            <a:ext cx="4646520" cy="3486240"/>
          </a:xfrm>
          <a:prstGeom prst="rect">
            <a:avLst/>
          </a:prstGeom>
          <a:ln w="0">
            <a:noFill/>
          </a:ln>
        </p:spPr>
      </p:sp>
      <p:sp>
        <p:nvSpPr>
          <p:cNvPr id="589" name="PlaceHolder 2"/>
          <p:cNvSpPr>
            <a:spLocks noGrp="1"/>
          </p:cNvSpPr>
          <p:nvPr>
            <p:ph type="body"/>
          </p:nvPr>
        </p:nvSpPr>
        <p:spPr>
          <a:xfrm>
            <a:off x="914400" y="4416120"/>
            <a:ext cx="5029200" cy="4181760"/>
          </a:xfrm>
          <a:prstGeom prst="rect">
            <a:avLst/>
          </a:prstGeom>
          <a:noFill/>
          <a:ln w="0">
            <a:noFill/>
          </a:ln>
        </p:spPr>
        <p:txBody>
          <a:bodyPr lIns="92160" tIns="46080" rIns="92160" bIns="4608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rPr>
              <a:t>Associating a $ figure with each human life may appear repulsive, but if you take the value to be infinite, you cannot build any system which may lead to loss of life</a:t>
            </a:r>
            <a:endParaRPr lang="en-US" sz="1200" b="0" u="none" strike="noStrik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0"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5E5B5062-07FF-4E17-BAA2-B804B726A68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591" name="PlaceHolder 1"/>
          <p:cNvSpPr>
            <a:spLocks noGrp="1"/>
          </p:cNvSpPr>
          <p:nvPr>
            <p:ph type="sldImg"/>
          </p:nvPr>
        </p:nvSpPr>
        <p:spPr>
          <a:xfrm>
            <a:off x="1106280" y="698400"/>
            <a:ext cx="4646520" cy="3486240"/>
          </a:xfrm>
          <a:prstGeom prst="rect">
            <a:avLst/>
          </a:prstGeom>
          <a:ln w="0">
            <a:noFill/>
          </a:ln>
        </p:spPr>
      </p:sp>
      <p:sp>
        <p:nvSpPr>
          <p:cNvPr id="592"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3"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438D8B50-16EA-4ED5-BA5B-D7BEFA113E32}"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594" name="PlaceHolder 1"/>
          <p:cNvSpPr>
            <a:spLocks noGrp="1"/>
          </p:cNvSpPr>
          <p:nvPr>
            <p:ph type="sldImg"/>
          </p:nvPr>
        </p:nvSpPr>
        <p:spPr>
          <a:xfrm>
            <a:off x="1106280" y="698400"/>
            <a:ext cx="4646520" cy="3486240"/>
          </a:xfrm>
          <a:prstGeom prst="rect">
            <a:avLst/>
          </a:prstGeom>
          <a:ln w="0">
            <a:noFill/>
          </a:ln>
        </p:spPr>
      </p:sp>
      <p:sp>
        <p:nvSpPr>
          <p:cNvPr id="595"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6"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53A26292-C187-40F4-BFDD-4CBF19FF0AF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597" name="PlaceHolder 1"/>
          <p:cNvSpPr>
            <a:spLocks noGrp="1"/>
          </p:cNvSpPr>
          <p:nvPr>
            <p:ph type="sldImg"/>
          </p:nvPr>
        </p:nvSpPr>
        <p:spPr>
          <a:xfrm>
            <a:off x="1106280" y="698400"/>
            <a:ext cx="4646520" cy="3486240"/>
          </a:xfrm>
          <a:prstGeom prst="rect">
            <a:avLst/>
          </a:prstGeom>
          <a:ln w="0">
            <a:noFill/>
          </a:ln>
        </p:spPr>
      </p:sp>
      <p:sp>
        <p:nvSpPr>
          <p:cNvPr id="598"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9"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6A788AA0-B8D5-4022-BF58-3FD2A611F892}"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600" name="PlaceHolder 1"/>
          <p:cNvSpPr>
            <a:spLocks noGrp="1"/>
          </p:cNvSpPr>
          <p:nvPr>
            <p:ph type="sldImg"/>
          </p:nvPr>
        </p:nvSpPr>
        <p:spPr>
          <a:xfrm>
            <a:off x="1106280" y="698400"/>
            <a:ext cx="4646520" cy="3486240"/>
          </a:xfrm>
          <a:prstGeom prst="rect">
            <a:avLst/>
          </a:prstGeom>
          <a:ln w="0">
            <a:noFill/>
          </a:ln>
        </p:spPr>
      </p:sp>
      <p:sp>
        <p:nvSpPr>
          <p:cNvPr id="601"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2"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2C881BF9-CC93-4608-844F-798C959D5194}"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603" name="PlaceHolder 1"/>
          <p:cNvSpPr>
            <a:spLocks noGrp="1"/>
          </p:cNvSpPr>
          <p:nvPr>
            <p:ph type="sldImg"/>
          </p:nvPr>
        </p:nvSpPr>
        <p:spPr>
          <a:xfrm>
            <a:off x="1106280" y="698400"/>
            <a:ext cx="4646520" cy="3486240"/>
          </a:xfrm>
          <a:prstGeom prst="rect">
            <a:avLst/>
          </a:prstGeom>
          <a:ln w="0">
            <a:noFill/>
          </a:ln>
        </p:spPr>
      </p:sp>
      <p:sp>
        <p:nvSpPr>
          <p:cNvPr id="604"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1" u="none" strike="noStrike">
              <a:solidFill>
                <a:srgbClr val="FF0000"/>
              </a:solidFill>
              <a:effectLst/>
              <a:uFillTx/>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5"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49BDDB92-09CA-4C98-8AA1-73A1E76069F2}"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606" name="PlaceHolder 1"/>
          <p:cNvSpPr>
            <a:spLocks noGrp="1"/>
          </p:cNvSpPr>
          <p:nvPr>
            <p:ph type="sldImg"/>
          </p:nvPr>
        </p:nvSpPr>
        <p:spPr>
          <a:xfrm>
            <a:off x="1106280" y="698400"/>
            <a:ext cx="4646520" cy="3486240"/>
          </a:xfrm>
          <a:prstGeom prst="rect">
            <a:avLst/>
          </a:prstGeom>
          <a:ln w="0">
            <a:noFill/>
          </a:ln>
        </p:spPr>
      </p:sp>
      <p:sp>
        <p:nvSpPr>
          <p:cNvPr id="607"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p>
            <a:fld id="{B8D63A5C-F79E-4674-90BB-9359BAF5E571}" type="slidenum">
              <a:t>&lt;#&gt;</a:t>
            </a:fld>
          </a:p>
        </p:txBody>
      </p:sp>
    </p:spTree>
  </p:cSld>
  <p:clrMapOvr>
    <a:masterClrMapping/>
  </p:clrMapOvr>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609120"/>
            <a:ext cx="7772400" cy="1143000"/>
          </a:xfrm>
          <a:prstGeom prst="rect">
            <a:avLst/>
          </a:prstGeom>
          <a:noFill/>
          <a:ln w="0">
            <a:noFill/>
          </a:ln>
        </p:spPr>
        <p:txBody>
          <a:bodyPr lIns="90000" tIns="46800" rIns="90000" bIns="46800" anchor="ctr">
            <a:noAutofit/>
          </a:bodyPr>
          <a:lstStyle>
            <a:lvl1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4400" b="0" u="none" strike="noStrike">
                <a:solidFill>
                  <a:srgbClr val="000000"/>
                </a:solidFill>
                <a:effectLst/>
                <a:uFillTx/>
                <a:latin typeface="Arial"/>
              </a:defRPr>
            </a:lvl1pPr>
          </a:lstStyle>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3" name="PlaceHolder 2"/>
          <p:cNvSpPr>
            <a:spLocks noGrp="1"/>
          </p:cNvSpPr>
          <p:nvPr>
            <p:ph type="body"/>
          </p:nvPr>
        </p:nvSpPr>
        <p:spPr>
          <a:xfrm>
            <a:off x="685800" y="1981080"/>
            <a:ext cx="7772400" cy="4114800"/>
          </a:xfrm>
          <a:prstGeom prst="rect">
            <a:avLst/>
          </a:prstGeom>
          <a:noFill/>
          <a:ln w="0">
            <a:noFill/>
          </a:ln>
        </p:spPr>
        <p:txBody>
          <a:bodyPr lIns="90000" tIns="46800" rIns="90000" bIns="46800" anchor="t">
            <a:normAutofit/>
          </a:bodyPr>
          <a:lstStyle>
            <a:lvl1pPr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Arial"/>
              </a:defRPr>
            </a:lvl1pPr>
            <a:lvl2pPr lvl="1"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Arial"/>
              </a:defRPr>
            </a:lvl2pPr>
            <a:lvl3pPr lvl="2"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Arial"/>
              </a:defRPr>
            </a:lvl3pPr>
            <a:lvl4pPr lvl="3"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Arial"/>
              </a:defRPr>
            </a:lvl4pPr>
            <a:lvl5pPr lvl="4"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Arial"/>
              </a:defRPr>
            </a:lvl5pPr>
            <a:lvl6pPr lvl="5"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Arial"/>
              </a:defRPr>
            </a:lvl6pPr>
            <a:lvl7pPr lvl="6"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Arial"/>
              </a:defRPr>
            </a:lvl7pPr>
          </a:lstStyle>
          <a:p>
            <a:pPr marL="343080" indent="-343080"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743040" lvl="1" indent="-285840"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rPr>
              <a:t>Second Outline Level</a:t>
            </a:r>
            <a:endParaRPr lang="en-US" sz="3200" b="0" u="none" strike="noStrike">
              <a:solidFill>
                <a:srgbClr val="000000"/>
              </a:solidFill>
              <a:effectLst/>
              <a:uFillTx/>
              <a:latin typeface="Arial"/>
            </a:endParaRPr>
          </a:p>
          <a:p>
            <a:pPr marL="1143000" lvl="2" indent="-228600"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rPr>
              <a:t>Third Outline Level</a:t>
            </a:r>
            <a:endParaRPr lang="en-US" sz="3200" b="0" u="none" strike="noStrike">
              <a:solidFill>
                <a:srgbClr val="000000"/>
              </a:solidFill>
              <a:effectLst/>
              <a:uFillTx/>
              <a:latin typeface="Arial"/>
            </a:endParaRPr>
          </a:p>
          <a:p>
            <a:pPr marL="1600200" lvl="3" indent="-228600"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rPr>
              <a:t>Fourth Outline Level</a:t>
            </a:r>
            <a:endParaRPr lang="en-US" sz="3200" b="0" u="none" strike="noStrike">
              <a:solidFill>
                <a:srgbClr val="000000"/>
              </a:solidFill>
              <a:effectLst/>
              <a:uFillTx/>
              <a:latin typeface="Arial"/>
            </a:endParaRPr>
          </a:p>
          <a:p>
            <a:pPr marL="2057400" lvl="4" indent="-228600"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rPr>
              <a:t>Fifth Outline Level</a:t>
            </a:r>
            <a:endParaRPr lang="en-US" sz="3200" b="0" u="none" strike="noStrike">
              <a:solidFill>
                <a:srgbClr val="000000"/>
              </a:solidFill>
              <a:effectLst/>
              <a:uFillTx/>
              <a:latin typeface="Arial"/>
            </a:endParaRPr>
          </a:p>
          <a:p>
            <a:pPr marL="2057400" lvl="5" indent="-228600"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rPr>
              <a:t>Sixth Outline Level</a:t>
            </a:r>
            <a:endParaRPr lang="en-US" sz="3200" b="0" u="none" strike="noStrike">
              <a:solidFill>
                <a:srgbClr val="000000"/>
              </a:solidFill>
              <a:effectLst/>
              <a:uFillTx/>
              <a:latin typeface="Arial"/>
            </a:endParaRPr>
          </a:p>
          <a:p>
            <a:pPr marL="2057400" lvl="6" indent="-228600"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rPr>
              <a:t>Seventh Outline Level</a:t>
            </a:r>
            <a:endParaRPr lang="en-US" sz="3200" b="0" u="none" strike="noStrike">
              <a:solidFill>
                <a:srgbClr val="000000"/>
              </a:solidFill>
              <a:effectLst/>
              <a:uFillTx/>
              <a:latin typeface="Arial"/>
            </a:endParaRPr>
          </a:p>
        </p:txBody>
      </p:sp>
      <p:sp>
        <p:nvSpPr>
          <p:cNvPr id="4" name="PlaceHolder 3"/>
          <p:cNvSpPr>
            <a:spLocks noGrp="1"/>
          </p:cNvSpPr>
          <p:nvPr>
            <p:ph type="sldNum" idx="1"/>
          </p:nvPr>
        </p:nvSpPr>
        <p:spPr>
          <a:xfrm>
            <a:off x="6553080" y="6248160"/>
            <a:ext cx="1905120" cy="457200"/>
          </a:xfrm>
          <a:prstGeom prst="rect">
            <a:avLst/>
          </a:prstGeom>
          <a:noFill/>
          <a:ln w="38160">
            <a:noFill/>
          </a:ln>
        </p:spPr>
        <p:txBody>
          <a:bodyPr lIns="90000" tIns="46800" rIns="90000" bIns="46800" anchor="t">
            <a:noAutofit/>
          </a:bodyPr>
          <a:lstStyle>
            <a:lvl1pPr indent="0" algn="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200" b="0" u="none" strike="noStrike">
                <a:solidFill>
                  <a:srgbClr val="000000"/>
                </a:solidFill>
                <a:effectLst/>
                <a:uFillTx/>
                <a:latin typeface="Arial"/>
              </a:defRPr>
            </a:lvl1pPr>
          </a:lstStyle>
          <a:p>
            <a:pPr indent="0" algn="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628CF798-85BD-424D-92E4-9B2D60852545}"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3.jpeg"/><Relationship Id="rId3" Type="http://schemas.openxmlformats.org/officeDocument/2006/relationships/slideLayout" Target="../slideLayouts/slideLayout1.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image" Target="../media/image5.jpeg"/><Relationship Id="rId3" Type="http://schemas.openxmlformats.org/officeDocument/2006/relationships/image" Target="../media/image6.jpeg"/><Relationship Id="rId4" Type="http://schemas.openxmlformats.org/officeDocument/2006/relationships/slideLayout" Target="../slideLayouts/slideLayout1.xml"/><Relationship Id="rId5"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image" Target="../media/image9.jpeg"/><Relationship Id="rId3" Type="http://schemas.openxmlformats.org/officeDocument/2006/relationships/image" Target="../media/image10.jpeg"/><Relationship Id="rId4" Type="http://schemas.openxmlformats.org/officeDocument/2006/relationships/slideLayout" Target="../slideLayouts/slideLayout1.xml"/><Relationship Id="rId5"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jpeg"/><Relationship Id="rId3" Type="http://schemas.openxmlformats.org/officeDocument/2006/relationships/image" Target="../media/image13.jpeg"/><Relationship Id="rId4" Type="http://schemas.openxmlformats.org/officeDocument/2006/relationships/slideLayout" Target="../slideLayouts/slideLayout1.xml"/><Relationship Id="rId5"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14.jpeg"/><Relationship Id="rId2" Type="http://schemas.openxmlformats.org/officeDocument/2006/relationships/image" Target="../media/image15.jpeg"/><Relationship Id="rId3" Type="http://schemas.openxmlformats.org/officeDocument/2006/relationships/slideLayout" Target="../slideLayouts/slideLayout1.xml"/><Relationship Id="rId4"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6.jpeg"/><Relationship Id="rId2" Type="http://schemas.openxmlformats.org/officeDocument/2006/relationships/image" Target="../media/image17.jpeg"/><Relationship Id="rId3" Type="http://schemas.openxmlformats.org/officeDocument/2006/relationships/slideLayout" Target="../slideLayouts/slideLayout1.xml"/><Relationship Id="rId4"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8.jpeg"/><Relationship Id="rId2" Type="http://schemas.openxmlformats.org/officeDocument/2006/relationships/image" Target="../media/image19.jpeg"/><Relationship Id="rId3" Type="http://schemas.openxmlformats.org/officeDocument/2006/relationships/slideLayout" Target="../slideLayouts/slideLayout1.xml"/><Relationship Id="rId4"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image" Target="../media/image14.jpeg"/><Relationship Id="rId3" Type="http://schemas.openxmlformats.org/officeDocument/2006/relationships/image" Target="../media/image17.jpeg"/><Relationship Id="rId4" Type="http://schemas.openxmlformats.org/officeDocument/2006/relationships/slideLayout" Target="../slideLayouts/slideLayout1.xml"/><Relationship Id="rId5"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20.jpeg"/><Relationship Id="rId2" Type="http://schemas.openxmlformats.org/officeDocument/2006/relationships/slideLayout" Target="../slideLayouts/slideLayout1.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jpeg"/><Relationship Id="rId3" Type="http://schemas.openxmlformats.org/officeDocument/2006/relationships/slideLayout" Target="../slideLayouts/slideLayout1.xml"/><Relationship Id="rId4"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1.xml"/><Relationship Id="rId3"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24.jpeg"/><Relationship Id="rId2" Type="http://schemas.openxmlformats.org/officeDocument/2006/relationships/image" Target="../media/image25.jpeg"/><Relationship Id="rId3" Type="http://schemas.openxmlformats.org/officeDocument/2006/relationships/slideLayout" Target="../slideLayouts/slideLayout1.xml"/><Relationship Id="rId4"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26.wmf"/><Relationship Id="rId2" Type="http://schemas.openxmlformats.org/officeDocument/2006/relationships/slideLayout" Target="../slideLayouts/slideLayout1.xml"/><Relationship Id="rId3"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26.wmf"/><Relationship Id="rId2" Type="http://schemas.openxmlformats.org/officeDocument/2006/relationships/slideLayout" Target="../slideLayouts/slideLayout1.xml"/><Relationship Id="rId3"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27.wmf"/><Relationship Id="rId2" Type="http://schemas.openxmlformats.org/officeDocument/2006/relationships/slideLayout" Target="../slideLayouts/slideLayout1.xml"/>
</Relationships>
</file>

<file path=ppt/slides/_rels/slide28.xml.rels><?xml version="1.0" encoding="UTF-8"?>
<Relationships xmlns="http://schemas.openxmlformats.org/package/2006/relationships"><Relationship Id="rId1" Type="http://schemas.openxmlformats.org/officeDocument/2006/relationships/image" Target="../media/image27.wmf"/><Relationship Id="rId2" Type="http://schemas.openxmlformats.org/officeDocument/2006/relationships/slideLayout" Target="../slideLayouts/slideLayout1.xml"/>
</Relationships>
</file>

<file path=ppt/slides/_rels/slide29.xml.rels><?xml version="1.0" encoding="UTF-8"?>
<Relationships xmlns="http://schemas.openxmlformats.org/package/2006/relationships"><Relationship Id="rId1" Type="http://schemas.openxmlformats.org/officeDocument/2006/relationships/image" Target="../media/image27.wmf"/><Relationship Id="rId2" Type="http://schemas.openxmlformats.org/officeDocument/2006/relationships/slideLayout" Target="../slideLayouts/slideLayout1.xml"/>
</Relationships>
</file>

<file path=ppt/slides/_rels/slide30.xml.rels><?xml version="1.0" encoding="UTF-8"?>
<Relationships xmlns="http://schemas.openxmlformats.org/package/2006/relationships"><Relationship Id="rId1" Type="http://schemas.openxmlformats.org/officeDocument/2006/relationships/image" Target="../media/image27.wmf"/><Relationship Id="rId2" Type="http://schemas.openxmlformats.org/officeDocument/2006/relationships/slideLayout" Target="../slideLayouts/slideLayout1.xml"/>
</Relationships>
</file>

<file path=ppt/slides/_rels/slide31.xml.rels><?xml version="1.0" encoding="UTF-8"?>
<Relationships xmlns="http://schemas.openxmlformats.org/package/2006/relationships"><Relationship Id="rId1" Type="http://schemas.openxmlformats.org/officeDocument/2006/relationships/image" Target="../media/image27.wmf"/><Relationship Id="rId2" Type="http://schemas.openxmlformats.org/officeDocument/2006/relationships/slideLayout" Target="../slideLayouts/slideLayout1.xml"/>
</Relationships>
</file>

<file path=ppt/slides/_rels/slide32.xml.rels><?xml version="1.0" encoding="UTF-8"?>
<Relationships xmlns="http://schemas.openxmlformats.org/package/2006/relationships"><Relationship Id="rId1" Type="http://schemas.openxmlformats.org/officeDocument/2006/relationships/image" Target="../media/image28.jpeg"/><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slideLayout" Target="../slideLayouts/slideLayout1.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image" Target="../media/image31.wmf"/><Relationship Id="rId2" Type="http://schemas.openxmlformats.org/officeDocument/2006/relationships/slideLayout" Target="../slideLayouts/slideLayout1.xml"/><Relationship Id="rId3"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image" Target="../media/image32.wmf"/><Relationship Id="rId2" Type="http://schemas.openxmlformats.org/officeDocument/2006/relationships/slideLayout" Target="../slideLayouts/slideLayout1.xml"/><Relationship Id="rId3"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image" Target="../media/image31.wmf"/><Relationship Id="rId2" Type="http://schemas.openxmlformats.org/officeDocument/2006/relationships/image" Target="../media/image33.wmf"/><Relationship Id="rId3" Type="http://schemas.openxmlformats.org/officeDocument/2006/relationships/slideLayout" Target="../slideLayouts/slideLayout1.xml"/><Relationship Id="rId4"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image" Target="../media/image34.wmf"/><Relationship Id="rId2" Type="http://schemas.openxmlformats.org/officeDocument/2006/relationships/oleObject" Target="../embeddings/oleObject1.bin"/><Relationship Id="rId3" Type="http://schemas.openxmlformats.org/officeDocument/2006/relationships/image" Target="../media/image35.png"/><Relationship Id="rId4" Type="http://schemas.openxmlformats.org/officeDocument/2006/relationships/slideLayout" Target="../slideLayouts/slideLayout1.xml"/><Relationship Id="rId5" Type="http://schemas.openxmlformats.org/officeDocument/2006/relationships/notesSlide" Target="../notesSlides/notesSlide3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 name="PlaceHolder 1"/>
          <p:cNvSpPr>
            <a:spLocks noGrp="1"/>
          </p:cNvSpPr>
          <p:nvPr>
            <p:ph type="title"/>
          </p:nvPr>
        </p:nvSpPr>
        <p:spPr>
          <a:xfrm>
            <a:off x="0" y="1066320"/>
            <a:ext cx="9144000" cy="106668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000" b="1" u="none" strike="noStrike">
                <a:solidFill>
                  <a:srgbClr val="CC3300"/>
                </a:solidFill>
                <a:effectLst/>
                <a:uFillTx/>
                <a:latin typeface="Arial"/>
                <a:ea typeface="Arial"/>
              </a:rPr>
              <a:t>ECE 5706: Resilient Computer System Design</a:t>
            </a:r>
            <a:endParaRPr lang="en-US" sz="4000" b="0" u="none" strike="noStrike">
              <a:solidFill>
                <a:srgbClr val="000000"/>
              </a:solidFill>
              <a:effectLst/>
              <a:uFillTx/>
              <a:latin typeface="Arial"/>
            </a:endParaRPr>
          </a:p>
        </p:txBody>
      </p:sp>
      <p:sp>
        <p:nvSpPr>
          <p:cNvPr id="13" name="AutoShape 3"/>
          <p:cNvSpPr/>
          <p:nvPr/>
        </p:nvSpPr>
        <p:spPr>
          <a:xfrm>
            <a:off x="1376280" y="1452240"/>
            <a:ext cx="6629400" cy="4218120"/>
          </a:xfrm>
          <a:prstGeom prst="rect">
            <a:avLst/>
          </a:prstGeom>
          <a:noFill/>
          <a:ln w="38160">
            <a:noFill/>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4" name="Text Box 6"/>
          <p:cNvSpPr/>
          <p:nvPr/>
        </p:nvSpPr>
        <p:spPr>
          <a:xfrm>
            <a:off x="2590560" y="2590560"/>
            <a:ext cx="4186440" cy="228636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Arial"/>
                <a:ea typeface="Arial"/>
              </a:rPr>
              <a:t>Course Introduction</a:t>
            </a:r>
            <a:endParaRPr lang="en-US" sz="2400" b="0" u="none" strike="noStrike">
              <a:solidFill>
                <a:srgbClr val="000000"/>
              </a:solidFill>
              <a:effectLst/>
              <a:uFillTx/>
              <a:latin typeface="Times New Roman"/>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Arial"/>
                <a:ea typeface="Arial"/>
              </a:rPr>
              <a:t>Xin Xin </a:t>
            </a:r>
            <a:endParaRPr lang="en-US" sz="2400" b="0" u="none" strike="noStrike">
              <a:solidFill>
                <a:srgbClr val="000000"/>
              </a:solidFill>
              <a:effectLst/>
              <a:uFillTx/>
              <a:latin typeface="Times New Roman"/>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Arial"/>
                <a:ea typeface="Arial"/>
              </a:rPr>
              <a:t>Assistant Professor</a:t>
            </a:r>
            <a:endParaRPr lang="en-US" sz="2400" b="0" u="none" strike="noStrike">
              <a:solidFill>
                <a:srgbClr val="000000"/>
              </a:solidFill>
              <a:effectLst/>
              <a:uFillTx/>
              <a:latin typeface="Times New Roman"/>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Arial"/>
                <a:ea typeface="Arial"/>
              </a:rPr>
              <a:t>Electrical and Computer Engineering </a:t>
            </a:r>
            <a:endParaRPr lang="en-US" sz="2400" b="0" u="none" strike="noStrike">
              <a:solidFill>
                <a:srgbClr val="000000"/>
              </a:solidFill>
              <a:effectLst/>
              <a:uFillTx/>
              <a:latin typeface="Times New Roman"/>
            </a:endParaRPr>
          </a:p>
        </p:txBody>
      </p:sp>
      <p:sp>
        <p:nvSpPr>
          <p:cNvPr id="15" name="TextBox 2"/>
          <p:cNvSpPr/>
          <p:nvPr/>
        </p:nvSpPr>
        <p:spPr>
          <a:xfrm>
            <a:off x="2604960" y="5562360"/>
            <a:ext cx="4419720" cy="119016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imes New Roman"/>
              </a:rPr>
              <a:t>ACKNOWLEDGEMENT: </a:t>
            </a:r>
            <a:endParaRPr lang="en-US" sz="2400" b="0" u="none" strike="noStrike">
              <a:solidFill>
                <a:srgbClr val="000000"/>
              </a:solidFill>
              <a:effectLst/>
              <a:uFillTx/>
              <a:latin typeface="Times New Roman"/>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imes New Roman"/>
              </a:rPr>
              <a:t>Prof. Behrooz Parhami at UCSB </a:t>
            </a:r>
            <a:endParaRPr lang="en-US" sz="2400" b="0" u="none" strike="noStrike">
              <a:solidFill>
                <a:srgbClr val="000000"/>
              </a:solidFill>
              <a:effectLst/>
              <a:uFillTx/>
              <a:latin typeface="Times New Roman"/>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imes New Roman"/>
              </a:rPr>
              <a:t>Prof. Ronald F. DeMara at UCF</a:t>
            </a:r>
            <a:endParaRPr lang="en-US" sz="24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 name="Slide Number Placeholder 5"/>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9D6CAD26-7FBA-4818-B83C-F32674FFBD0A}"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17"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18" name="PlaceHolder 1"/>
          <p:cNvSpPr>
            <a:spLocks noGrp="1"/>
          </p:cNvSpPr>
          <p:nvPr>
            <p:ph type="title"/>
          </p:nvPr>
        </p:nvSpPr>
        <p:spPr>
          <a:xfrm>
            <a:off x="228600" y="228600"/>
            <a:ext cx="8610480" cy="76176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ea typeface="Arial"/>
              </a:rPr>
              <a:t>How the Cover Image Relates to Our Course</a:t>
            </a:r>
            <a:endParaRPr lang="en-US" sz="3200" b="0" u="none" strike="noStrike">
              <a:solidFill>
                <a:srgbClr val="000000"/>
              </a:solidFill>
              <a:effectLst/>
              <a:uFillTx/>
              <a:latin typeface="Arial"/>
            </a:endParaRPr>
          </a:p>
        </p:txBody>
      </p:sp>
      <p:pic>
        <p:nvPicPr>
          <p:cNvPr id="19" name="Picture 4" descr="Cover of B. Parhami's computer arithmetic textbook, 2nd ed."/>
          <p:cNvPicPr/>
          <p:nvPr/>
        </p:nvPicPr>
        <p:blipFill>
          <a:blip r:embed="rId1"/>
          <a:stretch/>
        </p:blipFill>
        <p:spPr>
          <a:xfrm>
            <a:off x="380880" y="990360"/>
            <a:ext cx="3598920" cy="5029200"/>
          </a:xfrm>
          <a:prstGeom prst="rect">
            <a:avLst/>
          </a:prstGeom>
          <a:noFill/>
          <a:ln w="38160">
            <a:noFill/>
          </a:ln>
        </p:spPr>
      </p:pic>
      <p:sp>
        <p:nvSpPr>
          <p:cNvPr id="20" name="Text Box 5"/>
          <p:cNvSpPr/>
          <p:nvPr/>
        </p:nvSpPr>
        <p:spPr>
          <a:xfrm>
            <a:off x="4038480" y="990360"/>
            <a:ext cx="4876920" cy="100764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FF0000"/>
                </a:solidFill>
                <a:effectLst/>
                <a:uFillTx/>
                <a:latin typeface="Arial"/>
                <a:ea typeface="Arial"/>
              </a:rPr>
              <a:t>Dependability as weakest-link attribute: </a:t>
            </a:r>
            <a:r>
              <a:rPr lang="en-US" sz="2000" b="0" u="none" strike="noStrike">
                <a:solidFill>
                  <a:srgbClr val="000000"/>
                </a:solidFill>
                <a:effectLst/>
                <a:uFillTx/>
                <a:latin typeface="Arial"/>
                <a:ea typeface="Arial"/>
              </a:rPr>
              <a:t>Under stress, the weakest link will break, even if all other links are superstrong</a:t>
            </a:r>
            <a:endParaRPr lang="en-US" sz="2000" b="0" u="none" strike="noStrike">
              <a:solidFill>
                <a:srgbClr val="000000"/>
              </a:solidFill>
              <a:effectLst/>
              <a:uFillTx/>
              <a:latin typeface="Times New Roman"/>
            </a:endParaRPr>
          </a:p>
        </p:txBody>
      </p:sp>
      <p:sp>
        <p:nvSpPr>
          <p:cNvPr id="21" name="Text Box 6"/>
          <p:cNvSpPr/>
          <p:nvPr/>
        </p:nvSpPr>
        <p:spPr>
          <a:xfrm>
            <a:off x="4038480" y="3124080"/>
            <a:ext cx="4876920" cy="100764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6600"/>
                </a:solidFill>
                <a:effectLst/>
                <a:uFillTx/>
                <a:latin typeface="Arial"/>
                <a:ea typeface="Arial"/>
              </a:rPr>
              <a:t>Safety factor (use of redundancy): </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Provide more resources than needed for the minimum acceptable functionality</a:t>
            </a:r>
            <a:endParaRPr lang="en-US" sz="2000" b="0" u="none" strike="noStrike">
              <a:solidFill>
                <a:srgbClr val="000000"/>
              </a:solidFill>
              <a:effectLst/>
              <a:uFillTx/>
              <a:latin typeface="Times New Roman"/>
            </a:endParaRPr>
          </a:p>
        </p:txBody>
      </p:sp>
      <p:sp>
        <p:nvSpPr>
          <p:cNvPr id="22" name="Text Box 7"/>
          <p:cNvSpPr/>
          <p:nvPr/>
        </p:nvSpPr>
        <p:spPr>
          <a:xfrm>
            <a:off x="4419360" y="4419360"/>
            <a:ext cx="4038840" cy="125100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Additional resources not helpful if: </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8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 failures are not independent</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8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 Some critical component fails</a:t>
            </a:r>
            <a:endParaRPr lang="en-US" sz="2000" b="0" u="none" strike="noStrike">
              <a:solidFill>
                <a:srgbClr val="000000"/>
              </a:solidFill>
              <a:effectLst/>
              <a:uFillTx/>
              <a:latin typeface="Times New Roman"/>
            </a:endParaRPr>
          </a:p>
        </p:txBody>
      </p:sp>
      <p:sp>
        <p:nvSpPr>
          <p:cNvPr id="23" name="Text Box 8"/>
          <p:cNvSpPr/>
          <p:nvPr/>
        </p:nvSpPr>
        <p:spPr>
          <a:xfrm>
            <a:off x="4419360" y="2286000"/>
            <a:ext cx="4343400" cy="3985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 Improve the least reliable part first</a:t>
            </a:r>
            <a:endParaRPr lang="en-US" sz="2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 name="Slide Number Placeholder 7"/>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45706F99-5FC3-4906-B579-9AAC82716624}"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25"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26" name="PlaceHolder 1"/>
          <p:cNvSpPr>
            <a:spLocks noGrp="1"/>
          </p:cNvSpPr>
          <p:nvPr>
            <p:ph type="title"/>
          </p:nvPr>
        </p:nvSpPr>
        <p:spPr>
          <a:xfrm>
            <a:off x="685800" y="228600"/>
            <a:ext cx="7772400" cy="76176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ea typeface="Arial"/>
              </a:rPr>
              <a:t>About the Name of This Course</a:t>
            </a:r>
            <a:endParaRPr lang="en-US" sz="3200" b="0" u="none" strike="noStrike">
              <a:solidFill>
                <a:srgbClr val="000000"/>
              </a:solidFill>
              <a:effectLst/>
              <a:uFillTx/>
              <a:latin typeface="Arial"/>
            </a:endParaRPr>
          </a:p>
        </p:txBody>
      </p:sp>
      <p:sp>
        <p:nvSpPr>
          <p:cNvPr id="27" name="Text Box 4"/>
          <p:cNvSpPr/>
          <p:nvPr/>
        </p:nvSpPr>
        <p:spPr>
          <a:xfrm>
            <a:off x="533160" y="1143000"/>
            <a:ext cx="8077320" cy="703080"/>
          </a:xfrm>
          <a:prstGeom prst="rect">
            <a:avLst/>
          </a:prstGeom>
          <a:solidFill>
            <a:srgbClr val="FFFF66"/>
          </a:solidFill>
          <a:ln w="37800">
            <a:solidFill>
              <a:srgbClr val="00CC99"/>
            </a:solidFill>
            <a:miter/>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Fault-tolerant computing: a discipline that began in the late 1960s – 1st Fault-Tolerant Computing Symposium (FTCS) was held in 1971</a:t>
            </a:r>
            <a:endParaRPr lang="en-US" sz="2000" b="0" u="none" strike="noStrike">
              <a:solidFill>
                <a:srgbClr val="000000"/>
              </a:solidFill>
              <a:effectLst/>
              <a:uFillTx/>
              <a:latin typeface="Times New Roman"/>
            </a:endParaRPr>
          </a:p>
        </p:txBody>
      </p:sp>
      <p:sp>
        <p:nvSpPr>
          <p:cNvPr id="28" name="Text Box 5"/>
          <p:cNvSpPr/>
          <p:nvPr/>
        </p:nvSpPr>
        <p:spPr>
          <a:xfrm>
            <a:off x="457200" y="2209680"/>
            <a:ext cx="8229600" cy="161676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In the early 1980s, the name “dependable computing” was proposed for the field to account for the fact that tolerating faults is but one approach to ensuring reliable computation. The terms “fault tolerance” and “fault-tolerant” were so firmly established, however, that people started to use “dependable and fault-tolerant computing.”</a:t>
            </a:r>
            <a:endParaRPr lang="en-US" sz="2000" b="0" u="none" strike="noStrike">
              <a:solidFill>
                <a:srgbClr val="000000"/>
              </a:solidFill>
              <a:effectLst/>
              <a:uFillTx/>
              <a:latin typeface="Times New Roman"/>
            </a:endParaRPr>
          </a:p>
        </p:txBody>
      </p:sp>
      <p:sp>
        <p:nvSpPr>
          <p:cNvPr id="29" name="Text Box 6"/>
          <p:cNvSpPr/>
          <p:nvPr/>
        </p:nvSpPr>
        <p:spPr>
          <a:xfrm>
            <a:off x="457200" y="3962160"/>
            <a:ext cx="8229600" cy="100764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In 2000, the premier conference of the field was merged with another and renamed “Int’l Conf. on Dependable Systems and Networks” (DSN)</a:t>
            </a:r>
            <a:endParaRPr lang="en-US" sz="2000" b="0" u="none" strike="noStrike">
              <a:solidFill>
                <a:srgbClr val="000000"/>
              </a:solidFill>
              <a:effectLst/>
              <a:uFillTx/>
              <a:latin typeface="Times New Roman"/>
            </a:endParaRPr>
          </a:p>
        </p:txBody>
      </p:sp>
      <p:sp>
        <p:nvSpPr>
          <p:cNvPr id="30" name="Text Box 7"/>
          <p:cNvSpPr/>
          <p:nvPr/>
        </p:nvSpPr>
        <p:spPr>
          <a:xfrm>
            <a:off x="457200" y="4876560"/>
            <a:ext cx="8229600" cy="100764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In 2004, IEEE began the publication of </a:t>
            </a:r>
            <a:r>
              <a:rPr lang="en-US" sz="2000" b="0" i="1" u="none" strike="noStrike">
                <a:solidFill>
                  <a:srgbClr val="000000"/>
                </a:solidFill>
                <a:effectLst/>
                <a:uFillTx/>
                <a:latin typeface="Arial"/>
                <a:ea typeface="Arial"/>
              </a:rPr>
              <a:t>IEEE Trans. On Dependable and Secure Systems</a:t>
            </a:r>
            <a:r>
              <a:rPr lang="en-US" sz="2000" b="0" u="none" strike="noStrike">
                <a:solidFill>
                  <a:srgbClr val="000000"/>
                </a:solidFill>
                <a:effectLst/>
                <a:uFillTx/>
                <a:latin typeface="Arial"/>
                <a:ea typeface="Arial"/>
              </a:rPr>
              <a:t> (inclusion of the term “secure” is for emphasis, because security was already accepted as an aspect of dependability)</a:t>
            </a:r>
            <a:endParaRPr lang="en-US" sz="2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 name="Slide Number Placeholder 7"/>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B40B1549-5A05-43AF-9356-F3D6C51B813D}"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32"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33" name="PlaceHolder 1"/>
          <p:cNvSpPr>
            <a:spLocks noGrp="1"/>
          </p:cNvSpPr>
          <p:nvPr>
            <p:ph type="title"/>
          </p:nvPr>
        </p:nvSpPr>
        <p:spPr>
          <a:xfrm>
            <a:off x="685800" y="228600"/>
            <a:ext cx="7772400" cy="76176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ea typeface="Arial"/>
              </a:rPr>
              <a:t>Why This Course Shouldn’t Be Needed</a:t>
            </a:r>
            <a:endParaRPr lang="en-US" sz="3200" b="0" u="none" strike="noStrike">
              <a:solidFill>
                <a:srgbClr val="000000"/>
              </a:solidFill>
              <a:effectLst/>
              <a:uFillTx/>
              <a:latin typeface="Arial"/>
            </a:endParaRPr>
          </a:p>
        </p:txBody>
      </p:sp>
      <p:sp>
        <p:nvSpPr>
          <p:cNvPr id="34" name="Text Box 4"/>
          <p:cNvSpPr/>
          <p:nvPr/>
        </p:nvSpPr>
        <p:spPr>
          <a:xfrm>
            <a:off x="685800" y="1066680"/>
            <a:ext cx="7772400" cy="1007640"/>
          </a:xfrm>
          <a:prstGeom prst="rect">
            <a:avLst/>
          </a:prstGeom>
          <a:solidFill>
            <a:srgbClr val="FFFF66"/>
          </a:solidFill>
          <a:ln w="37800">
            <a:solidFill>
              <a:srgbClr val="00CC99"/>
            </a:solidFill>
            <a:miter/>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In an ideal world, methods for dealing with faults, errors, and other impairments in hardware and software would be covered within every computer engineering course that has a design component</a:t>
            </a:r>
            <a:endParaRPr lang="en-US" sz="2000" b="0" u="none" strike="noStrike">
              <a:solidFill>
                <a:srgbClr val="000000"/>
              </a:solidFill>
              <a:effectLst/>
              <a:uFillTx/>
              <a:latin typeface="Times New Roman"/>
            </a:endParaRPr>
          </a:p>
        </p:txBody>
      </p:sp>
      <p:sp>
        <p:nvSpPr>
          <p:cNvPr id="35" name="Text Box 5"/>
          <p:cNvSpPr/>
          <p:nvPr/>
        </p:nvSpPr>
        <p:spPr>
          <a:xfrm>
            <a:off x="685800" y="2286000"/>
            <a:ext cx="7924680" cy="100764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Analogy:</a:t>
            </a:r>
            <a:r>
              <a:rPr lang="en-US" sz="2000" b="0" u="none" strike="noStrike">
                <a:solidFill>
                  <a:srgbClr val="000000"/>
                </a:solidFill>
                <a:effectLst/>
                <a:uFillTx/>
                <a:latin typeface="Arial"/>
                <a:ea typeface="Arial"/>
              </a:rPr>
              <a:t> We do not teach structural engineers about building bridges in one course and about bridge safety and structural integrity  during high winds or earthquakes in another (optional) course</a:t>
            </a:r>
            <a:endParaRPr lang="en-US" sz="2000" b="0" u="none" strike="noStrike">
              <a:solidFill>
                <a:srgbClr val="000000"/>
              </a:solidFill>
              <a:effectLst/>
              <a:uFillTx/>
              <a:latin typeface="Times New Roman"/>
            </a:endParaRPr>
          </a:p>
        </p:txBody>
      </p:sp>
      <p:sp>
        <p:nvSpPr>
          <p:cNvPr id="36" name="Oval 6"/>
          <p:cNvSpPr/>
          <p:nvPr/>
        </p:nvSpPr>
        <p:spPr>
          <a:xfrm>
            <a:off x="1066680" y="3581280"/>
            <a:ext cx="2057400" cy="1981080"/>
          </a:xfrm>
          <a:prstGeom prst="ellipse">
            <a:avLst/>
          </a:prstGeom>
          <a:solidFill>
            <a:srgbClr val="CCFF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1" u="none" strike="noStrike">
                <a:solidFill>
                  <a:srgbClr val="000000"/>
                </a:solidFill>
                <a:effectLst/>
                <a:uFillTx/>
                <a:latin typeface="Arial"/>
                <a:ea typeface="Arial"/>
              </a:rPr>
              <a:t>Logic Design:</a:t>
            </a:r>
            <a:r>
              <a:rPr lang="en-US" sz="1800" b="0" u="none" strike="noStrike">
                <a:solidFill>
                  <a:srgbClr val="000000"/>
                </a:solidFill>
                <a:effectLst/>
                <a:uFillTx/>
                <a:latin typeface="Arial"/>
                <a:ea typeface="Arial"/>
              </a:rPr>
              <a:t> </a:t>
            </a:r>
            <a:endParaRPr lang="en-US" sz="1800" b="0" u="none" strike="noStrike">
              <a:solidFill>
                <a:srgbClr val="000000"/>
              </a:solidFill>
              <a:effectLst/>
              <a:uFillTx/>
              <a:latin typeface="Times New Roman"/>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900" b="0" u="none" strike="noStrike">
              <a:solidFill>
                <a:srgbClr val="000000"/>
              </a:solidFill>
              <a:effectLst/>
              <a:uFillTx/>
              <a:latin typeface="Times New Roman"/>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fault testing, </a:t>
            </a:r>
            <a:endParaRPr lang="en-US" sz="1800" b="0" u="none" strike="noStrike">
              <a:solidFill>
                <a:srgbClr val="000000"/>
              </a:solidFill>
              <a:effectLst/>
              <a:uFillTx/>
              <a:latin typeface="Times New Roman"/>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self-checking</a:t>
            </a:r>
            <a:endParaRPr lang="en-US" sz="1800" b="0" u="none" strike="noStrike">
              <a:solidFill>
                <a:srgbClr val="000000"/>
              </a:solidFill>
              <a:effectLst/>
              <a:uFillTx/>
              <a:latin typeface="Times New Roman"/>
            </a:endParaRPr>
          </a:p>
        </p:txBody>
      </p:sp>
      <p:sp>
        <p:nvSpPr>
          <p:cNvPr id="37" name="Oval 7"/>
          <p:cNvSpPr/>
          <p:nvPr/>
        </p:nvSpPr>
        <p:spPr>
          <a:xfrm>
            <a:off x="3504960" y="3581280"/>
            <a:ext cx="2057400" cy="1981080"/>
          </a:xfrm>
          <a:prstGeom prst="ellipse">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1" u="none" strike="noStrike">
                <a:solidFill>
                  <a:srgbClr val="000000"/>
                </a:solidFill>
                <a:effectLst/>
                <a:uFillTx/>
                <a:latin typeface="Arial"/>
                <a:ea typeface="Arial"/>
              </a:rPr>
              <a:t>Parallel Comp.:</a:t>
            </a:r>
            <a:r>
              <a:rPr lang="en-US" sz="1800" b="0" u="none" strike="noStrike">
                <a:solidFill>
                  <a:srgbClr val="000000"/>
                </a:solidFill>
                <a:effectLst/>
                <a:uFillTx/>
                <a:latin typeface="Arial"/>
                <a:ea typeface="Arial"/>
              </a:rPr>
              <a:t> </a:t>
            </a:r>
            <a:endParaRPr lang="en-US" sz="1800" b="0" u="none" strike="noStrike">
              <a:solidFill>
                <a:srgbClr val="000000"/>
              </a:solidFill>
              <a:effectLst/>
              <a:uFillTx/>
              <a:latin typeface="Times New Roman"/>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800" b="0" u="none" strike="noStrike">
              <a:solidFill>
                <a:srgbClr val="000000"/>
              </a:solidFill>
              <a:effectLst/>
              <a:uFillTx/>
              <a:latin typeface="Times New Roman"/>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reliable commun., </a:t>
            </a:r>
            <a:endParaRPr lang="en-US" sz="1800" b="0" u="none" strike="noStrike">
              <a:solidFill>
                <a:srgbClr val="000000"/>
              </a:solidFill>
              <a:effectLst/>
              <a:uFillTx/>
              <a:latin typeface="Times New Roman"/>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reconfiguration</a:t>
            </a:r>
            <a:endParaRPr lang="en-US" sz="1800" b="0" u="none" strike="noStrike">
              <a:solidFill>
                <a:srgbClr val="000000"/>
              </a:solidFill>
              <a:effectLst/>
              <a:uFillTx/>
              <a:latin typeface="Times New Roman"/>
            </a:endParaRPr>
          </a:p>
        </p:txBody>
      </p:sp>
      <p:sp>
        <p:nvSpPr>
          <p:cNvPr id="38" name="Oval 8"/>
          <p:cNvSpPr/>
          <p:nvPr/>
        </p:nvSpPr>
        <p:spPr>
          <a:xfrm>
            <a:off x="5943600" y="3581280"/>
            <a:ext cx="2057400" cy="1981080"/>
          </a:xfrm>
          <a:prstGeom prst="ellipse">
            <a:avLst/>
          </a:prstGeom>
          <a:solidFill>
            <a:srgbClr val="CCEC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1" u="none" strike="noStrike">
                <a:solidFill>
                  <a:srgbClr val="000000"/>
                </a:solidFill>
                <a:effectLst/>
                <a:uFillTx/>
                <a:latin typeface="Arial"/>
                <a:ea typeface="Arial"/>
              </a:rPr>
              <a:t>Programming:</a:t>
            </a:r>
            <a:r>
              <a:rPr lang="en-US" sz="1800" b="0" u="none" strike="noStrike">
                <a:solidFill>
                  <a:srgbClr val="000000"/>
                </a:solidFill>
                <a:effectLst/>
                <a:uFillTx/>
                <a:latin typeface="Arial"/>
                <a:ea typeface="Arial"/>
              </a:rPr>
              <a:t> </a:t>
            </a:r>
            <a:endParaRPr lang="en-US" sz="1800" b="0" u="none" strike="noStrike">
              <a:solidFill>
                <a:srgbClr val="000000"/>
              </a:solidFill>
              <a:effectLst/>
              <a:uFillTx/>
              <a:latin typeface="Times New Roman"/>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900" b="0" u="none" strike="noStrike">
              <a:solidFill>
                <a:srgbClr val="000000"/>
              </a:solidFill>
              <a:effectLst/>
              <a:uFillTx/>
              <a:latin typeface="Times New Roman"/>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bounds checking,</a:t>
            </a:r>
            <a:endParaRPr lang="en-US" sz="1800" b="0" u="none" strike="noStrike">
              <a:solidFill>
                <a:srgbClr val="000000"/>
              </a:solidFill>
              <a:effectLst/>
              <a:uFillTx/>
              <a:latin typeface="Times New Roman"/>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checkpointing</a:t>
            </a:r>
            <a:endParaRPr lang="en-US" sz="1800" b="0" u="none" strike="noStrike">
              <a:solidFill>
                <a:srgbClr val="000000"/>
              </a:solidFill>
              <a:effectLst/>
              <a:uFillTx/>
              <a:latin typeface="Times New Roman"/>
            </a:endParaRPr>
          </a:p>
        </p:txBody>
      </p:sp>
      <p:grpSp>
        <p:nvGrpSpPr>
          <p:cNvPr id="39" name="Group 9"/>
          <p:cNvGrpSpPr/>
          <p:nvPr/>
        </p:nvGrpSpPr>
        <p:grpSpPr>
          <a:xfrm>
            <a:off x="761760" y="4495680"/>
            <a:ext cx="7543800" cy="1465200"/>
            <a:chOff x="761760" y="4495680"/>
            <a:chExt cx="7543800" cy="1465200"/>
          </a:xfrm>
        </p:grpSpPr>
        <p:sp>
          <p:nvSpPr>
            <p:cNvPr id="40" name="AutoShape 10"/>
            <p:cNvSpPr/>
            <p:nvPr/>
          </p:nvSpPr>
          <p:spPr>
            <a:xfrm>
              <a:off x="761760" y="4495680"/>
              <a:ext cx="7543800" cy="1447920"/>
            </a:xfrm>
            <a:prstGeom prst="roundRect">
              <a:avLst>
                <a:gd name="adj" fmla="val 16667"/>
              </a:avLst>
            </a:prstGeom>
            <a:noFill/>
            <a:ln w="9360">
              <a:solidFill>
                <a:srgbClr val="000000"/>
              </a:solidFill>
              <a:prstDash val="dash"/>
              <a:miter/>
            </a:ln>
          </p:spPr>
          <p:style>
            <a:lnRef idx="0"/>
            <a:fillRef idx="0"/>
            <a:effectRef idx="0"/>
            <a:fontRef idx="minor"/>
          </p:style>
          <p:txBody>
            <a:bodyPr wrap="none"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41" name="Text Box 11"/>
            <p:cNvSpPr/>
            <p:nvPr/>
          </p:nvSpPr>
          <p:spPr>
            <a:xfrm>
              <a:off x="3046680" y="5562360"/>
              <a:ext cx="3066480" cy="39852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Fault-Tolerant Computing</a:t>
              </a:r>
              <a:endParaRPr lang="en-US" sz="2000" b="0" u="none" strike="noStrike">
                <a:solidFill>
                  <a:srgbClr val="000000"/>
                </a:solidFill>
                <a:effectLst/>
                <a:uFillTx/>
                <a:latin typeface="Times New Roman"/>
              </a:endParaRPr>
            </a:p>
          </p:txBody>
        </p:sp>
      </p:gr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 name="Slide Number Placeholder 6"/>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7972E6CB-4B7D-4717-860C-809AA00D070E}"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43"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44" name="PlaceHolder 1"/>
          <p:cNvSpPr>
            <a:spLocks noGrp="1"/>
          </p:cNvSpPr>
          <p:nvPr>
            <p:ph type="title"/>
          </p:nvPr>
        </p:nvSpPr>
        <p:spPr>
          <a:xfrm>
            <a:off x="685800" y="95040"/>
            <a:ext cx="7772400" cy="64296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ea typeface="Arial"/>
              </a:rPr>
              <a:t>Brief History of Dependable Computing</a:t>
            </a:r>
            <a:endParaRPr lang="en-US" sz="3200" b="0" u="none" strike="noStrike">
              <a:solidFill>
                <a:srgbClr val="000000"/>
              </a:solidFill>
              <a:effectLst/>
              <a:uFillTx/>
              <a:latin typeface="Arial"/>
            </a:endParaRPr>
          </a:p>
        </p:txBody>
      </p:sp>
      <p:sp>
        <p:nvSpPr>
          <p:cNvPr id="45" name="Text Box 4"/>
          <p:cNvSpPr/>
          <p:nvPr/>
        </p:nvSpPr>
        <p:spPr>
          <a:xfrm>
            <a:off x="249120" y="2539800"/>
            <a:ext cx="8153280" cy="641880"/>
          </a:xfrm>
          <a:prstGeom prst="rect">
            <a:avLst/>
          </a:prstGeom>
          <a:noFill/>
          <a:ln w="38160">
            <a:noFill/>
          </a:ln>
        </p:spPr>
        <p:style>
          <a:lnRef idx="0"/>
          <a:fillRef idx="0"/>
          <a:effectRef idx="0"/>
          <a:fontRef idx="minor"/>
        </p:style>
        <p:txBody>
          <a:bodyPr lIns="90000" tIns="46800" rIns="90000" bIns="46800" anchor="t">
            <a:spAutoFit/>
          </a:bodyPr>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FF0000"/>
                </a:solidFill>
                <a:effectLst/>
                <a:uFillTx/>
                <a:latin typeface="Arial"/>
                <a:ea typeface="Arial"/>
              </a:rPr>
              <a:t>1970s:</a:t>
            </a:r>
            <a:r>
              <a:rPr lang="en-US" sz="2000" b="0" u="none" strike="noStrike">
                <a:solidFill>
                  <a:srgbClr val="FF0000"/>
                </a:solidFill>
                <a:effectLst/>
                <a:uFillTx/>
                <a:latin typeface="Arial"/>
                <a:ea typeface="Arial"/>
              </a:rPr>
              <a:t>	</a:t>
            </a:r>
            <a:r>
              <a:rPr lang="en-US" sz="2000" b="0" u="none" strike="noStrike">
                <a:solidFill>
                  <a:srgbClr val="000000"/>
                </a:solidFill>
                <a:effectLst/>
                <a:uFillTx/>
                <a:latin typeface="Arial"/>
                <a:ea typeface="Arial"/>
              </a:rPr>
              <a:t>The field developed quickly (international conference,</a:t>
            </a:r>
            <a:endParaRPr lang="en-US" sz="2000" b="0" u="none" strike="noStrike">
              <a:solidFill>
                <a:srgbClr val="000000"/>
              </a:solidFill>
              <a:effectLst/>
              <a:uFillTx/>
              <a:latin typeface="Times New Roman"/>
            </a:endParaRPr>
          </a:p>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many research projects and groups, experimental systems)</a:t>
            </a:r>
            <a:endParaRPr lang="en-US" sz="2000" b="0" u="none" strike="noStrike">
              <a:solidFill>
                <a:srgbClr val="000000"/>
              </a:solidFill>
              <a:effectLst/>
              <a:uFillTx/>
              <a:latin typeface="Times New Roman"/>
            </a:endParaRPr>
          </a:p>
        </p:txBody>
      </p:sp>
      <p:sp>
        <p:nvSpPr>
          <p:cNvPr id="46" name="Text Box 5"/>
          <p:cNvSpPr/>
          <p:nvPr/>
        </p:nvSpPr>
        <p:spPr>
          <a:xfrm>
            <a:off x="266400" y="3152520"/>
            <a:ext cx="8458200" cy="1189800"/>
          </a:xfrm>
          <a:prstGeom prst="rect">
            <a:avLst/>
          </a:prstGeom>
          <a:noFill/>
          <a:ln w="38160">
            <a:noFill/>
          </a:ln>
        </p:spPr>
        <p:style>
          <a:lnRef idx="0"/>
          <a:fillRef idx="0"/>
          <a:effectRef idx="0"/>
          <a:fontRef idx="minor"/>
        </p:style>
        <p:txBody>
          <a:bodyPr lIns="90000" tIns="46800" rIns="90000" bIns="46800" anchor="t">
            <a:spAutoFit/>
          </a:bodyPr>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FF0000"/>
                </a:solidFill>
                <a:effectLst/>
                <a:uFillTx/>
                <a:latin typeface="Arial"/>
                <a:ea typeface="Arial"/>
              </a:rPr>
              <a:t>1980s:</a:t>
            </a:r>
            <a:r>
              <a:rPr lang="en-US" sz="2000" b="0" u="none" strike="noStrike">
                <a:solidFill>
                  <a:srgbClr val="FF0000"/>
                </a:solidFill>
                <a:effectLst/>
                <a:uFillTx/>
                <a:latin typeface="Arial"/>
                <a:ea typeface="Arial"/>
              </a:rPr>
              <a:t>	</a:t>
            </a:r>
            <a:r>
              <a:rPr lang="en-US" sz="2000" b="0" u="none" strike="noStrike">
                <a:solidFill>
                  <a:srgbClr val="000000"/>
                </a:solidFill>
                <a:effectLst/>
                <a:uFillTx/>
                <a:latin typeface="Arial"/>
                <a:ea typeface="Arial"/>
              </a:rPr>
              <a:t>The field matured (textbooks, theoretical developments, </a:t>
            </a:r>
            <a:endParaRPr lang="en-US" sz="2000" b="0" u="none" strike="noStrike">
              <a:solidFill>
                <a:srgbClr val="000000"/>
              </a:solidFill>
              <a:effectLst/>
              <a:uFillTx/>
              <a:latin typeface="Times New Roman"/>
            </a:endParaRPr>
          </a:p>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use of ECCs in solid-state memories, RAID concept), </a:t>
            </a:r>
            <a:endParaRPr lang="en-US" sz="2000" b="0" u="none" strike="noStrike">
              <a:solidFill>
                <a:srgbClr val="000000"/>
              </a:solidFill>
              <a:effectLst/>
              <a:uFillTx/>
              <a:latin typeface="Times New Roman"/>
            </a:endParaRPr>
          </a:p>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but also suffered some loss of focus and interest </a:t>
            </a:r>
            <a:endParaRPr lang="en-US" sz="2000" b="0" u="none" strike="noStrike">
              <a:solidFill>
                <a:srgbClr val="000000"/>
              </a:solidFill>
              <a:effectLst/>
              <a:uFillTx/>
              <a:latin typeface="Times New Roman"/>
            </a:endParaRPr>
          </a:p>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because of the extreme reliability of integrated circuits</a:t>
            </a:r>
            <a:endParaRPr lang="en-US" sz="2000" b="0" u="none" strike="noStrike">
              <a:solidFill>
                <a:srgbClr val="000000"/>
              </a:solidFill>
              <a:effectLst/>
              <a:uFillTx/>
              <a:latin typeface="Times New Roman"/>
            </a:endParaRPr>
          </a:p>
        </p:txBody>
      </p:sp>
      <p:sp>
        <p:nvSpPr>
          <p:cNvPr id="47" name="Text Box 6"/>
          <p:cNvSpPr/>
          <p:nvPr/>
        </p:nvSpPr>
        <p:spPr>
          <a:xfrm>
            <a:off x="249120" y="4940280"/>
            <a:ext cx="8305560" cy="641880"/>
          </a:xfrm>
          <a:prstGeom prst="rect">
            <a:avLst/>
          </a:prstGeom>
          <a:noFill/>
          <a:ln w="38160">
            <a:noFill/>
          </a:ln>
        </p:spPr>
        <p:style>
          <a:lnRef idx="0"/>
          <a:fillRef idx="0"/>
          <a:effectRef idx="0"/>
          <a:fontRef idx="minor"/>
        </p:style>
        <p:txBody>
          <a:bodyPr lIns="90000" tIns="46800" rIns="90000" bIns="46800" anchor="t">
            <a:spAutoFit/>
          </a:bodyPr>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FF0000"/>
                </a:solidFill>
                <a:effectLst/>
                <a:uFillTx/>
                <a:latin typeface="Arial"/>
                <a:ea typeface="Arial"/>
              </a:rPr>
              <a:t>2000s:</a:t>
            </a:r>
            <a:r>
              <a:rPr lang="en-US" sz="2000" b="0" u="none" strike="noStrike">
                <a:solidFill>
                  <a:srgbClr val="FF0000"/>
                </a:solidFill>
                <a:effectLst/>
                <a:uFillTx/>
                <a:latin typeface="Arial"/>
                <a:ea typeface="Arial"/>
              </a:rPr>
              <a:t>	</a:t>
            </a:r>
            <a:r>
              <a:rPr lang="en-US" sz="2000" b="0" u="none" strike="noStrike">
                <a:solidFill>
                  <a:srgbClr val="000000"/>
                </a:solidFill>
                <a:effectLst/>
                <a:uFillTx/>
                <a:latin typeface="Arial"/>
                <a:ea typeface="Arial"/>
              </a:rPr>
              <a:t>Resurgence of interest owing to less reliable fabrication at </a:t>
            </a:r>
            <a:endParaRPr lang="en-US" sz="2000" b="0" u="none" strike="noStrike">
              <a:solidFill>
                <a:srgbClr val="000000"/>
              </a:solidFill>
              <a:effectLst/>
              <a:uFillTx/>
              <a:latin typeface="Times New Roman"/>
            </a:endParaRPr>
          </a:p>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ultrahigh densities and “crummy” nanoelectronic components</a:t>
            </a:r>
            <a:endParaRPr lang="en-US" sz="2000" b="0" u="none" strike="noStrike">
              <a:solidFill>
                <a:srgbClr val="000000"/>
              </a:solidFill>
              <a:effectLst/>
              <a:uFillTx/>
              <a:latin typeface="Times New Roman"/>
            </a:endParaRPr>
          </a:p>
        </p:txBody>
      </p:sp>
      <p:sp>
        <p:nvSpPr>
          <p:cNvPr id="48" name="Text Box 8"/>
          <p:cNvSpPr/>
          <p:nvPr/>
        </p:nvSpPr>
        <p:spPr>
          <a:xfrm>
            <a:off x="266400" y="1909440"/>
            <a:ext cx="7010640" cy="641880"/>
          </a:xfrm>
          <a:prstGeom prst="rect">
            <a:avLst/>
          </a:prstGeom>
          <a:noFill/>
          <a:ln w="38160">
            <a:noFill/>
          </a:ln>
        </p:spPr>
        <p:style>
          <a:lnRef idx="0"/>
          <a:fillRef idx="0"/>
          <a:effectRef idx="0"/>
          <a:fontRef idx="minor"/>
        </p:style>
        <p:txBody>
          <a:bodyPr lIns="90000" tIns="46800" rIns="90000" bIns="46800" anchor="t">
            <a:spAutoFit/>
          </a:bodyPr>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FF0000"/>
                </a:solidFill>
                <a:effectLst/>
                <a:uFillTx/>
                <a:latin typeface="Arial"/>
                <a:ea typeface="Arial"/>
              </a:rPr>
              <a:t>1960s:</a:t>
            </a:r>
            <a:r>
              <a:rPr lang="en-US" sz="2000" b="0" u="none" strike="noStrike">
                <a:solidFill>
                  <a:srgbClr val="FF0000"/>
                </a:solidFill>
                <a:effectLst/>
                <a:uFillTx/>
                <a:latin typeface="Arial"/>
                <a:ea typeface="Arial"/>
              </a:rPr>
              <a:t>	</a:t>
            </a:r>
            <a:r>
              <a:rPr lang="en-US" sz="2000" b="0" u="none" strike="noStrike">
                <a:solidFill>
                  <a:srgbClr val="000000"/>
                </a:solidFill>
                <a:effectLst/>
                <a:uFillTx/>
                <a:latin typeface="Arial"/>
                <a:ea typeface="Arial"/>
              </a:rPr>
              <a:t>NASA and military agencies supported research for </a:t>
            </a:r>
            <a:endParaRPr lang="en-US" sz="2000" b="0" u="none" strike="noStrike">
              <a:solidFill>
                <a:srgbClr val="000000"/>
              </a:solidFill>
              <a:effectLst/>
              <a:uFillTx/>
              <a:latin typeface="Times New Roman"/>
            </a:endParaRPr>
          </a:p>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long-life space missions and battlefield computing</a:t>
            </a:r>
            <a:endParaRPr lang="en-US" sz="2000" b="0" u="none" strike="noStrike">
              <a:solidFill>
                <a:srgbClr val="000000"/>
              </a:solidFill>
              <a:effectLst/>
              <a:uFillTx/>
              <a:latin typeface="Times New Roman"/>
            </a:endParaRPr>
          </a:p>
        </p:txBody>
      </p:sp>
      <p:pic>
        <p:nvPicPr>
          <p:cNvPr id="49" name="Picture 9" descr="NASA%2520Logo"/>
          <p:cNvPicPr/>
          <p:nvPr/>
        </p:nvPicPr>
        <p:blipFill>
          <a:blip r:embed="rId1"/>
          <a:stretch/>
        </p:blipFill>
        <p:spPr>
          <a:xfrm>
            <a:off x="7430760" y="1539720"/>
            <a:ext cx="1428840" cy="1190520"/>
          </a:xfrm>
          <a:prstGeom prst="rect">
            <a:avLst/>
          </a:prstGeom>
          <a:noFill/>
          <a:ln w="38160">
            <a:noFill/>
          </a:ln>
        </p:spPr>
      </p:pic>
      <p:sp>
        <p:nvSpPr>
          <p:cNvPr id="50" name="Text Box 10"/>
          <p:cNvSpPr/>
          <p:nvPr/>
        </p:nvSpPr>
        <p:spPr>
          <a:xfrm>
            <a:off x="266400" y="1288800"/>
            <a:ext cx="8153640" cy="641880"/>
          </a:xfrm>
          <a:prstGeom prst="rect">
            <a:avLst/>
          </a:prstGeom>
          <a:noFill/>
          <a:ln w="38160">
            <a:noFill/>
          </a:ln>
        </p:spPr>
        <p:style>
          <a:lnRef idx="0"/>
          <a:fillRef idx="0"/>
          <a:effectRef idx="0"/>
          <a:fontRef idx="minor"/>
        </p:style>
        <p:txBody>
          <a:bodyPr lIns="90000" tIns="46800" rIns="90000" bIns="46800" anchor="t">
            <a:spAutoFit/>
          </a:bodyPr>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FF0000"/>
                </a:solidFill>
                <a:effectLst/>
                <a:uFillTx/>
                <a:latin typeface="Arial"/>
                <a:ea typeface="Arial"/>
              </a:rPr>
              <a:t>1950s:</a:t>
            </a:r>
            <a:r>
              <a:rPr lang="en-US" sz="2000" b="0" u="none" strike="noStrike">
                <a:solidFill>
                  <a:srgbClr val="FF0000"/>
                </a:solidFill>
                <a:effectLst/>
                <a:uFillTx/>
                <a:latin typeface="Arial"/>
                <a:ea typeface="Arial"/>
              </a:rPr>
              <a:t>	</a:t>
            </a:r>
            <a:r>
              <a:rPr lang="en-US" sz="2000" b="0" u="none" strike="noStrike">
                <a:solidFill>
                  <a:srgbClr val="000000"/>
                </a:solidFill>
                <a:effectLst/>
                <a:uFillTx/>
                <a:latin typeface="Arial"/>
                <a:ea typeface="Arial"/>
              </a:rPr>
              <a:t>Early ideas by von Neumann (multichannel, with voting) </a:t>
            </a:r>
            <a:endParaRPr lang="en-US" sz="2000" b="0" u="none" strike="noStrike">
              <a:solidFill>
                <a:srgbClr val="000000"/>
              </a:solidFill>
              <a:effectLst/>
              <a:uFillTx/>
              <a:latin typeface="Times New Roman"/>
            </a:endParaRPr>
          </a:p>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and Moore-Shannon (“crummy” relays)</a:t>
            </a:r>
            <a:endParaRPr lang="en-US" sz="2000" b="0" u="none" strike="noStrike">
              <a:solidFill>
                <a:srgbClr val="000000"/>
              </a:solidFill>
              <a:effectLst/>
              <a:uFillTx/>
              <a:latin typeface="Times New Roman"/>
            </a:endParaRPr>
          </a:p>
        </p:txBody>
      </p:sp>
      <p:sp>
        <p:nvSpPr>
          <p:cNvPr id="51" name="Text Box 12"/>
          <p:cNvSpPr/>
          <p:nvPr/>
        </p:nvSpPr>
        <p:spPr>
          <a:xfrm>
            <a:off x="233280" y="4321080"/>
            <a:ext cx="8153280" cy="641880"/>
          </a:xfrm>
          <a:prstGeom prst="rect">
            <a:avLst/>
          </a:prstGeom>
          <a:noFill/>
          <a:ln w="38160">
            <a:noFill/>
          </a:ln>
        </p:spPr>
        <p:style>
          <a:lnRef idx="0"/>
          <a:fillRef idx="0"/>
          <a:effectRef idx="0"/>
          <a:fontRef idx="minor"/>
        </p:style>
        <p:txBody>
          <a:bodyPr lIns="90000" tIns="46800" rIns="90000" bIns="46800" anchor="t">
            <a:spAutoFit/>
          </a:bodyPr>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FF0000"/>
                </a:solidFill>
                <a:effectLst/>
                <a:uFillTx/>
                <a:latin typeface="Arial"/>
                <a:ea typeface="Arial"/>
              </a:rPr>
              <a:t>1990s:</a:t>
            </a:r>
            <a:r>
              <a:rPr lang="en-US" sz="2000" b="0" u="none" strike="noStrike">
                <a:solidFill>
                  <a:srgbClr val="FF0000"/>
                </a:solidFill>
                <a:effectLst/>
                <a:uFillTx/>
                <a:latin typeface="Arial"/>
                <a:ea typeface="Arial"/>
              </a:rPr>
              <a:t>	</a:t>
            </a:r>
            <a:r>
              <a:rPr lang="en-US" sz="2000" b="0" u="none" strike="noStrike">
                <a:solidFill>
                  <a:srgbClr val="000000"/>
                </a:solidFill>
                <a:effectLst/>
                <a:uFillTx/>
                <a:latin typeface="Arial"/>
                <a:ea typeface="Arial"/>
              </a:rPr>
              <a:t>Increased complexity at chip and system levels made </a:t>
            </a:r>
            <a:endParaRPr lang="en-US" sz="2000" b="0" u="none" strike="noStrike">
              <a:solidFill>
                <a:srgbClr val="000000"/>
              </a:solidFill>
              <a:effectLst/>
              <a:uFillTx/>
              <a:latin typeface="Times New Roman"/>
            </a:endParaRPr>
          </a:p>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verification, testing, and testability prime study topics</a:t>
            </a:r>
            <a:endParaRPr lang="en-US" sz="2000" b="0" u="none" strike="noStrike">
              <a:solidFill>
                <a:srgbClr val="000000"/>
              </a:solidFill>
              <a:effectLst/>
              <a:uFillTx/>
              <a:latin typeface="Times New Roman"/>
            </a:endParaRPr>
          </a:p>
        </p:txBody>
      </p:sp>
      <p:pic>
        <p:nvPicPr>
          <p:cNvPr id="52" name="Picture 13" descr="Pentium MMX 166 MHz without cover"/>
          <p:cNvPicPr/>
          <p:nvPr/>
        </p:nvPicPr>
        <p:blipFill>
          <a:blip r:embed="rId2"/>
          <a:stretch/>
        </p:blipFill>
        <p:spPr>
          <a:xfrm>
            <a:off x="7505640" y="3632040"/>
            <a:ext cx="1218960" cy="1192320"/>
          </a:xfrm>
          <a:prstGeom prst="rect">
            <a:avLst/>
          </a:prstGeom>
          <a:noFill/>
          <a:ln w="38160">
            <a:noFill/>
          </a:ln>
        </p:spPr>
      </p:pic>
      <p:sp>
        <p:nvSpPr>
          <p:cNvPr id="53" name="Text Box 14"/>
          <p:cNvSpPr/>
          <p:nvPr/>
        </p:nvSpPr>
        <p:spPr>
          <a:xfrm>
            <a:off x="266400" y="668160"/>
            <a:ext cx="8153640" cy="641880"/>
          </a:xfrm>
          <a:prstGeom prst="rect">
            <a:avLst/>
          </a:prstGeom>
          <a:noFill/>
          <a:ln w="38160">
            <a:noFill/>
          </a:ln>
        </p:spPr>
        <p:style>
          <a:lnRef idx="0"/>
          <a:fillRef idx="0"/>
          <a:effectRef idx="0"/>
          <a:fontRef idx="minor"/>
        </p:style>
        <p:txBody>
          <a:bodyPr lIns="90000" tIns="46800" rIns="90000" bIns="46800" anchor="t">
            <a:spAutoFit/>
          </a:bodyPr>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FF0000"/>
                </a:solidFill>
                <a:effectLst/>
                <a:uFillTx/>
                <a:latin typeface="Arial"/>
                <a:ea typeface="Arial"/>
              </a:rPr>
              <a:t>1940s:</a:t>
            </a:r>
            <a:r>
              <a:rPr lang="en-US" sz="2000" b="0" u="none" strike="noStrike">
                <a:solidFill>
                  <a:srgbClr val="FF0000"/>
                </a:solidFill>
                <a:effectLst/>
                <a:uFillTx/>
                <a:latin typeface="Arial"/>
                <a:ea typeface="Arial"/>
              </a:rPr>
              <a:t>	</a:t>
            </a:r>
            <a:r>
              <a:rPr lang="en-US" sz="2000" b="0" u="none" strike="noStrike">
                <a:solidFill>
                  <a:srgbClr val="000000"/>
                </a:solidFill>
                <a:effectLst/>
                <a:uFillTx/>
                <a:latin typeface="Arial"/>
                <a:ea typeface="Arial"/>
              </a:rPr>
              <a:t>ENIAC, with 17.5K vacuum tubes and 1000s of other electrical </a:t>
            </a:r>
            <a:endParaRPr lang="en-US" sz="2000" b="0" u="none" strike="noStrike">
              <a:solidFill>
                <a:srgbClr val="000000"/>
              </a:solidFill>
              <a:effectLst/>
              <a:uFillTx/>
              <a:latin typeface="Times New Roman"/>
            </a:endParaRPr>
          </a:p>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elements, failed once every 2 days (avg. down time = minutes)</a:t>
            </a:r>
            <a:endParaRPr lang="en-US" sz="2000" b="0" u="none" strike="noStrike">
              <a:solidFill>
                <a:srgbClr val="000000"/>
              </a:solidFill>
              <a:effectLst/>
              <a:uFillTx/>
              <a:latin typeface="Times New Roman"/>
            </a:endParaRPr>
          </a:p>
        </p:txBody>
      </p:sp>
      <p:sp>
        <p:nvSpPr>
          <p:cNvPr id="54" name="Text Box 6"/>
          <p:cNvSpPr/>
          <p:nvPr/>
        </p:nvSpPr>
        <p:spPr>
          <a:xfrm>
            <a:off x="266400" y="5543280"/>
            <a:ext cx="8305920" cy="641880"/>
          </a:xfrm>
          <a:prstGeom prst="rect">
            <a:avLst/>
          </a:prstGeom>
          <a:noFill/>
          <a:ln w="38160">
            <a:noFill/>
          </a:ln>
        </p:spPr>
        <p:style>
          <a:lnRef idx="0"/>
          <a:fillRef idx="0"/>
          <a:effectRef idx="0"/>
          <a:fontRef idx="minor"/>
        </p:style>
        <p:txBody>
          <a:bodyPr lIns="90000" tIns="46800" rIns="90000" bIns="46800" anchor="t">
            <a:spAutoFit/>
          </a:bodyPr>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FF0000"/>
                </a:solidFill>
                <a:effectLst/>
                <a:uFillTx/>
                <a:latin typeface="Arial"/>
                <a:ea typeface="Arial"/>
              </a:rPr>
              <a:t>2010s:</a:t>
            </a:r>
            <a:r>
              <a:rPr lang="en-US" sz="2000" b="0" u="none" strike="noStrike">
                <a:solidFill>
                  <a:srgbClr val="FF0000"/>
                </a:solidFill>
                <a:effectLst/>
                <a:uFillTx/>
                <a:latin typeface="Arial"/>
                <a:ea typeface="Arial"/>
              </a:rPr>
              <a:t>	</a:t>
            </a:r>
            <a:r>
              <a:rPr lang="en-US" sz="2000" b="0" u="none" strike="noStrike">
                <a:solidFill>
                  <a:srgbClr val="000000"/>
                </a:solidFill>
                <a:effectLst/>
                <a:uFillTx/>
                <a:latin typeface="Arial"/>
                <a:ea typeface="Arial"/>
              </a:rPr>
              <a:t>Integration of reliability, safety, privacy, and security concerns,</a:t>
            </a:r>
            <a:endParaRPr lang="en-US" sz="2000" b="0" u="none" strike="noStrike">
              <a:solidFill>
                <a:srgbClr val="000000"/>
              </a:solidFill>
              <a:effectLst/>
              <a:uFillTx/>
              <a:latin typeface="Times New Roman"/>
            </a:endParaRPr>
          </a:p>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particularly in the cloud, artificial intelligence systems, and IoT</a:t>
            </a:r>
            <a:endParaRPr lang="en-US" sz="2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 name="Slide Number Placeholder 7"/>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06037067-D5FA-4398-BB74-F6275F29EF04}"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56"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57" name="PlaceHolder 1"/>
          <p:cNvSpPr>
            <a:spLocks noGrp="1"/>
          </p:cNvSpPr>
          <p:nvPr>
            <p:ph type="title"/>
          </p:nvPr>
        </p:nvSpPr>
        <p:spPr>
          <a:xfrm>
            <a:off x="685800" y="228240"/>
            <a:ext cx="7772400" cy="68580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ea typeface="Arial"/>
              </a:rPr>
              <a:t>Dependable Computing in the 2020s</a:t>
            </a:r>
            <a:endParaRPr lang="en-US" sz="3200" b="0" u="none" strike="noStrike">
              <a:solidFill>
                <a:srgbClr val="000000"/>
              </a:solidFill>
              <a:effectLst/>
              <a:uFillTx/>
              <a:latin typeface="Arial"/>
            </a:endParaRPr>
          </a:p>
        </p:txBody>
      </p:sp>
      <p:pic>
        <p:nvPicPr>
          <p:cNvPr id="58" name="Picture 5" descr="nasa_mars_rover"/>
          <p:cNvPicPr/>
          <p:nvPr/>
        </p:nvPicPr>
        <p:blipFill>
          <a:blip r:embed="rId1"/>
          <a:stretch/>
        </p:blipFill>
        <p:spPr>
          <a:xfrm>
            <a:off x="7086600" y="1126800"/>
            <a:ext cx="1803240" cy="1202040"/>
          </a:xfrm>
          <a:prstGeom prst="rect">
            <a:avLst/>
          </a:prstGeom>
          <a:noFill/>
          <a:ln w="38160">
            <a:noFill/>
          </a:ln>
        </p:spPr>
      </p:pic>
      <p:sp>
        <p:nvSpPr>
          <p:cNvPr id="59" name="Text Box 6"/>
          <p:cNvSpPr/>
          <p:nvPr/>
        </p:nvSpPr>
        <p:spPr>
          <a:xfrm>
            <a:off x="139680" y="877680"/>
            <a:ext cx="7848360" cy="161676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FF0000"/>
                </a:solidFill>
                <a:effectLst/>
                <a:uFillTx/>
                <a:latin typeface="Arial"/>
                <a:ea typeface="Arial"/>
              </a:rPr>
              <a:t>There are still ambitious projects; space and elsewhere</a:t>
            </a:r>
            <a:r>
              <a:rPr lang="en-US" sz="2000" b="1" u="none" strike="noStrike">
                <a:solidFill>
                  <a:srgbClr val="FF0000"/>
                </a:solidFill>
                <a:effectLst/>
                <a:uFillTx/>
                <a:latin typeface="Arial"/>
                <a:ea typeface="Arial"/>
              </a:rPr>
              <a:t>	</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FF0000"/>
                </a:solidFill>
                <a:effectLst/>
                <a:uFillTx/>
                <a:latin typeface="Arial"/>
                <a:ea typeface="Arial"/>
              </a:rPr>
              <a:t>   </a:t>
            </a:r>
            <a:r>
              <a:rPr lang="en-US" sz="2000" b="0" u="none" strike="noStrike">
                <a:solidFill>
                  <a:srgbClr val="000000"/>
                </a:solidFill>
                <a:effectLst/>
                <a:uFillTx/>
                <a:latin typeface="Arial"/>
                <a:ea typeface="Arial"/>
              </a:rPr>
              <a:t>Harsh environments (vibration, pressure, temperatures)</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   External influences (radiation, micrometeoroids) </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   Need for autonomy (commun. delays, unmanned probes)</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   Life &amp; death situations (transportation, self-driving cars)</a:t>
            </a:r>
            <a:endParaRPr lang="en-US" sz="2000" b="0" u="none" strike="noStrike">
              <a:solidFill>
                <a:srgbClr val="000000"/>
              </a:solidFill>
              <a:effectLst/>
              <a:uFillTx/>
              <a:latin typeface="Times New Roman"/>
            </a:endParaRPr>
          </a:p>
        </p:txBody>
      </p:sp>
      <p:sp>
        <p:nvSpPr>
          <p:cNvPr id="60" name="Text Box 11"/>
          <p:cNvSpPr/>
          <p:nvPr/>
        </p:nvSpPr>
        <p:spPr>
          <a:xfrm>
            <a:off x="139680" y="2541240"/>
            <a:ext cx="7848360" cy="19213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6600"/>
                </a:solidFill>
                <a:effectLst/>
                <a:uFillTx/>
                <a:latin typeface="Arial"/>
                <a:ea typeface="Arial"/>
              </a:rPr>
              <a:t>The need is expanding</a:t>
            </a:r>
            <a:r>
              <a:rPr lang="en-US" sz="2000" b="0" u="none" strike="noStrike">
                <a:solidFill>
                  <a:srgbClr val="FF0000"/>
                </a:solidFill>
                <a:effectLst/>
                <a:uFillTx/>
                <a:latin typeface="Arial"/>
                <a:ea typeface="Arial"/>
              </a:rPr>
              <a:t>	</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FF0000"/>
                </a:solidFill>
                <a:effectLst/>
                <a:uFillTx/>
                <a:latin typeface="Arial"/>
                <a:ea typeface="Arial"/>
              </a:rPr>
              <a:t>   </a:t>
            </a:r>
            <a:r>
              <a:rPr lang="en-US" sz="2000" b="0" u="none" strike="noStrike">
                <a:solidFill>
                  <a:srgbClr val="000000"/>
                </a:solidFill>
                <a:effectLst/>
                <a:uFillTx/>
                <a:latin typeface="Arial"/>
                <a:ea typeface="Arial"/>
              </a:rPr>
              <a:t>More complex systems (supercomputers in our pockets)</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   Critical applications (medicine, transportation, finance)</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   Expanding pool of unsophisticated users</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   Continued rise in maintenance costs</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   Digital-only data (needs more rigorous backup)</a:t>
            </a:r>
            <a:endParaRPr lang="en-US" sz="2000" b="0" u="none" strike="noStrike">
              <a:solidFill>
                <a:srgbClr val="000000"/>
              </a:solidFill>
              <a:effectLst/>
              <a:uFillTx/>
              <a:latin typeface="Times New Roman"/>
            </a:endParaRPr>
          </a:p>
        </p:txBody>
      </p:sp>
      <p:pic>
        <p:nvPicPr>
          <p:cNvPr id="61" name="Picture 12" descr="laptop_user_2a"/>
          <p:cNvPicPr/>
          <p:nvPr/>
        </p:nvPicPr>
        <p:blipFill>
          <a:blip r:embed="rId2"/>
          <a:stretch/>
        </p:blipFill>
        <p:spPr>
          <a:xfrm>
            <a:off x="7086600" y="2666880"/>
            <a:ext cx="1842840" cy="1395360"/>
          </a:xfrm>
          <a:prstGeom prst="rect">
            <a:avLst/>
          </a:prstGeom>
          <a:noFill/>
          <a:ln w="38160">
            <a:noFill/>
          </a:ln>
        </p:spPr>
      </p:pic>
      <p:sp>
        <p:nvSpPr>
          <p:cNvPr id="62" name="Text Box 8"/>
          <p:cNvSpPr/>
          <p:nvPr/>
        </p:nvSpPr>
        <p:spPr>
          <a:xfrm>
            <a:off x="139680" y="4532040"/>
            <a:ext cx="7848360" cy="161676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3333CC"/>
                </a:solidFill>
                <a:effectLst/>
                <a:uFillTx/>
                <a:latin typeface="Arial"/>
                <a:ea typeface="Arial"/>
              </a:rPr>
              <a:t>The emphasis is shifting</a:t>
            </a:r>
            <a:r>
              <a:rPr lang="en-US" sz="2000" b="0" u="none" strike="noStrike">
                <a:solidFill>
                  <a:srgbClr val="FF0000"/>
                </a:solidFill>
                <a:effectLst/>
                <a:uFillTx/>
                <a:latin typeface="Arial"/>
                <a:ea typeface="Arial"/>
              </a:rPr>
              <a:t>	</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   COTS-based hardware, with software assist</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   Integrated HW/SW/firmware systems-on-chip</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   Swarms of units with disposable subsystems</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   Fairness, equity, and social-justice concerns</a:t>
            </a:r>
            <a:endParaRPr lang="en-US" sz="2000" b="0" u="none" strike="noStrike">
              <a:solidFill>
                <a:srgbClr val="000000"/>
              </a:solidFill>
              <a:effectLst/>
              <a:uFillTx/>
              <a:latin typeface="Times New Roman"/>
            </a:endParaRPr>
          </a:p>
        </p:txBody>
      </p:sp>
      <p:pic>
        <p:nvPicPr>
          <p:cNvPr id="63" name="Picture 9" descr="ic_board"/>
          <p:cNvPicPr/>
          <p:nvPr/>
        </p:nvPicPr>
        <p:blipFill>
          <a:blip r:embed="rId3"/>
          <a:stretch/>
        </p:blipFill>
        <p:spPr>
          <a:xfrm>
            <a:off x="5943600" y="4187520"/>
            <a:ext cx="2895480" cy="1911600"/>
          </a:xfrm>
          <a:prstGeom prst="rect">
            <a:avLst/>
          </a:prstGeom>
          <a:noFill/>
          <a:ln w="3816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Slide Number Placeholder 5"/>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CCB5F63B-2F33-42EE-821B-214CC412C236}"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pic>
        <p:nvPicPr>
          <p:cNvPr id="65" name="Picture 2" descr="02cnd-bridge"/>
          <p:cNvPicPr/>
          <p:nvPr/>
        </p:nvPicPr>
        <p:blipFill>
          <a:blip r:embed="rId1">
            <a:lum contrast="18000"/>
          </a:blip>
          <a:stretch/>
        </p:blipFill>
        <p:spPr>
          <a:xfrm>
            <a:off x="-152280" y="0"/>
            <a:ext cx="9448560" cy="6172200"/>
          </a:xfrm>
          <a:prstGeom prst="rect">
            <a:avLst/>
          </a:prstGeom>
          <a:noFill/>
          <a:ln w="38160">
            <a:noFill/>
          </a:ln>
        </p:spPr>
      </p:pic>
      <p:sp>
        <p:nvSpPr>
          <p:cNvPr id="66" name="Text Box 3"/>
          <p:cNvSpPr/>
          <p:nvPr/>
        </p:nvSpPr>
        <p:spPr>
          <a:xfrm>
            <a:off x="153000" y="4495680"/>
            <a:ext cx="5613120" cy="94680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FFFFFF"/>
                </a:solidFill>
                <a:effectLst/>
                <a:uFillTx/>
                <a:latin typeface="Arial"/>
              </a:rPr>
              <a:t>August 1, 2007 – Interstate 35W</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FFFFFF"/>
                </a:solidFill>
                <a:effectLst/>
                <a:uFillTx/>
                <a:latin typeface="Arial"/>
              </a:rPr>
              <a:t>Bridge 9340 over the Mississippi, in Minneapolis</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FFFFFF"/>
                </a:solidFill>
                <a:effectLst/>
                <a:uFillTx/>
                <a:latin typeface="Arial"/>
              </a:rPr>
              <a:t>(40-year old bridge was judged structurally deficient in 1990)</a:t>
            </a:r>
            <a:endParaRPr lang="en-US" sz="16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Slide Number Placeholder 6"/>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25735257-1253-402E-B698-081302BE2757}"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68"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69" name="PlaceHolder 1"/>
          <p:cNvSpPr>
            <a:spLocks noGrp="1"/>
          </p:cNvSpPr>
          <p:nvPr>
            <p:ph type="title"/>
          </p:nvPr>
        </p:nvSpPr>
        <p:spPr>
          <a:xfrm>
            <a:off x="685800" y="228240"/>
            <a:ext cx="7772400" cy="53316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ea typeface="Arial"/>
              </a:rPr>
              <a:t>History of Bridge 9340 in Minneapolis</a:t>
            </a:r>
            <a:endParaRPr lang="en-US" sz="3200" b="0" u="none" strike="noStrike">
              <a:solidFill>
                <a:srgbClr val="000000"/>
              </a:solidFill>
              <a:effectLst/>
              <a:uFillTx/>
              <a:latin typeface="Arial"/>
            </a:endParaRPr>
          </a:p>
        </p:txBody>
      </p:sp>
      <p:pic>
        <p:nvPicPr>
          <p:cNvPr id="70" name="Picture 4" descr="I-35W bridge (center left) west of the 10th Avenue Bridge (center right), over the Mississippi River, 2004"/>
          <p:cNvPicPr/>
          <p:nvPr/>
        </p:nvPicPr>
        <p:blipFill>
          <a:blip r:embed="rId1"/>
          <a:stretch/>
        </p:blipFill>
        <p:spPr>
          <a:xfrm>
            <a:off x="3733560" y="914400"/>
            <a:ext cx="3048120" cy="3047760"/>
          </a:xfrm>
          <a:prstGeom prst="rect">
            <a:avLst/>
          </a:prstGeom>
          <a:noFill/>
          <a:ln w="38160">
            <a:noFill/>
          </a:ln>
        </p:spPr>
      </p:pic>
      <p:sp>
        <p:nvSpPr>
          <p:cNvPr id="71" name="Text Box 5"/>
          <p:cNvSpPr/>
          <p:nvPr/>
        </p:nvSpPr>
        <p:spPr>
          <a:xfrm>
            <a:off x="152280" y="838080"/>
            <a:ext cx="3048120" cy="3985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1967: Opens to traffic</a:t>
            </a:r>
            <a:endParaRPr lang="en-US" sz="2000" b="0" u="none" strike="noStrike">
              <a:solidFill>
                <a:srgbClr val="000000"/>
              </a:solidFill>
              <a:effectLst/>
              <a:uFillTx/>
              <a:latin typeface="Times New Roman"/>
            </a:endParaRPr>
          </a:p>
        </p:txBody>
      </p:sp>
      <p:sp>
        <p:nvSpPr>
          <p:cNvPr id="72" name="Text Box 6"/>
          <p:cNvSpPr/>
          <p:nvPr/>
        </p:nvSpPr>
        <p:spPr>
          <a:xfrm>
            <a:off x="152280" y="1295280"/>
            <a:ext cx="3505320" cy="100764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FF0000"/>
                </a:solidFill>
                <a:effectLst/>
                <a:uFillTx/>
                <a:latin typeface="Arial"/>
                <a:ea typeface="Arial"/>
              </a:rPr>
              <a:t>1990: Dept. of Transportation </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FF0000"/>
                </a:solidFill>
                <a:effectLst/>
                <a:uFillTx/>
                <a:latin typeface="Arial"/>
                <a:ea typeface="Arial"/>
              </a:rPr>
              <a:t>   classifies bridge as </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FF0000"/>
                </a:solidFill>
                <a:effectLst/>
                <a:uFillTx/>
                <a:latin typeface="Arial"/>
                <a:ea typeface="Arial"/>
              </a:rPr>
              <a:t>   “structurally deficient”</a:t>
            </a:r>
            <a:endParaRPr lang="en-US" sz="2000" b="0" u="none" strike="noStrike">
              <a:solidFill>
                <a:srgbClr val="000000"/>
              </a:solidFill>
              <a:effectLst/>
              <a:uFillTx/>
              <a:latin typeface="Times New Roman"/>
            </a:endParaRPr>
          </a:p>
        </p:txBody>
      </p:sp>
      <p:pic>
        <p:nvPicPr>
          <p:cNvPr id="73" name="Picture 7" descr="The bridge seen from below in 2006"/>
          <p:cNvPicPr/>
          <p:nvPr/>
        </p:nvPicPr>
        <p:blipFill>
          <a:blip r:embed="rId2"/>
          <a:srcRect l="12000" t="0" r="0" b="0"/>
          <a:stretch/>
        </p:blipFill>
        <p:spPr>
          <a:xfrm>
            <a:off x="6905520" y="914400"/>
            <a:ext cx="2009880" cy="3047760"/>
          </a:xfrm>
          <a:prstGeom prst="rect">
            <a:avLst/>
          </a:prstGeom>
          <a:noFill/>
          <a:ln w="38160">
            <a:noFill/>
          </a:ln>
        </p:spPr>
      </p:pic>
      <p:sp>
        <p:nvSpPr>
          <p:cNvPr id="74" name="Text Box 8"/>
          <p:cNvSpPr/>
          <p:nvPr/>
        </p:nvSpPr>
        <p:spPr>
          <a:xfrm>
            <a:off x="152280" y="2361960"/>
            <a:ext cx="327672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1993: Inspection frequency </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   doubled to yearly</a:t>
            </a:r>
            <a:endParaRPr lang="en-US" sz="2000" b="0" u="none" strike="noStrike">
              <a:solidFill>
                <a:srgbClr val="000000"/>
              </a:solidFill>
              <a:effectLst/>
              <a:uFillTx/>
              <a:latin typeface="Times New Roman"/>
            </a:endParaRPr>
          </a:p>
        </p:txBody>
      </p:sp>
      <p:sp>
        <p:nvSpPr>
          <p:cNvPr id="75" name="Text Box 9"/>
          <p:cNvSpPr/>
          <p:nvPr/>
        </p:nvSpPr>
        <p:spPr>
          <a:xfrm>
            <a:off x="152280" y="3886200"/>
            <a:ext cx="373392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FF0000"/>
                </a:solidFill>
                <a:effectLst/>
                <a:uFillTx/>
                <a:latin typeface="Arial"/>
                <a:ea typeface="Arial"/>
              </a:rPr>
              <a:t>2001: U. Minn. engineers </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FF0000"/>
                </a:solidFill>
                <a:effectLst/>
                <a:uFillTx/>
                <a:latin typeface="Arial"/>
                <a:ea typeface="Arial"/>
              </a:rPr>
              <a:t>   deem bridge struc. deficient</a:t>
            </a:r>
            <a:endParaRPr lang="en-US" sz="2000" b="0" u="none" strike="noStrike">
              <a:solidFill>
                <a:srgbClr val="000000"/>
              </a:solidFill>
              <a:effectLst/>
              <a:uFillTx/>
              <a:latin typeface="Times New Roman"/>
            </a:endParaRPr>
          </a:p>
        </p:txBody>
      </p:sp>
      <p:sp>
        <p:nvSpPr>
          <p:cNvPr id="76" name="Text Box 10"/>
          <p:cNvSpPr/>
          <p:nvPr/>
        </p:nvSpPr>
        <p:spPr>
          <a:xfrm>
            <a:off x="152280" y="3124080"/>
            <a:ext cx="350532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1999: Deck and railings fitted </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   with de-icing system</a:t>
            </a:r>
            <a:endParaRPr lang="en-US" sz="2000" b="0" u="none" strike="noStrike">
              <a:solidFill>
                <a:srgbClr val="000000"/>
              </a:solidFill>
              <a:effectLst/>
              <a:uFillTx/>
              <a:latin typeface="Times New Roman"/>
            </a:endParaRPr>
          </a:p>
        </p:txBody>
      </p:sp>
      <p:sp>
        <p:nvSpPr>
          <p:cNvPr id="77" name="Text Box 11"/>
          <p:cNvSpPr/>
          <p:nvPr/>
        </p:nvSpPr>
        <p:spPr>
          <a:xfrm>
            <a:off x="152280" y="4647960"/>
            <a:ext cx="327672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2004-07: Fatigue potential </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   and remedies studied</a:t>
            </a:r>
            <a:endParaRPr lang="en-US" sz="2000" b="0" u="none" strike="noStrike">
              <a:solidFill>
                <a:srgbClr val="000000"/>
              </a:solidFill>
              <a:effectLst/>
              <a:uFillTx/>
              <a:latin typeface="Times New Roman"/>
            </a:endParaRPr>
          </a:p>
        </p:txBody>
      </p:sp>
      <p:sp>
        <p:nvSpPr>
          <p:cNvPr id="78" name="Text Box 12"/>
          <p:cNvSpPr/>
          <p:nvPr/>
        </p:nvSpPr>
        <p:spPr>
          <a:xfrm>
            <a:off x="3809880" y="4114800"/>
            <a:ext cx="2971800" cy="100764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Summer 2007: $2.4M of </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   repairs/maintenance </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   on deck, lights, joints</a:t>
            </a:r>
            <a:endParaRPr lang="en-US" sz="2000" b="0" u="none" strike="noStrike">
              <a:solidFill>
                <a:srgbClr val="000000"/>
              </a:solidFill>
              <a:effectLst/>
              <a:uFillTx/>
              <a:latin typeface="Times New Roman"/>
            </a:endParaRPr>
          </a:p>
        </p:txBody>
      </p:sp>
      <p:sp>
        <p:nvSpPr>
          <p:cNvPr id="79" name="Text Box 13"/>
          <p:cNvSpPr/>
          <p:nvPr/>
        </p:nvSpPr>
        <p:spPr>
          <a:xfrm>
            <a:off x="152280" y="5410080"/>
            <a:ext cx="350532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2007: Inspection plan chosen </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   over reinforcements</a:t>
            </a:r>
            <a:endParaRPr lang="en-US" sz="2000" b="0" u="none" strike="noStrike">
              <a:solidFill>
                <a:srgbClr val="000000"/>
              </a:solidFill>
              <a:effectLst/>
              <a:uFillTx/>
              <a:latin typeface="Times New Roman"/>
            </a:endParaRPr>
          </a:p>
        </p:txBody>
      </p:sp>
      <p:sp>
        <p:nvSpPr>
          <p:cNvPr id="80" name="AutoShape 14"/>
          <p:cNvSpPr/>
          <p:nvPr/>
        </p:nvSpPr>
        <p:spPr>
          <a:xfrm>
            <a:off x="4572000" y="2819160"/>
            <a:ext cx="228600" cy="228600"/>
          </a:xfrm>
          <a:prstGeom prst="rightArrow">
            <a:avLst>
              <a:gd name="adj1" fmla="val 50000"/>
              <a:gd name="adj2" fmla="val 41667"/>
            </a:avLst>
          </a:prstGeom>
          <a:solidFill>
            <a:srgbClr val="FFFF00"/>
          </a:solidFill>
          <a:ln w="9360">
            <a:solidFill>
              <a:srgbClr val="000000"/>
            </a:solidFill>
            <a:miter/>
          </a:ln>
        </p:spPr>
        <p:style>
          <a:lnRef idx="0"/>
          <a:fillRef idx="0"/>
          <a:effectRef idx="0"/>
          <a:fontRef idx="minor"/>
        </p:style>
        <p:txBody>
          <a:bodyPr wrap="none"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pSp>
        <p:nvGrpSpPr>
          <p:cNvPr id="81" name="Group 15"/>
          <p:cNvGrpSpPr/>
          <p:nvPr/>
        </p:nvGrpSpPr>
        <p:grpSpPr>
          <a:xfrm>
            <a:off x="6933960" y="4114800"/>
            <a:ext cx="1981440" cy="1917360"/>
            <a:chOff x="6933960" y="4114800"/>
            <a:chExt cx="1981440" cy="1917360"/>
          </a:xfrm>
        </p:grpSpPr>
        <p:sp>
          <p:nvSpPr>
            <p:cNvPr id="82" name="Text Box 16"/>
            <p:cNvSpPr/>
            <p:nvPr/>
          </p:nvSpPr>
          <p:spPr>
            <a:xfrm>
              <a:off x="6933960" y="4114800"/>
              <a:ext cx="1981440" cy="100764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Sep. 18, 2008:</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Replacement bridge opens</a:t>
              </a:r>
              <a:endParaRPr lang="en-US" sz="2000" b="0" u="none" strike="noStrike">
                <a:solidFill>
                  <a:srgbClr val="000000"/>
                </a:solidFill>
                <a:effectLst/>
                <a:uFillTx/>
                <a:latin typeface="Times New Roman"/>
              </a:endParaRPr>
            </a:p>
          </p:txBody>
        </p:sp>
        <p:pic>
          <p:nvPicPr>
            <p:cNvPr id="83" name="Picture 17" descr="180px-I-35W_new_080920"/>
            <p:cNvPicPr/>
            <p:nvPr/>
          </p:nvPicPr>
          <p:blipFill>
            <a:blip r:embed="rId3"/>
            <a:srcRect l="0" t="0" r="0" b="10668"/>
            <a:stretch/>
          </p:blipFill>
          <p:spPr>
            <a:xfrm>
              <a:off x="7010280" y="5181480"/>
              <a:ext cx="1905120" cy="850680"/>
            </a:xfrm>
            <a:prstGeom prst="rect">
              <a:avLst/>
            </a:prstGeom>
            <a:noFill/>
            <a:ln w="38160">
              <a:noFill/>
            </a:ln>
          </p:spPr>
        </p:pic>
      </p:grpSp>
      <p:sp>
        <p:nvSpPr>
          <p:cNvPr id="84" name="Text Box 18"/>
          <p:cNvSpPr/>
          <p:nvPr/>
        </p:nvSpPr>
        <p:spPr>
          <a:xfrm>
            <a:off x="3809880" y="5181480"/>
            <a:ext cx="2895480" cy="703080"/>
          </a:xfrm>
          <a:prstGeom prst="rect">
            <a:avLst/>
          </a:prstGeom>
          <a:solidFill>
            <a:srgbClr val="FFFF66"/>
          </a:solid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FF0000"/>
                </a:solidFill>
                <a:effectLst/>
                <a:uFillTx/>
                <a:latin typeface="Arial"/>
                <a:ea typeface="Arial"/>
              </a:rPr>
              <a:t>Aug. 1, 2007: Collapses </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FF0000"/>
                </a:solidFill>
                <a:effectLst/>
                <a:uFillTx/>
                <a:latin typeface="Arial"/>
                <a:ea typeface="Arial"/>
              </a:rPr>
              <a:t>   at 6:05 PM, killing 7</a:t>
            </a:r>
            <a:endParaRPr lang="en-US" sz="2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Slide Number Placeholder 6"/>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B658B902-8B69-42CC-82CD-A1CD909FD089}"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86"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87" name="PlaceHolder 1"/>
          <p:cNvSpPr>
            <a:spLocks noGrp="1"/>
          </p:cNvSpPr>
          <p:nvPr>
            <p:ph type="title"/>
          </p:nvPr>
        </p:nvSpPr>
        <p:spPr>
          <a:xfrm>
            <a:off x="151920" y="151920"/>
            <a:ext cx="8839080" cy="68580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ea typeface="Arial"/>
              </a:rPr>
              <a:t>What Do We Learn from Bridges that Collapse?</a:t>
            </a:r>
            <a:endParaRPr lang="en-US" sz="3200" b="0" u="none" strike="noStrike">
              <a:solidFill>
                <a:srgbClr val="000000"/>
              </a:solidFill>
              <a:effectLst/>
              <a:uFillTx/>
              <a:latin typeface="Arial"/>
            </a:endParaRPr>
          </a:p>
        </p:txBody>
      </p:sp>
      <p:grpSp>
        <p:nvGrpSpPr>
          <p:cNvPr id="88" name="Group 4"/>
          <p:cNvGrpSpPr/>
          <p:nvPr/>
        </p:nvGrpSpPr>
        <p:grpSpPr>
          <a:xfrm>
            <a:off x="228600" y="914400"/>
            <a:ext cx="8724600" cy="3539880"/>
            <a:chOff x="228600" y="914400"/>
            <a:chExt cx="8724600" cy="3539880"/>
          </a:xfrm>
        </p:grpSpPr>
        <p:pic>
          <p:nvPicPr>
            <p:cNvPr id="89" name="Picture 5" descr="image"/>
            <p:cNvPicPr/>
            <p:nvPr/>
          </p:nvPicPr>
          <p:blipFill>
            <a:blip r:embed="rId1"/>
            <a:stretch/>
          </p:blipFill>
          <p:spPr>
            <a:xfrm>
              <a:off x="228600" y="914400"/>
              <a:ext cx="4419360" cy="3538440"/>
            </a:xfrm>
            <a:prstGeom prst="rect">
              <a:avLst/>
            </a:prstGeom>
            <a:noFill/>
            <a:ln w="38160">
              <a:noFill/>
            </a:ln>
          </p:spPr>
        </p:pic>
        <p:pic>
          <p:nvPicPr>
            <p:cNvPr id="90" name="Picture 6" descr="image"/>
            <p:cNvPicPr/>
            <p:nvPr/>
          </p:nvPicPr>
          <p:blipFill>
            <a:blip r:embed="rId2"/>
            <a:stretch/>
          </p:blipFill>
          <p:spPr>
            <a:xfrm>
              <a:off x="4647960" y="914400"/>
              <a:ext cx="4305240" cy="3539880"/>
            </a:xfrm>
            <a:prstGeom prst="rect">
              <a:avLst/>
            </a:prstGeom>
            <a:noFill/>
            <a:ln w="38160">
              <a:noFill/>
            </a:ln>
          </p:spPr>
        </p:pic>
      </p:grpSp>
      <p:sp>
        <p:nvSpPr>
          <p:cNvPr id="91" name="Text Box 7"/>
          <p:cNvSpPr/>
          <p:nvPr/>
        </p:nvSpPr>
        <p:spPr>
          <a:xfrm>
            <a:off x="308520" y="990360"/>
            <a:ext cx="2422440" cy="82512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Arial"/>
              </a:rPr>
              <a:t>Opening day of the </a:t>
            </a:r>
            <a:endParaRPr lang="en-US" sz="16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Arial"/>
              </a:rPr>
              <a:t>Tacoma Narrows Bridge,</a:t>
            </a:r>
            <a:endParaRPr lang="en-US" sz="16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Arial"/>
              </a:rPr>
              <a:t>July 1, 1940</a:t>
            </a:r>
            <a:endParaRPr lang="en-US" sz="1600" b="0" u="none" strike="noStrike">
              <a:solidFill>
                <a:srgbClr val="000000"/>
              </a:solidFill>
              <a:effectLst/>
              <a:uFillTx/>
              <a:latin typeface="Times New Roman"/>
            </a:endParaRPr>
          </a:p>
        </p:txBody>
      </p:sp>
      <p:sp>
        <p:nvSpPr>
          <p:cNvPr id="92" name="Text Box 8"/>
          <p:cNvSpPr/>
          <p:nvPr/>
        </p:nvSpPr>
        <p:spPr>
          <a:xfrm>
            <a:off x="4727520" y="990360"/>
            <a:ext cx="1330200" cy="33768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Arial"/>
              </a:rPr>
              <a:t>Nov. 7, 1940</a:t>
            </a:r>
            <a:endParaRPr lang="en-US" sz="1600" b="0" u="none" strike="noStrike">
              <a:solidFill>
                <a:srgbClr val="000000"/>
              </a:solidFill>
              <a:effectLst/>
              <a:uFillTx/>
              <a:latin typeface="Times New Roman"/>
            </a:endParaRPr>
          </a:p>
        </p:txBody>
      </p:sp>
      <p:sp>
        <p:nvSpPr>
          <p:cNvPr id="93" name="Text Box 9"/>
          <p:cNvSpPr/>
          <p:nvPr/>
        </p:nvSpPr>
        <p:spPr>
          <a:xfrm>
            <a:off x="152280" y="4572000"/>
            <a:ext cx="4495680" cy="193860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One catastrophic bridge collapse every 30 years or so</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400" b="0" u="none" strike="noStrike">
              <a:solidFill>
                <a:srgbClr val="000000"/>
              </a:solidFill>
              <a:effectLst/>
              <a:uFillTx/>
              <a:latin typeface="Times New Roman"/>
            </a:endParaRPr>
          </a:p>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Narrow"/>
              </a:rPr>
              <a:t>See the following amazing video clip (Tacoma Narrows Bridge):</a:t>
            </a:r>
            <a:endParaRPr lang="en-US" sz="1400" b="0" u="none" strike="noStrike">
              <a:solidFill>
                <a:srgbClr val="000000"/>
              </a:solidFill>
              <a:effectLst/>
              <a:uFillTx/>
              <a:latin typeface="Times New Roman"/>
            </a:endParaRPr>
          </a:p>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Narrow"/>
              </a:rPr>
              <a:t>http://www.enm.bris.ac.uk/research/nonlinear/tacoma/tacnarr.mpg  </a:t>
            </a:r>
            <a:endParaRPr lang="en-US" sz="1400" b="0" u="none" strike="noStrike">
              <a:solidFill>
                <a:srgbClr val="000000"/>
              </a:solidFill>
              <a:effectLst/>
              <a:uFillTx/>
              <a:latin typeface="Times New Roman"/>
            </a:endParaRPr>
          </a:p>
        </p:txBody>
      </p:sp>
      <p:sp>
        <p:nvSpPr>
          <p:cNvPr id="94" name="Text Box 10"/>
          <p:cNvSpPr/>
          <p:nvPr/>
        </p:nvSpPr>
        <p:spPr>
          <a:xfrm>
            <a:off x="4572000" y="4572000"/>
            <a:ext cx="4419360" cy="1482840"/>
          </a:xfrm>
          <a:prstGeom prst="rect">
            <a:avLst/>
          </a:prstGeom>
          <a:noFill/>
          <a:ln w="38160">
            <a:noFill/>
          </a:ln>
        </p:spPr>
        <p:style>
          <a:lnRef idx="0"/>
          <a:fillRef idx="0"/>
          <a:effectRef idx="0"/>
          <a:fontRef idx="minor"/>
        </p:style>
        <p:txBody>
          <a:bodyPr lIns="90000" tIns="46800" rIns="90000" bIns="46800" anchor="t">
            <a:spAutoFit/>
          </a:bodyPr>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Arial"/>
              </a:rPr>
              <a:t>“ . . . failures appear to be inevitable in the wake of prolonged success, which encourages lower margins of safety. Failures in turn lead to greater safety margins and, hence, new periods of success.”</a:t>
            </a:r>
            <a:endParaRPr lang="en-US" sz="1600" b="0" u="none" strike="noStrike">
              <a:solidFill>
                <a:srgbClr val="000000"/>
              </a:solidFill>
              <a:effectLst/>
              <a:uFillTx/>
              <a:latin typeface="Times New Roman"/>
            </a:endParaRPr>
          </a:p>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Arial"/>
              </a:rPr>
              <a:t>         Henry Petroski, </a:t>
            </a:r>
            <a:r>
              <a:rPr lang="en-US" sz="1600" b="0" i="1" u="none" strike="noStrike">
                <a:solidFill>
                  <a:srgbClr val="000000"/>
                </a:solidFill>
                <a:effectLst/>
                <a:uFillTx/>
                <a:latin typeface="Arial"/>
                <a:ea typeface="Arial"/>
              </a:rPr>
              <a:t>To Engineer is Human</a:t>
            </a:r>
            <a:endParaRPr lang="en-US" sz="1600" b="0" u="none" strike="noStrike">
              <a:solidFill>
                <a:srgbClr val="000000"/>
              </a:solidFill>
              <a:effectLst/>
              <a:uFillTx/>
              <a:latin typeface="Times New Roman"/>
            </a:endParaRPr>
          </a:p>
        </p:txBody>
      </p:sp>
      <p:pic>
        <p:nvPicPr>
          <p:cNvPr id="95" name="Picture 11" descr="West Bay Crossing"/>
          <p:cNvPicPr/>
          <p:nvPr/>
        </p:nvPicPr>
        <p:blipFill>
          <a:blip r:embed="rId3"/>
          <a:stretch/>
        </p:blipFill>
        <p:spPr>
          <a:xfrm>
            <a:off x="6858000" y="3124080"/>
            <a:ext cx="1923840" cy="1130400"/>
          </a:xfrm>
          <a:prstGeom prst="rect">
            <a:avLst/>
          </a:prstGeom>
          <a:noFill/>
          <a:ln w="3816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Slide Number Placeholder 6"/>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22AC4282-D0CE-4177-A68E-71C02789FC9C}"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pic>
        <p:nvPicPr>
          <p:cNvPr id="97" name="Picture 2" descr="titanicsinking"/>
          <p:cNvPicPr/>
          <p:nvPr/>
        </p:nvPicPr>
        <p:blipFill>
          <a:blip r:embed="rId1"/>
          <a:srcRect l="0" t="0" r="0" b="7805"/>
          <a:stretch/>
        </p:blipFill>
        <p:spPr>
          <a:xfrm>
            <a:off x="4495680" y="914400"/>
            <a:ext cx="4419720" cy="3854160"/>
          </a:xfrm>
          <a:prstGeom prst="rect">
            <a:avLst/>
          </a:prstGeom>
          <a:noFill/>
          <a:ln w="38160">
            <a:noFill/>
          </a:ln>
        </p:spPr>
      </p:pic>
      <p:sp>
        <p:nvSpPr>
          <p:cNvPr id="98" name="Rectangle 3"/>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99" name="PlaceHolder 1"/>
          <p:cNvSpPr>
            <a:spLocks noGrp="1"/>
          </p:cNvSpPr>
          <p:nvPr>
            <p:ph type="title"/>
          </p:nvPr>
        </p:nvSpPr>
        <p:spPr>
          <a:xfrm>
            <a:off x="380520" y="228240"/>
            <a:ext cx="8077320" cy="53316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ea typeface="Arial"/>
              </a:rPr>
              <a:t>. . . or from “Unsinkable” Ships that Sink?</a:t>
            </a:r>
            <a:endParaRPr lang="en-US" sz="3200" b="0" u="none" strike="noStrike">
              <a:solidFill>
                <a:srgbClr val="000000"/>
              </a:solidFill>
              <a:effectLst/>
              <a:uFillTx/>
              <a:latin typeface="Arial"/>
            </a:endParaRPr>
          </a:p>
        </p:txBody>
      </p:sp>
      <p:pic>
        <p:nvPicPr>
          <p:cNvPr id="100" name="Picture 5" descr="Titanicindock"/>
          <p:cNvPicPr/>
          <p:nvPr/>
        </p:nvPicPr>
        <p:blipFill>
          <a:blip r:embed="rId2"/>
          <a:srcRect l="0" t="0" r="0" b="7825"/>
          <a:stretch/>
        </p:blipFill>
        <p:spPr>
          <a:xfrm>
            <a:off x="228600" y="914400"/>
            <a:ext cx="4119480" cy="3862080"/>
          </a:xfrm>
          <a:prstGeom prst="rect">
            <a:avLst/>
          </a:prstGeom>
          <a:noFill/>
          <a:ln w="38160">
            <a:noFill/>
          </a:ln>
        </p:spPr>
      </p:pic>
      <p:sp>
        <p:nvSpPr>
          <p:cNvPr id="101" name="Text Box 6"/>
          <p:cNvSpPr/>
          <p:nvPr/>
        </p:nvSpPr>
        <p:spPr>
          <a:xfrm>
            <a:off x="304560" y="4876560"/>
            <a:ext cx="8534520" cy="129456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“The major difference between a thing that might go wrong and a thing that cannot possibly go wrong is that when a thing that cannot possibly go wrong goes wrong, it usually turns out to be impossible to get at or repair.” </a:t>
            </a:r>
            <a:endParaRPr lang="en-US" sz="1800" b="0" u="none" strike="noStrike">
              <a:solidFill>
                <a:srgbClr val="000000"/>
              </a:solidFill>
              <a:effectLst/>
              <a:uFillTx/>
              <a:latin typeface="Times New Roman"/>
            </a:endParaRPr>
          </a:p>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8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	</a:t>
            </a:r>
            <a:r>
              <a:rPr lang="en-US" sz="1800" b="0" u="none" strike="noStrike">
                <a:solidFill>
                  <a:srgbClr val="000000"/>
                </a:solidFill>
                <a:effectLst/>
                <a:uFillTx/>
                <a:latin typeface="Arial"/>
                <a:ea typeface="Arial"/>
              </a:rPr>
              <a:t>             Douglas Adams, author of </a:t>
            </a:r>
            <a:r>
              <a:rPr lang="en-US" sz="1800" b="0" i="1" u="none" strike="noStrike">
                <a:solidFill>
                  <a:srgbClr val="000000"/>
                </a:solidFill>
                <a:effectLst/>
                <a:uFillTx/>
                <a:latin typeface="Arial"/>
                <a:ea typeface="Arial"/>
              </a:rPr>
              <a:t>The Hitchhiker’s Guide to the Galaxy</a:t>
            </a:r>
            <a:endParaRPr lang="en-US" sz="1800" b="0" u="none" strike="noStrike">
              <a:solidFill>
                <a:srgbClr val="000000"/>
              </a:solidFill>
              <a:effectLst/>
              <a:uFillTx/>
              <a:latin typeface="Times New Roman"/>
            </a:endParaRPr>
          </a:p>
        </p:txBody>
      </p:sp>
      <p:sp>
        <p:nvSpPr>
          <p:cNvPr id="102" name="Text Box 7"/>
          <p:cNvSpPr/>
          <p:nvPr/>
        </p:nvSpPr>
        <p:spPr>
          <a:xfrm>
            <a:off x="2366280" y="990360"/>
            <a:ext cx="1994400" cy="131256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u="none" strike="noStrike">
                <a:solidFill>
                  <a:srgbClr val="000000"/>
                </a:solidFill>
                <a:effectLst/>
                <a:uFillTx/>
                <a:latin typeface="Arial"/>
                <a:ea typeface="Arial"/>
              </a:rPr>
              <a:t>Titanic begins </a:t>
            </a:r>
            <a:endParaRPr lang="en-US" sz="16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u="none" strike="noStrike">
                <a:solidFill>
                  <a:srgbClr val="000000"/>
                </a:solidFill>
                <a:effectLst/>
                <a:uFillTx/>
                <a:latin typeface="Arial"/>
                <a:ea typeface="Arial"/>
              </a:rPr>
              <a:t>its maiden voyage </a:t>
            </a:r>
            <a:endParaRPr lang="en-US" sz="16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u="none" strike="noStrike">
                <a:solidFill>
                  <a:srgbClr val="000000"/>
                </a:solidFill>
                <a:effectLst/>
                <a:uFillTx/>
                <a:latin typeface="Arial"/>
                <a:ea typeface="Arial"/>
              </a:rPr>
              <a:t>from Queenstown,</a:t>
            </a:r>
            <a:endParaRPr lang="en-US" sz="16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u="none" strike="noStrike">
                <a:solidFill>
                  <a:srgbClr val="000000"/>
                </a:solidFill>
                <a:effectLst/>
                <a:uFillTx/>
                <a:latin typeface="Arial"/>
                <a:ea typeface="Arial"/>
              </a:rPr>
              <a:t>April 11, 1912</a:t>
            </a:r>
            <a:endParaRPr lang="en-US" sz="16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u="none" strike="noStrike">
                <a:solidFill>
                  <a:srgbClr val="000000"/>
                </a:solidFill>
                <a:effectLst/>
                <a:uFillTx/>
                <a:latin typeface="Arial"/>
                <a:ea typeface="Arial"/>
              </a:rPr>
              <a:t>(1:30 PM)</a:t>
            </a:r>
            <a:endParaRPr lang="en-US" sz="1600" b="0" u="none" strike="noStrike">
              <a:solidFill>
                <a:srgbClr val="000000"/>
              </a:solidFill>
              <a:effectLst/>
              <a:uFillTx/>
              <a:latin typeface="Times New Roman"/>
            </a:endParaRPr>
          </a:p>
        </p:txBody>
      </p:sp>
      <p:sp>
        <p:nvSpPr>
          <p:cNvPr id="103" name="Text Box 8"/>
          <p:cNvSpPr/>
          <p:nvPr/>
        </p:nvSpPr>
        <p:spPr>
          <a:xfrm>
            <a:off x="6937560" y="914400"/>
            <a:ext cx="1487880" cy="58140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u="none" strike="noStrike">
                <a:solidFill>
                  <a:srgbClr val="000000"/>
                </a:solidFill>
                <a:effectLst/>
                <a:uFillTx/>
                <a:latin typeface="Arial"/>
                <a:ea typeface="Arial"/>
              </a:rPr>
              <a:t>April 15, 1912</a:t>
            </a:r>
            <a:endParaRPr lang="en-US" sz="16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u="none" strike="noStrike">
                <a:solidFill>
                  <a:srgbClr val="000000"/>
                </a:solidFill>
                <a:effectLst/>
                <a:uFillTx/>
                <a:latin typeface="Arial"/>
                <a:ea typeface="Arial"/>
              </a:rPr>
              <a:t>(2:20 AM)</a:t>
            </a:r>
            <a:endParaRPr lang="en-US" sz="16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Slide Number Placeholder 6"/>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579F4D98-653B-42DF-AF78-40BD97282B5F}"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105"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106" name="PlaceHolder 1"/>
          <p:cNvSpPr>
            <a:spLocks noGrp="1"/>
          </p:cNvSpPr>
          <p:nvPr>
            <p:ph type="title"/>
          </p:nvPr>
        </p:nvSpPr>
        <p:spPr>
          <a:xfrm>
            <a:off x="152280" y="151920"/>
            <a:ext cx="8610480" cy="68580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ea typeface="Arial"/>
              </a:rPr>
              <a:t>.</a:t>
            </a:r>
            <a:r>
              <a:rPr lang="en-US" sz="1200" b="0" u="none" strike="noStrike">
                <a:solidFill>
                  <a:srgbClr val="000000"/>
                </a:solidFill>
                <a:effectLst/>
                <a:uFillTx/>
                <a:latin typeface="Arial"/>
                <a:ea typeface="Arial"/>
              </a:rPr>
              <a:t> </a:t>
            </a:r>
            <a:r>
              <a:rPr lang="en-US" sz="3200" b="0" u="none" strike="noStrike">
                <a:solidFill>
                  <a:srgbClr val="000000"/>
                </a:solidFill>
                <a:effectLst/>
                <a:uFillTx/>
                <a:latin typeface="Arial"/>
                <a:ea typeface="Arial"/>
              </a:rPr>
              <a:t>.</a:t>
            </a:r>
            <a:r>
              <a:rPr lang="en-US" sz="1200" b="0" u="none" strike="noStrike">
                <a:solidFill>
                  <a:srgbClr val="000000"/>
                </a:solidFill>
                <a:effectLst/>
                <a:uFillTx/>
                <a:latin typeface="Arial"/>
                <a:ea typeface="Arial"/>
              </a:rPr>
              <a:t> </a:t>
            </a:r>
            <a:r>
              <a:rPr lang="en-US" sz="3200" b="0" u="none" strike="noStrike">
                <a:solidFill>
                  <a:srgbClr val="000000"/>
                </a:solidFill>
                <a:effectLst/>
                <a:uFillTx/>
                <a:latin typeface="Arial"/>
                <a:ea typeface="Arial"/>
              </a:rPr>
              <a:t>. or from Poorly Designed High-Tech Trains?</a:t>
            </a:r>
            <a:endParaRPr lang="en-US" sz="3200" b="0" u="none" strike="noStrike">
              <a:solidFill>
                <a:srgbClr val="000000"/>
              </a:solidFill>
              <a:effectLst/>
              <a:uFillTx/>
              <a:latin typeface="Arial"/>
            </a:endParaRPr>
          </a:p>
        </p:txBody>
      </p:sp>
      <p:pic>
        <p:nvPicPr>
          <p:cNvPr id="107" name="Picture 4"/>
          <p:cNvPicPr/>
          <p:nvPr/>
        </p:nvPicPr>
        <p:blipFill>
          <a:blip r:embed="rId1"/>
          <a:stretch/>
        </p:blipFill>
        <p:spPr>
          <a:xfrm>
            <a:off x="152280" y="838080"/>
            <a:ext cx="4495680" cy="2838240"/>
          </a:xfrm>
          <a:prstGeom prst="rect">
            <a:avLst/>
          </a:prstGeom>
          <a:noFill/>
          <a:ln w="38160">
            <a:noFill/>
          </a:ln>
        </p:spPr>
      </p:pic>
      <p:sp>
        <p:nvSpPr>
          <p:cNvPr id="108" name="Text Box 5"/>
          <p:cNvSpPr/>
          <p:nvPr/>
        </p:nvSpPr>
        <p:spPr>
          <a:xfrm>
            <a:off x="304560" y="3809880"/>
            <a:ext cx="8458200" cy="64260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Train built for demonstrating magnetic levitation technology in northwest Germany rams into maintenance vehicle left on track at 200 km/h, killing 23 of 29 aboard</a:t>
            </a:r>
            <a:endParaRPr lang="en-US" sz="1800" b="0" u="none" strike="noStrike">
              <a:solidFill>
                <a:srgbClr val="000000"/>
              </a:solidFill>
              <a:effectLst/>
              <a:uFillTx/>
              <a:latin typeface="Times New Roman"/>
            </a:endParaRPr>
          </a:p>
        </p:txBody>
      </p:sp>
      <p:sp>
        <p:nvSpPr>
          <p:cNvPr id="109" name="Text Box 6"/>
          <p:cNvSpPr/>
          <p:nvPr/>
        </p:nvSpPr>
        <p:spPr>
          <a:xfrm>
            <a:off x="2895480" y="914400"/>
            <a:ext cx="1752480" cy="8251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u="none" strike="noStrike">
                <a:solidFill>
                  <a:srgbClr val="000000"/>
                </a:solidFill>
                <a:effectLst/>
                <a:uFillTx/>
                <a:latin typeface="Arial"/>
                <a:ea typeface="Arial"/>
              </a:rPr>
              <a:t>Transrapid</a:t>
            </a:r>
            <a:endParaRPr lang="en-US" sz="16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u="none" strike="noStrike">
                <a:solidFill>
                  <a:srgbClr val="000000"/>
                </a:solidFill>
                <a:effectLst/>
                <a:uFillTx/>
                <a:latin typeface="Arial"/>
                <a:ea typeface="Arial"/>
              </a:rPr>
              <a:t>maglev train on </a:t>
            </a:r>
            <a:endParaRPr lang="en-US" sz="16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u="none" strike="noStrike">
                <a:solidFill>
                  <a:srgbClr val="000000"/>
                </a:solidFill>
                <a:effectLst/>
                <a:uFillTx/>
                <a:latin typeface="Arial"/>
                <a:ea typeface="Arial"/>
              </a:rPr>
              <a:t>its test track</a:t>
            </a:r>
            <a:endParaRPr lang="en-US" sz="1600" b="0" u="none" strike="noStrike">
              <a:solidFill>
                <a:srgbClr val="000000"/>
              </a:solidFill>
              <a:effectLst/>
              <a:uFillTx/>
              <a:latin typeface="Times New Roman"/>
            </a:endParaRPr>
          </a:p>
        </p:txBody>
      </p:sp>
      <p:pic>
        <p:nvPicPr>
          <p:cNvPr id="110" name="Picture 7" descr="Aerial view of the damaged train"/>
          <p:cNvPicPr/>
          <p:nvPr/>
        </p:nvPicPr>
        <p:blipFill>
          <a:blip r:embed="rId2"/>
          <a:srcRect l="0" t="0" r="9230" b="15357"/>
          <a:stretch/>
        </p:blipFill>
        <p:spPr>
          <a:xfrm>
            <a:off x="4724280" y="838080"/>
            <a:ext cx="4219560" cy="2838240"/>
          </a:xfrm>
          <a:prstGeom prst="rect">
            <a:avLst/>
          </a:prstGeom>
          <a:noFill/>
          <a:ln w="38160">
            <a:noFill/>
          </a:ln>
        </p:spPr>
      </p:pic>
      <p:sp>
        <p:nvSpPr>
          <p:cNvPr id="111" name="Text Box 8"/>
          <p:cNvSpPr/>
          <p:nvPr/>
        </p:nvSpPr>
        <p:spPr>
          <a:xfrm>
            <a:off x="7394400" y="990360"/>
            <a:ext cx="1454040" cy="33768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u="none" strike="noStrike">
                <a:solidFill>
                  <a:srgbClr val="FFFF66"/>
                </a:solidFill>
                <a:effectLst/>
                <a:uFillTx/>
                <a:latin typeface="Arial"/>
                <a:ea typeface="Arial"/>
              </a:rPr>
              <a:t>Sep. 22, 2006</a:t>
            </a:r>
            <a:endParaRPr lang="en-US" sz="1600" b="0" u="none" strike="noStrike">
              <a:solidFill>
                <a:srgbClr val="000000"/>
              </a:solidFill>
              <a:effectLst/>
              <a:uFillTx/>
              <a:latin typeface="Times New Roman"/>
            </a:endParaRPr>
          </a:p>
        </p:txBody>
      </p:sp>
      <p:sp>
        <p:nvSpPr>
          <p:cNvPr id="112" name="Text Box 9"/>
          <p:cNvSpPr/>
          <p:nvPr/>
        </p:nvSpPr>
        <p:spPr>
          <a:xfrm>
            <a:off x="304560" y="4495680"/>
            <a:ext cx="8458200" cy="64260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Official investigation blames the accident on human error (train was allowed to depart before a clearance phone call from maintenance crew)</a:t>
            </a:r>
            <a:endParaRPr lang="en-US" sz="1800" b="0" u="none" strike="noStrike">
              <a:solidFill>
                <a:srgbClr val="000000"/>
              </a:solidFill>
              <a:effectLst/>
              <a:uFillTx/>
              <a:latin typeface="Times New Roman"/>
            </a:endParaRPr>
          </a:p>
        </p:txBody>
      </p:sp>
      <p:sp>
        <p:nvSpPr>
          <p:cNvPr id="113" name="Text Box 10"/>
          <p:cNvSpPr/>
          <p:nvPr/>
        </p:nvSpPr>
        <p:spPr>
          <a:xfrm>
            <a:off x="304560" y="5105160"/>
            <a:ext cx="8458200" cy="3682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Not a good explanation; even low-tech trains have obstacle detection systems</a:t>
            </a:r>
            <a:endParaRPr lang="en-US" sz="1800" b="0" u="none" strike="noStrike">
              <a:solidFill>
                <a:srgbClr val="000000"/>
              </a:solidFill>
              <a:effectLst/>
              <a:uFillTx/>
              <a:latin typeface="Times New Roman"/>
            </a:endParaRPr>
          </a:p>
        </p:txBody>
      </p:sp>
      <p:sp>
        <p:nvSpPr>
          <p:cNvPr id="114" name="Text Box 11"/>
          <p:cNvSpPr/>
          <p:nvPr/>
        </p:nvSpPr>
        <p:spPr>
          <a:xfrm>
            <a:off x="304560" y="5486400"/>
            <a:ext cx="8686800" cy="64260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Even if manual protocol is fully adequate under normal conditions, any engineering design must take unusual circumstances into account (abuse, sabotage, terrorism)</a:t>
            </a:r>
            <a:endParaRPr lang="en-US" sz="18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Slide Number Placeholder 8"/>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0965A8A8-AC3D-405B-AD9D-4D1CA9150FF6}"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116"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117" name="PlaceHolder 1"/>
          <p:cNvSpPr>
            <a:spLocks noGrp="1"/>
          </p:cNvSpPr>
          <p:nvPr>
            <p:ph type="title"/>
          </p:nvPr>
        </p:nvSpPr>
        <p:spPr>
          <a:xfrm>
            <a:off x="228600" y="228600"/>
            <a:ext cx="8686800" cy="83808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ea typeface="Arial"/>
              </a:rPr>
              <a:t>Design Flaws in Computer Systems</a:t>
            </a:r>
            <a:endParaRPr lang="en-US" sz="3200" b="0" u="none" strike="noStrike">
              <a:solidFill>
                <a:srgbClr val="000000"/>
              </a:solidFill>
              <a:effectLst/>
              <a:uFillTx/>
              <a:latin typeface="Arial"/>
            </a:endParaRPr>
          </a:p>
        </p:txBody>
      </p:sp>
      <p:sp>
        <p:nvSpPr>
          <p:cNvPr id="118" name="Text Box 4"/>
          <p:cNvSpPr/>
          <p:nvPr/>
        </p:nvSpPr>
        <p:spPr>
          <a:xfrm>
            <a:off x="533160" y="1066680"/>
            <a:ext cx="8305920" cy="367920"/>
          </a:xfrm>
          <a:prstGeom prst="rect">
            <a:avLst/>
          </a:prstGeom>
          <a:noFill/>
          <a:ln w="38160">
            <a:noFill/>
          </a:ln>
        </p:spPr>
        <p:style>
          <a:lnRef idx="0"/>
          <a:fillRef idx="0"/>
          <a:effectRef idx="0"/>
          <a:fontRef idx="minor"/>
        </p:style>
        <p:txBody>
          <a:bodyPr lIns="90000" tIns="46800" rIns="90000" bIns="46800" anchor="t">
            <a:spAutoFit/>
          </a:bodyPr>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33CC"/>
                </a:solidFill>
                <a:effectLst/>
                <a:uFillTx/>
                <a:latin typeface="Arial"/>
                <a:ea typeface="Arial"/>
              </a:rPr>
              <a:t>Hardware example: </a:t>
            </a:r>
            <a:r>
              <a:rPr lang="en-US" sz="2000" b="1" u="none" strike="noStrike">
                <a:solidFill>
                  <a:srgbClr val="FF0000"/>
                </a:solidFill>
                <a:effectLst/>
                <a:uFillTx/>
                <a:latin typeface="Arial"/>
                <a:ea typeface="Arial"/>
              </a:rPr>
              <a:t>Intel Pentium processor, 1994</a:t>
            </a:r>
            <a:endParaRPr lang="en-US" sz="2000" b="0" u="none" strike="noStrike">
              <a:solidFill>
                <a:srgbClr val="000000"/>
              </a:solidFill>
              <a:effectLst/>
              <a:uFillTx/>
              <a:latin typeface="Times New Roman"/>
            </a:endParaRPr>
          </a:p>
        </p:txBody>
      </p:sp>
      <p:sp>
        <p:nvSpPr>
          <p:cNvPr id="119" name="Text Box 5"/>
          <p:cNvSpPr/>
          <p:nvPr/>
        </p:nvSpPr>
        <p:spPr>
          <a:xfrm>
            <a:off x="533160" y="1371600"/>
            <a:ext cx="8305920" cy="641880"/>
          </a:xfrm>
          <a:prstGeom prst="rect">
            <a:avLst/>
          </a:prstGeom>
          <a:noFill/>
          <a:ln w="38160">
            <a:noFill/>
          </a:ln>
        </p:spPr>
        <p:style>
          <a:lnRef idx="0"/>
          <a:fillRef idx="0"/>
          <a:effectRef idx="0"/>
          <a:fontRef idx="minor"/>
        </p:style>
        <p:txBody>
          <a:bodyPr lIns="90000" tIns="46800" rIns="90000" bIns="46800" anchor="t">
            <a:spAutoFit/>
          </a:bodyPr>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9900"/>
                </a:solidFill>
                <a:effectLst/>
                <a:uFillTx/>
                <a:latin typeface="Arial"/>
                <a:ea typeface="Arial"/>
              </a:rPr>
              <a:t>For certain operands, the FDIV instruction yielded a wrong quotient</a:t>
            </a:r>
            <a:endParaRPr lang="en-US" sz="2000" b="0" u="none" strike="noStrike">
              <a:solidFill>
                <a:srgbClr val="000000"/>
              </a:solidFill>
              <a:effectLst/>
              <a:uFillTx/>
              <a:latin typeface="Times New Roman"/>
            </a:endParaRPr>
          </a:p>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Amply documented and reasons well-known (overzealous optimization)</a:t>
            </a:r>
            <a:endParaRPr lang="en-US" sz="2000" b="0" u="none" strike="noStrike">
              <a:solidFill>
                <a:srgbClr val="000000"/>
              </a:solidFill>
              <a:effectLst/>
              <a:uFillTx/>
              <a:latin typeface="Times New Roman"/>
            </a:endParaRPr>
          </a:p>
        </p:txBody>
      </p:sp>
      <p:grpSp>
        <p:nvGrpSpPr>
          <p:cNvPr id="120" name="Group 6"/>
          <p:cNvGrpSpPr/>
          <p:nvPr/>
        </p:nvGrpSpPr>
        <p:grpSpPr>
          <a:xfrm>
            <a:off x="533160" y="2133360"/>
            <a:ext cx="8305920" cy="2042640"/>
            <a:chOff x="533160" y="2133360"/>
            <a:chExt cx="8305920" cy="2042640"/>
          </a:xfrm>
        </p:grpSpPr>
        <p:sp>
          <p:nvSpPr>
            <p:cNvPr id="121" name="Text Box 7"/>
            <p:cNvSpPr/>
            <p:nvPr/>
          </p:nvSpPr>
          <p:spPr>
            <a:xfrm>
              <a:off x="533160" y="2133360"/>
              <a:ext cx="8305920" cy="367920"/>
            </a:xfrm>
            <a:prstGeom prst="rect">
              <a:avLst/>
            </a:prstGeom>
            <a:noFill/>
            <a:ln w="38160">
              <a:noFill/>
            </a:ln>
          </p:spPr>
          <p:style>
            <a:lnRef idx="0"/>
            <a:fillRef idx="0"/>
            <a:effectRef idx="0"/>
            <a:fontRef idx="minor"/>
          </p:style>
          <p:txBody>
            <a:bodyPr lIns="90000" tIns="46800" rIns="90000" bIns="46800" anchor="t">
              <a:spAutoFit/>
            </a:bodyPr>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33CC"/>
                  </a:solidFill>
                  <a:effectLst/>
                  <a:uFillTx/>
                  <a:latin typeface="Arial"/>
                  <a:ea typeface="Arial"/>
                </a:rPr>
                <a:t>Software example: </a:t>
              </a:r>
              <a:r>
                <a:rPr lang="en-US" sz="2000" b="1" u="none" strike="noStrike">
                  <a:solidFill>
                    <a:srgbClr val="FF0000"/>
                  </a:solidFill>
                  <a:effectLst/>
                  <a:uFillTx/>
                  <a:latin typeface="Arial"/>
                  <a:ea typeface="Arial"/>
                </a:rPr>
                <a:t>Patriot missile guidance, 1991</a:t>
              </a:r>
              <a:endParaRPr lang="en-US" sz="2000" b="0" u="none" strike="noStrike">
                <a:solidFill>
                  <a:srgbClr val="000000"/>
                </a:solidFill>
                <a:effectLst/>
                <a:uFillTx/>
                <a:latin typeface="Times New Roman"/>
              </a:endParaRPr>
            </a:p>
          </p:txBody>
        </p:sp>
        <p:sp>
          <p:nvSpPr>
            <p:cNvPr id="122" name="Text Box 8"/>
            <p:cNvSpPr/>
            <p:nvPr/>
          </p:nvSpPr>
          <p:spPr>
            <a:xfrm>
              <a:off x="533160" y="2438280"/>
              <a:ext cx="8305920" cy="1737720"/>
            </a:xfrm>
            <a:prstGeom prst="rect">
              <a:avLst/>
            </a:prstGeom>
            <a:noFill/>
            <a:ln w="38160">
              <a:noFill/>
            </a:ln>
          </p:spPr>
          <p:style>
            <a:lnRef idx="0"/>
            <a:fillRef idx="0"/>
            <a:effectRef idx="0"/>
            <a:fontRef idx="minor"/>
          </p:style>
          <p:txBody>
            <a:bodyPr lIns="90000" tIns="46800" rIns="90000" bIns="46800" anchor="t">
              <a:spAutoFit/>
            </a:bodyPr>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9900"/>
                  </a:solidFill>
                  <a:effectLst/>
                  <a:uFillTx/>
                  <a:latin typeface="Arial"/>
                  <a:ea typeface="Arial"/>
                </a:rPr>
                <a:t>Missed intercepting a scud missile in 1st Gulf War, causing 28 deaths</a:t>
              </a:r>
              <a:endParaRPr lang="en-US" sz="2000" b="0" u="none" strike="noStrike">
                <a:solidFill>
                  <a:srgbClr val="000000"/>
                </a:solidFill>
                <a:effectLst/>
                <a:uFillTx/>
                <a:latin typeface="Times New Roman"/>
              </a:endParaRPr>
            </a:p>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Clock reading multiplied by 24-bit representation of 1/10 s (unit of time)</a:t>
              </a:r>
              <a:endParaRPr lang="en-US" sz="2000" b="0" u="none" strike="noStrike">
                <a:solidFill>
                  <a:srgbClr val="000000"/>
                </a:solidFill>
                <a:effectLst/>
                <a:uFillTx/>
                <a:latin typeface="Times New Roman"/>
              </a:endParaRPr>
            </a:p>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caused an error of about 0.0001%; normally, this would cancel out in relative time calculations, but owing to ad hoc updates to some (not all) calls to a routine, calculated time was off by 0.34 s (over </a:t>
              </a:r>
              <a:r>
                <a:rPr lang="en-US" sz="2000" b="0" u="none" strike="noStrike">
                  <a:solidFill>
                    <a:srgbClr val="000000"/>
                  </a:solidFill>
                  <a:effectLst/>
                  <a:uFillTx/>
                  <a:latin typeface="Symbol"/>
                  <a:ea typeface="Symbol"/>
                </a:rPr>
                <a:t></a:t>
              </a:r>
              <a:r>
                <a:rPr lang="en-US" sz="2000" b="0" u="none" strike="noStrike">
                  <a:solidFill>
                    <a:srgbClr val="000000"/>
                  </a:solidFill>
                  <a:effectLst/>
                  <a:uFillTx/>
                  <a:latin typeface="Arial"/>
                  <a:ea typeface="Arial"/>
                </a:rPr>
                <a:t>100 hours), during which time a scud missile travels more than 0.5 km</a:t>
              </a:r>
              <a:endParaRPr lang="en-US" sz="2000" b="0" u="none" strike="noStrike">
                <a:solidFill>
                  <a:srgbClr val="000000"/>
                </a:solidFill>
                <a:effectLst/>
                <a:uFillTx/>
                <a:latin typeface="Times New Roman"/>
              </a:endParaRPr>
            </a:p>
          </p:txBody>
        </p:sp>
      </p:grpSp>
      <p:grpSp>
        <p:nvGrpSpPr>
          <p:cNvPr id="123" name="Group 9"/>
          <p:cNvGrpSpPr/>
          <p:nvPr/>
        </p:nvGrpSpPr>
        <p:grpSpPr>
          <a:xfrm>
            <a:off x="533160" y="4343400"/>
            <a:ext cx="8305920" cy="1785240"/>
            <a:chOff x="533160" y="4343400"/>
            <a:chExt cx="8305920" cy="1785240"/>
          </a:xfrm>
        </p:grpSpPr>
        <p:sp>
          <p:nvSpPr>
            <p:cNvPr id="124" name="Text Box 10"/>
            <p:cNvSpPr/>
            <p:nvPr/>
          </p:nvSpPr>
          <p:spPr>
            <a:xfrm>
              <a:off x="533160" y="4343400"/>
              <a:ext cx="8305920" cy="367920"/>
            </a:xfrm>
            <a:prstGeom prst="rect">
              <a:avLst/>
            </a:prstGeom>
            <a:noFill/>
            <a:ln w="38160">
              <a:noFill/>
            </a:ln>
          </p:spPr>
          <p:style>
            <a:lnRef idx="0"/>
            <a:fillRef idx="0"/>
            <a:effectRef idx="0"/>
            <a:fontRef idx="minor"/>
          </p:style>
          <p:txBody>
            <a:bodyPr lIns="90000" tIns="46800" rIns="90000" bIns="46800" anchor="t">
              <a:spAutoFit/>
            </a:bodyPr>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33CC"/>
                  </a:solidFill>
                  <a:effectLst/>
                  <a:uFillTx/>
                  <a:latin typeface="Arial"/>
                  <a:ea typeface="Arial"/>
                </a:rPr>
                <a:t>User interface example: </a:t>
              </a:r>
              <a:r>
                <a:rPr lang="en-US" sz="2000" b="1" u="none" strike="noStrike">
                  <a:solidFill>
                    <a:srgbClr val="FF0000"/>
                  </a:solidFill>
                  <a:effectLst/>
                  <a:uFillTx/>
                  <a:latin typeface="Arial"/>
                  <a:ea typeface="Arial"/>
                </a:rPr>
                <a:t>Therac 25 machine, mid 1980s</a:t>
              </a:r>
              <a:r>
                <a:rPr lang="en-US" sz="1600" b="0" u="none" strike="noStrike" baseline="30000">
                  <a:solidFill>
                    <a:srgbClr val="FF0000"/>
                  </a:solidFill>
                  <a:effectLst/>
                  <a:uFillTx/>
                  <a:latin typeface="Arial"/>
                  <a:ea typeface="Arial"/>
                </a:rPr>
                <a:t>1</a:t>
              </a:r>
              <a:endParaRPr lang="en-US" sz="1600" b="0" u="none" strike="noStrike">
                <a:solidFill>
                  <a:srgbClr val="000000"/>
                </a:solidFill>
                <a:effectLst/>
                <a:uFillTx/>
                <a:latin typeface="Times New Roman"/>
              </a:endParaRPr>
            </a:p>
          </p:txBody>
        </p:sp>
        <p:sp>
          <p:nvSpPr>
            <p:cNvPr id="125" name="Text Box 11"/>
            <p:cNvSpPr/>
            <p:nvPr/>
          </p:nvSpPr>
          <p:spPr>
            <a:xfrm>
              <a:off x="533160" y="4647960"/>
              <a:ext cx="8305920" cy="1189800"/>
            </a:xfrm>
            <a:prstGeom prst="rect">
              <a:avLst/>
            </a:prstGeom>
            <a:noFill/>
            <a:ln w="38160">
              <a:noFill/>
            </a:ln>
          </p:spPr>
          <p:style>
            <a:lnRef idx="0"/>
            <a:fillRef idx="0"/>
            <a:effectRef idx="0"/>
            <a:fontRef idx="minor"/>
          </p:style>
          <p:txBody>
            <a:bodyPr lIns="90000" tIns="46800" rIns="90000" bIns="46800" anchor="t">
              <a:spAutoFit/>
            </a:bodyPr>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9900"/>
                  </a:solidFill>
                  <a:effectLst/>
                  <a:uFillTx/>
                  <a:latin typeface="Arial"/>
                  <a:ea typeface="Arial"/>
                </a:rPr>
                <a:t>Serious burns and some deaths due to overdose in radiation therapy</a:t>
              </a:r>
              <a:endParaRPr lang="en-US" sz="2000" b="0" u="none" strike="noStrike">
                <a:solidFill>
                  <a:srgbClr val="000000"/>
                </a:solidFill>
                <a:effectLst/>
                <a:uFillTx/>
                <a:latin typeface="Times New Roman"/>
              </a:endParaRPr>
            </a:p>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Operator entered “x” (for x-ray), realized error, corrected by entering “e” (for low-power electron beam) before activating the machine; activation was so quick that software had not yet processed the override</a:t>
              </a:r>
              <a:endParaRPr lang="en-US" sz="2000" b="0" u="none" strike="noStrike">
                <a:solidFill>
                  <a:srgbClr val="000000"/>
                </a:solidFill>
                <a:effectLst/>
                <a:uFillTx/>
                <a:latin typeface="Times New Roman"/>
              </a:endParaRPr>
            </a:p>
          </p:txBody>
        </p:sp>
        <p:sp>
          <p:nvSpPr>
            <p:cNvPr id="126" name="Text Box 12"/>
            <p:cNvSpPr/>
            <p:nvPr/>
          </p:nvSpPr>
          <p:spPr>
            <a:xfrm>
              <a:off x="5638680" y="5790960"/>
              <a:ext cx="3048120" cy="3376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baseline="30000">
                  <a:solidFill>
                    <a:srgbClr val="000000"/>
                  </a:solidFill>
                  <a:effectLst/>
                  <a:uFillTx/>
                  <a:latin typeface="Arial"/>
                  <a:ea typeface="Arial"/>
                </a:rPr>
                <a:t>1</a:t>
              </a:r>
              <a:r>
                <a:rPr lang="en-US" sz="1600" b="0" u="none" strike="noStrike">
                  <a:solidFill>
                    <a:srgbClr val="000000"/>
                  </a:solidFill>
                  <a:effectLst/>
                  <a:uFillTx/>
                  <a:latin typeface="Arial"/>
                  <a:ea typeface="Arial"/>
                </a:rPr>
                <a:t> Accounts of the reasons vary</a:t>
              </a:r>
              <a:endParaRPr lang="en-US" sz="1600" b="0" u="none" strike="noStrike">
                <a:solidFill>
                  <a:srgbClr val="000000"/>
                </a:solidFill>
                <a:effectLst/>
                <a:uFillTx/>
                <a:latin typeface="Times New Roman"/>
              </a:endParaRPr>
            </a:p>
          </p:txBody>
        </p:sp>
      </p:gr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Slide Number Placeholder 8"/>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308E8A03-6F98-4CFD-8A74-94DC133CFBBC}"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128"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129" name="PlaceHolder 1"/>
          <p:cNvSpPr>
            <a:spLocks noGrp="1"/>
          </p:cNvSpPr>
          <p:nvPr>
            <p:ph type="title"/>
          </p:nvPr>
        </p:nvSpPr>
        <p:spPr>
          <a:xfrm>
            <a:off x="228600" y="228240"/>
            <a:ext cx="8686800" cy="68580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ea typeface="Arial"/>
              </a:rPr>
              <a:t>Causes of Human Errors in Computer Systems</a:t>
            </a:r>
            <a:endParaRPr lang="en-US" sz="3200" b="0" u="none" strike="noStrike">
              <a:solidFill>
                <a:srgbClr val="000000"/>
              </a:solidFill>
              <a:effectLst/>
              <a:uFillTx/>
              <a:latin typeface="Arial"/>
            </a:endParaRPr>
          </a:p>
        </p:txBody>
      </p:sp>
      <p:sp>
        <p:nvSpPr>
          <p:cNvPr id="130" name="Text Box 4"/>
          <p:cNvSpPr/>
          <p:nvPr/>
        </p:nvSpPr>
        <p:spPr>
          <a:xfrm>
            <a:off x="457200" y="990360"/>
            <a:ext cx="822960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FF0000"/>
                </a:solidFill>
                <a:effectLst/>
                <a:uFillTx/>
                <a:latin typeface="Arial"/>
                <a:ea typeface="Arial"/>
              </a:rPr>
              <a:t>1. Personal factors (35%): </a:t>
            </a:r>
            <a:r>
              <a:rPr lang="en-US" sz="2000" b="0" u="none" strike="noStrike">
                <a:solidFill>
                  <a:srgbClr val="000000"/>
                </a:solidFill>
                <a:effectLst/>
                <a:uFillTx/>
                <a:latin typeface="Arial"/>
                <a:ea typeface="Arial"/>
              </a:rPr>
              <a:t>Lack of skill, lack of interest or motivation, fatigue, poor memory, age or disability</a:t>
            </a:r>
            <a:endParaRPr lang="en-US" sz="2000" b="0" u="none" strike="noStrike">
              <a:solidFill>
                <a:srgbClr val="000000"/>
              </a:solidFill>
              <a:effectLst/>
              <a:uFillTx/>
              <a:latin typeface="Times New Roman"/>
            </a:endParaRPr>
          </a:p>
        </p:txBody>
      </p:sp>
      <p:sp>
        <p:nvSpPr>
          <p:cNvPr id="131" name="Text Box 5"/>
          <p:cNvSpPr/>
          <p:nvPr/>
        </p:nvSpPr>
        <p:spPr>
          <a:xfrm>
            <a:off x="457200" y="1752480"/>
            <a:ext cx="822960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FF0000"/>
                </a:solidFill>
                <a:effectLst/>
                <a:uFillTx/>
                <a:latin typeface="Arial"/>
                <a:ea typeface="Arial"/>
              </a:rPr>
              <a:t>2. System design (20%):</a:t>
            </a:r>
            <a:r>
              <a:rPr lang="en-US" sz="2000" b="0" u="none" strike="noStrike">
                <a:solidFill>
                  <a:srgbClr val="000000"/>
                </a:solidFill>
                <a:effectLst/>
                <a:uFillTx/>
                <a:latin typeface="Arial"/>
                <a:ea typeface="Arial"/>
              </a:rPr>
              <a:t> Insufficient time for reaction, tedium, lack of incentive for accuracy, inconsistent requirements or formats</a:t>
            </a:r>
            <a:endParaRPr lang="en-US" sz="2000" b="0" u="none" strike="noStrike">
              <a:solidFill>
                <a:srgbClr val="000000"/>
              </a:solidFill>
              <a:effectLst/>
              <a:uFillTx/>
              <a:latin typeface="Times New Roman"/>
            </a:endParaRPr>
          </a:p>
        </p:txBody>
      </p:sp>
      <p:sp>
        <p:nvSpPr>
          <p:cNvPr id="132" name="Text Box 6"/>
          <p:cNvSpPr/>
          <p:nvPr/>
        </p:nvSpPr>
        <p:spPr>
          <a:xfrm>
            <a:off x="457200" y="2514600"/>
            <a:ext cx="822960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FF0000"/>
                </a:solidFill>
                <a:effectLst/>
                <a:uFillTx/>
                <a:latin typeface="Arial"/>
                <a:ea typeface="Arial"/>
              </a:rPr>
              <a:t>3. Written instructions (10%):</a:t>
            </a:r>
            <a:r>
              <a:rPr lang="en-US" sz="2000" b="0" u="none" strike="noStrike">
                <a:solidFill>
                  <a:srgbClr val="000000"/>
                </a:solidFill>
                <a:effectLst/>
                <a:uFillTx/>
                <a:latin typeface="Arial"/>
                <a:ea typeface="Arial"/>
              </a:rPr>
              <a:t> Hard to understand, incomplete or inaccurate, not up to date, poorly organized</a:t>
            </a:r>
            <a:endParaRPr lang="en-US" sz="2000" b="0" u="none" strike="noStrike">
              <a:solidFill>
                <a:srgbClr val="000000"/>
              </a:solidFill>
              <a:effectLst/>
              <a:uFillTx/>
              <a:latin typeface="Times New Roman"/>
            </a:endParaRPr>
          </a:p>
        </p:txBody>
      </p:sp>
      <p:sp>
        <p:nvSpPr>
          <p:cNvPr id="133" name="Text Box 7"/>
          <p:cNvSpPr/>
          <p:nvPr/>
        </p:nvSpPr>
        <p:spPr>
          <a:xfrm>
            <a:off x="457200" y="3276360"/>
            <a:ext cx="8229600" cy="3985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FF0000"/>
                </a:solidFill>
                <a:effectLst/>
                <a:uFillTx/>
                <a:latin typeface="Arial"/>
                <a:ea typeface="Arial"/>
              </a:rPr>
              <a:t>4. Training (10%):</a:t>
            </a:r>
            <a:r>
              <a:rPr lang="en-US" sz="2000" b="0" u="none" strike="noStrike">
                <a:solidFill>
                  <a:srgbClr val="000000"/>
                </a:solidFill>
                <a:effectLst/>
                <a:uFillTx/>
                <a:latin typeface="Arial"/>
                <a:ea typeface="Arial"/>
              </a:rPr>
              <a:t> Insufficient, not customized to needs, not up to date</a:t>
            </a:r>
            <a:endParaRPr lang="en-US" sz="2000" b="0" u="none" strike="noStrike">
              <a:solidFill>
                <a:srgbClr val="000000"/>
              </a:solidFill>
              <a:effectLst/>
              <a:uFillTx/>
              <a:latin typeface="Times New Roman"/>
            </a:endParaRPr>
          </a:p>
        </p:txBody>
      </p:sp>
      <p:sp>
        <p:nvSpPr>
          <p:cNvPr id="134" name="Text Box 8"/>
          <p:cNvSpPr/>
          <p:nvPr/>
        </p:nvSpPr>
        <p:spPr>
          <a:xfrm>
            <a:off x="457200" y="3733560"/>
            <a:ext cx="822960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FF0000"/>
                </a:solidFill>
                <a:effectLst/>
                <a:uFillTx/>
                <a:latin typeface="Arial"/>
                <a:ea typeface="Arial"/>
              </a:rPr>
              <a:t>5. Human-computer interface (10%):</a:t>
            </a:r>
            <a:r>
              <a:rPr lang="en-US" sz="2000" b="0" u="none" strike="noStrike">
                <a:solidFill>
                  <a:srgbClr val="000000"/>
                </a:solidFill>
                <a:effectLst/>
                <a:uFillTx/>
                <a:latin typeface="Arial"/>
                <a:ea typeface="Arial"/>
              </a:rPr>
              <a:t> Poor display quality, fonts used, need to remember long codes, ergonomic factors</a:t>
            </a:r>
            <a:endParaRPr lang="en-US" sz="2000" b="0" u="none" strike="noStrike">
              <a:solidFill>
                <a:srgbClr val="000000"/>
              </a:solidFill>
              <a:effectLst/>
              <a:uFillTx/>
              <a:latin typeface="Times New Roman"/>
            </a:endParaRPr>
          </a:p>
        </p:txBody>
      </p:sp>
      <p:sp>
        <p:nvSpPr>
          <p:cNvPr id="135" name="Text Box 9"/>
          <p:cNvSpPr/>
          <p:nvPr/>
        </p:nvSpPr>
        <p:spPr>
          <a:xfrm>
            <a:off x="457200" y="4495680"/>
            <a:ext cx="8229600" cy="3985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FF0000"/>
                </a:solidFill>
                <a:effectLst/>
                <a:uFillTx/>
                <a:latin typeface="Arial"/>
                <a:ea typeface="Arial"/>
              </a:rPr>
              <a:t>6. Accuracy requirements (10%):</a:t>
            </a:r>
            <a:r>
              <a:rPr lang="en-US" sz="2000" b="0" u="none" strike="noStrike">
                <a:solidFill>
                  <a:srgbClr val="000000"/>
                </a:solidFill>
                <a:effectLst/>
                <a:uFillTx/>
                <a:latin typeface="Arial"/>
                <a:ea typeface="Arial"/>
              </a:rPr>
              <a:t> Too much expected of operator</a:t>
            </a:r>
            <a:endParaRPr lang="en-US" sz="2000" b="0" u="none" strike="noStrike">
              <a:solidFill>
                <a:srgbClr val="000000"/>
              </a:solidFill>
              <a:effectLst/>
              <a:uFillTx/>
              <a:latin typeface="Times New Roman"/>
            </a:endParaRPr>
          </a:p>
        </p:txBody>
      </p:sp>
      <p:sp>
        <p:nvSpPr>
          <p:cNvPr id="136" name="Text Box 10"/>
          <p:cNvSpPr/>
          <p:nvPr/>
        </p:nvSpPr>
        <p:spPr>
          <a:xfrm>
            <a:off x="457200" y="4952880"/>
            <a:ext cx="8229600" cy="3985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FF0000"/>
                </a:solidFill>
                <a:effectLst/>
                <a:uFillTx/>
                <a:latin typeface="Arial"/>
                <a:ea typeface="Arial"/>
              </a:rPr>
              <a:t>7. Environment (5%):</a:t>
            </a:r>
            <a:r>
              <a:rPr lang="en-US" sz="2000" b="0" u="none" strike="noStrike">
                <a:solidFill>
                  <a:srgbClr val="000000"/>
                </a:solidFill>
                <a:effectLst/>
                <a:uFillTx/>
                <a:latin typeface="Arial"/>
                <a:ea typeface="Arial"/>
              </a:rPr>
              <a:t> Lighting, temperature, humidity, noise</a:t>
            </a:r>
            <a:endParaRPr lang="en-US" sz="2000" b="0" u="none" strike="noStrike">
              <a:solidFill>
                <a:srgbClr val="000000"/>
              </a:solidFill>
              <a:effectLst/>
              <a:uFillTx/>
              <a:latin typeface="Times New Roman"/>
            </a:endParaRPr>
          </a:p>
        </p:txBody>
      </p:sp>
      <p:sp>
        <p:nvSpPr>
          <p:cNvPr id="137" name="Text Box 11"/>
          <p:cNvSpPr/>
          <p:nvPr/>
        </p:nvSpPr>
        <p:spPr>
          <a:xfrm>
            <a:off x="457200" y="5410080"/>
            <a:ext cx="8229600" cy="703080"/>
          </a:xfrm>
          <a:prstGeom prst="rect">
            <a:avLst/>
          </a:prstGeom>
          <a:solidFill>
            <a:srgbClr val="FFFF66"/>
          </a:solid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Because “the interface is the system” (according to a popular saying), items 2, 5, and 6 (40%) could be categorized under user interface</a:t>
            </a:r>
            <a:endParaRPr lang="en-US" sz="2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Slide Number Placeholder 6"/>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5EB866DA-B4FF-4C59-831B-FE51D24ABECB}"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pic>
        <p:nvPicPr>
          <p:cNvPr id="139" name="Picture 2" descr="Computer-Error-Funny-2"/>
          <p:cNvPicPr/>
          <p:nvPr/>
        </p:nvPicPr>
        <p:blipFill>
          <a:blip r:embed="rId1"/>
          <a:stretch/>
        </p:blipFill>
        <p:spPr>
          <a:xfrm>
            <a:off x="228600" y="3504960"/>
            <a:ext cx="8686800" cy="2465280"/>
          </a:xfrm>
          <a:prstGeom prst="rect">
            <a:avLst/>
          </a:prstGeom>
          <a:noFill/>
          <a:ln w="38160">
            <a:noFill/>
          </a:ln>
        </p:spPr>
      </p:pic>
      <p:pic>
        <p:nvPicPr>
          <p:cNvPr id="140" name="Picture 3" descr="wtf2"/>
          <p:cNvPicPr/>
          <p:nvPr/>
        </p:nvPicPr>
        <p:blipFill>
          <a:blip r:embed="rId2"/>
          <a:srcRect l="2254" t="10254" r="2706" b="6400"/>
          <a:stretch/>
        </p:blipFill>
        <p:spPr>
          <a:xfrm>
            <a:off x="228600" y="477720"/>
            <a:ext cx="8686800" cy="2682720"/>
          </a:xfrm>
          <a:prstGeom prst="rect">
            <a:avLst/>
          </a:prstGeom>
          <a:noFill/>
          <a:ln w="3816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Slide Number Placeholder 8"/>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AF8ACD28-C05E-4F69-947B-A8322AE69264}"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142"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143" name="PlaceHolder 1"/>
          <p:cNvSpPr>
            <a:spLocks noGrp="1"/>
          </p:cNvSpPr>
          <p:nvPr>
            <p:ph type="title"/>
          </p:nvPr>
        </p:nvSpPr>
        <p:spPr>
          <a:xfrm>
            <a:off x="228600" y="228240"/>
            <a:ext cx="8686800" cy="68580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ea typeface="Arial"/>
              </a:rPr>
              <a:t>Properties of a Good User Interface</a:t>
            </a:r>
            <a:endParaRPr lang="en-US" sz="3200" b="0" u="none" strike="noStrike">
              <a:solidFill>
                <a:srgbClr val="000000"/>
              </a:solidFill>
              <a:effectLst/>
              <a:uFillTx/>
              <a:latin typeface="Arial"/>
            </a:endParaRPr>
          </a:p>
        </p:txBody>
      </p:sp>
      <p:sp>
        <p:nvSpPr>
          <p:cNvPr id="144" name="Text Box 4"/>
          <p:cNvSpPr/>
          <p:nvPr/>
        </p:nvSpPr>
        <p:spPr>
          <a:xfrm>
            <a:off x="457200" y="990360"/>
            <a:ext cx="8229600" cy="3985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FF0000"/>
                </a:solidFill>
                <a:effectLst/>
                <a:uFillTx/>
                <a:latin typeface="Arial"/>
                <a:ea typeface="Arial"/>
              </a:rPr>
              <a:t>1. Simplicity: </a:t>
            </a:r>
            <a:r>
              <a:rPr lang="en-US" sz="2000" b="0" u="none" strike="noStrike">
                <a:solidFill>
                  <a:srgbClr val="000000"/>
                </a:solidFill>
                <a:effectLst/>
                <a:uFillTx/>
                <a:latin typeface="Arial"/>
                <a:ea typeface="Arial"/>
              </a:rPr>
              <a:t>Easy to use, clean and unencumbered look</a:t>
            </a:r>
            <a:endParaRPr lang="en-US" sz="2000" b="0" u="none" strike="noStrike">
              <a:solidFill>
                <a:srgbClr val="000000"/>
              </a:solidFill>
              <a:effectLst/>
              <a:uFillTx/>
              <a:latin typeface="Times New Roman"/>
            </a:endParaRPr>
          </a:p>
        </p:txBody>
      </p:sp>
      <p:sp>
        <p:nvSpPr>
          <p:cNvPr id="145" name="Text Box 5"/>
          <p:cNvSpPr/>
          <p:nvPr/>
        </p:nvSpPr>
        <p:spPr>
          <a:xfrm>
            <a:off x="457200" y="1447560"/>
            <a:ext cx="822960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FF0000"/>
                </a:solidFill>
                <a:effectLst/>
                <a:uFillTx/>
                <a:latin typeface="Arial"/>
                <a:ea typeface="Arial"/>
              </a:rPr>
              <a:t>2. Design for error:</a:t>
            </a:r>
            <a:r>
              <a:rPr lang="en-US" sz="2000" b="0" u="none" strike="noStrike">
                <a:solidFill>
                  <a:srgbClr val="000000"/>
                </a:solidFill>
                <a:effectLst/>
                <a:uFillTx/>
                <a:latin typeface="Arial"/>
                <a:ea typeface="Arial"/>
              </a:rPr>
              <a:t> Makes errors easy to prevent, detect, and reverse; asks for confirmation of critical actions</a:t>
            </a:r>
            <a:endParaRPr lang="en-US" sz="2000" b="0" u="none" strike="noStrike">
              <a:solidFill>
                <a:srgbClr val="000000"/>
              </a:solidFill>
              <a:effectLst/>
              <a:uFillTx/>
              <a:latin typeface="Times New Roman"/>
            </a:endParaRPr>
          </a:p>
        </p:txBody>
      </p:sp>
      <p:sp>
        <p:nvSpPr>
          <p:cNvPr id="146" name="Text Box 6"/>
          <p:cNvSpPr/>
          <p:nvPr/>
        </p:nvSpPr>
        <p:spPr>
          <a:xfrm>
            <a:off x="457200" y="2209680"/>
            <a:ext cx="822960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FF0000"/>
                </a:solidFill>
                <a:effectLst/>
                <a:uFillTx/>
                <a:latin typeface="Arial"/>
                <a:ea typeface="Arial"/>
              </a:rPr>
              <a:t>3. Visibility of system state:</a:t>
            </a:r>
            <a:r>
              <a:rPr lang="en-US" sz="2000" b="0" u="none" strike="noStrike">
                <a:solidFill>
                  <a:srgbClr val="000000"/>
                </a:solidFill>
                <a:effectLst/>
                <a:uFillTx/>
                <a:latin typeface="Arial"/>
                <a:ea typeface="Arial"/>
              </a:rPr>
              <a:t> Lets user know what is happening inside the system from looking at the interface</a:t>
            </a:r>
            <a:endParaRPr lang="en-US" sz="2000" b="0" u="none" strike="noStrike">
              <a:solidFill>
                <a:srgbClr val="000000"/>
              </a:solidFill>
              <a:effectLst/>
              <a:uFillTx/>
              <a:latin typeface="Times New Roman"/>
            </a:endParaRPr>
          </a:p>
        </p:txBody>
      </p:sp>
      <p:sp>
        <p:nvSpPr>
          <p:cNvPr id="147" name="Text Box 7"/>
          <p:cNvSpPr/>
          <p:nvPr/>
        </p:nvSpPr>
        <p:spPr>
          <a:xfrm>
            <a:off x="457200" y="2971800"/>
            <a:ext cx="822960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FF0000"/>
                </a:solidFill>
                <a:effectLst/>
                <a:uFillTx/>
                <a:latin typeface="Arial"/>
                <a:ea typeface="Arial"/>
              </a:rPr>
              <a:t>4. Use of familiar language:</a:t>
            </a:r>
            <a:r>
              <a:rPr lang="en-US" sz="2000" b="0" u="none" strike="noStrike">
                <a:solidFill>
                  <a:srgbClr val="000000"/>
                </a:solidFill>
                <a:effectLst/>
                <a:uFillTx/>
                <a:latin typeface="Arial"/>
                <a:ea typeface="Arial"/>
              </a:rPr>
              <a:t> Uses terms that are known to the user (there may be different classes of users, each with its own vocabulary)</a:t>
            </a:r>
            <a:endParaRPr lang="en-US" sz="2000" b="0" u="none" strike="noStrike">
              <a:solidFill>
                <a:srgbClr val="000000"/>
              </a:solidFill>
              <a:effectLst/>
              <a:uFillTx/>
              <a:latin typeface="Times New Roman"/>
            </a:endParaRPr>
          </a:p>
        </p:txBody>
      </p:sp>
      <p:sp>
        <p:nvSpPr>
          <p:cNvPr id="148" name="Text Box 8"/>
          <p:cNvSpPr/>
          <p:nvPr/>
        </p:nvSpPr>
        <p:spPr>
          <a:xfrm>
            <a:off x="457200" y="3733560"/>
            <a:ext cx="822960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FF0000"/>
                </a:solidFill>
                <a:effectLst/>
                <a:uFillTx/>
                <a:latin typeface="Arial"/>
                <a:ea typeface="Arial"/>
              </a:rPr>
              <a:t>5. Minimal reliance on human memory:</a:t>
            </a:r>
            <a:r>
              <a:rPr lang="en-US" sz="2000" b="0" u="none" strike="noStrike">
                <a:solidFill>
                  <a:srgbClr val="000000"/>
                </a:solidFill>
                <a:effectLst/>
                <a:uFillTx/>
                <a:latin typeface="Arial"/>
                <a:ea typeface="Arial"/>
              </a:rPr>
              <a:t> Shows critical info on screen; uses selection from a set of options whenever possible</a:t>
            </a:r>
            <a:endParaRPr lang="en-US" sz="2000" b="0" u="none" strike="noStrike">
              <a:solidFill>
                <a:srgbClr val="000000"/>
              </a:solidFill>
              <a:effectLst/>
              <a:uFillTx/>
              <a:latin typeface="Times New Roman"/>
            </a:endParaRPr>
          </a:p>
        </p:txBody>
      </p:sp>
      <p:sp>
        <p:nvSpPr>
          <p:cNvPr id="149" name="Text Box 9"/>
          <p:cNvSpPr/>
          <p:nvPr/>
        </p:nvSpPr>
        <p:spPr>
          <a:xfrm>
            <a:off x="457200" y="4495680"/>
            <a:ext cx="8229600" cy="3985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FF0000"/>
                </a:solidFill>
                <a:effectLst/>
                <a:uFillTx/>
                <a:latin typeface="Arial"/>
                <a:ea typeface="Arial"/>
              </a:rPr>
              <a:t>6. Frequent feedback:</a:t>
            </a:r>
            <a:r>
              <a:rPr lang="en-US" sz="2000" b="0" u="none" strike="noStrike">
                <a:solidFill>
                  <a:srgbClr val="000000"/>
                </a:solidFill>
                <a:effectLst/>
                <a:uFillTx/>
                <a:latin typeface="Arial"/>
                <a:ea typeface="Arial"/>
              </a:rPr>
              <a:t> Messages indicate consequences of actions</a:t>
            </a:r>
            <a:endParaRPr lang="en-US" sz="2000" b="0" u="none" strike="noStrike">
              <a:solidFill>
                <a:srgbClr val="000000"/>
              </a:solidFill>
              <a:effectLst/>
              <a:uFillTx/>
              <a:latin typeface="Times New Roman"/>
            </a:endParaRPr>
          </a:p>
        </p:txBody>
      </p:sp>
      <p:sp>
        <p:nvSpPr>
          <p:cNvPr id="150" name="Text Box 10"/>
          <p:cNvSpPr/>
          <p:nvPr/>
        </p:nvSpPr>
        <p:spPr>
          <a:xfrm>
            <a:off x="457200" y="4952880"/>
            <a:ext cx="8229600" cy="3985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FF0000"/>
                </a:solidFill>
                <a:effectLst/>
                <a:uFillTx/>
                <a:latin typeface="Arial"/>
                <a:ea typeface="Arial"/>
              </a:rPr>
              <a:t>7. Good error messages:</a:t>
            </a:r>
            <a:r>
              <a:rPr lang="en-US" sz="2000" b="0" u="none" strike="noStrike">
                <a:solidFill>
                  <a:srgbClr val="000000"/>
                </a:solidFill>
                <a:effectLst/>
                <a:uFillTx/>
                <a:latin typeface="Arial"/>
                <a:ea typeface="Arial"/>
              </a:rPr>
              <a:t> Descriptive, rather than cryptic</a:t>
            </a:r>
            <a:endParaRPr lang="en-US" sz="2000" b="0" u="none" strike="noStrike">
              <a:solidFill>
                <a:srgbClr val="000000"/>
              </a:solidFill>
              <a:effectLst/>
              <a:uFillTx/>
              <a:latin typeface="Times New Roman"/>
            </a:endParaRPr>
          </a:p>
        </p:txBody>
      </p:sp>
      <p:sp>
        <p:nvSpPr>
          <p:cNvPr id="151" name="Text Box 11"/>
          <p:cNvSpPr/>
          <p:nvPr/>
        </p:nvSpPr>
        <p:spPr>
          <a:xfrm>
            <a:off x="457200" y="5410080"/>
            <a:ext cx="822960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FF0000"/>
                </a:solidFill>
                <a:effectLst/>
                <a:uFillTx/>
                <a:latin typeface="Arial"/>
                <a:ea typeface="Arial"/>
              </a:rPr>
              <a:t>8. Consistency:</a:t>
            </a:r>
            <a:r>
              <a:rPr lang="en-US" sz="2000" b="0" u="none" strike="noStrike">
                <a:solidFill>
                  <a:srgbClr val="000000"/>
                </a:solidFill>
                <a:effectLst/>
                <a:uFillTx/>
                <a:latin typeface="Arial"/>
                <a:ea typeface="Arial"/>
              </a:rPr>
              <a:t> Similar/different actions produce similar/different results and are encoded with similar/different colors and shapes</a:t>
            </a:r>
            <a:endParaRPr lang="en-US" sz="2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Slide Number Placeholder 6"/>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6F045DC2-523A-4D7E-8F68-D462588317A0}"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153"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154" name="PlaceHolder 1"/>
          <p:cNvSpPr>
            <a:spLocks noGrp="1"/>
          </p:cNvSpPr>
          <p:nvPr>
            <p:ph type="title"/>
          </p:nvPr>
        </p:nvSpPr>
        <p:spPr>
          <a:xfrm>
            <a:off x="685800" y="228240"/>
            <a:ext cx="7772400" cy="68580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ea typeface="Arial"/>
              </a:rPr>
              <a:t>How We Benefit from Failures</a:t>
            </a:r>
            <a:endParaRPr lang="en-US" sz="3200" b="0" u="none" strike="noStrike">
              <a:solidFill>
                <a:srgbClr val="000000"/>
              </a:solidFill>
              <a:effectLst/>
              <a:uFillTx/>
              <a:latin typeface="Arial"/>
            </a:endParaRPr>
          </a:p>
        </p:txBody>
      </p:sp>
      <p:sp>
        <p:nvSpPr>
          <p:cNvPr id="155" name="Text Box 4"/>
          <p:cNvSpPr/>
          <p:nvPr/>
        </p:nvSpPr>
        <p:spPr>
          <a:xfrm>
            <a:off x="1066680" y="3200400"/>
            <a:ext cx="7238880" cy="274284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68580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Arial"/>
                <a:ea typeface="Arial"/>
              </a:rPr>
              <a:t>“When a complex system succeeds, that success masks its proximity to failure.  . . .  Thus, the failure of the </a:t>
            </a:r>
            <a:r>
              <a:rPr lang="en-US" sz="2400" b="0" i="1" u="none" strike="noStrike">
                <a:solidFill>
                  <a:srgbClr val="000000"/>
                </a:solidFill>
                <a:effectLst/>
                <a:uFillTx/>
                <a:latin typeface="Arial"/>
                <a:ea typeface="Arial"/>
              </a:rPr>
              <a:t>Titanic</a:t>
            </a:r>
            <a:r>
              <a:rPr lang="en-US" sz="2400" b="0" u="none" strike="noStrike">
                <a:solidFill>
                  <a:srgbClr val="000000"/>
                </a:solidFill>
                <a:effectLst/>
                <a:uFillTx/>
                <a:latin typeface="Arial"/>
                <a:ea typeface="Arial"/>
              </a:rPr>
              <a:t> contributed much more to the design of safe ocean liners than would have her success. That is the paradox of engineering and design.”</a:t>
            </a:r>
            <a:endParaRPr lang="en-US" sz="2400" b="0" u="none" strike="noStrike">
              <a:solidFill>
                <a:srgbClr val="000000"/>
              </a:solidFill>
              <a:effectLst/>
              <a:uFillTx/>
              <a:latin typeface="Times New Roman"/>
            </a:endParaRPr>
          </a:p>
          <a:p>
            <a:pPr>
              <a:lnSpc>
                <a:spcPct val="100000"/>
              </a:lnSpc>
              <a:tabLst>
                <a:tab pos="0" algn="l"/>
                <a:tab pos="68580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b="0" u="none" strike="noStrike">
              <a:solidFill>
                <a:srgbClr val="000000"/>
              </a:solidFill>
              <a:effectLst/>
              <a:uFillTx/>
              <a:latin typeface="Times New Roman"/>
            </a:endParaRPr>
          </a:p>
          <a:p>
            <a:pPr>
              <a:lnSpc>
                <a:spcPct val="100000"/>
              </a:lnSpc>
              <a:tabLst>
                <a:tab pos="0" algn="l"/>
                <a:tab pos="68580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Henry Petroski, </a:t>
            </a:r>
            <a:r>
              <a:rPr lang="en-US" sz="2000" b="0" i="1" u="none" strike="noStrike">
                <a:solidFill>
                  <a:srgbClr val="000000"/>
                </a:solidFill>
                <a:effectLst/>
                <a:uFillTx/>
                <a:latin typeface="Arial"/>
                <a:ea typeface="Arial"/>
              </a:rPr>
              <a:t>Success through Failure: The Paradox </a:t>
            </a:r>
            <a:endParaRPr lang="en-US" sz="2000" b="0" u="none" strike="noStrike">
              <a:solidFill>
                <a:srgbClr val="000000"/>
              </a:solidFill>
              <a:effectLst/>
              <a:uFillTx/>
              <a:latin typeface="Times New Roman"/>
            </a:endParaRPr>
          </a:p>
          <a:p>
            <a:pPr>
              <a:lnSpc>
                <a:spcPct val="100000"/>
              </a:lnSpc>
              <a:tabLst>
                <a:tab pos="0" algn="l"/>
                <a:tab pos="68580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ea typeface="Arial"/>
              </a:rPr>
              <a:t>	</a:t>
            </a:r>
            <a:r>
              <a:rPr lang="en-US" sz="2000" b="0" i="1" u="none" strike="noStrike">
                <a:solidFill>
                  <a:srgbClr val="000000"/>
                </a:solidFill>
                <a:effectLst/>
                <a:uFillTx/>
                <a:latin typeface="Arial"/>
                <a:ea typeface="Arial"/>
              </a:rPr>
              <a:t>of Design</a:t>
            </a:r>
            <a:r>
              <a:rPr lang="en-US" sz="2000" b="0" u="none" strike="noStrike">
                <a:solidFill>
                  <a:srgbClr val="000000"/>
                </a:solidFill>
                <a:effectLst/>
                <a:uFillTx/>
                <a:latin typeface="Arial"/>
                <a:ea typeface="Arial"/>
              </a:rPr>
              <a:t>, Princeton U. Press, 2006, p. 95 </a:t>
            </a:r>
            <a:endParaRPr lang="en-US" sz="2000" b="0" u="none" strike="noStrike">
              <a:solidFill>
                <a:srgbClr val="000000"/>
              </a:solidFill>
              <a:effectLst/>
              <a:uFillTx/>
              <a:latin typeface="Times New Roman"/>
            </a:endParaRPr>
          </a:p>
        </p:txBody>
      </p:sp>
      <p:grpSp>
        <p:nvGrpSpPr>
          <p:cNvPr id="156" name="Group 5"/>
          <p:cNvGrpSpPr/>
          <p:nvPr/>
        </p:nvGrpSpPr>
        <p:grpSpPr>
          <a:xfrm>
            <a:off x="457200" y="1066680"/>
            <a:ext cx="8234280" cy="2058840"/>
            <a:chOff x="457200" y="1066680"/>
            <a:chExt cx="8234280" cy="2058840"/>
          </a:xfrm>
        </p:grpSpPr>
        <p:pic>
          <p:nvPicPr>
            <p:cNvPr id="157" name="Picture 6" descr="image"/>
            <p:cNvPicPr/>
            <p:nvPr/>
          </p:nvPicPr>
          <p:blipFill>
            <a:blip r:embed="rId1"/>
            <a:stretch/>
          </p:blipFill>
          <p:spPr>
            <a:xfrm>
              <a:off x="2971800" y="1066680"/>
              <a:ext cx="2504880" cy="2058840"/>
            </a:xfrm>
            <a:prstGeom prst="rect">
              <a:avLst/>
            </a:prstGeom>
            <a:noFill/>
            <a:ln w="38160">
              <a:noFill/>
            </a:ln>
          </p:spPr>
        </p:pic>
        <p:pic>
          <p:nvPicPr>
            <p:cNvPr id="158" name="Picture 7" descr="titanicsinking"/>
            <p:cNvPicPr/>
            <p:nvPr/>
          </p:nvPicPr>
          <p:blipFill>
            <a:blip r:embed="rId2"/>
            <a:srcRect l="0" t="0" r="0" b="7805"/>
            <a:stretch/>
          </p:blipFill>
          <p:spPr>
            <a:xfrm>
              <a:off x="457200" y="1066680"/>
              <a:ext cx="2361960" cy="2058840"/>
            </a:xfrm>
            <a:prstGeom prst="rect">
              <a:avLst/>
            </a:prstGeom>
            <a:noFill/>
            <a:ln w="38160">
              <a:noFill/>
            </a:ln>
          </p:spPr>
        </p:pic>
        <p:pic>
          <p:nvPicPr>
            <p:cNvPr id="159" name="Picture 8" descr="Aerial view of the damaged train"/>
            <p:cNvPicPr/>
            <p:nvPr/>
          </p:nvPicPr>
          <p:blipFill>
            <a:blip r:embed="rId3"/>
            <a:srcRect l="0" t="0" r="9230" b="15357"/>
            <a:stretch/>
          </p:blipFill>
          <p:spPr>
            <a:xfrm>
              <a:off x="5638680" y="1066680"/>
              <a:ext cx="3052800" cy="2054160"/>
            </a:xfrm>
            <a:prstGeom prst="rect">
              <a:avLst/>
            </a:prstGeom>
            <a:noFill/>
            <a:ln w="38160">
              <a:noFill/>
            </a:ln>
          </p:spPr>
        </p:pic>
      </p:grpSp>
      <p:sp>
        <p:nvSpPr>
          <p:cNvPr id="160" name="Text Box 9"/>
          <p:cNvSpPr/>
          <p:nvPr/>
        </p:nvSpPr>
        <p:spPr>
          <a:xfrm>
            <a:off x="3735000" y="1066680"/>
            <a:ext cx="631800" cy="33768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u="none" strike="noStrike">
                <a:solidFill>
                  <a:srgbClr val="000000"/>
                </a:solidFill>
                <a:effectLst/>
                <a:uFillTx/>
                <a:latin typeface="Arial"/>
                <a:ea typeface="Arial"/>
              </a:rPr>
              <a:t>1940</a:t>
            </a:r>
            <a:endParaRPr lang="en-US" sz="1600" b="0" u="none" strike="noStrike">
              <a:solidFill>
                <a:srgbClr val="000000"/>
              </a:solidFill>
              <a:effectLst/>
              <a:uFillTx/>
              <a:latin typeface="Times New Roman"/>
            </a:endParaRPr>
          </a:p>
        </p:txBody>
      </p:sp>
      <p:sp>
        <p:nvSpPr>
          <p:cNvPr id="161" name="Text Box 10"/>
          <p:cNvSpPr/>
          <p:nvPr/>
        </p:nvSpPr>
        <p:spPr>
          <a:xfrm>
            <a:off x="7697520" y="1066680"/>
            <a:ext cx="631800" cy="33768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u="none" strike="noStrike">
                <a:solidFill>
                  <a:srgbClr val="FFFF66"/>
                </a:solidFill>
                <a:effectLst/>
                <a:uFillTx/>
                <a:latin typeface="Arial"/>
                <a:ea typeface="Arial"/>
              </a:rPr>
              <a:t>2006</a:t>
            </a:r>
            <a:endParaRPr lang="en-US" sz="1600" b="0" u="none" strike="noStrike">
              <a:solidFill>
                <a:srgbClr val="000000"/>
              </a:solidFill>
              <a:effectLst/>
              <a:uFillTx/>
              <a:latin typeface="Times New Roman"/>
            </a:endParaRPr>
          </a:p>
        </p:txBody>
      </p:sp>
      <p:sp>
        <p:nvSpPr>
          <p:cNvPr id="162" name="Text Box 11"/>
          <p:cNvSpPr/>
          <p:nvPr/>
        </p:nvSpPr>
        <p:spPr>
          <a:xfrm>
            <a:off x="1830240" y="1066680"/>
            <a:ext cx="631800" cy="33768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u="none" strike="noStrike">
                <a:solidFill>
                  <a:srgbClr val="000000"/>
                </a:solidFill>
                <a:effectLst/>
                <a:uFillTx/>
                <a:latin typeface="Arial"/>
                <a:ea typeface="Arial"/>
              </a:rPr>
              <a:t>1912</a:t>
            </a:r>
            <a:endParaRPr lang="en-US" sz="16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Slide Number Placeholder 5"/>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35C75817-05C8-4B86-BECF-A62939375556}"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164"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165" name="PlaceHolder 1"/>
          <p:cNvSpPr>
            <a:spLocks noGrp="1"/>
          </p:cNvSpPr>
          <p:nvPr>
            <p:ph type="title"/>
          </p:nvPr>
        </p:nvSpPr>
        <p:spPr>
          <a:xfrm>
            <a:off x="228600" y="228600"/>
            <a:ext cx="8610480" cy="76176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ea typeface="Arial"/>
              </a:rPr>
              <a:t>Take-Home Survey Form: Due Next Class</a:t>
            </a:r>
            <a:endParaRPr lang="en-US" sz="3200" b="0" u="none" strike="noStrike">
              <a:solidFill>
                <a:srgbClr val="000000"/>
              </a:solidFill>
              <a:effectLst/>
              <a:uFillTx/>
              <a:latin typeface="Arial"/>
            </a:endParaRPr>
          </a:p>
        </p:txBody>
      </p:sp>
      <p:sp>
        <p:nvSpPr>
          <p:cNvPr id="166" name="Text Box 4"/>
          <p:cNvSpPr/>
          <p:nvPr/>
        </p:nvSpPr>
        <p:spPr>
          <a:xfrm>
            <a:off x="457200" y="1981080"/>
            <a:ext cx="8381880" cy="3985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Main reason for taking this course</a:t>
            </a:r>
            <a:endParaRPr lang="en-US" sz="2000" b="0" u="none" strike="noStrike">
              <a:solidFill>
                <a:srgbClr val="000000"/>
              </a:solidFill>
              <a:effectLst/>
              <a:uFillTx/>
              <a:latin typeface="Times New Roman"/>
            </a:endParaRPr>
          </a:p>
        </p:txBody>
      </p:sp>
      <p:sp>
        <p:nvSpPr>
          <p:cNvPr id="167" name="Text Box 7"/>
          <p:cNvSpPr/>
          <p:nvPr/>
        </p:nvSpPr>
        <p:spPr>
          <a:xfrm>
            <a:off x="457200" y="3038400"/>
            <a:ext cx="8229600" cy="3985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Your expectation </a:t>
            </a:r>
            <a:r>
              <a:rPr lang="en-US" sz="2000" b="0" u="none" strike="noStrike">
                <a:solidFill>
                  <a:srgbClr val="000000"/>
                </a:solidFill>
                <a:effectLst/>
                <a:uFillTx/>
                <a:latin typeface="Arial"/>
                <a:ea typeface="宋体"/>
              </a:rPr>
              <a:t>regarding this course</a:t>
            </a:r>
            <a:endParaRPr lang="en-US" sz="2000" b="0" u="none" strike="noStrike">
              <a:solidFill>
                <a:srgbClr val="000000"/>
              </a:solidFill>
              <a:effectLst/>
              <a:uFillTx/>
              <a:latin typeface="Times New Roman"/>
            </a:endParaRPr>
          </a:p>
        </p:txBody>
      </p:sp>
      <p:sp>
        <p:nvSpPr>
          <p:cNvPr id="168" name="Text Box 8"/>
          <p:cNvSpPr/>
          <p:nvPr/>
        </p:nvSpPr>
        <p:spPr>
          <a:xfrm>
            <a:off x="457200" y="1285560"/>
            <a:ext cx="8229600" cy="3985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Personal and contact info:</a:t>
            </a:r>
            <a:r>
              <a:rPr lang="en-US" sz="2000" b="0" u="none" strike="noStrike">
                <a:solidFill>
                  <a:srgbClr val="FF0000"/>
                </a:solidFill>
                <a:effectLst/>
                <a:uFillTx/>
                <a:latin typeface="Arial"/>
                <a:ea typeface="Arial"/>
              </a:rPr>
              <a:t> </a:t>
            </a:r>
            <a:r>
              <a:rPr lang="en-US" sz="2000" b="0" u="none" strike="noStrike">
                <a:solidFill>
                  <a:srgbClr val="0033CC"/>
                </a:solidFill>
                <a:effectLst/>
                <a:uFillTx/>
                <a:latin typeface="Arial"/>
                <a:ea typeface="Arial"/>
              </a:rPr>
              <a:t>Name, e-mail address, institutions, advisor</a:t>
            </a:r>
            <a:endParaRPr lang="en-US" sz="2000" b="0" u="none" strike="noStrike">
              <a:solidFill>
                <a:srgbClr val="000000"/>
              </a:solidFill>
              <a:effectLst/>
              <a:uFillTx/>
              <a:latin typeface="Times New Roman"/>
            </a:endParaRPr>
          </a:p>
        </p:txBody>
      </p:sp>
      <p:sp>
        <p:nvSpPr>
          <p:cNvPr id="169" name="Text Box 9"/>
          <p:cNvSpPr/>
          <p:nvPr/>
        </p:nvSpPr>
        <p:spPr>
          <a:xfrm>
            <a:off x="685800" y="2438280"/>
            <a:ext cx="8076960" cy="3985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FF0000"/>
                </a:solidFill>
                <a:effectLst/>
                <a:uFillTx/>
                <a:latin typeface="Arial"/>
                <a:ea typeface="Arial"/>
              </a:rPr>
              <a:t>e.g.: interest, advisor’s suggestion, have to (not enough grad courses)</a:t>
            </a:r>
            <a:endParaRPr lang="en-US" sz="2000" b="0" u="none" strike="noStrike">
              <a:solidFill>
                <a:srgbClr val="000000"/>
              </a:solidFill>
              <a:effectLst/>
              <a:uFillTx/>
              <a:latin typeface="Times New Roman"/>
            </a:endParaRPr>
          </a:p>
        </p:txBody>
      </p:sp>
      <p:sp>
        <p:nvSpPr>
          <p:cNvPr id="170" name="Text Box 10"/>
          <p:cNvSpPr/>
          <p:nvPr/>
        </p:nvSpPr>
        <p:spPr>
          <a:xfrm>
            <a:off x="685800" y="3533760"/>
            <a:ext cx="8076960" cy="3985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FF0000"/>
                </a:solidFill>
                <a:effectLst/>
                <a:uFillTx/>
                <a:latin typeface="Arial"/>
                <a:ea typeface="Arial"/>
              </a:rPr>
              <a:t>e.g.: Specific Techniques, Research Hints</a:t>
            </a:r>
            <a:endParaRPr lang="en-US" sz="2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Slide Number Placeholder 5"/>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7F9CC15C-88C3-4385-8453-71588C5B0BFC}"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172" name="PlaceHolder 1"/>
          <p:cNvSpPr>
            <a:spLocks noGrp="1"/>
          </p:cNvSpPr>
          <p:nvPr>
            <p:ph type="title"/>
          </p:nvPr>
        </p:nvSpPr>
        <p:spPr>
          <a:xfrm>
            <a:off x="304200" y="228240"/>
            <a:ext cx="8534520" cy="106668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1" u="none" strike="noStrike">
                <a:solidFill>
                  <a:srgbClr val="0033CC"/>
                </a:solidFill>
                <a:effectLst/>
                <a:uFillTx/>
                <a:latin typeface="Arial"/>
                <a:ea typeface="Arial"/>
              </a:rPr>
              <a:t>1  Background and Motivation</a:t>
            </a:r>
            <a:endParaRPr lang="en-US" sz="4400" b="0" u="none" strike="noStrike">
              <a:solidFill>
                <a:srgbClr val="000000"/>
              </a:solidFill>
              <a:effectLst/>
              <a:uFillTx/>
              <a:latin typeface="Arial"/>
            </a:endParaRPr>
          </a:p>
        </p:txBody>
      </p:sp>
      <p:pic>
        <p:nvPicPr>
          <p:cNvPr id="173" name="Picture 3" descr="invtrain"/>
          <p:cNvPicPr/>
          <p:nvPr/>
        </p:nvPicPr>
        <p:blipFill>
          <a:blip r:embed="rId1"/>
          <a:srcRect l="0" t="0" r="0" b="12000"/>
          <a:stretch/>
        </p:blipFill>
        <p:spPr>
          <a:xfrm>
            <a:off x="1066680" y="1447560"/>
            <a:ext cx="7010280" cy="4578480"/>
          </a:xfrm>
          <a:prstGeom prst="rect">
            <a:avLst/>
          </a:prstGeom>
          <a:noFill/>
          <a:ln w="38160">
            <a:noFill/>
          </a:ln>
        </p:spPr>
      </p:pic>
      <p:sp>
        <p:nvSpPr>
          <p:cNvPr id="174" name="Rectangle 4"/>
          <p:cNvSpPr/>
          <p:nvPr/>
        </p:nvSpPr>
        <p:spPr>
          <a:xfrm>
            <a:off x="1066680" y="1447560"/>
            <a:ext cx="7010280" cy="4572000"/>
          </a:xfrm>
          <a:prstGeom prst="rect">
            <a:avLst/>
          </a:prstGeom>
          <a:noFill/>
          <a:ln w="9360">
            <a:solidFill>
              <a:srgbClr val="000000"/>
            </a:solidFill>
            <a:miter/>
          </a:ln>
        </p:spPr>
        <p:style>
          <a:lnRef idx="0"/>
          <a:fillRef idx="0"/>
          <a:effectRef idx="0"/>
          <a:fontRef idx="minor"/>
        </p:style>
        <p:txBody>
          <a:bodyPr lIns="90000" tIns="46800" rIns="90000" bIns="46800" anchor="t">
            <a:norm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Slide Number Placeholder 6"/>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BDFB13E2-7259-405C-BA1F-5F6C9B945783}"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pic>
        <p:nvPicPr>
          <p:cNvPr id="176" name="Picture 3" descr="Contents-at-a-Glance"/>
          <p:cNvPicPr/>
          <p:nvPr/>
        </p:nvPicPr>
        <p:blipFill>
          <a:blip r:embed="rId1"/>
          <a:stretch/>
        </p:blipFill>
        <p:spPr>
          <a:xfrm>
            <a:off x="533160" y="152280"/>
            <a:ext cx="5234040" cy="6019920"/>
          </a:xfrm>
          <a:prstGeom prst="rect">
            <a:avLst/>
          </a:prstGeom>
          <a:noFill/>
          <a:ln w="38160">
            <a:noFill/>
          </a:ln>
        </p:spPr>
      </p:pic>
      <p:pic>
        <p:nvPicPr>
          <p:cNvPr id="177" name="Picture 5" descr="f33-book-depend-multilevel-model"/>
          <p:cNvPicPr/>
          <p:nvPr/>
        </p:nvPicPr>
        <p:blipFill>
          <a:blip r:embed="rId2"/>
          <a:stretch/>
        </p:blipFill>
        <p:spPr>
          <a:xfrm>
            <a:off x="6172200" y="609480"/>
            <a:ext cx="2438280" cy="5257800"/>
          </a:xfrm>
          <a:prstGeom prst="rect">
            <a:avLst/>
          </a:prstGeom>
          <a:noFill/>
          <a:ln w="38160">
            <a:noFill/>
          </a:ln>
        </p:spPr>
      </p:pic>
      <p:sp>
        <p:nvSpPr>
          <p:cNvPr id="178" name="Rectangle 8"/>
          <p:cNvSpPr/>
          <p:nvPr/>
        </p:nvSpPr>
        <p:spPr>
          <a:xfrm>
            <a:off x="533160" y="428400"/>
            <a:ext cx="5229360" cy="762120"/>
          </a:xfrm>
          <a:prstGeom prst="rect">
            <a:avLst/>
          </a:prstGeom>
          <a:noFill/>
          <a:ln w="101520">
            <a:solidFill>
              <a:srgbClr val="66FF66"/>
            </a:solidFill>
            <a:miter/>
          </a:ln>
        </p:spPr>
        <p:style>
          <a:lnRef idx="0"/>
          <a:fillRef idx="0"/>
          <a:effectRef idx="0"/>
          <a:fontRef idx="minor"/>
        </p:style>
        <p:txBody>
          <a:bodyPr wrap="none"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 name="Slide Number Placeholder 8"/>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0E114CC9-9CBD-45FD-907D-242AAFB74B18}"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180"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181" name="PlaceHolder 1"/>
          <p:cNvSpPr>
            <a:spLocks noGrp="1"/>
          </p:cNvSpPr>
          <p:nvPr>
            <p:ph type="title"/>
          </p:nvPr>
        </p:nvSpPr>
        <p:spPr>
          <a:xfrm>
            <a:off x="228600" y="228240"/>
            <a:ext cx="8686800" cy="68580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000000"/>
                </a:solidFill>
                <a:effectLst/>
                <a:uFillTx/>
                <a:latin typeface="Arial"/>
                <a:ea typeface="Arial"/>
              </a:rPr>
              <a:t>1.1  The Need for Dependability</a:t>
            </a:r>
            <a:endParaRPr lang="en-US" sz="3600" b="0" u="none" strike="noStrike">
              <a:solidFill>
                <a:srgbClr val="000000"/>
              </a:solidFill>
              <a:effectLst/>
              <a:uFillTx/>
              <a:latin typeface="Arial"/>
            </a:endParaRPr>
          </a:p>
        </p:txBody>
      </p:sp>
      <p:sp>
        <p:nvSpPr>
          <p:cNvPr id="182" name="Text Box 4"/>
          <p:cNvSpPr/>
          <p:nvPr/>
        </p:nvSpPr>
        <p:spPr>
          <a:xfrm>
            <a:off x="533160" y="990360"/>
            <a:ext cx="8305920" cy="367920"/>
          </a:xfrm>
          <a:prstGeom prst="rect">
            <a:avLst/>
          </a:prstGeom>
          <a:noFill/>
          <a:ln w="38160">
            <a:noFill/>
          </a:ln>
        </p:spPr>
        <p:style>
          <a:lnRef idx="0"/>
          <a:fillRef idx="0"/>
          <a:effectRef idx="0"/>
          <a:fontRef idx="minor"/>
        </p:style>
        <p:txBody>
          <a:bodyPr lIns="90000" tIns="46800" rIns="90000" bIns="46800" anchor="t">
            <a:spAutoFit/>
          </a:bodyPr>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33CC"/>
                </a:solidFill>
                <a:effectLst/>
                <a:uFillTx/>
                <a:latin typeface="Arial"/>
                <a:ea typeface="Arial"/>
              </a:rPr>
              <a:t>Hardware problems</a:t>
            </a:r>
            <a:endParaRPr lang="en-US" sz="2000" b="0" u="none" strike="noStrike">
              <a:solidFill>
                <a:srgbClr val="000000"/>
              </a:solidFill>
              <a:effectLst/>
              <a:uFillTx/>
              <a:latin typeface="Times New Roman"/>
            </a:endParaRPr>
          </a:p>
        </p:txBody>
      </p:sp>
      <p:sp>
        <p:nvSpPr>
          <p:cNvPr id="183" name="Text Box 5"/>
          <p:cNvSpPr/>
          <p:nvPr/>
        </p:nvSpPr>
        <p:spPr>
          <a:xfrm>
            <a:off x="533160" y="1295280"/>
            <a:ext cx="8305920" cy="915840"/>
          </a:xfrm>
          <a:prstGeom prst="rect">
            <a:avLst/>
          </a:prstGeom>
          <a:noFill/>
          <a:ln w="38160">
            <a:noFill/>
          </a:ln>
        </p:spPr>
        <p:style>
          <a:lnRef idx="0"/>
          <a:fillRef idx="0"/>
          <a:effectRef idx="0"/>
          <a:fontRef idx="minor"/>
        </p:style>
        <p:txBody>
          <a:bodyPr lIns="90000" tIns="46800" rIns="90000" bIns="46800" anchor="t">
            <a:spAutoFit/>
          </a:bodyPr>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Permanent</a:t>
            </a:r>
            <a:r>
              <a:rPr lang="en-US" sz="2000" b="0" u="none" strike="noStrike">
                <a:solidFill>
                  <a:srgbClr val="000000"/>
                </a:solidFill>
                <a:effectLst/>
                <a:uFillTx/>
                <a:latin typeface="Arial"/>
                <a:ea typeface="Arial"/>
              </a:rPr>
              <a:t> incapacitation due to shock, overheating, voltage spike</a:t>
            </a:r>
            <a:endParaRPr lang="en-US" sz="2000" b="0" u="none" strike="noStrike">
              <a:solidFill>
                <a:srgbClr val="000000"/>
              </a:solidFill>
              <a:effectLst/>
              <a:uFillTx/>
              <a:latin typeface="Times New Roman"/>
            </a:endParaRPr>
          </a:p>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Intermittent</a:t>
            </a:r>
            <a:r>
              <a:rPr lang="en-US" sz="2000" b="0" u="none" strike="noStrike">
                <a:solidFill>
                  <a:srgbClr val="000000"/>
                </a:solidFill>
                <a:effectLst/>
                <a:uFillTx/>
                <a:latin typeface="Arial"/>
                <a:ea typeface="Arial"/>
              </a:rPr>
              <a:t> failure due to overload, timing irregularities, crosstalk</a:t>
            </a:r>
            <a:endParaRPr lang="en-US" sz="2000" b="0" u="none" strike="noStrike">
              <a:solidFill>
                <a:srgbClr val="000000"/>
              </a:solidFill>
              <a:effectLst/>
              <a:uFillTx/>
              <a:latin typeface="Times New Roman"/>
            </a:endParaRPr>
          </a:p>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Transient</a:t>
            </a:r>
            <a:r>
              <a:rPr lang="en-US" sz="2000" b="0" u="none" strike="noStrike">
                <a:solidFill>
                  <a:srgbClr val="000000"/>
                </a:solidFill>
                <a:effectLst/>
                <a:uFillTx/>
                <a:latin typeface="Arial"/>
                <a:ea typeface="Arial"/>
              </a:rPr>
              <a:t> signal deviation due to alpha particles, external interference</a:t>
            </a:r>
            <a:endParaRPr lang="en-US" sz="2000" b="0" u="none" strike="noStrike">
              <a:solidFill>
                <a:srgbClr val="000000"/>
              </a:solidFill>
              <a:effectLst/>
              <a:uFillTx/>
              <a:latin typeface="Times New Roman"/>
            </a:endParaRPr>
          </a:p>
        </p:txBody>
      </p:sp>
      <p:grpSp>
        <p:nvGrpSpPr>
          <p:cNvPr id="184" name="Group 6"/>
          <p:cNvGrpSpPr/>
          <p:nvPr/>
        </p:nvGrpSpPr>
        <p:grpSpPr>
          <a:xfrm>
            <a:off x="533160" y="2286000"/>
            <a:ext cx="8305920" cy="1220760"/>
            <a:chOff x="533160" y="2286000"/>
            <a:chExt cx="8305920" cy="1220760"/>
          </a:xfrm>
        </p:grpSpPr>
        <p:sp>
          <p:nvSpPr>
            <p:cNvPr id="185" name="Text Box 7"/>
            <p:cNvSpPr/>
            <p:nvPr/>
          </p:nvSpPr>
          <p:spPr>
            <a:xfrm>
              <a:off x="533160" y="2286000"/>
              <a:ext cx="8305920" cy="367920"/>
            </a:xfrm>
            <a:prstGeom prst="rect">
              <a:avLst/>
            </a:prstGeom>
            <a:noFill/>
            <a:ln w="38160">
              <a:noFill/>
            </a:ln>
          </p:spPr>
          <p:style>
            <a:lnRef idx="0"/>
            <a:fillRef idx="0"/>
            <a:effectRef idx="0"/>
            <a:fontRef idx="minor"/>
          </p:style>
          <p:txBody>
            <a:bodyPr lIns="90000" tIns="46800" rIns="90000" bIns="46800" anchor="t">
              <a:spAutoFit/>
            </a:bodyPr>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33CC"/>
                  </a:solidFill>
                  <a:effectLst/>
                  <a:uFillTx/>
                  <a:latin typeface="Arial"/>
                  <a:ea typeface="Arial"/>
                </a:rPr>
                <a:t>Software problems</a:t>
              </a:r>
              <a:endParaRPr lang="en-US" sz="2000" b="0" u="none" strike="noStrike">
                <a:solidFill>
                  <a:srgbClr val="000000"/>
                </a:solidFill>
                <a:effectLst/>
                <a:uFillTx/>
                <a:latin typeface="Times New Roman"/>
              </a:endParaRPr>
            </a:p>
          </p:txBody>
        </p:sp>
        <p:sp>
          <p:nvSpPr>
            <p:cNvPr id="186" name="Text Box 8"/>
            <p:cNvSpPr/>
            <p:nvPr/>
          </p:nvSpPr>
          <p:spPr>
            <a:xfrm>
              <a:off x="533160" y="2590920"/>
              <a:ext cx="8305920" cy="915840"/>
            </a:xfrm>
            <a:prstGeom prst="rect">
              <a:avLst/>
            </a:prstGeom>
            <a:noFill/>
            <a:ln w="38160">
              <a:noFill/>
            </a:ln>
          </p:spPr>
          <p:style>
            <a:lnRef idx="0"/>
            <a:fillRef idx="0"/>
            <a:effectRef idx="0"/>
            <a:fontRef idx="minor"/>
          </p:style>
          <p:txBody>
            <a:bodyPr lIns="90000" tIns="46800" rIns="90000" bIns="46800" anchor="t">
              <a:spAutoFit/>
            </a:bodyPr>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Counter or buffer overflow</a:t>
              </a:r>
              <a:endParaRPr lang="en-US" sz="2000" b="0" u="none" strike="noStrike">
                <a:solidFill>
                  <a:srgbClr val="000000"/>
                </a:solidFill>
                <a:effectLst/>
                <a:uFillTx/>
                <a:latin typeface="Times New Roman"/>
              </a:endParaRPr>
            </a:p>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Out-of-range, unreasonable, or unanticipated input</a:t>
              </a:r>
              <a:endParaRPr lang="en-US" sz="2000" b="0" u="none" strike="noStrike">
                <a:solidFill>
                  <a:srgbClr val="000000"/>
                </a:solidFill>
                <a:effectLst/>
                <a:uFillTx/>
                <a:latin typeface="Times New Roman"/>
              </a:endParaRPr>
            </a:p>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Unsatisfied loop termination condition</a:t>
              </a:r>
              <a:endParaRPr lang="en-US" sz="2000" b="0" u="none" strike="noStrike">
                <a:solidFill>
                  <a:srgbClr val="000000"/>
                </a:solidFill>
                <a:effectLst/>
                <a:uFillTx/>
                <a:latin typeface="Times New Roman"/>
              </a:endParaRPr>
            </a:p>
          </p:txBody>
        </p:sp>
      </p:grpSp>
      <p:sp>
        <p:nvSpPr>
          <p:cNvPr id="187" name="Text Box 9"/>
          <p:cNvSpPr/>
          <p:nvPr/>
        </p:nvSpPr>
        <p:spPr>
          <a:xfrm>
            <a:off x="609480" y="3581280"/>
            <a:ext cx="8001000" cy="1465560"/>
          </a:xfrm>
          <a:prstGeom prst="rect">
            <a:avLst/>
          </a:prstGeom>
          <a:solidFill>
            <a:srgbClr val="FFFF66"/>
          </a:solid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Dec. 2004: “Comair runs a 15-year old scheduling software package from SBS International (www.sbsint.com). The software has a hard limit of 32,000 schedule changes per month. With all of the bad weather last week, Comair apparently hit this limit and then was unable to assign pilots to planes.” </a:t>
            </a:r>
            <a:endParaRPr lang="en-US" sz="18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8000"/>
                </a:solidFill>
                <a:effectLst/>
                <a:uFillTx/>
                <a:latin typeface="Arial"/>
                <a:ea typeface="Arial"/>
              </a:rPr>
              <a:t>It appears that they were using a 16-bit integer format to hold the count.</a:t>
            </a:r>
            <a:endParaRPr lang="en-US" sz="1800" b="0" u="none" strike="noStrike">
              <a:solidFill>
                <a:srgbClr val="000000"/>
              </a:solidFill>
              <a:effectLst/>
              <a:uFillTx/>
              <a:latin typeface="Times New Roman"/>
            </a:endParaRPr>
          </a:p>
        </p:txBody>
      </p:sp>
      <p:sp>
        <p:nvSpPr>
          <p:cNvPr id="188" name="Text Box 10"/>
          <p:cNvSpPr/>
          <p:nvPr/>
        </p:nvSpPr>
        <p:spPr>
          <a:xfrm>
            <a:off x="609480" y="5181480"/>
            <a:ext cx="8001000" cy="886320"/>
          </a:xfrm>
          <a:prstGeom prst="rect">
            <a:avLst/>
          </a:prstGeom>
          <a:solidFill>
            <a:srgbClr val="CCECFF"/>
          </a:solid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June 1996: Explosion of the Ariane 5 rocket 37 s into its maiden flight was due to a silly software error. For an excellent exposition of the cause, see:</a:t>
            </a:r>
            <a:endParaRPr lang="en-US" sz="18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Arial"/>
              </a:rPr>
              <a:t>http://www.comp.lancs.ac.uk/computing/users/dixa/teaching/CSC221/ariane.pdf</a:t>
            </a:r>
            <a:endParaRPr lang="en-US" sz="1600" b="0" u="none" strike="noStrike">
              <a:solidFill>
                <a:srgbClr val="000000"/>
              </a:solidFill>
              <a:effectLst/>
              <a:uFillTx/>
              <a:latin typeface="Times New Roman"/>
            </a:endParaRPr>
          </a:p>
        </p:txBody>
      </p:sp>
      <p:sp>
        <p:nvSpPr>
          <p:cNvPr id="189" name="Text Box 11"/>
          <p:cNvSpPr/>
          <p:nvPr/>
        </p:nvSpPr>
        <p:spPr>
          <a:xfrm>
            <a:off x="3501720" y="2286000"/>
            <a:ext cx="5188680" cy="39852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FF6600"/>
                </a:solidFill>
                <a:effectLst/>
                <a:uFillTx/>
                <a:latin typeface="Arial"/>
                <a:ea typeface="Arial"/>
              </a:rPr>
              <a:t>These can also be classified as design flaws</a:t>
            </a:r>
            <a:endParaRPr lang="en-US" sz="2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Slide Number Placeholder 8"/>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DFDD2C77-7501-419F-9A4C-7552277C1B57}"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191"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192" name="PlaceHolder 1"/>
          <p:cNvSpPr>
            <a:spLocks noGrp="1"/>
          </p:cNvSpPr>
          <p:nvPr>
            <p:ph type="title"/>
          </p:nvPr>
        </p:nvSpPr>
        <p:spPr>
          <a:xfrm>
            <a:off x="685800" y="228600"/>
            <a:ext cx="7696080" cy="91440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ea typeface="Arial"/>
              </a:rPr>
              <a:t>The Curse of Complexity</a:t>
            </a:r>
            <a:endParaRPr lang="en-US" sz="3200" b="0" u="none" strike="noStrike">
              <a:solidFill>
                <a:srgbClr val="000000"/>
              </a:solidFill>
              <a:effectLst/>
              <a:uFillTx/>
              <a:latin typeface="Arial"/>
            </a:endParaRPr>
          </a:p>
        </p:txBody>
      </p:sp>
      <p:sp>
        <p:nvSpPr>
          <p:cNvPr id="193" name="Text Box 6"/>
          <p:cNvSpPr/>
          <p:nvPr/>
        </p:nvSpPr>
        <p:spPr>
          <a:xfrm>
            <a:off x="609480" y="1066680"/>
            <a:ext cx="7924680" cy="228636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FF0000"/>
                </a:solidFill>
                <a:effectLst/>
                <a:uFillTx/>
                <a:latin typeface="Arial"/>
                <a:ea typeface="Arial"/>
              </a:rPr>
              <a:t>Computer engineering</a:t>
            </a:r>
            <a:r>
              <a:rPr lang="en-US" sz="2400" b="0" u="none" strike="noStrike">
                <a:solidFill>
                  <a:srgbClr val="000000"/>
                </a:solidFill>
                <a:effectLst/>
                <a:uFillTx/>
                <a:latin typeface="Arial"/>
                <a:ea typeface="Arial"/>
              </a:rPr>
              <a:t> is the art and science of translating user requirements we do not fully understand; into hardware and software we cannot precisely analyze; to operate in environments we cannot accurately predict; all in such a way that the society at large is given </a:t>
            </a:r>
            <a:endParaRPr lang="en-US" sz="24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Arial"/>
                <a:ea typeface="Arial"/>
              </a:rPr>
              <a:t>no reason to suspect the extent of our ignorance.</a:t>
            </a:r>
            <a:r>
              <a:rPr lang="en-US" sz="2400" b="0" u="none" strike="noStrike" baseline="30000">
                <a:solidFill>
                  <a:srgbClr val="000000"/>
                </a:solidFill>
                <a:effectLst/>
                <a:uFillTx/>
                <a:latin typeface="Arial"/>
                <a:ea typeface="Arial"/>
              </a:rPr>
              <a:t>1</a:t>
            </a:r>
            <a:endParaRPr lang="en-US" sz="2400" b="0" u="none" strike="noStrike">
              <a:solidFill>
                <a:srgbClr val="000000"/>
              </a:solidFill>
              <a:effectLst/>
              <a:uFillTx/>
              <a:latin typeface="Times New Roman"/>
            </a:endParaRPr>
          </a:p>
        </p:txBody>
      </p:sp>
      <p:sp>
        <p:nvSpPr>
          <p:cNvPr id="194" name="Text Box 7"/>
          <p:cNvSpPr/>
          <p:nvPr/>
        </p:nvSpPr>
        <p:spPr>
          <a:xfrm>
            <a:off x="457200" y="5638680"/>
            <a:ext cx="8381880" cy="52020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baseline="30000">
                <a:solidFill>
                  <a:srgbClr val="000000"/>
                </a:solidFill>
                <a:effectLst/>
                <a:uFillTx/>
                <a:latin typeface="Arial"/>
                <a:ea typeface="Arial"/>
              </a:rPr>
              <a:t>1</a:t>
            </a:r>
            <a:r>
              <a:rPr lang="en-US" sz="1400" b="0" u="none" strike="noStrike">
                <a:solidFill>
                  <a:srgbClr val="000000"/>
                </a:solidFill>
                <a:effectLst/>
                <a:uFillTx/>
                <a:latin typeface="Arial"/>
                <a:ea typeface="Arial"/>
              </a:rPr>
              <a:t>Adapted from definition of structural engineering: Ralph Kaplan, </a:t>
            </a:r>
            <a:r>
              <a:rPr lang="en-US" sz="1400" b="0" i="1" u="none" strike="noStrike">
                <a:solidFill>
                  <a:srgbClr val="000000"/>
                </a:solidFill>
                <a:effectLst/>
                <a:uFillTx/>
                <a:latin typeface="Arial"/>
                <a:ea typeface="Arial"/>
              </a:rPr>
              <a:t>By Design: Why There Are No Locks on the Bathroom Doors in the Hotel Louis XIV and Other Object Lessons</a:t>
            </a:r>
            <a:r>
              <a:rPr lang="en-US" sz="1400" b="0" u="none" strike="noStrike">
                <a:solidFill>
                  <a:srgbClr val="000000"/>
                </a:solidFill>
                <a:effectLst/>
                <a:uFillTx/>
                <a:latin typeface="Arial"/>
                <a:ea typeface="Arial"/>
              </a:rPr>
              <a:t>, Fairchild Books, 2004, p. 229</a:t>
            </a:r>
            <a:endParaRPr lang="en-US" sz="1400" b="0" u="none" strike="noStrike">
              <a:solidFill>
                <a:srgbClr val="000000"/>
              </a:solidFill>
              <a:effectLst/>
              <a:uFillTx/>
              <a:latin typeface="Times New Roman"/>
            </a:endParaRPr>
          </a:p>
        </p:txBody>
      </p:sp>
      <p:sp>
        <p:nvSpPr>
          <p:cNvPr id="195" name="Text Box 13"/>
          <p:cNvSpPr/>
          <p:nvPr/>
        </p:nvSpPr>
        <p:spPr>
          <a:xfrm>
            <a:off x="609480" y="3504960"/>
            <a:ext cx="7924680" cy="82476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9900"/>
                </a:solidFill>
                <a:effectLst/>
                <a:uFillTx/>
                <a:latin typeface="Arial"/>
                <a:ea typeface="Arial"/>
              </a:rPr>
              <a:t>Microsoft Windows NT (1992):</a:t>
            </a:r>
            <a:r>
              <a:rPr lang="en-US" sz="2400" b="0" u="none" strike="noStrike">
                <a:solidFill>
                  <a:srgbClr val="000000"/>
                </a:solidFill>
                <a:effectLst/>
                <a:uFillTx/>
                <a:latin typeface="Arial"/>
                <a:ea typeface="Arial"/>
              </a:rPr>
              <a:t> </a:t>
            </a:r>
            <a:r>
              <a:rPr lang="en-US" sz="2000" b="0" u="none" strike="noStrike">
                <a:solidFill>
                  <a:srgbClr val="000000"/>
                </a:solidFill>
                <a:effectLst/>
                <a:uFillTx/>
                <a:latin typeface="Symbol"/>
                <a:ea typeface="Symbol"/>
              </a:rPr>
              <a:t></a:t>
            </a:r>
            <a:r>
              <a:rPr lang="en-US" sz="2400" b="0" u="none" strike="noStrike">
                <a:solidFill>
                  <a:srgbClr val="000000"/>
                </a:solidFill>
                <a:effectLst/>
                <a:uFillTx/>
                <a:latin typeface="Arial"/>
                <a:ea typeface="Arial"/>
              </a:rPr>
              <a:t>4M lines of code</a:t>
            </a:r>
            <a:endParaRPr lang="en-US" sz="24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9900"/>
                </a:solidFill>
                <a:effectLst/>
                <a:uFillTx/>
                <a:latin typeface="Arial"/>
                <a:ea typeface="Arial"/>
              </a:rPr>
              <a:t>Microsoft Windows XP (2002):</a:t>
            </a:r>
            <a:r>
              <a:rPr lang="en-US" sz="2400" b="0" u="none" strike="noStrike">
                <a:solidFill>
                  <a:srgbClr val="000000"/>
                </a:solidFill>
                <a:effectLst/>
                <a:uFillTx/>
                <a:latin typeface="Arial"/>
                <a:ea typeface="Arial"/>
              </a:rPr>
              <a:t> </a:t>
            </a:r>
            <a:r>
              <a:rPr lang="en-US" sz="2000" b="0" u="none" strike="noStrike">
                <a:solidFill>
                  <a:srgbClr val="000000"/>
                </a:solidFill>
                <a:effectLst/>
                <a:uFillTx/>
                <a:latin typeface="Symbol"/>
                <a:ea typeface="Symbol"/>
              </a:rPr>
              <a:t></a:t>
            </a:r>
            <a:r>
              <a:rPr lang="en-US" sz="2400" b="0" u="none" strike="noStrike">
                <a:solidFill>
                  <a:srgbClr val="000000"/>
                </a:solidFill>
                <a:effectLst/>
                <a:uFillTx/>
                <a:latin typeface="Arial"/>
                <a:ea typeface="Arial"/>
              </a:rPr>
              <a:t>40M lines of code</a:t>
            </a:r>
            <a:endParaRPr lang="en-US" sz="2400" b="0" u="none" strike="noStrike">
              <a:solidFill>
                <a:srgbClr val="000000"/>
              </a:solidFill>
              <a:effectLst/>
              <a:uFillTx/>
              <a:latin typeface="Times New Roman"/>
            </a:endParaRPr>
          </a:p>
        </p:txBody>
      </p:sp>
      <p:sp>
        <p:nvSpPr>
          <p:cNvPr id="196" name="Text Box 16"/>
          <p:cNvSpPr/>
          <p:nvPr/>
        </p:nvSpPr>
        <p:spPr>
          <a:xfrm>
            <a:off x="609480" y="4419360"/>
            <a:ext cx="7924680" cy="119016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33CC"/>
                </a:solidFill>
                <a:effectLst/>
                <a:uFillTx/>
                <a:latin typeface="Arial"/>
                <a:ea typeface="Arial"/>
              </a:rPr>
              <a:t>Intel Pentium processor (1993):</a:t>
            </a:r>
            <a:r>
              <a:rPr lang="en-US" sz="2400" b="0" u="none" strike="noStrike">
                <a:solidFill>
                  <a:srgbClr val="000000"/>
                </a:solidFill>
                <a:effectLst/>
                <a:uFillTx/>
                <a:latin typeface="Arial"/>
                <a:ea typeface="Arial"/>
              </a:rPr>
              <a:t> </a:t>
            </a:r>
            <a:r>
              <a:rPr lang="en-US" sz="2000" b="0" u="none" strike="noStrike">
                <a:solidFill>
                  <a:srgbClr val="000000"/>
                </a:solidFill>
                <a:effectLst/>
                <a:uFillTx/>
                <a:latin typeface="Symbol"/>
                <a:ea typeface="Symbol"/>
              </a:rPr>
              <a:t></a:t>
            </a:r>
            <a:r>
              <a:rPr lang="en-US" sz="2400" b="0" u="none" strike="noStrike">
                <a:solidFill>
                  <a:srgbClr val="000000"/>
                </a:solidFill>
                <a:effectLst/>
                <a:uFillTx/>
                <a:latin typeface="Arial"/>
                <a:ea typeface="Arial"/>
              </a:rPr>
              <a:t>4M transistors</a:t>
            </a:r>
            <a:endParaRPr lang="en-US" sz="24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33CC"/>
                </a:solidFill>
                <a:effectLst/>
                <a:uFillTx/>
                <a:latin typeface="Arial"/>
                <a:ea typeface="Arial"/>
              </a:rPr>
              <a:t>Intel Pentium 4 processor (2001):</a:t>
            </a:r>
            <a:r>
              <a:rPr lang="en-US" sz="2400" b="0" u="none" strike="noStrike">
                <a:solidFill>
                  <a:srgbClr val="000000"/>
                </a:solidFill>
                <a:effectLst/>
                <a:uFillTx/>
                <a:latin typeface="Arial"/>
                <a:ea typeface="Arial"/>
              </a:rPr>
              <a:t> </a:t>
            </a:r>
            <a:r>
              <a:rPr lang="en-US" sz="2000" b="0" u="none" strike="noStrike">
                <a:solidFill>
                  <a:srgbClr val="000000"/>
                </a:solidFill>
                <a:effectLst/>
                <a:uFillTx/>
                <a:latin typeface="Symbol"/>
                <a:ea typeface="Symbol"/>
              </a:rPr>
              <a:t></a:t>
            </a:r>
            <a:r>
              <a:rPr lang="en-US" sz="2400" b="0" u="none" strike="noStrike">
                <a:solidFill>
                  <a:srgbClr val="000000"/>
                </a:solidFill>
                <a:effectLst/>
                <a:uFillTx/>
                <a:latin typeface="Arial"/>
                <a:ea typeface="Arial"/>
              </a:rPr>
              <a:t>40M transistors</a:t>
            </a:r>
            <a:endParaRPr lang="en-US" sz="24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33CC"/>
                </a:solidFill>
                <a:effectLst/>
                <a:uFillTx/>
                <a:latin typeface="Arial"/>
                <a:ea typeface="Arial"/>
              </a:rPr>
              <a:t>Intel Itanium 2 processor (2002):</a:t>
            </a:r>
            <a:r>
              <a:rPr lang="en-US" sz="2400" b="0" u="none" strike="noStrike">
                <a:solidFill>
                  <a:srgbClr val="000000"/>
                </a:solidFill>
                <a:effectLst/>
                <a:uFillTx/>
                <a:latin typeface="Arial"/>
                <a:ea typeface="Arial"/>
              </a:rPr>
              <a:t> </a:t>
            </a:r>
            <a:r>
              <a:rPr lang="en-US" sz="2000" b="0" u="none" strike="noStrike">
                <a:solidFill>
                  <a:srgbClr val="000000"/>
                </a:solidFill>
                <a:effectLst/>
                <a:uFillTx/>
                <a:latin typeface="Symbol"/>
                <a:ea typeface="Symbol"/>
              </a:rPr>
              <a:t></a:t>
            </a:r>
            <a:r>
              <a:rPr lang="en-US" sz="2400" b="0" u="none" strike="noStrike">
                <a:solidFill>
                  <a:srgbClr val="000000"/>
                </a:solidFill>
                <a:effectLst/>
                <a:uFillTx/>
                <a:latin typeface="Arial"/>
                <a:ea typeface="Arial"/>
              </a:rPr>
              <a:t>500M transistors</a:t>
            </a:r>
            <a:endParaRPr lang="en-US" sz="24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Slide Number Placeholder 8"/>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95E3B9CC-D5EB-42AF-B49F-4F6DF6511272}"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198"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199" name="PlaceHolder 1"/>
          <p:cNvSpPr>
            <a:spLocks noGrp="1"/>
          </p:cNvSpPr>
          <p:nvPr>
            <p:ph type="title"/>
          </p:nvPr>
        </p:nvSpPr>
        <p:spPr>
          <a:xfrm>
            <a:off x="685800" y="228600"/>
            <a:ext cx="7772400" cy="76176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ea typeface="Arial"/>
              </a:rPr>
              <a:t>Defining Failure</a:t>
            </a:r>
            <a:endParaRPr lang="en-US" sz="3200" b="0" u="none" strike="noStrike">
              <a:solidFill>
                <a:srgbClr val="000000"/>
              </a:solidFill>
              <a:effectLst/>
              <a:uFillTx/>
              <a:latin typeface="Arial"/>
            </a:endParaRPr>
          </a:p>
        </p:txBody>
      </p:sp>
      <p:sp>
        <p:nvSpPr>
          <p:cNvPr id="200" name="Text Box 4"/>
          <p:cNvSpPr/>
          <p:nvPr/>
        </p:nvSpPr>
        <p:spPr>
          <a:xfrm>
            <a:off x="533160" y="990360"/>
            <a:ext cx="7925040" cy="82476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FF0000"/>
                </a:solidFill>
                <a:effectLst/>
                <a:uFillTx/>
                <a:latin typeface="Arial"/>
                <a:ea typeface="Arial"/>
              </a:rPr>
              <a:t>Failure</a:t>
            </a:r>
            <a:r>
              <a:rPr lang="en-US" sz="2400" b="0" u="none" strike="noStrike">
                <a:solidFill>
                  <a:srgbClr val="000000"/>
                </a:solidFill>
                <a:effectLst/>
                <a:uFillTx/>
                <a:latin typeface="Arial"/>
                <a:ea typeface="Arial"/>
              </a:rPr>
              <a:t> is an unacceptable difference between expected and observed performance.</a:t>
            </a:r>
            <a:r>
              <a:rPr lang="en-US" sz="2400" b="0" u="none" strike="noStrike" baseline="30000">
                <a:solidFill>
                  <a:srgbClr val="000000"/>
                </a:solidFill>
                <a:effectLst/>
                <a:uFillTx/>
                <a:latin typeface="Arial"/>
                <a:ea typeface="Arial"/>
              </a:rPr>
              <a:t>1</a:t>
            </a:r>
            <a:endParaRPr lang="en-US" sz="2400" b="0" u="none" strike="noStrike">
              <a:solidFill>
                <a:srgbClr val="000000"/>
              </a:solidFill>
              <a:effectLst/>
              <a:uFillTx/>
              <a:latin typeface="Times New Roman"/>
            </a:endParaRPr>
          </a:p>
        </p:txBody>
      </p:sp>
      <p:sp>
        <p:nvSpPr>
          <p:cNvPr id="201" name="Text Box 5"/>
          <p:cNvSpPr/>
          <p:nvPr/>
        </p:nvSpPr>
        <p:spPr>
          <a:xfrm>
            <a:off x="457200" y="5790960"/>
            <a:ext cx="8381880" cy="307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baseline="30000">
                <a:solidFill>
                  <a:srgbClr val="000000"/>
                </a:solidFill>
                <a:effectLst/>
                <a:uFillTx/>
                <a:latin typeface="Arial"/>
                <a:ea typeface="Arial"/>
              </a:rPr>
              <a:t>1</a:t>
            </a:r>
            <a:r>
              <a:rPr lang="en-US" sz="1400" b="0" u="none" strike="noStrike">
                <a:solidFill>
                  <a:srgbClr val="000000"/>
                </a:solidFill>
                <a:effectLst/>
                <a:uFillTx/>
                <a:latin typeface="Arial"/>
                <a:ea typeface="Arial"/>
              </a:rPr>
              <a:t> Definition used by the Tech. Council on Forensic Engineering of the Amer. Society of Civil Engineers</a:t>
            </a:r>
            <a:endParaRPr lang="en-US" sz="1400" b="0" u="none" strike="noStrike">
              <a:solidFill>
                <a:srgbClr val="000000"/>
              </a:solidFill>
              <a:effectLst/>
              <a:uFillTx/>
              <a:latin typeface="Times New Roman"/>
            </a:endParaRPr>
          </a:p>
        </p:txBody>
      </p:sp>
      <p:sp>
        <p:nvSpPr>
          <p:cNvPr id="202" name="Text Box 6"/>
          <p:cNvSpPr/>
          <p:nvPr/>
        </p:nvSpPr>
        <p:spPr>
          <a:xfrm>
            <a:off x="533160" y="1828800"/>
            <a:ext cx="7925040" cy="82476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9900"/>
                </a:solidFill>
                <a:effectLst/>
                <a:uFillTx/>
                <a:latin typeface="Arial"/>
                <a:ea typeface="Arial"/>
              </a:rPr>
              <a:t>A structure (building or bridge) need not collapse catastrophically to be deemed a failure</a:t>
            </a:r>
            <a:endParaRPr lang="en-US" sz="2400" b="0" u="none" strike="noStrike">
              <a:solidFill>
                <a:srgbClr val="000000"/>
              </a:solidFill>
              <a:effectLst/>
              <a:uFillTx/>
              <a:latin typeface="Times New Roman"/>
            </a:endParaRPr>
          </a:p>
        </p:txBody>
      </p:sp>
      <p:sp>
        <p:nvSpPr>
          <p:cNvPr id="203" name="Text Box 8"/>
          <p:cNvSpPr/>
          <p:nvPr/>
        </p:nvSpPr>
        <p:spPr>
          <a:xfrm>
            <a:off x="533160" y="4343400"/>
            <a:ext cx="7925040" cy="137304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FF0000"/>
                </a:solidFill>
                <a:effectLst/>
                <a:uFillTx/>
                <a:latin typeface="Arial"/>
                <a:ea typeface="Arial"/>
              </a:rPr>
              <a:t>Reasons of typical Web site failures</a:t>
            </a:r>
            <a:r>
              <a:rPr lang="en-US" sz="2400" b="0" u="none" strike="noStrike">
                <a:solidFill>
                  <a:srgbClr val="000000"/>
                </a:solidFill>
                <a:effectLst/>
                <a:uFillTx/>
                <a:latin typeface="Arial"/>
                <a:ea typeface="Arial"/>
              </a:rPr>
              <a:t> </a:t>
            </a:r>
            <a:endParaRPr lang="en-US" sz="24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Hardware problems:</a:t>
            </a:r>
            <a:r>
              <a:rPr lang="en-US" sz="20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15%</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Software problems: </a:t>
            </a:r>
            <a:r>
              <a:rPr lang="en-US" sz="20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34%</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Operator error:</a:t>
            </a:r>
            <a:r>
              <a:rPr lang="en-US" sz="20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51%</a:t>
            </a:r>
            <a:endParaRPr lang="en-US" sz="2000" b="0" u="none" strike="noStrike">
              <a:solidFill>
                <a:srgbClr val="000000"/>
              </a:solidFill>
              <a:effectLst/>
              <a:uFillTx/>
              <a:latin typeface="Times New Roman"/>
            </a:endParaRPr>
          </a:p>
        </p:txBody>
      </p:sp>
      <p:grpSp>
        <p:nvGrpSpPr>
          <p:cNvPr id="204" name="Group 17"/>
          <p:cNvGrpSpPr/>
          <p:nvPr/>
        </p:nvGrpSpPr>
        <p:grpSpPr>
          <a:xfrm>
            <a:off x="1066680" y="2514600"/>
            <a:ext cx="7086600" cy="1752480"/>
            <a:chOff x="1066680" y="2514600"/>
            <a:chExt cx="7086600" cy="1752480"/>
          </a:xfrm>
        </p:grpSpPr>
        <p:sp>
          <p:nvSpPr>
            <p:cNvPr id="205" name="AutoShape 10"/>
            <p:cNvSpPr/>
            <p:nvPr/>
          </p:nvSpPr>
          <p:spPr>
            <a:xfrm>
              <a:off x="4724280" y="2514600"/>
              <a:ext cx="3429000" cy="1752480"/>
            </a:xfrm>
            <a:prstGeom prst="irregularSeal1">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Arial"/>
                  <a:ea typeface="Arial"/>
                </a:rPr>
                <a:t>Implementation</a:t>
              </a:r>
              <a:endParaRPr lang="en-US" sz="2400" b="0" u="none" strike="noStrike">
                <a:solidFill>
                  <a:srgbClr val="000000"/>
                </a:solidFill>
                <a:effectLst/>
                <a:uFillTx/>
                <a:latin typeface="Times New Roman"/>
              </a:endParaRPr>
            </a:p>
          </p:txBody>
        </p:sp>
        <p:sp>
          <p:nvSpPr>
            <p:cNvPr id="206" name="AutoShape 12"/>
            <p:cNvSpPr/>
            <p:nvPr/>
          </p:nvSpPr>
          <p:spPr>
            <a:xfrm>
              <a:off x="1066680" y="2743200"/>
              <a:ext cx="2590920" cy="1371600"/>
            </a:xfrm>
            <a:prstGeom prst="horizontalScroll">
              <a:avLst>
                <a:gd name="adj" fmla="val 12500"/>
              </a:avLst>
            </a:prstGeom>
            <a:solidFill>
              <a:srgbClr val="CCEC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Arial"/>
                  <a:ea typeface="Arial"/>
                </a:rPr>
                <a:t>Specification</a:t>
              </a:r>
              <a:endParaRPr lang="en-US" sz="2400" b="0" u="none" strike="noStrike">
                <a:solidFill>
                  <a:srgbClr val="000000"/>
                </a:solidFill>
                <a:effectLst/>
                <a:uFillTx/>
                <a:latin typeface="Times New Roman"/>
              </a:endParaRPr>
            </a:p>
          </p:txBody>
        </p:sp>
        <p:sp>
          <p:nvSpPr>
            <p:cNvPr id="207" name="Text Box 14"/>
            <p:cNvSpPr/>
            <p:nvPr/>
          </p:nvSpPr>
          <p:spPr>
            <a:xfrm>
              <a:off x="3876120" y="2879640"/>
              <a:ext cx="786600" cy="100800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6000" b="0" u="none" strike="noStrike">
                  <a:solidFill>
                    <a:srgbClr val="000000"/>
                  </a:solidFill>
                  <a:effectLst/>
                  <a:uFillTx/>
                  <a:latin typeface="Symbol"/>
                  <a:ea typeface="Symbol"/>
                </a:rPr>
                <a:t></a:t>
              </a:r>
              <a:endParaRPr lang="en-US" sz="6000" b="0" u="none" strike="noStrike">
                <a:solidFill>
                  <a:srgbClr val="000000"/>
                </a:solidFill>
                <a:effectLst/>
                <a:uFillTx/>
                <a:latin typeface="Times New Roman"/>
              </a:endParaRPr>
            </a:p>
          </p:txBody>
        </p:sp>
        <p:sp>
          <p:nvSpPr>
            <p:cNvPr id="208" name="Text Box 15"/>
            <p:cNvSpPr/>
            <p:nvPr/>
          </p:nvSpPr>
          <p:spPr>
            <a:xfrm>
              <a:off x="4038480" y="2895480"/>
              <a:ext cx="457200" cy="45936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Arial"/>
                  <a:ea typeface="Arial"/>
                </a:rPr>
                <a:t>?</a:t>
              </a:r>
              <a:endParaRPr lang="en-US" sz="2400" b="0" u="none" strike="noStrike">
                <a:solidFill>
                  <a:srgbClr val="000000"/>
                </a:solidFill>
                <a:effectLst/>
                <a:uFillTx/>
                <a:latin typeface="Times New Roman"/>
              </a:endParaRPr>
            </a:p>
          </p:txBody>
        </p:sp>
      </p:gr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Slide Number Placeholder 6"/>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E409580A-1D6D-46C1-9361-F57E2DF6E703}"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pic>
        <p:nvPicPr>
          <p:cNvPr id="210" name="Picture 2" descr="software_engineering_explained"/>
          <p:cNvPicPr/>
          <p:nvPr/>
        </p:nvPicPr>
        <p:blipFill>
          <a:blip r:embed="rId1"/>
          <a:stretch/>
        </p:blipFill>
        <p:spPr>
          <a:xfrm>
            <a:off x="0" y="0"/>
            <a:ext cx="9144000" cy="6248160"/>
          </a:xfrm>
          <a:prstGeom prst="rect">
            <a:avLst/>
          </a:prstGeom>
          <a:noFill/>
          <a:ln w="38160">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Slide Number Placeholder 8"/>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DF0622D6-0484-4FE9-8C43-56D61FA7A961}"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212"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213" name="PlaceHolder 1"/>
          <p:cNvSpPr>
            <a:spLocks noGrp="1"/>
          </p:cNvSpPr>
          <p:nvPr>
            <p:ph type="title"/>
          </p:nvPr>
        </p:nvSpPr>
        <p:spPr>
          <a:xfrm>
            <a:off x="685800" y="304560"/>
            <a:ext cx="7772400" cy="609840"/>
          </a:xfrm>
          <a:prstGeom prst="rect">
            <a:avLst/>
          </a:prstGeom>
          <a:noFill/>
          <a:ln w="0">
            <a:noFill/>
          </a:ln>
        </p:spPr>
        <p:txBody>
          <a:bodyPr lIns="91440" tIns="45720" rIns="91440" bIns="45720" anchor="ctr">
            <a:noAutofit/>
          </a:bodyPr>
          <a:p>
            <a:pPr indent="0" algn="ctr">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ea typeface="Arial"/>
              </a:rPr>
              <a:t>Design Flaws: “To Engineer is Human”</a:t>
            </a:r>
            <a:r>
              <a:rPr lang="en-US" sz="2800" b="0" u="none" strike="noStrike" baseline="30000">
                <a:solidFill>
                  <a:srgbClr val="000000"/>
                </a:solidFill>
                <a:effectLst/>
                <a:uFillTx/>
                <a:latin typeface="Arial"/>
                <a:ea typeface="Arial"/>
              </a:rPr>
              <a:t>1</a:t>
            </a:r>
            <a:endParaRPr lang="en-US" sz="2800" b="0" u="none" strike="noStrike">
              <a:solidFill>
                <a:srgbClr val="000000"/>
              </a:solidFill>
              <a:effectLst/>
              <a:uFillTx/>
              <a:latin typeface="Arial"/>
            </a:endParaRPr>
          </a:p>
        </p:txBody>
      </p:sp>
      <p:sp>
        <p:nvSpPr>
          <p:cNvPr id="214" name="Text Box 6"/>
          <p:cNvSpPr/>
          <p:nvPr/>
        </p:nvSpPr>
        <p:spPr>
          <a:xfrm>
            <a:off x="380880" y="1218960"/>
            <a:ext cx="441972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FF0000"/>
                </a:solidFill>
                <a:effectLst/>
                <a:uFillTx/>
                <a:latin typeface="Arial"/>
                <a:ea typeface="Arial"/>
              </a:rPr>
              <a:t>Complex systems almost certainly contain multiple design flaws</a:t>
            </a:r>
            <a:endParaRPr lang="en-US" sz="2000" b="0" u="none" strike="noStrike">
              <a:solidFill>
                <a:srgbClr val="000000"/>
              </a:solidFill>
              <a:effectLst/>
              <a:uFillTx/>
              <a:latin typeface="Times New Roman"/>
            </a:endParaRPr>
          </a:p>
        </p:txBody>
      </p:sp>
      <p:sp>
        <p:nvSpPr>
          <p:cNvPr id="215" name="Text Box 5"/>
          <p:cNvSpPr/>
          <p:nvPr/>
        </p:nvSpPr>
        <p:spPr>
          <a:xfrm>
            <a:off x="5486400" y="5715000"/>
            <a:ext cx="3352680" cy="3376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baseline="30000">
                <a:solidFill>
                  <a:srgbClr val="000000"/>
                </a:solidFill>
                <a:effectLst/>
                <a:uFillTx/>
                <a:latin typeface="Arial"/>
                <a:ea typeface="Arial"/>
              </a:rPr>
              <a:t>1</a:t>
            </a:r>
            <a:r>
              <a:rPr lang="en-US" sz="1600" b="0" u="none" strike="noStrike">
                <a:solidFill>
                  <a:srgbClr val="000000"/>
                </a:solidFill>
                <a:effectLst/>
                <a:uFillTx/>
                <a:latin typeface="Arial"/>
                <a:ea typeface="Arial"/>
              </a:rPr>
              <a:t> Title of book by Henry Petroski</a:t>
            </a:r>
            <a:endParaRPr lang="en-US" sz="1600" b="0" u="none" strike="noStrike">
              <a:solidFill>
                <a:srgbClr val="000000"/>
              </a:solidFill>
              <a:effectLst/>
              <a:uFillTx/>
              <a:latin typeface="Times New Roman"/>
            </a:endParaRPr>
          </a:p>
        </p:txBody>
      </p:sp>
      <p:grpSp>
        <p:nvGrpSpPr>
          <p:cNvPr id="216" name="Group 35"/>
          <p:cNvGrpSpPr/>
          <p:nvPr/>
        </p:nvGrpSpPr>
        <p:grpSpPr>
          <a:xfrm>
            <a:off x="380880" y="3124080"/>
            <a:ext cx="8305920" cy="3140640"/>
            <a:chOff x="380880" y="3124080"/>
            <a:chExt cx="8305920" cy="3140640"/>
          </a:xfrm>
        </p:grpSpPr>
        <p:pic>
          <p:nvPicPr>
            <p:cNvPr id="217" name="Picture 26" descr="gehry-decade"/>
            <p:cNvPicPr/>
            <p:nvPr/>
          </p:nvPicPr>
          <p:blipFill>
            <a:blip r:embed="rId1"/>
            <a:stretch/>
          </p:blipFill>
          <p:spPr>
            <a:xfrm>
              <a:off x="4952880" y="3124080"/>
              <a:ext cx="3733920" cy="2523960"/>
            </a:xfrm>
            <a:prstGeom prst="rect">
              <a:avLst/>
            </a:prstGeom>
            <a:noFill/>
            <a:ln w="38160">
              <a:noFill/>
            </a:ln>
          </p:spPr>
        </p:pic>
        <p:sp>
          <p:nvSpPr>
            <p:cNvPr id="218" name="Text Box 31"/>
            <p:cNvSpPr/>
            <p:nvPr/>
          </p:nvSpPr>
          <p:spPr>
            <a:xfrm>
              <a:off x="380880" y="4343400"/>
              <a:ext cx="4343400" cy="19213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3333CC"/>
                  </a:solidFill>
                  <a:effectLst/>
                  <a:uFillTx/>
                  <a:latin typeface="Arial"/>
                  <a:ea typeface="Arial"/>
                </a:rPr>
                <a:t>Example of a more subtle flaw:</a:t>
              </a:r>
              <a:r>
                <a:rPr lang="en-US" sz="2000" b="0" u="none" strike="noStrike">
                  <a:solidFill>
                    <a:srgbClr val="000000"/>
                  </a:solidFill>
                  <a:effectLst/>
                  <a:uFillTx/>
                  <a:latin typeface="Arial"/>
                  <a:ea typeface="Arial"/>
                </a:rPr>
                <a:t> Disney Concert Hall in Los Angeles reflected light into nearby building, causing discomfort for tenants due to blinding light and high temperature</a:t>
              </a:r>
              <a:endParaRPr lang="en-US" sz="2000" b="0" u="none" strike="noStrike">
                <a:solidFill>
                  <a:srgbClr val="000000"/>
                </a:solidFill>
                <a:effectLst/>
                <a:uFillTx/>
                <a:latin typeface="Times New Roman"/>
              </a:endParaRPr>
            </a:p>
          </p:txBody>
        </p:sp>
      </p:grpSp>
      <p:grpSp>
        <p:nvGrpSpPr>
          <p:cNvPr id="219" name="Group 44"/>
          <p:cNvGrpSpPr/>
          <p:nvPr/>
        </p:nvGrpSpPr>
        <p:grpSpPr>
          <a:xfrm>
            <a:off x="380880" y="1218960"/>
            <a:ext cx="8305920" cy="1769760"/>
            <a:chOff x="380880" y="1218960"/>
            <a:chExt cx="8305920" cy="1769760"/>
          </a:xfrm>
        </p:grpSpPr>
        <p:sp>
          <p:nvSpPr>
            <p:cNvPr id="220" name="Text Box 7"/>
            <p:cNvSpPr/>
            <p:nvPr/>
          </p:nvSpPr>
          <p:spPr>
            <a:xfrm>
              <a:off x="380880" y="1981080"/>
              <a:ext cx="3733920" cy="100764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Redundancy in the form of safety factor is routinely used in buildings and bridges</a:t>
              </a:r>
              <a:endParaRPr lang="en-US" sz="2000" b="0" u="none" strike="noStrike">
                <a:solidFill>
                  <a:srgbClr val="000000"/>
                </a:solidFill>
                <a:effectLst/>
                <a:uFillTx/>
                <a:latin typeface="Times New Roman"/>
              </a:endParaRPr>
            </a:p>
          </p:txBody>
        </p:sp>
        <p:pic>
          <p:nvPicPr>
            <p:cNvPr id="221" name="Picture 40" descr="WPBD program simulation of model truss with load"/>
            <p:cNvPicPr/>
            <p:nvPr/>
          </p:nvPicPr>
          <p:blipFill>
            <a:blip r:embed="rId2"/>
            <a:stretch/>
          </p:blipFill>
          <p:spPr>
            <a:xfrm>
              <a:off x="4952880" y="1218960"/>
              <a:ext cx="3733920" cy="1747800"/>
            </a:xfrm>
            <a:prstGeom prst="rect">
              <a:avLst/>
            </a:prstGeom>
            <a:noFill/>
            <a:ln w="38160">
              <a:noFill/>
            </a:ln>
          </p:spPr>
        </p:pic>
      </p:grpSp>
      <p:grpSp>
        <p:nvGrpSpPr>
          <p:cNvPr id="222" name="Group 72"/>
          <p:cNvGrpSpPr/>
          <p:nvPr/>
        </p:nvGrpSpPr>
        <p:grpSpPr>
          <a:xfrm>
            <a:off x="761760" y="3124080"/>
            <a:ext cx="3352680" cy="914400"/>
            <a:chOff x="761760" y="3124080"/>
            <a:chExt cx="3352680" cy="914400"/>
          </a:xfrm>
        </p:grpSpPr>
        <p:sp>
          <p:nvSpPr>
            <p:cNvPr id="223" name="Line 45"/>
            <p:cNvSpPr/>
            <p:nvPr/>
          </p:nvSpPr>
          <p:spPr>
            <a:xfrm>
              <a:off x="1599840" y="3504960"/>
              <a:ext cx="0" cy="533520"/>
            </a:xfrm>
            <a:prstGeom prst="line">
              <a:avLst/>
            </a:prstGeom>
            <a:ln w="28440">
              <a:solidFill>
                <a:srgbClr val="000000"/>
              </a:solidFill>
              <a:miter/>
              <a:headEnd len="med" type="oval" w="med"/>
              <a:tailEnd len="med" type="oval"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24" name="Line 46"/>
            <p:cNvSpPr/>
            <p:nvPr/>
          </p:nvSpPr>
          <p:spPr>
            <a:xfrm>
              <a:off x="2437920" y="3504960"/>
              <a:ext cx="0" cy="533520"/>
            </a:xfrm>
            <a:prstGeom prst="line">
              <a:avLst/>
            </a:prstGeom>
            <a:ln w="28440">
              <a:solidFill>
                <a:srgbClr val="000000"/>
              </a:solidFill>
              <a:miter/>
              <a:headEnd len="med" type="oval" w="med"/>
              <a:tailEnd len="med" type="oval"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25" name="Line 47"/>
            <p:cNvSpPr/>
            <p:nvPr/>
          </p:nvSpPr>
          <p:spPr>
            <a:xfrm>
              <a:off x="1599840" y="3504960"/>
              <a:ext cx="838080" cy="0"/>
            </a:xfrm>
            <a:prstGeom prst="line">
              <a:avLst/>
            </a:prstGeom>
            <a:ln w="2844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26" name="Line 48"/>
            <p:cNvSpPr/>
            <p:nvPr/>
          </p:nvSpPr>
          <p:spPr>
            <a:xfrm>
              <a:off x="1599840" y="4038480"/>
              <a:ext cx="838080" cy="0"/>
            </a:xfrm>
            <a:prstGeom prst="line">
              <a:avLst/>
            </a:prstGeom>
            <a:ln w="2844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27" name="Line 49"/>
            <p:cNvSpPr/>
            <p:nvPr/>
          </p:nvSpPr>
          <p:spPr>
            <a:xfrm flipV="1">
              <a:off x="1599840" y="3504960"/>
              <a:ext cx="838080" cy="533520"/>
            </a:xfrm>
            <a:prstGeom prst="line">
              <a:avLst/>
            </a:prstGeom>
            <a:ln w="2844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28" name="Line 50"/>
            <p:cNvSpPr/>
            <p:nvPr/>
          </p:nvSpPr>
          <p:spPr>
            <a:xfrm>
              <a:off x="1599840" y="3124080"/>
              <a:ext cx="0" cy="30456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29" name="Line 51"/>
            <p:cNvSpPr/>
            <p:nvPr/>
          </p:nvSpPr>
          <p:spPr>
            <a:xfrm>
              <a:off x="761760" y="3124080"/>
              <a:ext cx="0" cy="30456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30" name="Line 52"/>
            <p:cNvSpPr/>
            <p:nvPr/>
          </p:nvSpPr>
          <p:spPr>
            <a:xfrm>
              <a:off x="2437920" y="3504960"/>
              <a:ext cx="0" cy="533520"/>
            </a:xfrm>
            <a:prstGeom prst="line">
              <a:avLst/>
            </a:prstGeom>
            <a:ln w="28440">
              <a:solidFill>
                <a:srgbClr val="000000"/>
              </a:solidFill>
              <a:miter/>
              <a:headEnd len="med" type="oval" w="med"/>
              <a:tailEnd len="med" type="oval"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31" name="Line 53"/>
            <p:cNvSpPr/>
            <p:nvPr/>
          </p:nvSpPr>
          <p:spPr>
            <a:xfrm>
              <a:off x="3276360" y="3504960"/>
              <a:ext cx="0" cy="533520"/>
            </a:xfrm>
            <a:prstGeom prst="line">
              <a:avLst/>
            </a:prstGeom>
            <a:ln w="28440">
              <a:solidFill>
                <a:srgbClr val="000000"/>
              </a:solidFill>
              <a:miter/>
              <a:headEnd len="med" type="oval" w="med"/>
              <a:tailEnd len="med" type="oval"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32" name="Line 54"/>
            <p:cNvSpPr/>
            <p:nvPr/>
          </p:nvSpPr>
          <p:spPr>
            <a:xfrm>
              <a:off x="2437920" y="3504960"/>
              <a:ext cx="838440" cy="0"/>
            </a:xfrm>
            <a:prstGeom prst="line">
              <a:avLst/>
            </a:prstGeom>
            <a:ln w="2844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33" name="Line 55"/>
            <p:cNvSpPr/>
            <p:nvPr/>
          </p:nvSpPr>
          <p:spPr>
            <a:xfrm>
              <a:off x="2437920" y="4038480"/>
              <a:ext cx="838440" cy="0"/>
            </a:xfrm>
            <a:prstGeom prst="line">
              <a:avLst/>
            </a:prstGeom>
            <a:ln w="2844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34" name="Line 56"/>
            <p:cNvSpPr/>
            <p:nvPr/>
          </p:nvSpPr>
          <p:spPr>
            <a:xfrm>
              <a:off x="2437920" y="3504960"/>
              <a:ext cx="838440" cy="533520"/>
            </a:xfrm>
            <a:prstGeom prst="line">
              <a:avLst/>
            </a:prstGeom>
            <a:ln w="2844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35" name="Line 57"/>
            <p:cNvSpPr/>
            <p:nvPr/>
          </p:nvSpPr>
          <p:spPr>
            <a:xfrm>
              <a:off x="761760" y="3504960"/>
              <a:ext cx="0" cy="533520"/>
            </a:xfrm>
            <a:prstGeom prst="line">
              <a:avLst/>
            </a:prstGeom>
            <a:ln w="28440">
              <a:solidFill>
                <a:srgbClr val="000000"/>
              </a:solidFill>
              <a:miter/>
              <a:headEnd len="med" type="oval" w="med"/>
              <a:tailEnd len="med" type="oval"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36" name="Line 58"/>
            <p:cNvSpPr/>
            <p:nvPr/>
          </p:nvSpPr>
          <p:spPr>
            <a:xfrm>
              <a:off x="1599840" y="3504960"/>
              <a:ext cx="0" cy="533520"/>
            </a:xfrm>
            <a:prstGeom prst="line">
              <a:avLst/>
            </a:prstGeom>
            <a:ln w="28440">
              <a:solidFill>
                <a:srgbClr val="000000"/>
              </a:solidFill>
              <a:miter/>
              <a:headEnd len="med" type="oval" w="med"/>
              <a:tailEnd len="med" type="oval"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37" name="Line 59"/>
            <p:cNvSpPr/>
            <p:nvPr/>
          </p:nvSpPr>
          <p:spPr>
            <a:xfrm>
              <a:off x="761760" y="3504960"/>
              <a:ext cx="838080" cy="0"/>
            </a:xfrm>
            <a:prstGeom prst="line">
              <a:avLst/>
            </a:prstGeom>
            <a:ln w="2844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38" name="Line 60"/>
            <p:cNvSpPr/>
            <p:nvPr/>
          </p:nvSpPr>
          <p:spPr>
            <a:xfrm>
              <a:off x="761760" y="4038480"/>
              <a:ext cx="838080" cy="0"/>
            </a:xfrm>
            <a:prstGeom prst="line">
              <a:avLst/>
            </a:prstGeom>
            <a:ln w="2844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39" name="Line 61"/>
            <p:cNvSpPr/>
            <p:nvPr/>
          </p:nvSpPr>
          <p:spPr>
            <a:xfrm flipV="1">
              <a:off x="761760" y="3504960"/>
              <a:ext cx="838080" cy="533520"/>
            </a:xfrm>
            <a:prstGeom prst="line">
              <a:avLst/>
            </a:prstGeom>
            <a:ln w="2844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40" name="Line 62"/>
            <p:cNvSpPr/>
            <p:nvPr/>
          </p:nvSpPr>
          <p:spPr>
            <a:xfrm>
              <a:off x="3276360" y="3124080"/>
              <a:ext cx="0" cy="30456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41" name="Line 63"/>
            <p:cNvSpPr/>
            <p:nvPr/>
          </p:nvSpPr>
          <p:spPr>
            <a:xfrm>
              <a:off x="2437920" y="3124080"/>
              <a:ext cx="0" cy="30456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42" name="Line 65"/>
            <p:cNvSpPr/>
            <p:nvPr/>
          </p:nvSpPr>
          <p:spPr>
            <a:xfrm>
              <a:off x="3276360" y="3504960"/>
              <a:ext cx="0" cy="533520"/>
            </a:xfrm>
            <a:prstGeom prst="line">
              <a:avLst/>
            </a:prstGeom>
            <a:ln w="28440">
              <a:solidFill>
                <a:srgbClr val="000000"/>
              </a:solidFill>
              <a:miter/>
              <a:headEnd len="med" type="oval" w="med"/>
              <a:tailEnd len="med" type="oval"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43" name="Line 67"/>
            <p:cNvSpPr/>
            <p:nvPr/>
          </p:nvSpPr>
          <p:spPr>
            <a:xfrm>
              <a:off x="4114440" y="3504960"/>
              <a:ext cx="0" cy="533520"/>
            </a:xfrm>
            <a:prstGeom prst="line">
              <a:avLst/>
            </a:prstGeom>
            <a:ln w="28440">
              <a:solidFill>
                <a:srgbClr val="000000"/>
              </a:solidFill>
              <a:miter/>
              <a:headEnd len="med" type="oval" w="med"/>
              <a:tailEnd len="med" type="oval"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44" name="Line 68"/>
            <p:cNvSpPr/>
            <p:nvPr/>
          </p:nvSpPr>
          <p:spPr>
            <a:xfrm>
              <a:off x="3276360" y="3504960"/>
              <a:ext cx="838080" cy="0"/>
            </a:xfrm>
            <a:prstGeom prst="line">
              <a:avLst/>
            </a:prstGeom>
            <a:ln w="2844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45" name="Line 69"/>
            <p:cNvSpPr/>
            <p:nvPr/>
          </p:nvSpPr>
          <p:spPr>
            <a:xfrm>
              <a:off x="3276360" y="4038480"/>
              <a:ext cx="838080" cy="0"/>
            </a:xfrm>
            <a:prstGeom prst="line">
              <a:avLst/>
            </a:prstGeom>
            <a:ln w="2844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46" name="Line 70"/>
            <p:cNvSpPr/>
            <p:nvPr/>
          </p:nvSpPr>
          <p:spPr>
            <a:xfrm>
              <a:off x="3276360" y="3504960"/>
              <a:ext cx="838080" cy="533520"/>
            </a:xfrm>
            <a:prstGeom prst="line">
              <a:avLst/>
            </a:prstGeom>
            <a:ln w="2844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47" name="Line 71"/>
            <p:cNvSpPr/>
            <p:nvPr/>
          </p:nvSpPr>
          <p:spPr>
            <a:xfrm>
              <a:off x="4114440" y="3124080"/>
              <a:ext cx="0" cy="30456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8" name="Slide Number Placeholder 8"/>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915209E1-8B11-4E3A-B2CA-39868A6E117A}"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249"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250" name="Text Box 3"/>
          <p:cNvSpPr/>
          <p:nvPr/>
        </p:nvSpPr>
        <p:spPr>
          <a:xfrm>
            <a:off x="533160" y="1066680"/>
            <a:ext cx="7620120" cy="143316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Reliability of </a:t>
            </a:r>
            <a:r>
              <a:rPr lang="en-US" sz="2000" b="1" i="1" u="none" strike="noStrike">
                <a:solidFill>
                  <a:srgbClr val="000000"/>
                </a:solidFill>
                <a:effectLst/>
                <a:uFillTx/>
                <a:latin typeface="Arial"/>
                <a:ea typeface="Arial"/>
              </a:rPr>
              <a:t>n</a:t>
            </a:r>
            <a:r>
              <a:rPr lang="en-US" sz="2000" b="1" u="none" strike="noStrike">
                <a:solidFill>
                  <a:srgbClr val="000000"/>
                </a:solidFill>
                <a:effectLst/>
                <a:uFillTx/>
                <a:latin typeface="Arial"/>
                <a:ea typeface="Arial"/>
              </a:rPr>
              <a:t>-transistor system, each having failure rate </a:t>
            </a:r>
            <a:r>
              <a:rPr lang="en-US" sz="2000" b="1" u="none" strike="noStrike">
                <a:solidFill>
                  <a:srgbClr val="000000"/>
                </a:solidFill>
                <a:effectLst/>
                <a:uFillTx/>
                <a:latin typeface="Symbol"/>
                <a:ea typeface="Symbol"/>
              </a:rPr>
              <a:t></a:t>
            </a:r>
            <a:r>
              <a:rPr lang="en-US" sz="2400" b="0" u="none" strike="noStrike">
                <a:solidFill>
                  <a:srgbClr val="000000"/>
                </a:solidFill>
                <a:effectLst/>
                <a:uFillTx/>
                <a:latin typeface="Arial"/>
                <a:ea typeface="Arial"/>
              </a:rPr>
              <a:t> </a:t>
            </a:r>
            <a:endParaRPr lang="en-US" sz="24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b="0" u="none" strike="noStrike">
              <a:solidFill>
                <a:srgbClr val="000000"/>
              </a:solidFill>
              <a:effectLst/>
              <a:uFillTx/>
              <a:latin typeface="Times New Roman"/>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FF0000"/>
                </a:solidFill>
                <a:effectLst/>
                <a:uFillTx/>
                <a:latin typeface="Arial"/>
                <a:ea typeface="Arial"/>
              </a:rPr>
              <a:t>R</a:t>
            </a:r>
            <a:r>
              <a:rPr lang="en-US" sz="2400" b="1" u="none" strike="noStrike">
                <a:solidFill>
                  <a:srgbClr val="FF0000"/>
                </a:solidFill>
                <a:effectLst/>
                <a:uFillTx/>
                <a:latin typeface="Arial"/>
                <a:ea typeface="Arial"/>
              </a:rPr>
              <a:t>(</a:t>
            </a:r>
            <a:r>
              <a:rPr lang="en-US" sz="2400" b="1" i="1" u="none" strike="noStrike">
                <a:solidFill>
                  <a:srgbClr val="FF0000"/>
                </a:solidFill>
                <a:effectLst/>
                <a:uFillTx/>
                <a:latin typeface="Arial"/>
                <a:ea typeface="Arial"/>
              </a:rPr>
              <a:t>t</a:t>
            </a:r>
            <a:r>
              <a:rPr lang="en-US" sz="2400" b="1" u="none" strike="noStrike">
                <a:solidFill>
                  <a:srgbClr val="FF0000"/>
                </a:solidFill>
                <a:effectLst/>
                <a:uFillTx/>
                <a:latin typeface="Arial"/>
                <a:ea typeface="Arial"/>
              </a:rPr>
              <a:t>) = </a:t>
            </a:r>
            <a:r>
              <a:rPr lang="en-US" sz="2400" b="1" i="1" u="none" strike="noStrike">
                <a:solidFill>
                  <a:srgbClr val="FF0000"/>
                </a:solidFill>
                <a:effectLst/>
                <a:uFillTx/>
                <a:latin typeface="Arial"/>
                <a:ea typeface="Arial"/>
              </a:rPr>
              <a:t>e</a:t>
            </a:r>
            <a:r>
              <a:rPr lang="en-US" sz="2400" b="1" u="none" strike="noStrike" baseline="30000">
                <a:solidFill>
                  <a:srgbClr val="FF0000"/>
                </a:solidFill>
                <a:effectLst/>
                <a:uFillTx/>
                <a:latin typeface="Arial"/>
                <a:ea typeface="Arial"/>
              </a:rPr>
              <a:t>–</a:t>
            </a:r>
            <a:r>
              <a:rPr lang="en-US" sz="2400" b="1" i="1" u="none" strike="noStrike" baseline="30000">
                <a:solidFill>
                  <a:srgbClr val="FF0000"/>
                </a:solidFill>
                <a:effectLst/>
                <a:uFillTx/>
                <a:latin typeface="Arial"/>
                <a:ea typeface="Arial"/>
              </a:rPr>
              <a:t>n</a:t>
            </a:r>
            <a:r>
              <a:rPr lang="en-US" sz="2400" b="1" u="none" strike="noStrike" baseline="30000">
                <a:solidFill>
                  <a:srgbClr val="FF0000"/>
                </a:solidFill>
                <a:effectLst/>
                <a:uFillTx/>
                <a:latin typeface="Symbol"/>
                <a:ea typeface="Symbol"/>
              </a:rPr>
              <a:t></a:t>
            </a:r>
            <a:r>
              <a:rPr lang="en-US" sz="2400" b="1" i="1" u="none" strike="noStrike" baseline="30000">
                <a:solidFill>
                  <a:srgbClr val="FF0000"/>
                </a:solidFill>
                <a:effectLst/>
                <a:uFillTx/>
                <a:latin typeface="Arial"/>
                <a:ea typeface="Arial"/>
              </a:rPr>
              <a:t>t</a:t>
            </a:r>
            <a:r>
              <a:rPr lang="en-US" sz="2400" b="0" u="none" strike="noStrike">
                <a:solidFill>
                  <a:srgbClr val="000000"/>
                </a:solidFill>
                <a:effectLst/>
                <a:uFillTx/>
                <a:latin typeface="Arial"/>
                <a:ea typeface="Arial"/>
              </a:rPr>
              <a:t>   </a:t>
            </a:r>
            <a:endParaRPr lang="en-US" sz="24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There are only 3 ways of making systems more reliable</a:t>
            </a:r>
            <a:endParaRPr lang="en-US" sz="2000" b="0" u="none" strike="noStrike">
              <a:solidFill>
                <a:srgbClr val="000000"/>
              </a:solidFill>
              <a:effectLst/>
              <a:uFillTx/>
              <a:latin typeface="Times New Roman"/>
            </a:endParaRPr>
          </a:p>
        </p:txBody>
      </p:sp>
      <p:sp>
        <p:nvSpPr>
          <p:cNvPr id="251" name="Text Box 4"/>
          <p:cNvSpPr/>
          <p:nvPr/>
        </p:nvSpPr>
        <p:spPr>
          <a:xfrm>
            <a:off x="533160" y="2819160"/>
            <a:ext cx="2971800" cy="45936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9900"/>
                </a:solidFill>
                <a:effectLst/>
                <a:uFillTx/>
                <a:latin typeface="Arial"/>
                <a:ea typeface="Arial"/>
              </a:rPr>
              <a:t>Reduce </a:t>
            </a:r>
            <a:r>
              <a:rPr lang="en-US" sz="2400" b="1" u="none" strike="noStrike">
                <a:solidFill>
                  <a:srgbClr val="009900"/>
                </a:solidFill>
                <a:effectLst/>
                <a:uFillTx/>
                <a:latin typeface="Symbol"/>
                <a:ea typeface="Symbol"/>
              </a:rPr>
              <a:t></a:t>
            </a:r>
            <a:endParaRPr lang="en-US" sz="2400" b="0" u="none" strike="noStrike">
              <a:solidFill>
                <a:srgbClr val="000000"/>
              </a:solidFill>
              <a:effectLst/>
              <a:uFillTx/>
              <a:latin typeface="Times New Roman"/>
            </a:endParaRPr>
          </a:p>
        </p:txBody>
      </p:sp>
      <p:sp>
        <p:nvSpPr>
          <p:cNvPr id="252" name="Text Box 5"/>
          <p:cNvSpPr/>
          <p:nvPr/>
        </p:nvSpPr>
        <p:spPr>
          <a:xfrm>
            <a:off x="533160" y="3352680"/>
            <a:ext cx="2971800" cy="45936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33CC"/>
                </a:solidFill>
                <a:effectLst/>
                <a:uFillTx/>
                <a:latin typeface="Arial"/>
                <a:ea typeface="Arial"/>
              </a:rPr>
              <a:t>Reduce </a:t>
            </a:r>
            <a:r>
              <a:rPr lang="en-US" sz="2400" b="1" i="1" u="none" strike="noStrike">
                <a:solidFill>
                  <a:srgbClr val="0033CC"/>
                </a:solidFill>
                <a:effectLst/>
                <a:uFillTx/>
                <a:latin typeface="Arial"/>
                <a:ea typeface="Arial"/>
              </a:rPr>
              <a:t>n</a:t>
            </a:r>
            <a:endParaRPr lang="en-US" sz="2400" b="0" u="none" strike="noStrike">
              <a:solidFill>
                <a:srgbClr val="000000"/>
              </a:solidFill>
              <a:effectLst/>
              <a:uFillTx/>
              <a:latin typeface="Times New Roman"/>
            </a:endParaRPr>
          </a:p>
        </p:txBody>
      </p:sp>
      <p:sp>
        <p:nvSpPr>
          <p:cNvPr id="253" name="Rectangle 6"/>
          <p:cNvSpPr/>
          <p:nvPr/>
        </p:nvSpPr>
        <p:spPr>
          <a:xfrm>
            <a:off x="0" y="2019240"/>
            <a:ext cx="9144000" cy="360"/>
          </a:xfrm>
          <a:prstGeom prst="rect">
            <a:avLst/>
          </a:prstGeom>
          <a:noFill/>
          <a:ln w="38160">
            <a:noFill/>
          </a:ln>
        </p:spPr>
        <p:style>
          <a:lnRef idx="0"/>
          <a:fillRef idx="0"/>
          <a:effectRef idx="0"/>
          <a:fontRef idx="minor"/>
        </p:style>
        <p:txBody>
          <a:bodyPr wrap="none" lIns="90000" tIns="-46440" rIns="90000" bIns="-4644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pSp>
        <p:nvGrpSpPr>
          <p:cNvPr id="254" name="Group 7"/>
          <p:cNvGrpSpPr/>
          <p:nvPr/>
        </p:nvGrpSpPr>
        <p:grpSpPr>
          <a:xfrm>
            <a:off x="2666880" y="2514600"/>
            <a:ext cx="6477120" cy="3598560"/>
            <a:chOff x="2666880" y="2514600"/>
            <a:chExt cx="6477120" cy="3598560"/>
          </a:xfrm>
        </p:grpSpPr>
        <p:sp>
          <p:nvSpPr>
            <p:cNvPr id="255" name="AutoShape 8"/>
            <p:cNvSpPr/>
            <p:nvPr/>
          </p:nvSpPr>
          <p:spPr>
            <a:xfrm>
              <a:off x="2666880" y="2514600"/>
              <a:ext cx="6477120" cy="3598560"/>
            </a:xfrm>
            <a:prstGeom prst="rect">
              <a:avLst/>
            </a:prstGeom>
            <a:noFill/>
            <a:ln w="38160">
              <a:noFill/>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pic>
          <p:nvPicPr>
            <p:cNvPr id="256" name="Picture 9"/>
            <p:cNvPicPr/>
            <p:nvPr/>
          </p:nvPicPr>
          <p:blipFill>
            <a:blip r:embed="rId1"/>
            <a:stretch/>
          </p:blipFill>
          <p:spPr>
            <a:xfrm>
              <a:off x="2725200" y="2514600"/>
              <a:ext cx="6418800" cy="3598560"/>
            </a:xfrm>
            <a:prstGeom prst="rect">
              <a:avLst/>
            </a:prstGeom>
            <a:noFill/>
            <a:ln w="38160">
              <a:noFill/>
            </a:ln>
          </p:spPr>
        </p:pic>
      </p:grpSp>
      <p:sp>
        <p:nvSpPr>
          <p:cNvPr id="257" name="Text Box 10"/>
          <p:cNvSpPr/>
          <p:nvPr/>
        </p:nvSpPr>
        <p:spPr>
          <a:xfrm>
            <a:off x="533160" y="3886200"/>
            <a:ext cx="2971800" cy="45936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CC00FF"/>
                </a:solidFill>
                <a:effectLst/>
                <a:uFillTx/>
                <a:latin typeface="Arial"/>
                <a:ea typeface="Arial"/>
              </a:rPr>
              <a:t>Reduce </a:t>
            </a:r>
            <a:r>
              <a:rPr lang="en-US" sz="2400" b="1" i="1" u="none" strike="noStrike">
                <a:solidFill>
                  <a:srgbClr val="CC00FF"/>
                </a:solidFill>
                <a:effectLst/>
                <a:uFillTx/>
                <a:latin typeface="Arial"/>
                <a:ea typeface="Arial"/>
              </a:rPr>
              <a:t>t</a:t>
            </a:r>
            <a:endParaRPr lang="en-US" sz="2400" b="0" u="none" strike="noStrike">
              <a:solidFill>
                <a:srgbClr val="000000"/>
              </a:solidFill>
              <a:effectLst/>
              <a:uFillTx/>
              <a:latin typeface="Times New Roman"/>
            </a:endParaRPr>
          </a:p>
        </p:txBody>
      </p:sp>
      <p:sp>
        <p:nvSpPr>
          <p:cNvPr id="258" name="Text Box 11"/>
          <p:cNvSpPr/>
          <p:nvPr/>
        </p:nvSpPr>
        <p:spPr>
          <a:xfrm>
            <a:off x="533160" y="4572000"/>
            <a:ext cx="2971800" cy="131220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FF0000"/>
                </a:solidFill>
                <a:effectLst/>
                <a:uFillTx/>
                <a:latin typeface="Arial"/>
                <a:ea typeface="Arial"/>
              </a:rPr>
              <a:t>Alternative:</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Change the reliability formula by introducing redundancy in system</a:t>
            </a:r>
            <a:endParaRPr lang="en-US" sz="2000" b="0" u="none" strike="noStrike">
              <a:solidFill>
                <a:srgbClr val="000000"/>
              </a:solidFill>
              <a:effectLst/>
              <a:uFillTx/>
              <a:latin typeface="Times New Roman"/>
            </a:endParaRPr>
          </a:p>
        </p:txBody>
      </p:sp>
      <p:sp>
        <p:nvSpPr>
          <p:cNvPr id="259" name="PlaceHolder 1"/>
          <p:cNvSpPr>
            <a:spLocks noGrp="1"/>
          </p:cNvSpPr>
          <p:nvPr>
            <p:ph type="title"/>
          </p:nvPr>
        </p:nvSpPr>
        <p:spPr>
          <a:xfrm>
            <a:off x="457200" y="228600"/>
            <a:ext cx="8153280" cy="83808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rPr>
              <a:t>Why Dependability Is a Concern</a:t>
            </a:r>
            <a:endParaRPr lang="en-US" sz="3200" b="0" u="none" strike="noStrike">
              <a:solidFill>
                <a:srgbClr val="000000"/>
              </a:solidFill>
              <a:effectLst/>
              <a:uFillTx/>
              <a:latin typeface="Arial"/>
            </a:endParaRPr>
          </a:p>
        </p:txBody>
      </p:sp>
      <p:sp>
        <p:nvSpPr>
          <p:cNvPr id="260" name="Rectangle 13"/>
          <p:cNvSpPr/>
          <p:nvPr/>
        </p:nvSpPr>
        <p:spPr>
          <a:xfrm>
            <a:off x="7391160" y="2286000"/>
            <a:ext cx="1143000" cy="380880"/>
          </a:xfrm>
          <a:prstGeom prst="rect">
            <a:avLst/>
          </a:prstGeom>
          <a:solidFill>
            <a:srgbClr val="66FF66"/>
          </a:solidFill>
          <a:ln w="38160">
            <a:noFill/>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Fig. 1.1</a:t>
            </a:r>
            <a:endParaRPr lang="en-US" sz="2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Slide Number Placeholder 8"/>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E71B03D9-0D1F-4ED0-8D1B-CD51A006BA59}"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262"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263" name="PlaceHolder 1"/>
          <p:cNvSpPr>
            <a:spLocks noGrp="1"/>
          </p:cNvSpPr>
          <p:nvPr>
            <p:ph type="title"/>
          </p:nvPr>
        </p:nvSpPr>
        <p:spPr>
          <a:xfrm>
            <a:off x="228600" y="228240"/>
            <a:ext cx="8686800" cy="60948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ea typeface="Arial"/>
              </a:rPr>
              <a:t>The Three Principal Arguments</a:t>
            </a:r>
            <a:endParaRPr lang="en-US" sz="3200" b="0" u="none" strike="noStrike">
              <a:solidFill>
                <a:srgbClr val="000000"/>
              </a:solidFill>
              <a:effectLst/>
              <a:uFillTx/>
              <a:latin typeface="Arial"/>
            </a:endParaRPr>
          </a:p>
        </p:txBody>
      </p:sp>
      <p:sp>
        <p:nvSpPr>
          <p:cNvPr id="264" name="Text Box 4"/>
          <p:cNvSpPr/>
          <p:nvPr/>
        </p:nvSpPr>
        <p:spPr>
          <a:xfrm>
            <a:off x="380880" y="1066680"/>
            <a:ext cx="8305920" cy="367920"/>
          </a:xfrm>
          <a:prstGeom prst="rect">
            <a:avLst/>
          </a:prstGeom>
          <a:noFill/>
          <a:ln w="38160">
            <a:noFill/>
          </a:ln>
        </p:spPr>
        <p:style>
          <a:lnRef idx="0"/>
          <a:fillRef idx="0"/>
          <a:effectRef idx="0"/>
          <a:fontRef idx="minor"/>
        </p:style>
        <p:txBody>
          <a:bodyPr lIns="90000" tIns="46800" rIns="90000" bIns="46800" anchor="t">
            <a:spAutoFit/>
          </a:bodyPr>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FF0000"/>
                </a:solidFill>
                <a:effectLst/>
                <a:uFillTx/>
                <a:latin typeface="Arial"/>
                <a:ea typeface="Arial"/>
              </a:rPr>
              <a:t>The reliability argument</a:t>
            </a:r>
            <a:endParaRPr lang="en-US" sz="2000" b="0" u="none" strike="noStrike">
              <a:solidFill>
                <a:srgbClr val="000000"/>
              </a:solidFill>
              <a:effectLst/>
              <a:uFillTx/>
              <a:latin typeface="Times New Roman"/>
            </a:endParaRPr>
          </a:p>
        </p:txBody>
      </p:sp>
      <p:sp>
        <p:nvSpPr>
          <p:cNvPr id="265" name="Text Box 5"/>
          <p:cNvSpPr/>
          <p:nvPr/>
        </p:nvSpPr>
        <p:spPr>
          <a:xfrm>
            <a:off x="380880" y="1447560"/>
            <a:ext cx="4572000" cy="1847160"/>
          </a:xfrm>
          <a:prstGeom prst="rect">
            <a:avLst/>
          </a:prstGeom>
          <a:noFill/>
          <a:ln w="38160">
            <a:noFill/>
          </a:ln>
        </p:spPr>
        <p:style>
          <a:lnRef idx="0"/>
          <a:fillRef idx="0"/>
          <a:effectRef idx="0"/>
          <a:fontRef idx="minor"/>
        </p:style>
        <p:txBody>
          <a:bodyPr lIns="90000" tIns="46800" rIns="90000" bIns="46800" anchor="t">
            <a:spAutoFit/>
          </a:bodyPr>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Symbol"/>
                <a:ea typeface="Symbol"/>
              </a:rPr>
              <a:t></a:t>
            </a:r>
            <a:r>
              <a:rPr lang="en-US" sz="2000" b="0" u="none" strike="noStrike">
                <a:solidFill>
                  <a:srgbClr val="000000"/>
                </a:solidFill>
                <a:effectLst/>
                <a:uFillTx/>
                <a:latin typeface="Arial"/>
                <a:ea typeface="Arial"/>
              </a:rPr>
              <a:t> = 10</a:t>
            </a:r>
            <a:r>
              <a:rPr lang="en-US" sz="2000" b="0" u="none" strike="noStrike" baseline="30000">
                <a:solidFill>
                  <a:srgbClr val="000000"/>
                </a:solidFill>
                <a:effectLst/>
                <a:uFillTx/>
                <a:latin typeface="Arial"/>
                <a:ea typeface="Arial"/>
              </a:rPr>
              <a:t>–9</a:t>
            </a:r>
            <a:r>
              <a:rPr lang="en-US" sz="2000" b="0" u="none" strike="noStrike">
                <a:solidFill>
                  <a:srgbClr val="000000"/>
                </a:solidFill>
                <a:effectLst/>
                <a:uFillTx/>
                <a:latin typeface="Arial"/>
                <a:ea typeface="Arial"/>
              </a:rPr>
              <a:t> per transistor per hour</a:t>
            </a:r>
            <a:endParaRPr lang="en-US" sz="2000" b="0" u="none" strike="noStrike">
              <a:solidFill>
                <a:srgbClr val="000000"/>
              </a:solidFill>
              <a:effectLst/>
              <a:uFillTx/>
              <a:latin typeface="Times New Roman"/>
            </a:endParaRPr>
          </a:p>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Reliability formula </a:t>
            </a:r>
            <a:r>
              <a:rPr lang="en-US" sz="2000" b="0" i="1" u="none" strike="noStrike">
                <a:solidFill>
                  <a:srgbClr val="000000"/>
                </a:solidFill>
                <a:effectLst/>
                <a:uFillTx/>
                <a:latin typeface="Arial"/>
                <a:ea typeface="Arial"/>
              </a:rPr>
              <a:t> R</a:t>
            </a:r>
            <a:r>
              <a:rPr lang="en-US" sz="2000" b="0" u="none" strike="noStrike">
                <a:solidFill>
                  <a:srgbClr val="000000"/>
                </a:solidFill>
                <a:effectLst/>
                <a:uFillTx/>
                <a:latin typeface="Arial"/>
                <a:ea typeface="Arial"/>
              </a:rPr>
              <a:t>(</a:t>
            </a:r>
            <a:r>
              <a:rPr lang="en-US" sz="2000" b="0" i="1" u="none" strike="noStrike">
                <a:solidFill>
                  <a:srgbClr val="000000"/>
                </a:solidFill>
                <a:effectLst/>
                <a:uFillTx/>
                <a:latin typeface="Arial"/>
                <a:ea typeface="Arial"/>
              </a:rPr>
              <a:t>t</a:t>
            </a:r>
            <a:r>
              <a:rPr lang="en-US" sz="2000" b="0" u="none" strike="noStrike">
                <a:solidFill>
                  <a:srgbClr val="000000"/>
                </a:solidFill>
                <a:effectLst/>
                <a:uFillTx/>
                <a:latin typeface="Arial"/>
                <a:ea typeface="Arial"/>
              </a:rPr>
              <a:t>) = </a:t>
            </a:r>
            <a:r>
              <a:rPr lang="en-US" sz="2000" b="0" i="1" u="none" strike="noStrike">
                <a:solidFill>
                  <a:srgbClr val="000000"/>
                </a:solidFill>
                <a:effectLst/>
                <a:uFillTx/>
                <a:latin typeface="Arial"/>
                <a:ea typeface="Arial"/>
              </a:rPr>
              <a:t>e</a:t>
            </a:r>
            <a:r>
              <a:rPr lang="en-US" sz="2000" b="0" u="none" strike="noStrike" baseline="30000">
                <a:solidFill>
                  <a:srgbClr val="000000"/>
                </a:solidFill>
                <a:effectLst/>
                <a:uFillTx/>
                <a:latin typeface="Arial"/>
                <a:ea typeface="Arial"/>
              </a:rPr>
              <a:t>–</a:t>
            </a:r>
            <a:r>
              <a:rPr lang="en-US" sz="2000" b="0" i="1" u="none" strike="noStrike" baseline="30000">
                <a:solidFill>
                  <a:srgbClr val="000000"/>
                </a:solidFill>
                <a:effectLst/>
                <a:uFillTx/>
                <a:latin typeface="Arial"/>
                <a:ea typeface="Arial"/>
              </a:rPr>
              <a:t>n</a:t>
            </a:r>
            <a:r>
              <a:rPr lang="en-US" sz="2000" b="0" u="none" strike="noStrike" baseline="30000">
                <a:solidFill>
                  <a:srgbClr val="000000"/>
                </a:solidFill>
                <a:effectLst/>
                <a:uFillTx/>
                <a:latin typeface="Symbol"/>
                <a:ea typeface="Symbol"/>
              </a:rPr>
              <a:t></a:t>
            </a:r>
            <a:r>
              <a:rPr lang="en-US" sz="2000" b="0" i="1" u="none" strike="noStrike" baseline="30000">
                <a:solidFill>
                  <a:srgbClr val="000000"/>
                </a:solidFill>
                <a:effectLst/>
                <a:uFillTx/>
                <a:latin typeface="Arial"/>
                <a:ea typeface="Arial"/>
              </a:rPr>
              <a:t>t</a:t>
            </a:r>
            <a:r>
              <a:rPr lang="en-US" sz="2000" b="0" u="none" strike="noStrike">
                <a:solidFill>
                  <a:srgbClr val="000000"/>
                </a:solidFill>
                <a:effectLst/>
                <a:uFillTx/>
                <a:latin typeface="Arial"/>
                <a:ea typeface="Arial"/>
              </a:rPr>
              <a:t> </a:t>
            </a:r>
            <a:endParaRPr lang="en-US" sz="2000" b="0" u="none" strike="noStrike">
              <a:solidFill>
                <a:srgbClr val="000000"/>
              </a:solidFill>
              <a:effectLst/>
              <a:uFillTx/>
              <a:latin typeface="Times New Roman"/>
            </a:endParaRPr>
          </a:p>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800" b="0" u="none" strike="noStrike">
              <a:solidFill>
                <a:srgbClr val="000000"/>
              </a:solidFill>
              <a:effectLst/>
              <a:uFillTx/>
              <a:latin typeface="Times New Roman"/>
            </a:endParaRPr>
          </a:p>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The on-board computer of a 10-year unmanned space mission can contain only </a:t>
            </a:r>
            <a:r>
              <a:rPr lang="en-US" sz="2000" b="0" i="1" u="none" strike="noStrike">
                <a:solidFill>
                  <a:srgbClr val="000000"/>
                </a:solidFill>
                <a:effectLst/>
                <a:uFillTx/>
                <a:latin typeface="Arial"/>
                <a:ea typeface="Arial"/>
              </a:rPr>
              <a:t>O</a:t>
            </a:r>
            <a:r>
              <a:rPr lang="en-US" sz="2000" b="0" u="none" strike="noStrike">
                <a:solidFill>
                  <a:srgbClr val="000000"/>
                </a:solidFill>
                <a:effectLst/>
                <a:uFillTx/>
                <a:latin typeface="Arial"/>
                <a:ea typeface="Arial"/>
              </a:rPr>
              <a:t>(10</a:t>
            </a:r>
            <a:r>
              <a:rPr lang="en-US" sz="2000" b="0" u="none" strike="noStrike" baseline="30000">
                <a:solidFill>
                  <a:srgbClr val="000000"/>
                </a:solidFill>
                <a:effectLst/>
                <a:uFillTx/>
                <a:latin typeface="Arial"/>
                <a:ea typeface="Arial"/>
              </a:rPr>
              <a:t>3</a:t>
            </a:r>
            <a:r>
              <a:rPr lang="en-US" sz="2000" b="0" u="none" strike="noStrike">
                <a:solidFill>
                  <a:srgbClr val="000000"/>
                </a:solidFill>
                <a:effectLst/>
                <a:uFillTx/>
                <a:latin typeface="Arial"/>
                <a:ea typeface="Arial"/>
              </a:rPr>
              <a:t>) transistors if the mission </a:t>
            </a:r>
            <a:endParaRPr lang="en-US" sz="2000" b="0" u="none" strike="noStrike">
              <a:solidFill>
                <a:srgbClr val="000000"/>
              </a:solidFill>
              <a:effectLst/>
              <a:uFillTx/>
              <a:latin typeface="Times New Roman"/>
            </a:endParaRPr>
          </a:p>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is to have a 90% success probability</a:t>
            </a:r>
            <a:endParaRPr lang="en-US" sz="2000" b="0" u="none" strike="noStrike">
              <a:solidFill>
                <a:srgbClr val="000000"/>
              </a:solidFill>
              <a:effectLst/>
              <a:uFillTx/>
              <a:latin typeface="Times New Roman"/>
            </a:endParaRPr>
          </a:p>
        </p:txBody>
      </p:sp>
      <p:grpSp>
        <p:nvGrpSpPr>
          <p:cNvPr id="266" name="Group 18"/>
          <p:cNvGrpSpPr/>
          <p:nvPr/>
        </p:nvGrpSpPr>
        <p:grpSpPr>
          <a:xfrm>
            <a:off x="380880" y="3504960"/>
            <a:ext cx="8458200" cy="1571040"/>
            <a:chOff x="380880" y="3504960"/>
            <a:chExt cx="8458200" cy="1571040"/>
          </a:xfrm>
        </p:grpSpPr>
        <p:sp>
          <p:nvSpPr>
            <p:cNvPr id="267" name="Text Box 7"/>
            <p:cNvSpPr/>
            <p:nvPr/>
          </p:nvSpPr>
          <p:spPr>
            <a:xfrm>
              <a:off x="380880" y="3504960"/>
              <a:ext cx="8305920" cy="367920"/>
            </a:xfrm>
            <a:prstGeom prst="rect">
              <a:avLst/>
            </a:prstGeom>
            <a:noFill/>
            <a:ln w="38160">
              <a:noFill/>
            </a:ln>
          </p:spPr>
          <p:style>
            <a:lnRef idx="0"/>
            <a:fillRef idx="0"/>
            <a:effectRef idx="0"/>
            <a:fontRef idx="minor"/>
          </p:style>
          <p:txBody>
            <a:bodyPr lIns="90000" tIns="46800" rIns="90000" bIns="46800" anchor="t">
              <a:spAutoFit/>
            </a:bodyPr>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FF0000"/>
                  </a:solidFill>
                  <a:effectLst/>
                  <a:uFillTx/>
                  <a:latin typeface="Arial"/>
                  <a:ea typeface="Arial"/>
                </a:rPr>
                <a:t>The safety argument</a:t>
              </a:r>
              <a:endParaRPr lang="en-US" sz="2000" b="0" u="none" strike="noStrike">
                <a:solidFill>
                  <a:srgbClr val="000000"/>
                </a:solidFill>
                <a:effectLst/>
                <a:uFillTx/>
                <a:latin typeface="Times New Roman"/>
              </a:endParaRPr>
            </a:p>
          </p:txBody>
        </p:sp>
        <p:sp>
          <p:nvSpPr>
            <p:cNvPr id="268" name="Text Box 8"/>
            <p:cNvSpPr/>
            <p:nvPr/>
          </p:nvSpPr>
          <p:spPr>
            <a:xfrm>
              <a:off x="380880" y="3886200"/>
              <a:ext cx="8458200" cy="1189800"/>
            </a:xfrm>
            <a:prstGeom prst="rect">
              <a:avLst/>
            </a:prstGeom>
            <a:noFill/>
            <a:ln w="38160">
              <a:noFill/>
            </a:ln>
          </p:spPr>
          <p:style>
            <a:lnRef idx="0"/>
            <a:fillRef idx="0"/>
            <a:effectRef idx="0"/>
            <a:fontRef idx="minor"/>
          </p:style>
          <p:txBody>
            <a:bodyPr lIns="90000" tIns="46800" rIns="90000" bIns="46800" anchor="t">
              <a:spAutoFit/>
            </a:bodyPr>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Airline’s risk: </a:t>
              </a:r>
              <a:r>
                <a:rPr lang="en-US" sz="2000" b="0" i="1" u="none" strike="noStrike">
                  <a:solidFill>
                    <a:srgbClr val="000000"/>
                  </a:solidFill>
                  <a:effectLst/>
                  <a:uFillTx/>
                  <a:latin typeface="Arial"/>
                  <a:ea typeface="Arial"/>
                </a:rPr>
                <a:t>O</a:t>
              </a:r>
              <a:r>
                <a:rPr lang="en-US" sz="2000" b="0" u="none" strike="noStrike">
                  <a:solidFill>
                    <a:srgbClr val="000000"/>
                  </a:solidFill>
                  <a:effectLst/>
                  <a:uFillTx/>
                  <a:latin typeface="Arial"/>
                  <a:ea typeface="Arial"/>
                </a:rPr>
                <a:t>(10</a:t>
              </a:r>
              <a:r>
                <a:rPr lang="en-US" sz="2000" b="0" u="none" strike="noStrike" baseline="30000">
                  <a:solidFill>
                    <a:srgbClr val="000000"/>
                  </a:solidFill>
                  <a:effectLst/>
                  <a:uFillTx/>
                  <a:latin typeface="Arial"/>
                  <a:ea typeface="Arial"/>
                </a:rPr>
                <a:t>3</a:t>
              </a:r>
              <a:r>
                <a:rPr lang="en-US" sz="2000" b="0" u="none" strike="noStrike">
                  <a:solidFill>
                    <a:srgbClr val="000000"/>
                  </a:solidFill>
                  <a:effectLst/>
                  <a:uFillTx/>
                  <a:latin typeface="Arial"/>
                  <a:ea typeface="Arial"/>
                </a:rPr>
                <a:t>) planes </a:t>
              </a:r>
              <a:r>
                <a:rPr lang="en-US" sz="2000" b="1" u="none" strike="noStrike">
                  <a:solidFill>
                    <a:srgbClr val="000000"/>
                  </a:solidFill>
                  <a:effectLst/>
                  <a:uFillTx/>
                  <a:latin typeface="Symbol"/>
                  <a:ea typeface="Symbol"/>
                </a:rPr>
                <a:t></a:t>
              </a:r>
              <a:r>
                <a:rPr lang="en-US" sz="2000" b="0" u="none" strike="noStrike">
                  <a:solidFill>
                    <a:srgbClr val="000000"/>
                  </a:solidFill>
                  <a:effectLst/>
                  <a:uFillTx/>
                  <a:latin typeface="Arial"/>
                  <a:ea typeface="Arial"/>
                </a:rPr>
                <a:t> </a:t>
              </a:r>
              <a:r>
                <a:rPr lang="en-US" sz="2000" b="0" i="1" u="none" strike="noStrike">
                  <a:solidFill>
                    <a:srgbClr val="000000"/>
                  </a:solidFill>
                  <a:effectLst/>
                  <a:uFillTx/>
                  <a:latin typeface="Arial"/>
                  <a:ea typeface="Arial"/>
                </a:rPr>
                <a:t>O</a:t>
              </a:r>
              <a:r>
                <a:rPr lang="en-US" sz="2000" b="0" u="none" strike="noStrike">
                  <a:solidFill>
                    <a:srgbClr val="000000"/>
                  </a:solidFill>
                  <a:effectLst/>
                  <a:uFillTx/>
                  <a:latin typeface="Arial"/>
                  <a:ea typeface="Arial"/>
                </a:rPr>
                <a:t>(10</a:t>
              </a:r>
              <a:r>
                <a:rPr lang="en-US" sz="2000" b="0" u="none" strike="noStrike" baseline="30000">
                  <a:solidFill>
                    <a:srgbClr val="000000"/>
                  </a:solidFill>
                  <a:effectLst/>
                  <a:uFillTx/>
                  <a:latin typeface="Arial"/>
                  <a:ea typeface="Arial"/>
                </a:rPr>
                <a:t>2</a:t>
              </a:r>
              <a:r>
                <a:rPr lang="en-US" sz="2000" b="0" u="none" strike="noStrike">
                  <a:solidFill>
                    <a:srgbClr val="000000"/>
                  </a:solidFill>
                  <a:effectLst/>
                  <a:uFillTx/>
                  <a:latin typeface="Arial"/>
                  <a:ea typeface="Arial"/>
                </a:rPr>
                <a:t>) flights </a:t>
              </a:r>
              <a:r>
                <a:rPr lang="en-US" sz="2000" b="1" u="none" strike="noStrike">
                  <a:solidFill>
                    <a:srgbClr val="000000"/>
                  </a:solidFill>
                  <a:effectLst/>
                  <a:uFillTx/>
                  <a:latin typeface="Symbol"/>
                  <a:ea typeface="Symbol"/>
                </a:rPr>
                <a:t></a:t>
              </a:r>
              <a:r>
                <a:rPr lang="en-US" sz="2000" b="0" u="none" strike="noStrike">
                  <a:solidFill>
                    <a:srgbClr val="000000"/>
                  </a:solidFill>
                  <a:effectLst/>
                  <a:uFillTx/>
                  <a:latin typeface="Arial"/>
                  <a:ea typeface="Arial"/>
                </a:rPr>
                <a:t> 10</a:t>
              </a:r>
              <a:r>
                <a:rPr lang="en-US" sz="2000" b="0" u="none" strike="noStrike" baseline="30000">
                  <a:solidFill>
                    <a:srgbClr val="000000"/>
                  </a:solidFill>
                  <a:effectLst/>
                  <a:uFillTx/>
                  <a:latin typeface="Arial"/>
                  <a:ea typeface="Arial"/>
                </a:rPr>
                <a:t>–2 </a:t>
              </a:r>
              <a:r>
                <a:rPr lang="en-US" sz="2000" b="0" u="none" strike="noStrike">
                  <a:solidFill>
                    <a:srgbClr val="000000"/>
                  </a:solidFill>
                  <a:effectLst/>
                  <a:uFillTx/>
                  <a:latin typeface="Arial"/>
                  <a:ea typeface="Arial"/>
                </a:rPr>
                <a:t>computer failures</a:t>
              </a:r>
              <a:r>
                <a:rPr lang="en-US" sz="10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a:t>
              </a:r>
              <a:r>
                <a:rPr lang="en-US" sz="10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10</a:t>
              </a:r>
              <a:r>
                <a:rPr lang="en-US" sz="12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hr</a:t>
              </a:r>
              <a:endParaRPr lang="en-US" sz="2000" b="0" u="none" strike="noStrike">
                <a:solidFill>
                  <a:srgbClr val="000000"/>
                </a:solidFill>
                <a:effectLst/>
                <a:uFillTx/>
                <a:latin typeface="Times New Roman"/>
              </a:endParaRPr>
            </a:p>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     </a:t>
              </a:r>
              <a:r>
                <a:rPr lang="en-US" sz="2000" b="1" u="none" strike="noStrike">
                  <a:solidFill>
                    <a:srgbClr val="000000"/>
                  </a:solidFill>
                  <a:effectLst/>
                  <a:uFillTx/>
                  <a:latin typeface="Symbol"/>
                  <a:ea typeface="Symbol"/>
                </a:rPr>
                <a:t></a:t>
              </a:r>
              <a:r>
                <a:rPr lang="en-US" sz="2000" b="0" u="none" strike="noStrike">
                  <a:solidFill>
                    <a:srgbClr val="000000"/>
                  </a:solidFill>
                  <a:effectLst/>
                  <a:uFillTx/>
                  <a:latin typeface="Arial"/>
                  <a:ea typeface="Arial"/>
                </a:rPr>
                <a:t> 0.001 crash</a:t>
              </a:r>
              <a:r>
                <a:rPr lang="en-US" sz="10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a:t>
              </a:r>
              <a:r>
                <a:rPr lang="en-US" sz="10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failure </a:t>
              </a:r>
              <a:r>
                <a:rPr lang="en-US" sz="2000" b="1" u="none" strike="noStrike">
                  <a:solidFill>
                    <a:srgbClr val="000000"/>
                  </a:solidFill>
                  <a:effectLst/>
                  <a:uFillTx/>
                  <a:latin typeface="Symbol"/>
                  <a:ea typeface="Symbol"/>
                </a:rPr>
                <a:t></a:t>
              </a:r>
              <a:r>
                <a:rPr lang="en-US" sz="2000" b="0" u="none" strike="noStrike">
                  <a:solidFill>
                    <a:srgbClr val="000000"/>
                  </a:solidFill>
                  <a:effectLst/>
                  <a:uFillTx/>
                  <a:latin typeface="Arial"/>
                  <a:ea typeface="Arial"/>
                </a:rPr>
                <a:t> </a:t>
              </a:r>
              <a:r>
                <a:rPr lang="en-US" sz="2000" b="0" i="1" u="none" strike="noStrike">
                  <a:solidFill>
                    <a:srgbClr val="000000"/>
                  </a:solidFill>
                  <a:effectLst/>
                  <a:uFillTx/>
                  <a:latin typeface="Arial"/>
                  <a:ea typeface="Arial"/>
                </a:rPr>
                <a:t>O</a:t>
              </a:r>
              <a:r>
                <a:rPr lang="en-US" sz="2000" b="0" u="none" strike="noStrike">
                  <a:solidFill>
                    <a:srgbClr val="000000"/>
                  </a:solidFill>
                  <a:effectLst/>
                  <a:uFillTx/>
                  <a:latin typeface="Arial"/>
                  <a:ea typeface="Arial"/>
                </a:rPr>
                <a:t>(10</a:t>
              </a:r>
              <a:r>
                <a:rPr lang="en-US" sz="2000" b="0" u="none" strike="noStrike" baseline="30000">
                  <a:solidFill>
                    <a:srgbClr val="000000"/>
                  </a:solidFill>
                  <a:effectLst/>
                  <a:uFillTx/>
                  <a:latin typeface="Arial"/>
                  <a:ea typeface="Arial"/>
                </a:rPr>
                <a:t>2</a:t>
              </a:r>
              <a:r>
                <a:rPr lang="en-US" sz="2000" b="0" u="none" strike="noStrike">
                  <a:solidFill>
                    <a:srgbClr val="000000"/>
                  </a:solidFill>
                  <a:effectLst/>
                  <a:uFillTx/>
                  <a:latin typeface="Arial"/>
                  <a:ea typeface="Arial"/>
                </a:rPr>
                <a:t>) deaths </a:t>
              </a:r>
              <a:r>
                <a:rPr lang="en-US" sz="2000" b="1" u="none" strike="noStrike">
                  <a:solidFill>
                    <a:srgbClr val="000000"/>
                  </a:solidFill>
                  <a:effectLst/>
                  <a:uFillTx/>
                  <a:latin typeface="Symbol"/>
                  <a:ea typeface="Symbol"/>
                </a:rPr>
                <a:t></a:t>
              </a:r>
              <a:r>
                <a:rPr lang="en-US" sz="2000" b="0" u="none" strike="noStrike">
                  <a:solidFill>
                    <a:srgbClr val="000000"/>
                  </a:solidFill>
                  <a:effectLst/>
                  <a:uFillTx/>
                  <a:latin typeface="Arial"/>
                  <a:ea typeface="Arial"/>
                </a:rPr>
                <a:t> </a:t>
              </a:r>
              <a:r>
                <a:rPr lang="en-US" sz="2000" b="0" i="1" u="none" strike="noStrike">
                  <a:solidFill>
                    <a:srgbClr val="000000"/>
                  </a:solidFill>
                  <a:effectLst/>
                  <a:uFillTx/>
                  <a:latin typeface="Arial"/>
                  <a:ea typeface="Arial"/>
                </a:rPr>
                <a:t>O</a:t>
              </a:r>
              <a:r>
                <a:rPr lang="en-US" sz="2000" b="0" u="none" strike="noStrike">
                  <a:solidFill>
                    <a:srgbClr val="000000"/>
                  </a:solidFill>
                  <a:effectLst/>
                  <a:uFillTx/>
                  <a:latin typeface="Arial"/>
                  <a:ea typeface="Arial"/>
                </a:rPr>
                <a:t>($10</a:t>
              </a:r>
              <a:r>
                <a:rPr lang="en-US" sz="2000" b="0" u="none" strike="noStrike" baseline="30000">
                  <a:solidFill>
                    <a:srgbClr val="000000"/>
                  </a:solidFill>
                  <a:effectLst/>
                  <a:uFillTx/>
                  <a:latin typeface="Arial"/>
                  <a:ea typeface="Arial"/>
                </a:rPr>
                <a:t>7</a:t>
              </a:r>
              <a:r>
                <a:rPr lang="en-US" sz="2000" b="0" u="none" strike="noStrike">
                  <a:solidFill>
                    <a:srgbClr val="000000"/>
                  </a:solidFill>
                  <a:effectLst/>
                  <a:uFillTx/>
                  <a:latin typeface="Arial"/>
                  <a:ea typeface="Arial"/>
                </a:rPr>
                <a:t>)</a:t>
              </a:r>
              <a:r>
                <a:rPr lang="en-US" sz="10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a:t>
              </a:r>
              <a:r>
                <a:rPr lang="en-US" sz="10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death = $ billions</a:t>
              </a:r>
              <a:r>
                <a:rPr lang="en-US" sz="10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a:t>
              </a:r>
              <a:r>
                <a:rPr lang="en-US" sz="10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yr</a:t>
              </a:r>
              <a:endParaRPr lang="en-US" sz="2000" b="0" u="none" strike="noStrike">
                <a:solidFill>
                  <a:srgbClr val="000000"/>
                </a:solidFill>
                <a:effectLst/>
                <a:uFillTx/>
                <a:latin typeface="Times New Roman"/>
              </a:endParaRPr>
            </a:p>
          </p:txBody>
        </p:sp>
      </p:grpSp>
      <p:grpSp>
        <p:nvGrpSpPr>
          <p:cNvPr id="269" name="Group 17"/>
          <p:cNvGrpSpPr/>
          <p:nvPr/>
        </p:nvGrpSpPr>
        <p:grpSpPr>
          <a:xfrm>
            <a:off x="380880" y="4724280"/>
            <a:ext cx="8305920" cy="1296720"/>
            <a:chOff x="380880" y="4724280"/>
            <a:chExt cx="8305920" cy="1296720"/>
          </a:xfrm>
        </p:grpSpPr>
        <p:sp>
          <p:nvSpPr>
            <p:cNvPr id="270" name="Text Box 10"/>
            <p:cNvSpPr/>
            <p:nvPr/>
          </p:nvSpPr>
          <p:spPr>
            <a:xfrm>
              <a:off x="380880" y="4724280"/>
              <a:ext cx="8305920" cy="367920"/>
            </a:xfrm>
            <a:prstGeom prst="rect">
              <a:avLst/>
            </a:prstGeom>
            <a:noFill/>
            <a:ln w="38160">
              <a:noFill/>
            </a:ln>
          </p:spPr>
          <p:style>
            <a:lnRef idx="0"/>
            <a:fillRef idx="0"/>
            <a:effectRef idx="0"/>
            <a:fontRef idx="minor"/>
          </p:style>
          <p:txBody>
            <a:bodyPr lIns="90000" tIns="46800" rIns="90000" bIns="46800" anchor="t">
              <a:spAutoFit/>
            </a:bodyPr>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FF0000"/>
                  </a:solidFill>
                  <a:effectLst/>
                  <a:uFillTx/>
                  <a:latin typeface="Arial"/>
                  <a:ea typeface="Arial"/>
                </a:rPr>
                <a:t>The availability argument</a:t>
              </a:r>
              <a:endParaRPr lang="en-US" sz="2000" b="0" u="none" strike="noStrike">
                <a:solidFill>
                  <a:srgbClr val="000000"/>
                </a:solidFill>
                <a:effectLst/>
                <a:uFillTx/>
                <a:latin typeface="Times New Roman"/>
              </a:endParaRPr>
            </a:p>
          </p:txBody>
        </p:sp>
        <p:sp>
          <p:nvSpPr>
            <p:cNvPr id="271" name="Text Box 11"/>
            <p:cNvSpPr/>
            <p:nvPr/>
          </p:nvSpPr>
          <p:spPr>
            <a:xfrm>
              <a:off x="380880" y="5105160"/>
              <a:ext cx="8305920" cy="915840"/>
            </a:xfrm>
            <a:prstGeom prst="rect">
              <a:avLst/>
            </a:prstGeom>
            <a:noFill/>
            <a:ln w="38160">
              <a:noFill/>
            </a:ln>
          </p:spPr>
          <p:style>
            <a:lnRef idx="0"/>
            <a:fillRef idx="0"/>
            <a:effectRef idx="0"/>
            <a:fontRef idx="minor"/>
          </p:style>
          <p:txBody>
            <a:bodyPr lIns="90000" tIns="46800" rIns="90000" bIns="46800" anchor="t">
              <a:spAutoFit/>
            </a:bodyPr>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A central phone facility’s down time should not exceed a few minutes</a:t>
              </a:r>
              <a:r>
                <a:rPr lang="en-US" sz="10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a:t>
              </a:r>
              <a:r>
                <a:rPr lang="en-US" sz="10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yr</a:t>
              </a:r>
              <a:endParaRPr lang="en-US" sz="2000" b="0" u="none" strike="noStrike">
                <a:solidFill>
                  <a:srgbClr val="000000"/>
                </a:solidFill>
                <a:effectLst/>
                <a:uFillTx/>
                <a:latin typeface="Times New Roman"/>
              </a:endParaRPr>
            </a:p>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Mean time to failure:</a:t>
              </a:r>
              <a:r>
                <a:rPr lang="en-US" sz="2000" b="0" i="1"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MTTF = 1/(</a:t>
              </a:r>
              <a:r>
                <a:rPr lang="en-US" sz="2000" b="0" i="1" u="none" strike="noStrike">
                  <a:solidFill>
                    <a:srgbClr val="000000"/>
                  </a:solidFill>
                  <a:effectLst/>
                  <a:uFillTx/>
                  <a:latin typeface="Arial"/>
                  <a:ea typeface="Arial"/>
                </a:rPr>
                <a:t>n</a:t>
              </a:r>
              <a:r>
                <a:rPr lang="en-US" sz="2000" b="0" u="none" strike="noStrike">
                  <a:solidFill>
                    <a:srgbClr val="000000"/>
                  </a:solidFill>
                  <a:effectLst/>
                  <a:uFillTx/>
                  <a:latin typeface="Symbol"/>
                  <a:ea typeface="Symbol"/>
                </a:rPr>
                <a:t></a:t>
              </a:r>
              <a:r>
                <a:rPr lang="en-US" sz="2000" b="0" u="none" strike="noStrike">
                  <a:solidFill>
                    <a:srgbClr val="000000"/>
                  </a:solidFill>
                  <a:effectLst/>
                  <a:uFillTx/>
                  <a:latin typeface="Arial"/>
                  <a:ea typeface="Arial"/>
                </a:rPr>
                <a:t>) </a:t>
              </a:r>
              <a:r>
                <a:rPr lang="en-US" sz="2000" b="0" u="none" strike="noStrike">
                  <a:solidFill>
                    <a:srgbClr val="000000"/>
                  </a:solidFill>
                  <a:effectLst/>
                  <a:uFillTx/>
                  <a:latin typeface="Wingdings"/>
                  <a:ea typeface="Wingdings"/>
                </a:rPr>
                <a:t></a:t>
              </a:r>
              <a:r>
                <a:rPr lang="en-US" sz="2000" b="0" u="none" strike="noStrike">
                  <a:solidFill>
                    <a:srgbClr val="000000"/>
                  </a:solidFill>
                  <a:effectLst/>
                  <a:uFillTx/>
                  <a:latin typeface="Arial"/>
                  <a:ea typeface="Arial"/>
                </a:rPr>
                <a:t> </a:t>
              </a:r>
              <a:endParaRPr lang="en-US" sz="2000" b="0" u="none" strike="noStrike">
                <a:solidFill>
                  <a:srgbClr val="000000"/>
                </a:solidFill>
                <a:effectLst/>
                <a:uFillTx/>
                <a:latin typeface="Times New Roman"/>
              </a:endParaRPr>
            </a:p>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Components </a:t>
              </a:r>
              <a:r>
                <a:rPr lang="en-US" sz="2000" b="0" i="1" u="none" strike="noStrike">
                  <a:solidFill>
                    <a:srgbClr val="000000"/>
                  </a:solidFill>
                  <a:effectLst/>
                  <a:uFillTx/>
                  <a:latin typeface="Arial"/>
                  <a:ea typeface="Arial"/>
                </a:rPr>
                <a:t>n</a:t>
              </a:r>
              <a:r>
                <a:rPr lang="en-US" sz="2000" b="0" u="none" strike="noStrike">
                  <a:solidFill>
                    <a:srgbClr val="000000"/>
                  </a:solidFill>
                  <a:effectLst/>
                  <a:uFillTx/>
                  <a:latin typeface="Arial"/>
                  <a:ea typeface="Arial"/>
                </a:rPr>
                <a:t> = </a:t>
              </a:r>
              <a:r>
                <a:rPr lang="en-US" sz="2000" b="0" i="1" u="none" strike="noStrike">
                  <a:solidFill>
                    <a:srgbClr val="000000"/>
                  </a:solidFill>
                  <a:effectLst/>
                  <a:uFillTx/>
                  <a:latin typeface="Arial"/>
                  <a:ea typeface="Arial"/>
                </a:rPr>
                <a:t>O</a:t>
              </a:r>
              <a:r>
                <a:rPr lang="en-US" sz="2000" b="0" u="none" strike="noStrike">
                  <a:solidFill>
                    <a:srgbClr val="000000"/>
                  </a:solidFill>
                  <a:effectLst/>
                  <a:uFillTx/>
                  <a:latin typeface="Arial"/>
                  <a:ea typeface="Arial"/>
                </a:rPr>
                <a:t>(10</a:t>
              </a:r>
              <a:r>
                <a:rPr lang="en-US" sz="2000" b="0" u="none" strike="noStrike" baseline="30000">
                  <a:solidFill>
                    <a:srgbClr val="000000"/>
                  </a:solidFill>
                  <a:effectLst/>
                  <a:uFillTx/>
                  <a:latin typeface="Arial"/>
                  <a:ea typeface="Arial"/>
                </a:rPr>
                <a:t>4</a:t>
              </a:r>
              <a:r>
                <a:rPr lang="en-US" sz="2000" b="0" u="none" strike="noStrike">
                  <a:solidFill>
                    <a:srgbClr val="000000"/>
                  </a:solidFill>
                  <a:effectLst/>
                  <a:uFillTx/>
                  <a:latin typeface="Arial"/>
                  <a:ea typeface="Arial"/>
                </a:rPr>
                <a:t>), if we need 20-30 min for diagnosis and repair </a:t>
              </a:r>
              <a:endParaRPr lang="en-US" sz="2000" b="0" u="none" strike="noStrike">
                <a:solidFill>
                  <a:srgbClr val="000000"/>
                </a:solidFill>
                <a:effectLst/>
                <a:uFillTx/>
                <a:latin typeface="Times New Roman"/>
              </a:endParaRPr>
            </a:p>
          </p:txBody>
        </p:sp>
      </p:grpSp>
      <p:grpSp>
        <p:nvGrpSpPr>
          <p:cNvPr id="272" name="Group 13"/>
          <p:cNvGrpSpPr/>
          <p:nvPr/>
        </p:nvGrpSpPr>
        <p:grpSpPr>
          <a:xfrm>
            <a:off x="4572000" y="990360"/>
            <a:ext cx="4572000" cy="2625840"/>
            <a:chOff x="4572000" y="990360"/>
            <a:chExt cx="4572000" cy="2625840"/>
          </a:xfrm>
        </p:grpSpPr>
        <p:sp>
          <p:nvSpPr>
            <p:cNvPr id="273" name="AutoShape 14"/>
            <p:cNvSpPr/>
            <p:nvPr/>
          </p:nvSpPr>
          <p:spPr>
            <a:xfrm>
              <a:off x="4572000" y="990360"/>
              <a:ext cx="4572000" cy="2625840"/>
            </a:xfrm>
            <a:prstGeom prst="rect">
              <a:avLst/>
            </a:prstGeom>
            <a:noFill/>
            <a:ln w="38160">
              <a:noFill/>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pic>
          <p:nvPicPr>
            <p:cNvPr id="274" name="Picture 15"/>
            <p:cNvPicPr/>
            <p:nvPr/>
          </p:nvPicPr>
          <p:blipFill>
            <a:blip r:embed="rId1"/>
            <a:stretch/>
          </p:blipFill>
          <p:spPr>
            <a:xfrm>
              <a:off x="4613040" y="990360"/>
              <a:ext cx="4530600" cy="2625840"/>
            </a:xfrm>
            <a:prstGeom prst="rect">
              <a:avLst/>
            </a:prstGeom>
            <a:noFill/>
            <a:ln w="38160">
              <a:noFill/>
            </a:ln>
          </p:spPr>
        </p:pic>
      </p:grpSp>
      <p:sp>
        <p:nvSpPr>
          <p:cNvPr id="275" name="Rectangle 19"/>
          <p:cNvSpPr/>
          <p:nvPr/>
        </p:nvSpPr>
        <p:spPr>
          <a:xfrm>
            <a:off x="5715000" y="2590560"/>
            <a:ext cx="1143000" cy="381240"/>
          </a:xfrm>
          <a:prstGeom prst="rect">
            <a:avLst/>
          </a:prstGeom>
          <a:solidFill>
            <a:srgbClr val="66FF66"/>
          </a:solidFill>
          <a:ln w="38160">
            <a:noFill/>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Fig. 1.1</a:t>
            </a:r>
            <a:endParaRPr lang="en-US" sz="2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 name="Slide Number Placeholder 8"/>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66464656-D818-4484-8993-6C3DE8585584}"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277"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278" name="PlaceHolder 1"/>
          <p:cNvSpPr>
            <a:spLocks noGrp="1"/>
          </p:cNvSpPr>
          <p:nvPr>
            <p:ph type="title"/>
          </p:nvPr>
        </p:nvSpPr>
        <p:spPr>
          <a:xfrm>
            <a:off x="228600" y="228240"/>
            <a:ext cx="8686800" cy="68580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000000"/>
                </a:solidFill>
                <a:effectLst/>
                <a:uFillTx/>
                <a:latin typeface="Arial"/>
                <a:ea typeface="Arial"/>
              </a:rPr>
              <a:t>1.2  A Motivating Case Study</a:t>
            </a:r>
            <a:endParaRPr lang="en-US" sz="3600" b="0" u="none" strike="noStrike">
              <a:solidFill>
                <a:srgbClr val="000000"/>
              </a:solidFill>
              <a:effectLst/>
              <a:uFillTx/>
              <a:latin typeface="Arial"/>
            </a:endParaRPr>
          </a:p>
        </p:txBody>
      </p:sp>
      <p:sp>
        <p:nvSpPr>
          <p:cNvPr id="279" name="Text Box 4"/>
          <p:cNvSpPr/>
          <p:nvPr/>
        </p:nvSpPr>
        <p:spPr>
          <a:xfrm>
            <a:off x="533160" y="990360"/>
            <a:ext cx="4953240" cy="367920"/>
          </a:xfrm>
          <a:prstGeom prst="rect">
            <a:avLst/>
          </a:prstGeom>
          <a:noFill/>
          <a:ln w="38160">
            <a:noFill/>
          </a:ln>
        </p:spPr>
        <p:style>
          <a:lnRef idx="0"/>
          <a:fillRef idx="0"/>
          <a:effectRef idx="0"/>
          <a:fontRef idx="minor"/>
        </p:style>
        <p:txBody>
          <a:bodyPr lIns="90000" tIns="46800" rIns="90000" bIns="46800" anchor="t">
            <a:spAutoFit/>
          </a:bodyPr>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CC3300"/>
                </a:solidFill>
                <a:effectLst/>
                <a:uFillTx/>
                <a:latin typeface="Arial"/>
                <a:ea typeface="Arial"/>
              </a:rPr>
              <a:t>Data availability and integrity concerns</a:t>
            </a:r>
            <a:endParaRPr lang="en-US" sz="2000" b="0" u="none" strike="noStrike">
              <a:solidFill>
                <a:srgbClr val="000000"/>
              </a:solidFill>
              <a:effectLst/>
              <a:uFillTx/>
              <a:latin typeface="Times New Roman"/>
            </a:endParaRPr>
          </a:p>
        </p:txBody>
      </p:sp>
      <p:sp>
        <p:nvSpPr>
          <p:cNvPr id="280" name="Text Box 5"/>
          <p:cNvSpPr/>
          <p:nvPr/>
        </p:nvSpPr>
        <p:spPr>
          <a:xfrm>
            <a:off x="533160" y="1371600"/>
            <a:ext cx="4267440" cy="1463760"/>
          </a:xfrm>
          <a:prstGeom prst="rect">
            <a:avLst/>
          </a:prstGeom>
          <a:noFill/>
          <a:ln w="38160">
            <a:noFill/>
          </a:ln>
        </p:spPr>
        <p:style>
          <a:lnRef idx="0"/>
          <a:fillRef idx="0"/>
          <a:effectRef idx="0"/>
          <a:fontRef idx="minor"/>
        </p:style>
        <p:txBody>
          <a:bodyPr lIns="90000" tIns="46800" rIns="90000" bIns="46800" anchor="t">
            <a:spAutoFit/>
          </a:bodyPr>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Distributed DB system with 5 sites</a:t>
            </a:r>
            <a:endParaRPr lang="en-US" sz="2000" b="0" u="none" strike="noStrike">
              <a:solidFill>
                <a:srgbClr val="000000"/>
              </a:solidFill>
              <a:effectLst/>
              <a:uFillTx/>
              <a:latin typeface="Times New Roman"/>
            </a:endParaRPr>
          </a:p>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Full connectivity, dedicated links</a:t>
            </a:r>
            <a:endParaRPr lang="en-US" sz="2000" b="0" u="none" strike="noStrike">
              <a:solidFill>
                <a:srgbClr val="000000"/>
              </a:solidFill>
              <a:effectLst/>
              <a:uFillTx/>
              <a:latin typeface="Times New Roman"/>
            </a:endParaRPr>
          </a:p>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Only direct communication allowed</a:t>
            </a:r>
            <a:endParaRPr lang="en-US" sz="2000" b="0" u="none" strike="noStrike">
              <a:solidFill>
                <a:srgbClr val="000000"/>
              </a:solidFill>
              <a:effectLst/>
              <a:uFillTx/>
              <a:latin typeface="Times New Roman"/>
            </a:endParaRPr>
          </a:p>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Sites and links may malfunction</a:t>
            </a:r>
            <a:endParaRPr lang="en-US" sz="2000" b="0" u="none" strike="noStrike">
              <a:solidFill>
                <a:srgbClr val="000000"/>
              </a:solidFill>
              <a:effectLst/>
              <a:uFillTx/>
              <a:latin typeface="Times New Roman"/>
            </a:endParaRPr>
          </a:p>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Redundancy improves availability</a:t>
            </a:r>
            <a:endParaRPr lang="en-US" sz="2000" b="0" u="none" strike="noStrike">
              <a:solidFill>
                <a:srgbClr val="000000"/>
              </a:solidFill>
              <a:effectLst/>
              <a:uFillTx/>
              <a:latin typeface="Times New Roman"/>
            </a:endParaRPr>
          </a:p>
        </p:txBody>
      </p:sp>
      <p:sp>
        <p:nvSpPr>
          <p:cNvPr id="281" name="Rectangle 15"/>
          <p:cNvSpPr/>
          <p:nvPr/>
        </p:nvSpPr>
        <p:spPr>
          <a:xfrm>
            <a:off x="0" y="2330280"/>
            <a:ext cx="9144000" cy="360"/>
          </a:xfrm>
          <a:prstGeom prst="rect">
            <a:avLst/>
          </a:prstGeom>
          <a:noFill/>
          <a:ln w="38160">
            <a:noFill/>
          </a:ln>
        </p:spPr>
        <p:style>
          <a:lnRef idx="0"/>
          <a:fillRef idx="0"/>
          <a:effectRef idx="0"/>
          <a:fontRef idx="minor"/>
        </p:style>
        <p:txBody>
          <a:bodyPr wrap="none" lIns="90000" tIns="-46440" rIns="90000" bIns="-4644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pSp>
        <p:nvGrpSpPr>
          <p:cNvPr id="282" name="Group 12"/>
          <p:cNvGrpSpPr/>
          <p:nvPr/>
        </p:nvGrpSpPr>
        <p:grpSpPr>
          <a:xfrm>
            <a:off x="4800600" y="990360"/>
            <a:ext cx="4114800" cy="3470400"/>
            <a:chOff x="4800600" y="990360"/>
            <a:chExt cx="4114800" cy="3470400"/>
          </a:xfrm>
        </p:grpSpPr>
        <p:sp>
          <p:nvSpPr>
            <p:cNvPr id="283" name="AutoShape 14"/>
            <p:cNvSpPr/>
            <p:nvPr/>
          </p:nvSpPr>
          <p:spPr>
            <a:xfrm>
              <a:off x="4800600" y="990360"/>
              <a:ext cx="4114800" cy="3470400"/>
            </a:xfrm>
            <a:prstGeom prst="rect">
              <a:avLst/>
            </a:prstGeom>
            <a:noFill/>
            <a:ln w="38160">
              <a:noFill/>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pic>
          <p:nvPicPr>
            <p:cNvPr id="284" name="Picture 13"/>
            <p:cNvPicPr/>
            <p:nvPr/>
          </p:nvPicPr>
          <p:blipFill>
            <a:blip r:embed="rId1"/>
            <a:stretch/>
          </p:blipFill>
          <p:spPr>
            <a:xfrm>
              <a:off x="4872600" y="990360"/>
              <a:ext cx="4042440" cy="3470400"/>
            </a:xfrm>
            <a:prstGeom prst="rect">
              <a:avLst/>
            </a:prstGeom>
            <a:noFill/>
            <a:ln w="38160">
              <a:noFill/>
            </a:ln>
          </p:spPr>
        </p:pic>
      </p:grpSp>
      <p:sp>
        <p:nvSpPr>
          <p:cNvPr id="285" name="Text Box 16"/>
          <p:cNvSpPr/>
          <p:nvPr/>
        </p:nvSpPr>
        <p:spPr>
          <a:xfrm>
            <a:off x="533160" y="2971800"/>
            <a:ext cx="4572000" cy="641880"/>
          </a:xfrm>
          <a:prstGeom prst="rect">
            <a:avLst/>
          </a:prstGeom>
          <a:noFill/>
          <a:ln w="38160">
            <a:noFill/>
          </a:ln>
        </p:spPr>
        <p:style>
          <a:lnRef idx="0"/>
          <a:fillRef idx="0"/>
          <a:effectRef idx="0"/>
          <a:fontRef idx="minor"/>
        </p:style>
        <p:txBody>
          <a:bodyPr lIns="90000" tIns="46800" rIns="90000" bIns="46800" anchor="t">
            <a:spAutoFit/>
          </a:bodyPr>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ea typeface="Arial"/>
              </a:rPr>
              <a:t>S</a:t>
            </a:r>
            <a:r>
              <a:rPr lang="en-US" sz="2000" b="0" u="none" strike="noStrike">
                <a:solidFill>
                  <a:srgbClr val="000000"/>
                </a:solidFill>
                <a:effectLst/>
                <a:uFillTx/>
                <a:latin typeface="Arial"/>
                <a:ea typeface="Arial"/>
              </a:rPr>
              <a:t>: Probability of a site being available</a:t>
            </a:r>
            <a:endParaRPr lang="en-US" sz="2000" b="0" u="none" strike="noStrike">
              <a:solidFill>
                <a:srgbClr val="000000"/>
              </a:solidFill>
              <a:effectLst/>
              <a:uFillTx/>
              <a:latin typeface="Times New Roman"/>
            </a:endParaRPr>
          </a:p>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ea typeface="Arial"/>
              </a:rPr>
              <a:t>L</a:t>
            </a:r>
            <a:r>
              <a:rPr lang="en-US" sz="2000" b="0" u="none" strike="noStrike">
                <a:solidFill>
                  <a:srgbClr val="000000"/>
                </a:solidFill>
                <a:effectLst/>
                <a:uFillTx/>
                <a:latin typeface="Arial"/>
                <a:ea typeface="Arial"/>
              </a:rPr>
              <a:t>: </a:t>
            </a:r>
            <a:r>
              <a:rPr lang="en-US" sz="8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Probability of a link being available</a:t>
            </a:r>
            <a:endParaRPr lang="en-US" sz="2000" b="0" u="none" strike="noStrike">
              <a:solidFill>
                <a:srgbClr val="000000"/>
              </a:solidFill>
              <a:effectLst/>
              <a:uFillTx/>
              <a:latin typeface="Times New Roman"/>
            </a:endParaRPr>
          </a:p>
        </p:txBody>
      </p:sp>
      <p:sp>
        <p:nvSpPr>
          <p:cNvPr id="286" name="Text Box 17"/>
          <p:cNvSpPr/>
          <p:nvPr/>
        </p:nvSpPr>
        <p:spPr>
          <a:xfrm>
            <a:off x="533160" y="4724280"/>
            <a:ext cx="5639040" cy="367920"/>
          </a:xfrm>
          <a:prstGeom prst="rect">
            <a:avLst/>
          </a:prstGeom>
          <a:noFill/>
          <a:ln w="38160">
            <a:noFill/>
          </a:ln>
        </p:spPr>
        <p:style>
          <a:lnRef idx="0"/>
          <a:fillRef idx="0"/>
          <a:effectRef idx="0"/>
          <a:fontRef idx="minor"/>
        </p:style>
        <p:txBody>
          <a:bodyPr lIns="90000" tIns="46800" rIns="90000" bIns="46800" anchor="t">
            <a:spAutoFit/>
          </a:bodyPr>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33CC"/>
                </a:solidFill>
                <a:effectLst/>
                <a:uFillTx/>
                <a:latin typeface="Arial"/>
                <a:ea typeface="Arial"/>
              </a:rPr>
              <a:t>Data replication methods, and a challenge</a:t>
            </a:r>
            <a:endParaRPr lang="en-US" sz="2000" b="0" u="none" strike="noStrike">
              <a:solidFill>
                <a:srgbClr val="000000"/>
              </a:solidFill>
              <a:effectLst/>
              <a:uFillTx/>
              <a:latin typeface="Times New Roman"/>
            </a:endParaRPr>
          </a:p>
        </p:txBody>
      </p:sp>
      <p:sp>
        <p:nvSpPr>
          <p:cNvPr id="287" name="Text Box 18"/>
          <p:cNvSpPr/>
          <p:nvPr/>
        </p:nvSpPr>
        <p:spPr>
          <a:xfrm>
            <a:off x="533160" y="5105160"/>
            <a:ext cx="4572000" cy="367920"/>
          </a:xfrm>
          <a:prstGeom prst="rect">
            <a:avLst/>
          </a:prstGeom>
          <a:noFill/>
          <a:ln w="38160">
            <a:noFill/>
          </a:ln>
        </p:spPr>
        <p:style>
          <a:lnRef idx="0"/>
          <a:fillRef idx="0"/>
          <a:effectRef idx="0"/>
          <a:fontRef idx="minor"/>
        </p:style>
        <p:txBody>
          <a:bodyPr lIns="90000" tIns="46800" rIns="90000" bIns="46800" anchor="t">
            <a:spAutoFit/>
          </a:bodyPr>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File duplication: home / mirror sites</a:t>
            </a:r>
            <a:endParaRPr lang="en-US" sz="2000" b="0" u="none" strike="noStrike">
              <a:solidFill>
                <a:srgbClr val="000000"/>
              </a:solidFill>
              <a:effectLst/>
              <a:uFillTx/>
              <a:latin typeface="Times New Roman"/>
            </a:endParaRPr>
          </a:p>
        </p:txBody>
      </p:sp>
      <p:sp>
        <p:nvSpPr>
          <p:cNvPr id="288" name="Text Box 19"/>
          <p:cNvSpPr/>
          <p:nvPr/>
        </p:nvSpPr>
        <p:spPr>
          <a:xfrm>
            <a:off x="533160" y="5410080"/>
            <a:ext cx="5715000" cy="367920"/>
          </a:xfrm>
          <a:prstGeom prst="rect">
            <a:avLst/>
          </a:prstGeom>
          <a:noFill/>
          <a:ln w="38160">
            <a:noFill/>
          </a:ln>
        </p:spPr>
        <p:style>
          <a:lnRef idx="0"/>
          <a:fillRef idx="0"/>
          <a:effectRef idx="0"/>
          <a:fontRef idx="minor"/>
        </p:style>
        <p:txBody>
          <a:bodyPr lIns="90000" tIns="46800" rIns="90000" bIns="46800" anchor="t">
            <a:spAutoFit/>
          </a:bodyPr>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File triplication: home / backup 1 / backup 2</a:t>
            </a:r>
            <a:endParaRPr lang="en-US" sz="2000" b="0" u="none" strike="noStrike">
              <a:solidFill>
                <a:srgbClr val="000000"/>
              </a:solidFill>
              <a:effectLst/>
              <a:uFillTx/>
              <a:latin typeface="Times New Roman"/>
            </a:endParaRPr>
          </a:p>
        </p:txBody>
      </p:sp>
      <p:sp>
        <p:nvSpPr>
          <p:cNvPr id="289" name="Text Box 20"/>
          <p:cNvSpPr/>
          <p:nvPr/>
        </p:nvSpPr>
        <p:spPr>
          <a:xfrm>
            <a:off x="533160" y="5715000"/>
            <a:ext cx="7848720" cy="367920"/>
          </a:xfrm>
          <a:prstGeom prst="rect">
            <a:avLst/>
          </a:prstGeom>
          <a:noFill/>
          <a:ln w="38160">
            <a:noFill/>
          </a:ln>
        </p:spPr>
        <p:style>
          <a:lnRef idx="0"/>
          <a:fillRef idx="0"/>
          <a:effectRef idx="0"/>
          <a:fontRef idx="minor"/>
        </p:style>
        <p:txBody>
          <a:bodyPr lIns="90000" tIns="46800" rIns="90000" bIns="46800" anchor="t">
            <a:spAutoFit/>
          </a:bodyPr>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Are there availability improvement methods with less redundancy?</a:t>
            </a:r>
            <a:endParaRPr lang="en-US" sz="2000" b="0" u="none" strike="noStrike">
              <a:solidFill>
                <a:srgbClr val="000000"/>
              </a:solidFill>
              <a:effectLst/>
              <a:uFillTx/>
              <a:latin typeface="Times New Roman"/>
            </a:endParaRPr>
          </a:p>
        </p:txBody>
      </p:sp>
      <p:sp>
        <p:nvSpPr>
          <p:cNvPr id="290" name="Text Box 22"/>
          <p:cNvSpPr/>
          <p:nvPr/>
        </p:nvSpPr>
        <p:spPr>
          <a:xfrm>
            <a:off x="533160" y="3733560"/>
            <a:ext cx="4953240" cy="915840"/>
          </a:xfrm>
          <a:prstGeom prst="rect">
            <a:avLst/>
          </a:prstGeom>
          <a:noFill/>
          <a:ln w="38160">
            <a:noFill/>
          </a:ln>
        </p:spPr>
        <p:style>
          <a:lnRef idx="0"/>
          <a:fillRef idx="0"/>
          <a:effectRef idx="0"/>
          <a:fontRef idx="minor"/>
        </p:style>
        <p:txBody>
          <a:bodyPr lIns="90000" tIns="46800" rIns="90000" bIns="46800" anchor="t">
            <a:spAutoFit/>
          </a:bodyPr>
          <a:p>
            <a:pPr>
              <a:lnSpc>
                <a:spcPct val="90000"/>
              </a:lnSpc>
              <a:tabLst>
                <a:tab pos="0" algn="l"/>
                <a:tab pos="16002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Single-copy availability   =  </a:t>
            </a:r>
            <a:r>
              <a:rPr lang="en-US" sz="2000" b="0" i="1" u="none" strike="noStrike">
                <a:solidFill>
                  <a:srgbClr val="000000"/>
                </a:solidFill>
                <a:effectLst/>
                <a:uFillTx/>
                <a:latin typeface="Arial"/>
                <a:ea typeface="Arial"/>
              </a:rPr>
              <a:t>SL</a:t>
            </a:r>
            <a:endParaRPr lang="en-US" sz="2000" b="0" u="none" strike="noStrike">
              <a:solidFill>
                <a:srgbClr val="000000"/>
              </a:solidFill>
              <a:effectLst/>
              <a:uFillTx/>
              <a:latin typeface="Times New Roman"/>
            </a:endParaRPr>
          </a:p>
          <a:p>
            <a:pPr>
              <a:lnSpc>
                <a:spcPct val="90000"/>
              </a:lnSpc>
              <a:tabLst>
                <a:tab pos="0" algn="l"/>
                <a:tab pos="16002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Unavailability</a:t>
            </a:r>
            <a:r>
              <a:rPr lang="en-US" sz="20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  1 – </a:t>
            </a:r>
            <a:r>
              <a:rPr lang="en-US" sz="2000" b="0" i="1" u="none" strike="noStrike">
                <a:solidFill>
                  <a:srgbClr val="000000"/>
                </a:solidFill>
                <a:effectLst/>
                <a:uFillTx/>
                <a:latin typeface="Arial"/>
                <a:ea typeface="Arial"/>
              </a:rPr>
              <a:t>SL</a:t>
            </a:r>
            <a:r>
              <a:rPr lang="en-US" sz="2000" b="0" u="none" strike="noStrike">
                <a:solidFill>
                  <a:srgbClr val="000000"/>
                </a:solidFill>
                <a:effectLst/>
                <a:uFillTx/>
                <a:latin typeface="Arial"/>
                <a:ea typeface="Arial"/>
              </a:rPr>
              <a:t> </a:t>
            </a:r>
            <a:endParaRPr lang="en-US" sz="2000" b="0" u="none" strike="noStrike">
              <a:solidFill>
                <a:srgbClr val="000000"/>
              </a:solidFill>
              <a:effectLst/>
              <a:uFillTx/>
              <a:latin typeface="Times New Roman"/>
            </a:endParaRPr>
          </a:p>
          <a:p>
            <a:pPr>
              <a:lnSpc>
                <a:spcPct val="90000"/>
              </a:lnSpc>
              <a:tabLst>
                <a:tab pos="0" algn="l"/>
                <a:tab pos="16002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  1 – 0.99 </a:t>
            </a:r>
            <a:r>
              <a:rPr lang="en-US" sz="2000" b="1" u="none" strike="noStrike">
                <a:solidFill>
                  <a:srgbClr val="000000"/>
                </a:solidFill>
                <a:effectLst/>
                <a:uFillTx/>
                <a:latin typeface="Symbol"/>
                <a:ea typeface="Symbol"/>
              </a:rPr>
              <a:t></a:t>
            </a:r>
            <a:r>
              <a:rPr lang="en-US" sz="2000" b="0" u="none" strike="noStrike">
                <a:solidFill>
                  <a:srgbClr val="000000"/>
                </a:solidFill>
                <a:effectLst/>
                <a:uFillTx/>
                <a:latin typeface="Arial"/>
                <a:ea typeface="Arial"/>
              </a:rPr>
              <a:t> 0.95 = 5.95%</a:t>
            </a:r>
            <a:endParaRPr lang="en-US" sz="2000" b="0" u="none" strike="noStrike">
              <a:solidFill>
                <a:srgbClr val="000000"/>
              </a:solidFill>
              <a:effectLst/>
              <a:uFillTx/>
              <a:latin typeface="Times New Roman"/>
            </a:endParaRPr>
          </a:p>
        </p:txBody>
      </p:sp>
      <p:grpSp>
        <p:nvGrpSpPr>
          <p:cNvPr id="291" name="Group 25"/>
          <p:cNvGrpSpPr/>
          <p:nvPr/>
        </p:nvGrpSpPr>
        <p:grpSpPr>
          <a:xfrm>
            <a:off x="6101280" y="1676160"/>
            <a:ext cx="2760480" cy="3100680"/>
            <a:chOff x="6101280" y="1676160"/>
            <a:chExt cx="2760480" cy="3100680"/>
          </a:xfrm>
        </p:grpSpPr>
        <p:sp>
          <p:nvSpPr>
            <p:cNvPr id="292" name="Text Box 23"/>
            <p:cNvSpPr/>
            <p:nvPr/>
          </p:nvSpPr>
          <p:spPr>
            <a:xfrm>
              <a:off x="6101280" y="4267080"/>
              <a:ext cx="415800" cy="50976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8000"/>
                  </a:solidFill>
                  <a:effectLst/>
                  <a:uFillTx/>
                  <a:latin typeface="Arial"/>
                  <a:ea typeface="Arial"/>
                </a:rPr>
                <a:t>F</a:t>
              </a:r>
              <a:r>
                <a:rPr lang="en-US" sz="2400" b="1" i="1" u="none" strike="noStrike" baseline="-25000">
                  <a:solidFill>
                    <a:srgbClr val="008000"/>
                  </a:solidFill>
                  <a:effectLst/>
                  <a:uFillTx/>
                  <a:latin typeface="Arial"/>
                  <a:ea typeface="Arial"/>
                </a:rPr>
                <a:t>i</a:t>
              </a:r>
              <a:endParaRPr lang="en-US" sz="2400" b="0" u="none" strike="noStrike">
                <a:solidFill>
                  <a:srgbClr val="000000"/>
                </a:solidFill>
                <a:effectLst/>
                <a:uFillTx/>
                <a:latin typeface="Times New Roman"/>
              </a:endParaRPr>
            </a:p>
          </p:txBody>
        </p:sp>
        <p:sp>
          <p:nvSpPr>
            <p:cNvPr id="293" name="Text Box 24"/>
            <p:cNvSpPr/>
            <p:nvPr/>
          </p:nvSpPr>
          <p:spPr>
            <a:xfrm>
              <a:off x="8003160" y="1676160"/>
              <a:ext cx="858600" cy="45936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3333CC"/>
                  </a:solidFill>
                  <a:effectLst/>
                  <a:uFillTx/>
                  <a:latin typeface="Arial"/>
                  <a:ea typeface="Arial"/>
                </a:rPr>
                <a:t>User</a:t>
              </a:r>
              <a:endParaRPr lang="en-US" sz="2400" b="0" u="none" strike="noStrike">
                <a:solidFill>
                  <a:srgbClr val="000000"/>
                </a:solidFill>
                <a:effectLst/>
                <a:uFillTx/>
                <a:latin typeface="Times New Roman"/>
              </a:endParaRPr>
            </a:p>
          </p:txBody>
        </p:sp>
      </p:grpSp>
      <p:sp>
        <p:nvSpPr>
          <p:cNvPr id="294" name="Rectangle 26"/>
          <p:cNvSpPr/>
          <p:nvPr/>
        </p:nvSpPr>
        <p:spPr>
          <a:xfrm>
            <a:off x="7391160" y="4572000"/>
            <a:ext cx="1143000" cy="380880"/>
          </a:xfrm>
          <a:prstGeom prst="rect">
            <a:avLst/>
          </a:prstGeom>
          <a:solidFill>
            <a:srgbClr val="66FF66"/>
          </a:solidFill>
          <a:ln w="38160">
            <a:noFill/>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Fig. 1.2</a:t>
            </a:r>
            <a:endParaRPr lang="en-US" sz="2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 name="Slide Number Placeholder 8"/>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6CD6F7FD-ECDC-4ECD-9F0E-5E276A773B15}"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296"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297" name="PlaceHolder 1"/>
          <p:cNvSpPr>
            <a:spLocks noGrp="1"/>
          </p:cNvSpPr>
          <p:nvPr>
            <p:ph type="title"/>
          </p:nvPr>
        </p:nvSpPr>
        <p:spPr>
          <a:xfrm>
            <a:off x="228600" y="228240"/>
            <a:ext cx="8686800" cy="68580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ea typeface="Arial"/>
              </a:rPr>
              <a:t>Data Duplication: Home and Mirror Sites</a:t>
            </a:r>
            <a:endParaRPr lang="en-US" sz="3200" b="0" u="none" strike="noStrike">
              <a:solidFill>
                <a:srgbClr val="000000"/>
              </a:solidFill>
              <a:effectLst/>
              <a:uFillTx/>
              <a:latin typeface="Arial"/>
            </a:endParaRPr>
          </a:p>
        </p:txBody>
      </p:sp>
      <p:sp>
        <p:nvSpPr>
          <p:cNvPr id="298" name="Rectangle 6"/>
          <p:cNvSpPr/>
          <p:nvPr/>
        </p:nvSpPr>
        <p:spPr>
          <a:xfrm>
            <a:off x="0" y="2330280"/>
            <a:ext cx="9144000" cy="360"/>
          </a:xfrm>
          <a:prstGeom prst="rect">
            <a:avLst/>
          </a:prstGeom>
          <a:noFill/>
          <a:ln w="38160">
            <a:noFill/>
          </a:ln>
        </p:spPr>
        <p:style>
          <a:lnRef idx="0"/>
          <a:fillRef idx="0"/>
          <a:effectRef idx="0"/>
          <a:fontRef idx="minor"/>
        </p:style>
        <p:txBody>
          <a:bodyPr wrap="none" lIns="90000" tIns="-46440" rIns="90000" bIns="-4644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pSp>
        <p:nvGrpSpPr>
          <p:cNvPr id="299" name="Group 7"/>
          <p:cNvGrpSpPr/>
          <p:nvPr/>
        </p:nvGrpSpPr>
        <p:grpSpPr>
          <a:xfrm>
            <a:off x="4952880" y="1117440"/>
            <a:ext cx="3962520" cy="3343320"/>
            <a:chOff x="4952880" y="1117440"/>
            <a:chExt cx="3962520" cy="3343320"/>
          </a:xfrm>
        </p:grpSpPr>
        <p:sp>
          <p:nvSpPr>
            <p:cNvPr id="300" name="AutoShape 8"/>
            <p:cNvSpPr/>
            <p:nvPr/>
          </p:nvSpPr>
          <p:spPr>
            <a:xfrm>
              <a:off x="4952880" y="1117440"/>
              <a:ext cx="3962520" cy="3343320"/>
            </a:xfrm>
            <a:prstGeom prst="rect">
              <a:avLst/>
            </a:prstGeom>
            <a:noFill/>
            <a:ln w="38160">
              <a:noFill/>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pic>
          <p:nvPicPr>
            <p:cNvPr id="301" name="Picture 9"/>
            <p:cNvPicPr/>
            <p:nvPr/>
          </p:nvPicPr>
          <p:blipFill>
            <a:blip r:embed="rId1"/>
            <a:stretch/>
          </p:blipFill>
          <p:spPr>
            <a:xfrm>
              <a:off x="5022360" y="1117440"/>
              <a:ext cx="3892680" cy="3343320"/>
            </a:xfrm>
            <a:prstGeom prst="rect">
              <a:avLst/>
            </a:prstGeom>
            <a:noFill/>
            <a:ln w="38160">
              <a:noFill/>
            </a:ln>
          </p:spPr>
        </p:pic>
      </p:grpSp>
      <p:sp>
        <p:nvSpPr>
          <p:cNvPr id="302" name="Text Box 13"/>
          <p:cNvSpPr/>
          <p:nvPr/>
        </p:nvSpPr>
        <p:spPr>
          <a:xfrm>
            <a:off x="380880" y="5105160"/>
            <a:ext cx="5715000" cy="367920"/>
          </a:xfrm>
          <a:prstGeom prst="rect">
            <a:avLst/>
          </a:prstGeom>
          <a:noFill/>
          <a:ln w="38160">
            <a:noFill/>
          </a:ln>
        </p:spPr>
        <p:style>
          <a:lnRef idx="0"/>
          <a:fillRef idx="0"/>
          <a:effectRef idx="0"/>
          <a:fontRef idx="minor"/>
        </p:style>
        <p:txBody>
          <a:bodyPr lIns="90000" tIns="46800" rIns="90000" bIns="46800" anchor="t">
            <a:spAutoFit/>
          </a:bodyPr>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Data unavailability reduced from 5.95% to 0.35%</a:t>
            </a:r>
            <a:endParaRPr lang="en-US" sz="2000" b="0" u="none" strike="noStrike">
              <a:solidFill>
                <a:srgbClr val="000000"/>
              </a:solidFill>
              <a:effectLst/>
              <a:uFillTx/>
              <a:latin typeface="Times New Roman"/>
            </a:endParaRPr>
          </a:p>
        </p:txBody>
      </p:sp>
      <p:sp>
        <p:nvSpPr>
          <p:cNvPr id="303" name="Text Box 14"/>
          <p:cNvSpPr/>
          <p:nvPr/>
        </p:nvSpPr>
        <p:spPr>
          <a:xfrm>
            <a:off x="380880" y="5638680"/>
            <a:ext cx="7848720" cy="367920"/>
          </a:xfrm>
          <a:prstGeom prst="rect">
            <a:avLst/>
          </a:prstGeom>
          <a:noFill/>
          <a:ln w="38160">
            <a:noFill/>
          </a:ln>
        </p:spPr>
        <p:style>
          <a:lnRef idx="0"/>
          <a:fillRef idx="0"/>
          <a:effectRef idx="0"/>
          <a:fontRef idx="minor"/>
        </p:style>
        <p:txBody>
          <a:bodyPr lIns="90000" tIns="46800" rIns="90000" bIns="46800" anchor="t">
            <a:spAutoFit/>
          </a:bodyPr>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Availability improved from </a:t>
            </a:r>
            <a:r>
              <a:rPr lang="en-US" sz="2000" b="0" u="none" strike="noStrike">
                <a:solidFill>
                  <a:srgbClr val="000000"/>
                </a:solidFill>
                <a:effectLst/>
                <a:uFillTx/>
                <a:latin typeface="Symbol"/>
                <a:ea typeface="Symbol"/>
              </a:rPr>
              <a:t></a:t>
            </a:r>
            <a:r>
              <a:rPr lang="en-US" sz="2000" b="0" u="none" strike="noStrike">
                <a:solidFill>
                  <a:srgbClr val="000000"/>
                </a:solidFill>
                <a:effectLst/>
                <a:uFillTx/>
                <a:latin typeface="Arial"/>
                <a:ea typeface="Arial"/>
              </a:rPr>
              <a:t> 94% to 99.65%</a:t>
            </a:r>
            <a:endParaRPr lang="en-US" sz="2000" b="0" u="none" strike="noStrike">
              <a:solidFill>
                <a:srgbClr val="000000"/>
              </a:solidFill>
              <a:effectLst/>
              <a:uFillTx/>
              <a:latin typeface="Times New Roman"/>
            </a:endParaRPr>
          </a:p>
        </p:txBody>
      </p:sp>
      <p:sp>
        <p:nvSpPr>
          <p:cNvPr id="304" name="Text Box 15"/>
          <p:cNvSpPr/>
          <p:nvPr/>
        </p:nvSpPr>
        <p:spPr>
          <a:xfrm>
            <a:off x="380880" y="4114800"/>
            <a:ext cx="4952880" cy="915840"/>
          </a:xfrm>
          <a:prstGeom prst="rect">
            <a:avLst/>
          </a:prstGeom>
          <a:noFill/>
          <a:ln w="38160">
            <a:noFill/>
          </a:ln>
        </p:spPr>
        <p:style>
          <a:lnRef idx="0"/>
          <a:fillRef idx="0"/>
          <a:effectRef idx="0"/>
          <a:fontRef idx="minor"/>
        </p:style>
        <p:txBody>
          <a:bodyPr lIns="90000" tIns="46800" rIns="90000" bIns="46800" anchor="t">
            <a:spAutoFit/>
          </a:bodyPr>
          <a:p>
            <a:pPr>
              <a:lnSpc>
                <a:spcPct val="90000"/>
              </a:lnSpc>
              <a:tabLst>
                <a:tab pos="0" algn="l"/>
                <a:tab pos="16002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Duplicated availability  =  2</a:t>
            </a:r>
            <a:r>
              <a:rPr lang="en-US" sz="2000" b="0" i="1" u="none" strike="noStrike">
                <a:solidFill>
                  <a:srgbClr val="000000"/>
                </a:solidFill>
                <a:effectLst/>
                <a:uFillTx/>
                <a:latin typeface="Arial"/>
                <a:ea typeface="Arial"/>
              </a:rPr>
              <a:t>SL</a:t>
            </a:r>
            <a:r>
              <a:rPr lang="en-US" sz="2000" b="0" u="none" strike="noStrike">
                <a:solidFill>
                  <a:srgbClr val="000000"/>
                </a:solidFill>
                <a:effectLst/>
                <a:uFillTx/>
                <a:latin typeface="Arial"/>
                <a:ea typeface="Arial"/>
              </a:rPr>
              <a:t> – (</a:t>
            </a:r>
            <a:r>
              <a:rPr lang="en-US" sz="2000" b="0" i="1" u="none" strike="noStrike">
                <a:solidFill>
                  <a:srgbClr val="000000"/>
                </a:solidFill>
                <a:effectLst/>
                <a:uFillTx/>
                <a:latin typeface="Arial"/>
                <a:ea typeface="Arial"/>
              </a:rPr>
              <a:t>SL</a:t>
            </a:r>
            <a:r>
              <a:rPr lang="en-US" sz="2000" b="0" u="none" strike="noStrike">
                <a:solidFill>
                  <a:srgbClr val="000000"/>
                </a:solidFill>
                <a:effectLst/>
                <a:uFillTx/>
                <a:latin typeface="Arial"/>
                <a:ea typeface="Arial"/>
              </a:rPr>
              <a:t>)</a:t>
            </a:r>
            <a:r>
              <a:rPr lang="en-US" sz="2000" b="0" u="none" strike="noStrike" baseline="30000">
                <a:solidFill>
                  <a:srgbClr val="000000"/>
                </a:solidFill>
                <a:effectLst/>
                <a:uFillTx/>
                <a:latin typeface="Arial"/>
                <a:ea typeface="Arial"/>
              </a:rPr>
              <a:t>2</a:t>
            </a:r>
            <a:r>
              <a:rPr lang="en-US" sz="2000" b="0" u="none" strike="noStrike">
                <a:solidFill>
                  <a:srgbClr val="CC3300"/>
                </a:solidFill>
                <a:effectLst/>
                <a:uFillTx/>
                <a:latin typeface="Arial"/>
                <a:ea typeface="Arial"/>
              </a:rPr>
              <a:t> </a:t>
            </a:r>
            <a:endParaRPr lang="en-US" sz="2000" b="0" u="none" strike="noStrike">
              <a:solidFill>
                <a:srgbClr val="000000"/>
              </a:solidFill>
              <a:effectLst/>
              <a:uFillTx/>
              <a:latin typeface="Times New Roman"/>
            </a:endParaRPr>
          </a:p>
          <a:p>
            <a:pPr>
              <a:lnSpc>
                <a:spcPct val="90000"/>
              </a:lnSpc>
              <a:tabLst>
                <a:tab pos="0" algn="l"/>
                <a:tab pos="16002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Unavailability</a:t>
            </a:r>
            <a:r>
              <a:rPr lang="en-US" sz="20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  1 – 2</a:t>
            </a:r>
            <a:r>
              <a:rPr lang="en-US" sz="2000" b="0" i="1" u="none" strike="noStrike">
                <a:solidFill>
                  <a:srgbClr val="000000"/>
                </a:solidFill>
                <a:effectLst/>
                <a:uFillTx/>
                <a:latin typeface="Arial"/>
                <a:ea typeface="Arial"/>
              </a:rPr>
              <a:t>SL</a:t>
            </a:r>
            <a:r>
              <a:rPr lang="en-US" sz="2000" b="0" u="none" strike="noStrike">
                <a:solidFill>
                  <a:srgbClr val="000000"/>
                </a:solidFill>
                <a:effectLst/>
                <a:uFillTx/>
                <a:latin typeface="Arial"/>
                <a:ea typeface="Arial"/>
              </a:rPr>
              <a:t> + (</a:t>
            </a:r>
            <a:r>
              <a:rPr lang="en-US" sz="2000" b="0" i="1" u="none" strike="noStrike">
                <a:solidFill>
                  <a:srgbClr val="000000"/>
                </a:solidFill>
                <a:effectLst/>
                <a:uFillTx/>
                <a:latin typeface="Arial"/>
                <a:ea typeface="Arial"/>
              </a:rPr>
              <a:t>SL</a:t>
            </a:r>
            <a:r>
              <a:rPr lang="en-US" sz="2000" b="0" u="none" strike="noStrike">
                <a:solidFill>
                  <a:srgbClr val="000000"/>
                </a:solidFill>
                <a:effectLst/>
                <a:uFillTx/>
                <a:latin typeface="Arial"/>
                <a:ea typeface="Arial"/>
              </a:rPr>
              <a:t>)</a:t>
            </a:r>
            <a:r>
              <a:rPr lang="en-US" sz="2000" b="0" u="none" strike="noStrike" baseline="30000">
                <a:solidFill>
                  <a:srgbClr val="000000"/>
                </a:solidFill>
                <a:effectLst/>
                <a:uFillTx/>
                <a:latin typeface="Arial"/>
                <a:ea typeface="Arial"/>
              </a:rPr>
              <a:t>2</a:t>
            </a:r>
            <a:r>
              <a:rPr lang="en-US" sz="2000" b="0" u="none" strike="noStrike">
                <a:solidFill>
                  <a:srgbClr val="CC3300"/>
                </a:solidFill>
                <a:effectLst/>
                <a:uFillTx/>
                <a:latin typeface="Arial"/>
                <a:ea typeface="Arial"/>
              </a:rPr>
              <a:t> </a:t>
            </a:r>
            <a:r>
              <a:rPr lang="en-US" sz="2000" b="0" u="none" strike="noStrike">
                <a:solidFill>
                  <a:srgbClr val="000000"/>
                </a:solidFill>
                <a:effectLst/>
                <a:uFillTx/>
                <a:latin typeface="Arial"/>
                <a:ea typeface="Arial"/>
              </a:rPr>
              <a:t> </a:t>
            </a:r>
            <a:endParaRPr lang="en-US" sz="2000" b="0" u="none" strike="noStrike">
              <a:solidFill>
                <a:srgbClr val="000000"/>
              </a:solidFill>
              <a:effectLst/>
              <a:uFillTx/>
              <a:latin typeface="Times New Roman"/>
            </a:endParaRPr>
          </a:p>
          <a:p>
            <a:pPr>
              <a:lnSpc>
                <a:spcPct val="90000"/>
              </a:lnSpc>
              <a:tabLst>
                <a:tab pos="0" algn="l"/>
                <a:tab pos="16002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  (1 – </a:t>
            </a:r>
            <a:r>
              <a:rPr lang="en-US" sz="2000" b="0" i="1" u="none" strike="noStrike">
                <a:solidFill>
                  <a:srgbClr val="000000"/>
                </a:solidFill>
                <a:effectLst/>
                <a:uFillTx/>
                <a:latin typeface="Arial"/>
                <a:ea typeface="Arial"/>
              </a:rPr>
              <a:t>SL</a:t>
            </a:r>
            <a:r>
              <a:rPr lang="en-US" sz="2000" b="0" u="none" strike="noStrike">
                <a:solidFill>
                  <a:srgbClr val="000000"/>
                </a:solidFill>
                <a:effectLst/>
                <a:uFillTx/>
                <a:latin typeface="Arial"/>
                <a:ea typeface="Arial"/>
              </a:rPr>
              <a:t>)</a:t>
            </a:r>
            <a:r>
              <a:rPr lang="en-US" sz="2000" b="0" u="none" strike="noStrike" baseline="30000">
                <a:solidFill>
                  <a:srgbClr val="000000"/>
                </a:solidFill>
                <a:effectLst/>
                <a:uFillTx/>
                <a:latin typeface="Arial"/>
                <a:ea typeface="Arial"/>
              </a:rPr>
              <a:t>2</a:t>
            </a:r>
            <a:r>
              <a:rPr lang="en-US" sz="2000" b="0" u="none" strike="noStrike">
                <a:solidFill>
                  <a:srgbClr val="000000"/>
                </a:solidFill>
                <a:effectLst/>
                <a:uFillTx/>
                <a:latin typeface="Arial"/>
                <a:ea typeface="Arial"/>
              </a:rPr>
              <a:t> =  0.35%</a:t>
            </a:r>
            <a:endParaRPr lang="en-US" sz="2000" b="0" u="none" strike="noStrike">
              <a:solidFill>
                <a:srgbClr val="000000"/>
              </a:solidFill>
              <a:effectLst/>
              <a:uFillTx/>
              <a:latin typeface="Times New Roman"/>
            </a:endParaRPr>
          </a:p>
        </p:txBody>
      </p:sp>
      <p:grpSp>
        <p:nvGrpSpPr>
          <p:cNvPr id="305" name="Group 25"/>
          <p:cNvGrpSpPr/>
          <p:nvPr/>
        </p:nvGrpSpPr>
        <p:grpSpPr>
          <a:xfrm>
            <a:off x="609480" y="1904760"/>
            <a:ext cx="5029200" cy="1980360"/>
            <a:chOff x="609480" y="1904760"/>
            <a:chExt cx="5029200" cy="1980360"/>
          </a:xfrm>
        </p:grpSpPr>
        <p:sp>
          <p:nvSpPr>
            <p:cNvPr id="306" name="Text Box 4"/>
            <p:cNvSpPr/>
            <p:nvPr/>
          </p:nvSpPr>
          <p:spPr>
            <a:xfrm>
              <a:off x="685800" y="1904760"/>
              <a:ext cx="4952880" cy="367920"/>
            </a:xfrm>
            <a:prstGeom prst="rect">
              <a:avLst/>
            </a:prstGeom>
            <a:noFill/>
            <a:ln w="38160">
              <a:noFill/>
            </a:ln>
          </p:spPr>
          <p:style>
            <a:lnRef idx="0"/>
            <a:fillRef idx="0"/>
            <a:effectRef idx="0"/>
            <a:fontRef idx="minor"/>
          </p:style>
          <p:txBody>
            <a:bodyPr lIns="90000" tIns="46800" rIns="90000" bIns="46800" anchor="t">
              <a:spAutoFit/>
            </a:bodyPr>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i="1" u="none" strike="noStrike">
                  <a:solidFill>
                    <a:srgbClr val="FF0000"/>
                  </a:solidFill>
                  <a:effectLst/>
                  <a:uFillTx/>
                  <a:latin typeface="Arial"/>
                  <a:ea typeface="Arial"/>
                </a:rPr>
                <a:t>A</a:t>
              </a:r>
              <a:r>
                <a:rPr lang="en-US" sz="2000" b="1" u="none" strike="noStrike">
                  <a:solidFill>
                    <a:srgbClr val="FF0000"/>
                  </a:solidFill>
                  <a:effectLst/>
                  <a:uFillTx/>
                  <a:latin typeface="Arial"/>
                  <a:ea typeface="Arial"/>
                </a:rPr>
                <a:t> = </a:t>
              </a:r>
              <a:r>
                <a:rPr lang="en-US" sz="2000" b="1" i="1" u="none" strike="noStrike">
                  <a:solidFill>
                    <a:srgbClr val="FF0000"/>
                  </a:solidFill>
                  <a:effectLst/>
                  <a:uFillTx/>
                  <a:latin typeface="Arial"/>
                  <a:ea typeface="Arial"/>
                </a:rPr>
                <a:t>SL</a:t>
              </a:r>
              <a:r>
                <a:rPr lang="en-US" sz="2000" b="1" u="none" strike="noStrike">
                  <a:solidFill>
                    <a:srgbClr val="FF0000"/>
                  </a:solidFill>
                  <a:effectLst/>
                  <a:uFillTx/>
                  <a:latin typeface="Arial"/>
                  <a:ea typeface="Arial"/>
                </a:rPr>
                <a:t> + (1 – </a:t>
              </a:r>
              <a:r>
                <a:rPr lang="en-US" sz="2000" b="1" i="1" u="none" strike="noStrike">
                  <a:solidFill>
                    <a:srgbClr val="FF0000"/>
                  </a:solidFill>
                  <a:effectLst/>
                  <a:uFillTx/>
                  <a:latin typeface="Arial"/>
                  <a:ea typeface="Arial"/>
                </a:rPr>
                <a:t>SL</a:t>
              </a:r>
              <a:r>
                <a:rPr lang="en-US" sz="2000" b="1" u="none" strike="noStrike">
                  <a:solidFill>
                    <a:srgbClr val="FF0000"/>
                  </a:solidFill>
                  <a:effectLst/>
                  <a:uFillTx/>
                  <a:latin typeface="Arial"/>
                  <a:ea typeface="Arial"/>
                </a:rPr>
                <a:t>)</a:t>
              </a:r>
              <a:r>
                <a:rPr lang="en-US" sz="2000" b="1" i="1" u="none" strike="noStrike">
                  <a:solidFill>
                    <a:srgbClr val="FF0000"/>
                  </a:solidFill>
                  <a:effectLst/>
                  <a:uFillTx/>
                  <a:latin typeface="Arial"/>
                  <a:ea typeface="Arial"/>
                </a:rPr>
                <a:t>SL</a:t>
              </a:r>
              <a:endParaRPr lang="en-US" sz="2000" b="0" u="none" strike="noStrike">
                <a:solidFill>
                  <a:srgbClr val="000000"/>
                </a:solidFill>
                <a:effectLst/>
                <a:uFillTx/>
                <a:latin typeface="Times New Roman"/>
              </a:endParaRPr>
            </a:p>
          </p:txBody>
        </p:sp>
        <p:sp>
          <p:nvSpPr>
            <p:cNvPr id="307" name="Text Box 5"/>
            <p:cNvSpPr/>
            <p:nvPr/>
          </p:nvSpPr>
          <p:spPr>
            <a:xfrm>
              <a:off x="609480" y="2590560"/>
              <a:ext cx="1600200" cy="532440"/>
            </a:xfrm>
            <a:prstGeom prst="rect">
              <a:avLst/>
            </a:prstGeom>
            <a:noFill/>
            <a:ln w="38160">
              <a:noFill/>
            </a:ln>
          </p:spPr>
          <p:style>
            <a:lnRef idx="0"/>
            <a:fillRef idx="0"/>
            <a:effectRef idx="0"/>
            <a:fontRef idx="minor"/>
          </p:style>
          <p:txBody>
            <a:bodyPr lIns="90000" tIns="46800" rIns="90000" bIns="46800" anchor="t">
              <a:spAutoFit/>
            </a:bodyPr>
            <a:p>
              <a:pPr algn="ct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Arial"/>
                </a:rPr>
                <a:t>Primary site </a:t>
              </a:r>
              <a:endParaRPr lang="en-US" sz="1600" b="0" u="none" strike="noStrike">
                <a:solidFill>
                  <a:srgbClr val="000000"/>
                </a:solidFill>
                <a:effectLst/>
                <a:uFillTx/>
                <a:latin typeface="Times New Roman"/>
              </a:endParaRPr>
            </a:p>
            <a:p>
              <a:pPr algn="ct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Arial"/>
                </a:rPr>
                <a:t>can be reached</a:t>
              </a:r>
              <a:endParaRPr lang="en-US" sz="1600" b="0" u="none" strike="noStrike">
                <a:solidFill>
                  <a:srgbClr val="000000"/>
                </a:solidFill>
                <a:effectLst/>
                <a:uFillTx/>
                <a:latin typeface="Times New Roman"/>
              </a:endParaRPr>
            </a:p>
          </p:txBody>
        </p:sp>
        <p:sp>
          <p:nvSpPr>
            <p:cNvPr id="308" name="Line 16"/>
            <p:cNvSpPr/>
            <p:nvPr/>
          </p:nvSpPr>
          <p:spPr>
            <a:xfrm>
              <a:off x="1447920" y="2209680"/>
              <a:ext cx="0" cy="38088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09" name="Line 17"/>
            <p:cNvSpPr/>
            <p:nvPr/>
          </p:nvSpPr>
          <p:spPr>
            <a:xfrm>
              <a:off x="2286000" y="2209680"/>
              <a:ext cx="0" cy="121932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10" name="Text Box 18"/>
            <p:cNvSpPr/>
            <p:nvPr/>
          </p:nvSpPr>
          <p:spPr>
            <a:xfrm>
              <a:off x="1523880" y="3352680"/>
              <a:ext cx="1524240" cy="532440"/>
            </a:xfrm>
            <a:prstGeom prst="rect">
              <a:avLst/>
            </a:prstGeom>
            <a:noFill/>
            <a:ln w="38160">
              <a:noFill/>
            </a:ln>
          </p:spPr>
          <p:style>
            <a:lnRef idx="0"/>
            <a:fillRef idx="0"/>
            <a:effectRef idx="0"/>
            <a:fontRef idx="minor"/>
          </p:style>
          <p:txBody>
            <a:bodyPr lIns="90000" tIns="46800" rIns="90000" bIns="46800" anchor="t">
              <a:spAutoFit/>
            </a:bodyPr>
            <a:p>
              <a:pPr algn="ct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Arial"/>
                </a:rPr>
                <a:t>Primary site </a:t>
              </a:r>
              <a:endParaRPr lang="en-US" sz="1600" b="0" u="none" strike="noStrike">
                <a:solidFill>
                  <a:srgbClr val="000000"/>
                </a:solidFill>
                <a:effectLst/>
                <a:uFillTx/>
                <a:latin typeface="Times New Roman"/>
              </a:endParaRPr>
            </a:p>
            <a:p>
              <a:pPr algn="ct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Arial"/>
                </a:rPr>
                <a:t>inaccessible</a:t>
              </a:r>
              <a:endParaRPr lang="en-US" sz="1600" b="0" u="none" strike="noStrike">
                <a:solidFill>
                  <a:srgbClr val="000000"/>
                </a:solidFill>
                <a:effectLst/>
                <a:uFillTx/>
                <a:latin typeface="Times New Roman"/>
              </a:endParaRPr>
            </a:p>
          </p:txBody>
        </p:sp>
        <p:sp>
          <p:nvSpPr>
            <p:cNvPr id="311" name="Line 19"/>
            <p:cNvSpPr/>
            <p:nvPr/>
          </p:nvSpPr>
          <p:spPr>
            <a:xfrm>
              <a:off x="2895480" y="2209680"/>
              <a:ext cx="0" cy="38088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12" name="Text Box 20"/>
            <p:cNvSpPr/>
            <p:nvPr/>
          </p:nvSpPr>
          <p:spPr>
            <a:xfrm>
              <a:off x="2286000" y="2590560"/>
              <a:ext cx="1600200" cy="532440"/>
            </a:xfrm>
            <a:prstGeom prst="rect">
              <a:avLst/>
            </a:prstGeom>
            <a:noFill/>
            <a:ln w="38160">
              <a:noFill/>
            </a:ln>
          </p:spPr>
          <p:style>
            <a:lnRef idx="0"/>
            <a:fillRef idx="0"/>
            <a:effectRef idx="0"/>
            <a:fontRef idx="minor"/>
          </p:style>
          <p:txBody>
            <a:bodyPr lIns="90000" tIns="46800" rIns="90000" bIns="46800" anchor="t">
              <a:spAutoFit/>
            </a:bodyPr>
            <a:p>
              <a:pPr algn="ct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Arial"/>
                </a:rPr>
                <a:t>Mirror site </a:t>
              </a:r>
              <a:endParaRPr lang="en-US" sz="1600" b="0" u="none" strike="noStrike">
                <a:solidFill>
                  <a:srgbClr val="000000"/>
                </a:solidFill>
                <a:effectLst/>
                <a:uFillTx/>
                <a:latin typeface="Times New Roman"/>
              </a:endParaRPr>
            </a:p>
            <a:p>
              <a:pPr algn="ct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Arial"/>
                </a:rPr>
                <a:t>can be reached</a:t>
              </a:r>
              <a:endParaRPr lang="en-US" sz="1600" b="0" u="none" strike="noStrike">
                <a:solidFill>
                  <a:srgbClr val="000000"/>
                </a:solidFill>
                <a:effectLst/>
                <a:uFillTx/>
                <a:latin typeface="Times New Roman"/>
              </a:endParaRPr>
            </a:p>
          </p:txBody>
        </p:sp>
      </p:grpSp>
      <p:sp>
        <p:nvSpPr>
          <p:cNvPr id="313" name="Text Box 21"/>
          <p:cNvSpPr/>
          <p:nvPr/>
        </p:nvSpPr>
        <p:spPr>
          <a:xfrm>
            <a:off x="380880" y="1066680"/>
            <a:ext cx="4572000" cy="641880"/>
          </a:xfrm>
          <a:prstGeom prst="rect">
            <a:avLst/>
          </a:prstGeom>
          <a:noFill/>
          <a:ln w="38160">
            <a:noFill/>
          </a:ln>
        </p:spPr>
        <p:style>
          <a:lnRef idx="0"/>
          <a:fillRef idx="0"/>
          <a:effectRef idx="0"/>
          <a:fontRef idx="minor"/>
        </p:style>
        <p:txBody>
          <a:bodyPr lIns="90000" tIns="46800" rIns="90000" bIns="46800" anchor="t">
            <a:spAutoFit/>
          </a:bodyPr>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ea typeface="Arial"/>
              </a:rPr>
              <a:t>S</a:t>
            </a:r>
            <a:r>
              <a:rPr lang="en-US" sz="2000" b="0" u="none" strike="noStrike">
                <a:solidFill>
                  <a:srgbClr val="000000"/>
                </a:solidFill>
                <a:effectLst/>
                <a:uFillTx/>
                <a:latin typeface="Arial"/>
                <a:ea typeface="Arial"/>
              </a:rPr>
              <a:t>: Site availability</a:t>
            </a:r>
            <a:r>
              <a:rPr lang="en-US" sz="20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e.g., 99%</a:t>
            </a:r>
            <a:endParaRPr lang="en-US" sz="2000" b="0" u="none" strike="noStrike">
              <a:solidFill>
                <a:srgbClr val="000000"/>
              </a:solidFill>
              <a:effectLst/>
              <a:uFillTx/>
              <a:latin typeface="Times New Roman"/>
            </a:endParaRPr>
          </a:p>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ea typeface="Arial"/>
              </a:rPr>
              <a:t>L</a:t>
            </a:r>
            <a:r>
              <a:rPr lang="en-US" sz="2000" b="0" u="none" strike="noStrike">
                <a:solidFill>
                  <a:srgbClr val="000000"/>
                </a:solidFill>
                <a:effectLst/>
                <a:uFillTx/>
                <a:latin typeface="Arial"/>
                <a:ea typeface="Arial"/>
              </a:rPr>
              <a:t>: </a:t>
            </a:r>
            <a:r>
              <a:rPr lang="en-US" sz="8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Link availability</a:t>
            </a:r>
            <a:r>
              <a:rPr lang="en-US" sz="20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e.g., 95%</a:t>
            </a:r>
            <a:endParaRPr lang="en-US" sz="2000" b="0" u="none" strike="noStrike">
              <a:solidFill>
                <a:srgbClr val="000000"/>
              </a:solidFill>
              <a:effectLst/>
              <a:uFillTx/>
              <a:latin typeface="Times New Roman"/>
            </a:endParaRPr>
          </a:p>
        </p:txBody>
      </p:sp>
      <p:sp>
        <p:nvSpPr>
          <p:cNvPr id="314" name="Text Box 22"/>
          <p:cNvSpPr/>
          <p:nvPr/>
        </p:nvSpPr>
        <p:spPr>
          <a:xfrm>
            <a:off x="5491440" y="4343400"/>
            <a:ext cx="1313280" cy="50976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8000"/>
                </a:solidFill>
                <a:effectLst/>
                <a:uFillTx/>
                <a:latin typeface="Arial"/>
                <a:ea typeface="Arial"/>
              </a:rPr>
              <a:t>F</a:t>
            </a:r>
            <a:r>
              <a:rPr lang="en-US" sz="2400" b="1" i="1" u="none" strike="noStrike" baseline="-25000">
                <a:solidFill>
                  <a:srgbClr val="008000"/>
                </a:solidFill>
                <a:effectLst/>
                <a:uFillTx/>
                <a:latin typeface="Arial"/>
                <a:ea typeface="Arial"/>
              </a:rPr>
              <a:t>i</a:t>
            </a:r>
            <a:r>
              <a:rPr lang="en-US" sz="2400" b="1" u="none" strike="noStrike">
                <a:solidFill>
                  <a:srgbClr val="008000"/>
                </a:solidFill>
                <a:effectLst/>
                <a:uFillTx/>
                <a:latin typeface="Arial"/>
                <a:ea typeface="Arial"/>
              </a:rPr>
              <a:t> home</a:t>
            </a:r>
            <a:endParaRPr lang="en-US" sz="2400" b="0" u="none" strike="noStrike">
              <a:solidFill>
                <a:srgbClr val="000000"/>
              </a:solidFill>
              <a:effectLst/>
              <a:uFillTx/>
              <a:latin typeface="Times New Roman"/>
            </a:endParaRPr>
          </a:p>
        </p:txBody>
      </p:sp>
      <p:sp>
        <p:nvSpPr>
          <p:cNvPr id="315" name="Text Box 23"/>
          <p:cNvSpPr/>
          <p:nvPr/>
        </p:nvSpPr>
        <p:spPr>
          <a:xfrm>
            <a:off x="5415840" y="990360"/>
            <a:ext cx="1398240" cy="50976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FF3300"/>
                </a:solidFill>
                <a:effectLst/>
                <a:uFillTx/>
                <a:latin typeface="Arial"/>
                <a:ea typeface="Arial"/>
              </a:rPr>
              <a:t>F</a:t>
            </a:r>
            <a:r>
              <a:rPr lang="en-US" sz="2400" b="1" i="1" u="none" strike="noStrike" baseline="-25000">
                <a:solidFill>
                  <a:srgbClr val="FF3300"/>
                </a:solidFill>
                <a:effectLst/>
                <a:uFillTx/>
                <a:latin typeface="Arial"/>
                <a:ea typeface="Arial"/>
              </a:rPr>
              <a:t>i</a:t>
            </a:r>
            <a:r>
              <a:rPr lang="en-US" sz="2400" b="1" u="none" strike="noStrike">
                <a:solidFill>
                  <a:srgbClr val="FF3300"/>
                </a:solidFill>
                <a:effectLst/>
                <a:uFillTx/>
                <a:latin typeface="Arial"/>
                <a:ea typeface="Arial"/>
              </a:rPr>
              <a:t> mirror</a:t>
            </a:r>
            <a:endParaRPr lang="en-US" sz="2400" b="0" u="none" strike="noStrike">
              <a:solidFill>
                <a:srgbClr val="000000"/>
              </a:solidFill>
              <a:effectLst/>
              <a:uFillTx/>
              <a:latin typeface="Times New Roman"/>
            </a:endParaRPr>
          </a:p>
        </p:txBody>
      </p:sp>
      <p:sp>
        <p:nvSpPr>
          <p:cNvPr id="316" name="Text Box 24"/>
          <p:cNvSpPr/>
          <p:nvPr/>
        </p:nvSpPr>
        <p:spPr>
          <a:xfrm>
            <a:off x="8003160" y="1752480"/>
            <a:ext cx="858600" cy="45936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3333CC"/>
                </a:solidFill>
                <a:effectLst/>
                <a:uFillTx/>
                <a:latin typeface="Arial"/>
                <a:ea typeface="Arial"/>
              </a:rPr>
              <a:t>User</a:t>
            </a:r>
            <a:endParaRPr lang="en-US" sz="2400" b="0" u="none" strike="noStrike">
              <a:solidFill>
                <a:srgbClr val="000000"/>
              </a:solidFill>
              <a:effectLst/>
              <a:uFillTx/>
              <a:latin typeface="Times New Roman"/>
            </a:endParaRPr>
          </a:p>
        </p:txBody>
      </p:sp>
      <p:sp>
        <p:nvSpPr>
          <p:cNvPr id="317" name="Rectangle 26"/>
          <p:cNvSpPr/>
          <p:nvPr/>
        </p:nvSpPr>
        <p:spPr>
          <a:xfrm>
            <a:off x="7391160" y="4724280"/>
            <a:ext cx="1143000" cy="380880"/>
          </a:xfrm>
          <a:prstGeom prst="rect">
            <a:avLst/>
          </a:prstGeom>
          <a:solidFill>
            <a:srgbClr val="66FF66"/>
          </a:solidFill>
          <a:ln w="38160">
            <a:noFill/>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Fig. 1.2</a:t>
            </a:r>
            <a:endParaRPr lang="en-US" sz="2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8" name="Slide Number Placeholder 8"/>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3C68DC34-C82B-46CC-A6E9-3948074DEDB9}"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319"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320" name="PlaceHolder 1"/>
          <p:cNvSpPr>
            <a:spLocks noGrp="1"/>
          </p:cNvSpPr>
          <p:nvPr>
            <p:ph type="title"/>
          </p:nvPr>
        </p:nvSpPr>
        <p:spPr>
          <a:xfrm>
            <a:off x="228600" y="228240"/>
            <a:ext cx="8686800" cy="68580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ea typeface="Arial"/>
              </a:rPr>
              <a:t>Data Triplication: Home and Two Backups</a:t>
            </a:r>
            <a:endParaRPr lang="en-US" sz="3200" b="0" u="none" strike="noStrike">
              <a:solidFill>
                <a:srgbClr val="000000"/>
              </a:solidFill>
              <a:effectLst/>
              <a:uFillTx/>
              <a:latin typeface="Arial"/>
            </a:endParaRPr>
          </a:p>
        </p:txBody>
      </p:sp>
      <p:grpSp>
        <p:nvGrpSpPr>
          <p:cNvPr id="321" name="Group 7"/>
          <p:cNvGrpSpPr/>
          <p:nvPr/>
        </p:nvGrpSpPr>
        <p:grpSpPr>
          <a:xfrm>
            <a:off x="4952880" y="1118880"/>
            <a:ext cx="3962520" cy="3341880"/>
            <a:chOff x="4952880" y="1118880"/>
            <a:chExt cx="3962520" cy="3341880"/>
          </a:xfrm>
        </p:grpSpPr>
        <p:sp>
          <p:nvSpPr>
            <p:cNvPr id="322" name="AutoShape 8"/>
            <p:cNvSpPr/>
            <p:nvPr/>
          </p:nvSpPr>
          <p:spPr>
            <a:xfrm>
              <a:off x="4952880" y="1118880"/>
              <a:ext cx="3962520" cy="3341880"/>
            </a:xfrm>
            <a:prstGeom prst="rect">
              <a:avLst/>
            </a:prstGeom>
            <a:noFill/>
            <a:ln w="38160">
              <a:noFill/>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pic>
          <p:nvPicPr>
            <p:cNvPr id="323" name="Picture 9"/>
            <p:cNvPicPr/>
            <p:nvPr/>
          </p:nvPicPr>
          <p:blipFill>
            <a:blip r:embed="rId1"/>
            <a:stretch/>
          </p:blipFill>
          <p:spPr>
            <a:xfrm>
              <a:off x="5022360" y="1118880"/>
              <a:ext cx="3892680" cy="3341880"/>
            </a:xfrm>
            <a:prstGeom prst="rect">
              <a:avLst/>
            </a:prstGeom>
            <a:noFill/>
            <a:ln w="38160">
              <a:noFill/>
            </a:ln>
          </p:spPr>
        </p:pic>
      </p:grpSp>
      <p:sp>
        <p:nvSpPr>
          <p:cNvPr id="324" name="Text Box 10"/>
          <p:cNvSpPr/>
          <p:nvPr/>
        </p:nvSpPr>
        <p:spPr>
          <a:xfrm>
            <a:off x="380880" y="5105160"/>
            <a:ext cx="5715000" cy="367920"/>
          </a:xfrm>
          <a:prstGeom prst="rect">
            <a:avLst/>
          </a:prstGeom>
          <a:noFill/>
          <a:ln w="38160">
            <a:noFill/>
          </a:ln>
        </p:spPr>
        <p:style>
          <a:lnRef idx="0"/>
          <a:fillRef idx="0"/>
          <a:effectRef idx="0"/>
          <a:fontRef idx="minor"/>
        </p:style>
        <p:txBody>
          <a:bodyPr lIns="90000" tIns="46800" rIns="90000" bIns="46800" anchor="t">
            <a:spAutoFit/>
          </a:bodyPr>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Data unavailability reduced from 5.95% to 0.02%</a:t>
            </a:r>
            <a:endParaRPr lang="en-US" sz="2000" b="0" u="none" strike="noStrike">
              <a:solidFill>
                <a:srgbClr val="000000"/>
              </a:solidFill>
              <a:effectLst/>
              <a:uFillTx/>
              <a:latin typeface="Times New Roman"/>
            </a:endParaRPr>
          </a:p>
        </p:txBody>
      </p:sp>
      <p:sp>
        <p:nvSpPr>
          <p:cNvPr id="325" name="Text Box 11"/>
          <p:cNvSpPr/>
          <p:nvPr/>
        </p:nvSpPr>
        <p:spPr>
          <a:xfrm>
            <a:off x="380880" y="5638680"/>
            <a:ext cx="7848720" cy="367920"/>
          </a:xfrm>
          <a:prstGeom prst="rect">
            <a:avLst/>
          </a:prstGeom>
          <a:noFill/>
          <a:ln w="38160">
            <a:noFill/>
          </a:ln>
        </p:spPr>
        <p:style>
          <a:lnRef idx="0"/>
          <a:fillRef idx="0"/>
          <a:effectRef idx="0"/>
          <a:fontRef idx="minor"/>
        </p:style>
        <p:txBody>
          <a:bodyPr lIns="90000" tIns="46800" rIns="90000" bIns="46800" anchor="t">
            <a:spAutoFit/>
          </a:bodyPr>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Availability improved from </a:t>
            </a:r>
            <a:r>
              <a:rPr lang="en-US" sz="2000" b="0" u="none" strike="noStrike">
                <a:solidFill>
                  <a:srgbClr val="000000"/>
                </a:solidFill>
                <a:effectLst/>
                <a:uFillTx/>
                <a:latin typeface="Symbol"/>
                <a:ea typeface="Symbol"/>
              </a:rPr>
              <a:t></a:t>
            </a:r>
            <a:r>
              <a:rPr lang="en-US" sz="2000" b="0" u="none" strike="noStrike">
                <a:solidFill>
                  <a:srgbClr val="000000"/>
                </a:solidFill>
                <a:effectLst/>
                <a:uFillTx/>
                <a:latin typeface="Arial"/>
                <a:ea typeface="Arial"/>
              </a:rPr>
              <a:t> 94% to 99.98%</a:t>
            </a:r>
            <a:endParaRPr lang="en-US" sz="2000" b="0" u="none" strike="noStrike">
              <a:solidFill>
                <a:srgbClr val="000000"/>
              </a:solidFill>
              <a:effectLst/>
              <a:uFillTx/>
              <a:latin typeface="Times New Roman"/>
            </a:endParaRPr>
          </a:p>
        </p:txBody>
      </p:sp>
      <p:sp>
        <p:nvSpPr>
          <p:cNvPr id="326" name="Text Box 12"/>
          <p:cNvSpPr/>
          <p:nvPr/>
        </p:nvSpPr>
        <p:spPr>
          <a:xfrm>
            <a:off x="380880" y="4114800"/>
            <a:ext cx="4952880" cy="915840"/>
          </a:xfrm>
          <a:prstGeom prst="rect">
            <a:avLst/>
          </a:prstGeom>
          <a:noFill/>
          <a:ln w="38160">
            <a:noFill/>
          </a:ln>
        </p:spPr>
        <p:style>
          <a:lnRef idx="0"/>
          <a:fillRef idx="0"/>
          <a:effectRef idx="0"/>
          <a:fontRef idx="minor"/>
        </p:style>
        <p:txBody>
          <a:bodyPr lIns="90000" tIns="46800" rIns="90000" bIns="46800" anchor="t">
            <a:spAutoFit/>
          </a:bodyPr>
          <a:p>
            <a:pPr>
              <a:lnSpc>
                <a:spcPct val="90000"/>
              </a:lnSpc>
              <a:tabLst>
                <a:tab pos="0" algn="l"/>
                <a:tab pos="16002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Triplicated avail.  =  3</a:t>
            </a:r>
            <a:r>
              <a:rPr lang="en-US" sz="2000" b="0" i="1" u="none" strike="noStrike">
                <a:solidFill>
                  <a:srgbClr val="000000"/>
                </a:solidFill>
                <a:effectLst/>
                <a:uFillTx/>
                <a:latin typeface="Arial"/>
                <a:ea typeface="Arial"/>
              </a:rPr>
              <a:t>SL</a:t>
            </a:r>
            <a:r>
              <a:rPr lang="en-US" sz="2000" b="0" u="none" strike="noStrike">
                <a:solidFill>
                  <a:srgbClr val="000000"/>
                </a:solidFill>
                <a:effectLst/>
                <a:uFillTx/>
                <a:latin typeface="Arial"/>
                <a:ea typeface="Arial"/>
              </a:rPr>
              <a:t> – 3(</a:t>
            </a:r>
            <a:r>
              <a:rPr lang="en-US" sz="2000" b="0" i="1" u="none" strike="noStrike">
                <a:solidFill>
                  <a:srgbClr val="000000"/>
                </a:solidFill>
                <a:effectLst/>
                <a:uFillTx/>
                <a:latin typeface="Arial"/>
                <a:ea typeface="Arial"/>
              </a:rPr>
              <a:t>SL</a:t>
            </a:r>
            <a:r>
              <a:rPr lang="en-US" sz="2000" b="0" u="none" strike="noStrike">
                <a:solidFill>
                  <a:srgbClr val="000000"/>
                </a:solidFill>
                <a:effectLst/>
                <a:uFillTx/>
                <a:latin typeface="Arial"/>
                <a:ea typeface="Arial"/>
              </a:rPr>
              <a:t>)</a:t>
            </a:r>
            <a:r>
              <a:rPr lang="en-US" sz="2000" b="0" u="none" strike="noStrike" baseline="30000">
                <a:solidFill>
                  <a:srgbClr val="000000"/>
                </a:solidFill>
                <a:effectLst/>
                <a:uFillTx/>
                <a:latin typeface="Arial"/>
                <a:ea typeface="Arial"/>
              </a:rPr>
              <a:t>2</a:t>
            </a:r>
            <a:r>
              <a:rPr lang="en-US" sz="2000" b="0" u="none" strike="noStrike">
                <a:solidFill>
                  <a:srgbClr val="CC3300"/>
                </a:solidFill>
                <a:effectLst/>
                <a:uFillTx/>
                <a:latin typeface="Arial"/>
                <a:ea typeface="Arial"/>
              </a:rPr>
              <a:t> </a:t>
            </a:r>
            <a:r>
              <a:rPr lang="en-US" sz="2000" b="0" u="none" strike="noStrike">
                <a:solidFill>
                  <a:srgbClr val="000000"/>
                </a:solidFill>
                <a:effectLst/>
                <a:uFillTx/>
                <a:latin typeface="Arial"/>
                <a:ea typeface="Arial"/>
              </a:rPr>
              <a:t>– (</a:t>
            </a:r>
            <a:r>
              <a:rPr lang="en-US" sz="2000" b="0" i="1" u="none" strike="noStrike">
                <a:solidFill>
                  <a:srgbClr val="000000"/>
                </a:solidFill>
                <a:effectLst/>
                <a:uFillTx/>
                <a:latin typeface="Arial"/>
                <a:ea typeface="Arial"/>
              </a:rPr>
              <a:t>SL</a:t>
            </a:r>
            <a:r>
              <a:rPr lang="en-US" sz="2000" b="0" u="none" strike="noStrike">
                <a:solidFill>
                  <a:srgbClr val="000000"/>
                </a:solidFill>
                <a:effectLst/>
                <a:uFillTx/>
                <a:latin typeface="Arial"/>
                <a:ea typeface="Arial"/>
              </a:rPr>
              <a:t>)</a:t>
            </a:r>
            <a:r>
              <a:rPr lang="en-US" sz="2000" b="0" u="none" strike="noStrike" baseline="30000">
                <a:solidFill>
                  <a:srgbClr val="000000"/>
                </a:solidFill>
                <a:effectLst/>
                <a:uFillTx/>
                <a:latin typeface="Arial"/>
                <a:ea typeface="Arial"/>
              </a:rPr>
              <a:t>3</a:t>
            </a:r>
            <a:r>
              <a:rPr lang="en-US" sz="2000" b="0" u="none" strike="noStrike">
                <a:solidFill>
                  <a:srgbClr val="CC3300"/>
                </a:solidFill>
                <a:effectLst/>
                <a:uFillTx/>
                <a:latin typeface="Arial"/>
                <a:ea typeface="Arial"/>
              </a:rPr>
              <a:t> </a:t>
            </a:r>
            <a:endParaRPr lang="en-US" sz="2000" b="0" u="none" strike="noStrike">
              <a:solidFill>
                <a:srgbClr val="000000"/>
              </a:solidFill>
              <a:effectLst/>
              <a:uFillTx/>
              <a:latin typeface="Times New Roman"/>
            </a:endParaRPr>
          </a:p>
          <a:p>
            <a:pPr>
              <a:lnSpc>
                <a:spcPct val="90000"/>
              </a:lnSpc>
              <a:tabLst>
                <a:tab pos="0" algn="l"/>
                <a:tab pos="16002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Unavailability</a:t>
            </a:r>
            <a:r>
              <a:rPr lang="en-US" sz="20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  1 – 3</a:t>
            </a:r>
            <a:r>
              <a:rPr lang="en-US" sz="2000" b="0" i="1" u="none" strike="noStrike">
                <a:solidFill>
                  <a:srgbClr val="000000"/>
                </a:solidFill>
                <a:effectLst/>
                <a:uFillTx/>
                <a:latin typeface="Arial"/>
                <a:ea typeface="Arial"/>
              </a:rPr>
              <a:t>SL</a:t>
            </a:r>
            <a:r>
              <a:rPr lang="en-US" sz="2000" b="0" u="none" strike="noStrike">
                <a:solidFill>
                  <a:srgbClr val="000000"/>
                </a:solidFill>
                <a:effectLst/>
                <a:uFillTx/>
                <a:latin typeface="Arial"/>
                <a:ea typeface="Arial"/>
              </a:rPr>
              <a:t> – 3(</a:t>
            </a:r>
            <a:r>
              <a:rPr lang="en-US" sz="2000" b="0" i="1" u="none" strike="noStrike">
                <a:solidFill>
                  <a:srgbClr val="000000"/>
                </a:solidFill>
                <a:effectLst/>
                <a:uFillTx/>
                <a:latin typeface="Arial"/>
                <a:ea typeface="Arial"/>
              </a:rPr>
              <a:t>SL</a:t>
            </a:r>
            <a:r>
              <a:rPr lang="en-US" sz="2000" b="0" u="none" strike="noStrike">
                <a:solidFill>
                  <a:srgbClr val="000000"/>
                </a:solidFill>
                <a:effectLst/>
                <a:uFillTx/>
                <a:latin typeface="Arial"/>
                <a:ea typeface="Arial"/>
              </a:rPr>
              <a:t>)</a:t>
            </a:r>
            <a:r>
              <a:rPr lang="en-US" sz="2000" b="0" u="none" strike="noStrike" baseline="30000">
                <a:solidFill>
                  <a:srgbClr val="000000"/>
                </a:solidFill>
                <a:effectLst/>
                <a:uFillTx/>
                <a:latin typeface="Arial"/>
                <a:ea typeface="Arial"/>
              </a:rPr>
              <a:t>2</a:t>
            </a:r>
            <a:r>
              <a:rPr lang="en-US" sz="2000" b="0" u="none" strike="noStrike">
                <a:solidFill>
                  <a:srgbClr val="CC3300"/>
                </a:solidFill>
                <a:effectLst/>
                <a:uFillTx/>
                <a:latin typeface="Arial"/>
                <a:ea typeface="Arial"/>
              </a:rPr>
              <a:t> </a:t>
            </a:r>
            <a:r>
              <a:rPr lang="en-US" sz="2000" b="0" u="none" strike="noStrike">
                <a:solidFill>
                  <a:srgbClr val="000000"/>
                </a:solidFill>
                <a:effectLst/>
                <a:uFillTx/>
                <a:latin typeface="Arial"/>
                <a:ea typeface="Arial"/>
              </a:rPr>
              <a:t>+ (</a:t>
            </a:r>
            <a:r>
              <a:rPr lang="en-US" sz="2000" b="0" i="1" u="none" strike="noStrike">
                <a:solidFill>
                  <a:srgbClr val="000000"/>
                </a:solidFill>
                <a:effectLst/>
                <a:uFillTx/>
                <a:latin typeface="Arial"/>
                <a:ea typeface="Arial"/>
              </a:rPr>
              <a:t>SL</a:t>
            </a:r>
            <a:r>
              <a:rPr lang="en-US" sz="2000" b="0" u="none" strike="noStrike">
                <a:solidFill>
                  <a:srgbClr val="000000"/>
                </a:solidFill>
                <a:effectLst/>
                <a:uFillTx/>
                <a:latin typeface="Arial"/>
                <a:ea typeface="Arial"/>
              </a:rPr>
              <a:t>)</a:t>
            </a:r>
            <a:r>
              <a:rPr lang="en-US" sz="2000" b="0" u="none" strike="noStrike" baseline="30000">
                <a:solidFill>
                  <a:srgbClr val="000000"/>
                </a:solidFill>
                <a:effectLst/>
                <a:uFillTx/>
                <a:latin typeface="Arial"/>
                <a:ea typeface="Arial"/>
              </a:rPr>
              <a:t>3</a:t>
            </a:r>
            <a:r>
              <a:rPr lang="en-US" sz="2000" b="0" u="none" strike="noStrike">
                <a:solidFill>
                  <a:srgbClr val="CC3300"/>
                </a:solidFill>
                <a:effectLst/>
                <a:uFillTx/>
                <a:latin typeface="Arial"/>
                <a:ea typeface="Arial"/>
              </a:rPr>
              <a:t> </a:t>
            </a:r>
            <a:endParaRPr lang="en-US" sz="2000" b="0" u="none" strike="noStrike">
              <a:solidFill>
                <a:srgbClr val="000000"/>
              </a:solidFill>
              <a:effectLst/>
              <a:uFillTx/>
              <a:latin typeface="Times New Roman"/>
            </a:endParaRPr>
          </a:p>
          <a:p>
            <a:pPr>
              <a:lnSpc>
                <a:spcPct val="90000"/>
              </a:lnSpc>
              <a:tabLst>
                <a:tab pos="0" algn="l"/>
                <a:tab pos="16002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  (1 – </a:t>
            </a:r>
            <a:r>
              <a:rPr lang="en-US" sz="2000" b="0" i="1" u="none" strike="noStrike">
                <a:solidFill>
                  <a:srgbClr val="000000"/>
                </a:solidFill>
                <a:effectLst/>
                <a:uFillTx/>
                <a:latin typeface="Arial"/>
                <a:ea typeface="Arial"/>
              </a:rPr>
              <a:t>SL</a:t>
            </a:r>
            <a:r>
              <a:rPr lang="en-US" sz="2000" b="0" u="none" strike="noStrike">
                <a:solidFill>
                  <a:srgbClr val="000000"/>
                </a:solidFill>
                <a:effectLst/>
                <a:uFillTx/>
                <a:latin typeface="Arial"/>
                <a:ea typeface="Arial"/>
              </a:rPr>
              <a:t>)</a:t>
            </a:r>
            <a:r>
              <a:rPr lang="en-US" sz="2000" b="0" u="none" strike="noStrike" baseline="30000">
                <a:solidFill>
                  <a:srgbClr val="000000"/>
                </a:solidFill>
                <a:effectLst/>
                <a:uFillTx/>
                <a:latin typeface="Arial"/>
                <a:ea typeface="Arial"/>
              </a:rPr>
              <a:t>3</a:t>
            </a:r>
            <a:r>
              <a:rPr lang="en-US" sz="2000" b="0" u="none" strike="noStrike">
                <a:solidFill>
                  <a:srgbClr val="000000"/>
                </a:solidFill>
                <a:effectLst/>
                <a:uFillTx/>
                <a:latin typeface="Arial"/>
                <a:ea typeface="Arial"/>
              </a:rPr>
              <a:t>  = 0.02%</a:t>
            </a:r>
            <a:endParaRPr lang="en-US" sz="2000" b="0" u="none" strike="noStrike">
              <a:solidFill>
                <a:srgbClr val="000000"/>
              </a:solidFill>
              <a:effectLst/>
              <a:uFillTx/>
              <a:latin typeface="Times New Roman"/>
            </a:endParaRPr>
          </a:p>
        </p:txBody>
      </p:sp>
      <p:sp>
        <p:nvSpPr>
          <p:cNvPr id="327" name="Text Box 18"/>
          <p:cNvSpPr/>
          <p:nvPr/>
        </p:nvSpPr>
        <p:spPr>
          <a:xfrm>
            <a:off x="380880" y="1066680"/>
            <a:ext cx="4572000" cy="641880"/>
          </a:xfrm>
          <a:prstGeom prst="rect">
            <a:avLst/>
          </a:prstGeom>
          <a:noFill/>
          <a:ln w="38160">
            <a:noFill/>
          </a:ln>
        </p:spPr>
        <p:style>
          <a:lnRef idx="0"/>
          <a:fillRef idx="0"/>
          <a:effectRef idx="0"/>
          <a:fontRef idx="minor"/>
        </p:style>
        <p:txBody>
          <a:bodyPr lIns="90000" tIns="46800" rIns="90000" bIns="46800" anchor="t">
            <a:spAutoFit/>
          </a:bodyPr>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ea typeface="Arial"/>
              </a:rPr>
              <a:t>S</a:t>
            </a:r>
            <a:r>
              <a:rPr lang="en-US" sz="2000" b="0" u="none" strike="noStrike">
                <a:solidFill>
                  <a:srgbClr val="000000"/>
                </a:solidFill>
                <a:effectLst/>
                <a:uFillTx/>
                <a:latin typeface="Arial"/>
                <a:ea typeface="Arial"/>
              </a:rPr>
              <a:t>: Site availability</a:t>
            </a:r>
            <a:r>
              <a:rPr lang="en-US" sz="20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e.g., 99%</a:t>
            </a:r>
            <a:endParaRPr lang="en-US" sz="2000" b="0" u="none" strike="noStrike">
              <a:solidFill>
                <a:srgbClr val="000000"/>
              </a:solidFill>
              <a:effectLst/>
              <a:uFillTx/>
              <a:latin typeface="Times New Roman"/>
            </a:endParaRPr>
          </a:p>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ea typeface="Arial"/>
              </a:rPr>
              <a:t>L</a:t>
            </a:r>
            <a:r>
              <a:rPr lang="en-US" sz="2000" b="0" u="none" strike="noStrike">
                <a:solidFill>
                  <a:srgbClr val="000000"/>
                </a:solidFill>
                <a:effectLst/>
                <a:uFillTx/>
                <a:latin typeface="Arial"/>
                <a:ea typeface="Arial"/>
              </a:rPr>
              <a:t>: </a:t>
            </a:r>
            <a:r>
              <a:rPr lang="en-US" sz="8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Link availability</a:t>
            </a:r>
            <a:r>
              <a:rPr lang="en-US" sz="20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e.g., 95%</a:t>
            </a:r>
            <a:endParaRPr lang="en-US" sz="2000" b="0" u="none" strike="noStrike">
              <a:solidFill>
                <a:srgbClr val="000000"/>
              </a:solidFill>
              <a:effectLst/>
              <a:uFillTx/>
              <a:latin typeface="Times New Roman"/>
            </a:endParaRPr>
          </a:p>
        </p:txBody>
      </p:sp>
      <p:sp>
        <p:nvSpPr>
          <p:cNvPr id="328" name="Text Box 19"/>
          <p:cNvSpPr/>
          <p:nvPr/>
        </p:nvSpPr>
        <p:spPr>
          <a:xfrm>
            <a:off x="5415480" y="4343400"/>
            <a:ext cx="1313280" cy="50976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8000"/>
                </a:solidFill>
                <a:effectLst/>
                <a:uFillTx/>
                <a:latin typeface="Arial"/>
                <a:ea typeface="Arial"/>
              </a:rPr>
              <a:t>F</a:t>
            </a:r>
            <a:r>
              <a:rPr lang="en-US" sz="2400" b="1" i="1" u="none" strike="noStrike" baseline="-25000">
                <a:solidFill>
                  <a:srgbClr val="008000"/>
                </a:solidFill>
                <a:effectLst/>
                <a:uFillTx/>
                <a:latin typeface="Arial"/>
                <a:ea typeface="Arial"/>
              </a:rPr>
              <a:t>i</a:t>
            </a:r>
            <a:r>
              <a:rPr lang="en-US" sz="2400" b="1" u="none" strike="noStrike">
                <a:solidFill>
                  <a:srgbClr val="008000"/>
                </a:solidFill>
                <a:effectLst/>
                <a:uFillTx/>
                <a:latin typeface="Arial"/>
                <a:ea typeface="Arial"/>
              </a:rPr>
              <a:t> home</a:t>
            </a:r>
            <a:endParaRPr lang="en-US" sz="2400" b="0" u="none" strike="noStrike">
              <a:solidFill>
                <a:srgbClr val="000000"/>
              </a:solidFill>
              <a:effectLst/>
              <a:uFillTx/>
              <a:latin typeface="Times New Roman"/>
            </a:endParaRPr>
          </a:p>
        </p:txBody>
      </p:sp>
      <p:sp>
        <p:nvSpPr>
          <p:cNvPr id="329" name="Text Box 20"/>
          <p:cNvSpPr/>
          <p:nvPr/>
        </p:nvSpPr>
        <p:spPr>
          <a:xfrm>
            <a:off x="7091640" y="4343400"/>
            <a:ext cx="1821600" cy="50976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A50021"/>
                </a:solidFill>
                <a:effectLst/>
                <a:uFillTx/>
                <a:latin typeface="Arial"/>
                <a:ea typeface="Arial"/>
              </a:rPr>
              <a:t>F</a:t>
            </a:r>
            <a:r>
              <a:rPr lang="en-US" sz="2400" b="1" i="1" u="none" strike="noStrike" baseline="-25000">
                <a:solidFill>
                  <a:srgbClr val="A50021"/>
                </a:solidFill>
                <a:effectLst/>
                <a:uFillTx/>
                <a:latin typeface="Arial"/>
                <a:ea typeface="Arial"/>
              </a:rPr>
              <a:t>i</a:t>
            </a:r>
            <a:r>
              <a:rPr lang="en-US" sz="2400" b="1" u="none" strike="noStrike">
                <a:solidFill>
                  <a:srgbClr val="A50021"/>
                </a:solidFill>
                <a:effectLst/>
                <a:uFillTx/>
                <a:latin typeface="Arial"/>
                <a:ea typeface="Arial"/>
              </a:rPr>
              <a:t> backup 2</a:t>
            </a:r>
            <a:endParaRPr lang="en-US" sz="2400" b="0" u="none" strike="noStrike">
              <a:solidFill>
                <a:srgbClr val="000000"/>
              </a:solidFill>
              <a:effectLst/>
              <a:uFillTx/>
              <a:latin typeface="Times New Roman"/>
            </a:endParaRPr>
          </a:p>
        </p:txBody>
      </p:sp>
      <p:sp>
        <p:nvSpPr>
          <p:cNvPr id="330" name="Text Box 21"/>
          <p:cNvSpPr/>
          <p:nvPr/>
        </p:nvSpPr>
        <p:spPr>
          <a:xfrm>
            <a:off x="8003160" y="1752480"/>
            <a:ext cx="858600" cy="45936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3333CC"/>
                </a:solidFill>
                <a:effectLst/>
                <a:uFillTx/>
                <a:latin typeface="Arial"/>
                <a:ea typeface="Arial"/>
              </a:rPr>
              <a:t>User</a:t>
            </a:r>
            <a:endParaRPr lang="en-US" sz="2400" b="0" u="none" strike="noStrike">
              <a:solidFill>
                <a:srgbClr val="000000"/>
              </a:solidFill>
              <a:effectLst/>
              <a:uFillTx/>
              <a:latin typeface="Times New Roman"/>
            </a:endParaRPr>
          </a:p>
        </p:txBody>
      </p:sp>
      <p:sp>
        <p:nvSpPr>
          <p:cNvPr id="331" name="Text Box 22"/>
          <p:cNvSpPr/>
          <p:nvPr/>
        </p:nvSpPr>
        <p:spPr>
          <a:xfrm>
            <a:off x="7091640" y="914400"/>
            <a:ext cx="1821600" cy="50976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FF3300"/>
                </a:solidFill>
                <a:effectLst/>
                <a:uFillTx/>
                <a:latin typeface="Arial"/>
                <a:ea typeface="Arial"/>
              </a:rPr>
              <a:t>F</a:t>
            </a:r>
            <a:r>
              <a:rPr lang="en-US" sz="2400" b="1" i="1" u="none" strike="noStrike" baseline="-25000">
                <a:solidFill>
                  <a:srgbClr val="FF3300"/>
                </a:solidFill>
                <a:effectLst/>
                <a:uFillTx/>
                <a:latin typeface="Arial"/>
                <a:ea typeface="Arial"/>
              </a:rPr>
              <a:t>i</a:t>
            </a:r>
            <a:r>
              <a:rPr lang="en-US" sz="2400" b="1" u="none" strike="noStrike">
                <a:solidFill>
                  <a:srgbClr val="FF3300"/>
                </a:solidFill>
                <a:effectLst/>
                <a:uFillTx/>
                <a:latin typeface="Arial"/>
                <a:ea typeface="Arial"/>
              </a:rPr>
              <a:t> backup 1</a:t>
            </a:r>
            <a:endParaRPr lang="en-US" sz="2400" b="0" u="none" strike="noStrike">
              <a:solidFill>
                <a:srgbClr val="000000"/>
              </a:solidFill>
              <a:effectLst/>
              <a:uFillTx/>
              <a:latin typeface="Times New Roman"/>
            </a:endParaRPr>
          </a:p>
        </p:txBody>
      </p:sp>
      <p:grpSp>
        <p:nvGrpSpPr>
          <p:cNvPr id="332" name="Group 29"/>
          <p:cNvGrpSpPr/>
          <p:nvPr/>
        </p:nvGrpSpPr>
        <p:grpSpPr>
          <a:xfrm>
            <a:off x="304560" y="1904760"/>
            <a:ext cx="5029200" cy="2047320"/>
            <a:chOff x="304560" y="1904760"/>
            <a:chExt cx="5029200" cy="2047320"/>
          </a:xfrm>
        </p:grpSpPr>
        <p:sp>
          <p:nvSpPr>
            <p:cNvPr id="333" name="Text Box 4"/>
            <p:cNvSpPr/>
            <p:nvPr/>
          </p:nvSpPr>
          <p:spPr>
            <a:xfrm>
              <a:off x="380880" y="1904760"/>
              <a:ext cx="4952880" cy="367920"/>
            </a:xfrm>
            <a:prstGeom prst="rect">
              <a:avLst/>
            </a:prstGeom>
            <a:noFill/>
            <a:ln w="38160">
              <a:noFill/>
            </a:ln>
          </p:spPr>
          <p:style>
            <a:lnRef idx="0"/>
            <a:fillRef idx="0"/>
            <a:effectRef idx="0"/>
            <a:fontRef idx="minor"/>
          </p:style>
          <p:txBody>
            <a:bodyPr lIns="90000" tIns="46800" rIns="90000" bIns="46800" anchor="t">
              <a:spAutoFit/>
            </a:bodyPr>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i="1" u="none" strike="noStrike">
                  <a:solidFill>
                    <a:srgbClr val="FF0000"/>
                  </a:solidFill>
                  <a:effectLst/>
                  <a:uFillTx/>
                  <a:latin typeface="Arial"/>
                  <a:ea typeface="Arial"/>
                </a:rPr>
                <a:t>A</a:t>
              </a:r>
              <a:r>
                <a:rPr lang="en-US" sz="2000" b="1" u="none" strike="noStrike">
                  <a:solidFill>
                    <a:srgbClr val="FF0000"/>
                  </a:solidFill>
                  <a:effectLst/>
                  <a:uFillTx/>
                  <a:latin typeface="Arial"/>
                  <a:ea typeface="Arial"/>
                </a:rPr>
                <a:t> = </a:t>
              </a:r>
              <a:r>
                <a:rPr lang="en-US" sz="2000" b="1" i="1" u="none" strike="noStrike">
                  <a:solidFill>
                    <a:srgbClr val="FF0000"/>
                  </a:solidFill>
                  <a:effectLst/>
                  <a:uFillTx/>
                  <a:latin typeface="Arial"/>
                  <a:ea typeface="Arial"/>
                </a:rPr>
                <a:t>SL</a:t>
              </a:r>
              <a:r>
                <a:rPr lang="en-US" sz="2000" b="1" u="none" strike="noStrike">
                  <a:solidFill>
                    <a:srgbClr val="FF0000"/>
                  </a:solidFill>
                  <a:effectLst/>
                  <a:uFillTx/>
                  <a:latin typeface="Arial"/>
                  <a:ea typeface="Arial"/>
                </a:rPr>
                <a:t> + (1 – </a:t>
              </a:r>
              <a:r>
                <a:rPr lang="en-US" sz="2000" b="1" i="1" u="none" strike="noStrike">
                  <a:solidFill>
                    <a:srgbClr val="FF0000"/>
                  </a:solidFill>
                  <a:effectLst/>
                  <a:uFillTx/>
                  <a:latin typeface="Arial"/>
                  <a:ea typeface="Arial"/>
                </a:rPr>
                <a:t>SL</a:t>
              </a:r>
              <a:r>
                <a:rPr lang="en-US" sz="2000" b="1" u="none" strike="noStrike">
                  <a:solidFill>
                    <a:srgbClr val="FF0000"/>
                  </a:solidFill>
                  <a:effectLst/>
                  <a:uFillTx/>
                  <a:latin typeface="Arial"/>
                  <a:ea typeface="Arial"/>
                </a:rPr>
                <a:t>)</a:t>
              </a:r>
              <a:r>
                <a:rPr lang="en-US" sz="2000" b="1" i="1" u="none" strike="noStrike">
                  <a:solidFill>
                    <a:srgbClr val="FF0000"/>
                  </a:solidFill>
                  <a:effectLst/>
                  <a:uFillTx/>
                  <a:latin typeface="Arial"/>
                  <a:ea typeface="Arial"/>
                </a:rPr>
                <a:t>SL </a:t>
              </a:r>
              <a:r>
                <a:rPr lang="en-US" sz="2000" b="1" u="none" strike="noStrike">
                  <a:solidFill>
                    <a:srgbClr val="FF0000"/>
                  </a:solidFill>
                  <a:effectLst/>
                  <a:uFillTx/>
                  <a:latin typeface="Arial"/>
                  <a:ea typeface="Arial"/>
                </a:rPr>
                <a:t>+ (1 – </a:t>
              </a:r>
              <a:r>
                <a:rPr lang="en-US" sz="2000" b="1" i="1" u="none" strike="noStrike">
                  <a:solidFill>
                    <a:srgbClr val="FF0000"/>
                  </a:solidFill>
                  <a:effectLst/>
                  <a:uFillTx/>
                  <a:latin typeface="Arial"/>
                  <a:ea typeface="Arial"/>
                </a:rPr>
                <a:t>SL</a:t>
              </a:r>
              <a:r>
                <a:rPr lang="en-US" sz="2000" b="1" u="none" strike="noStrike">
                  <a:solidFill>
                    <a:srgbClr val="FF0000"/>
                  </a:solidFill>
                  <a:effectLst/>
                  <a:uFillTx/>
                  <a:latin typeface="Arial"/>
                  <a:ea typeface="Arial"/>
                </a:rPr>
                <a:t>)</a:t>
              </a:r>
              <a:r>
                <a:rPr lang="en-US" sz="2000" b="1" u="none" strike="noStrike" baseline="30000">
                  <a:solidFill>
                    <a:srgbClr val="FF0000"/>
                  </a:solidFill>
                  <a:effectLst/>
                  <a:uFillTx/>
                  <a:latin typeface="Arial"/>
                  <a:ea typeface="Arial"/>
                </a:rPr>
                <a:t>2</a:t>
              </a:r>
              <a:r>
                <a:rPr lang="en-US" sz="2000" b="1" i="1" u="none" strike="noStrike">
                  <a:solidFill>
                    <a:srgbClr val="FF0000"/>
                  </a:solidFill>
                  <a:effectLst/>
                  <a:uFillTx/>
                  <a:latin typeface="Arial"/>
                  <a:ea typeface="Arial"/>
                </a:rPr>
                <a:t>SL</a:t>
              </a:r>
              <a:endParaRPr lang="en-US" sz="2000" b="0" u="none" strike="noStrike">
                <a:solidFill>
                  <a:srgbClr val="000000"/>
                </a:solidFill>
                <a:effectLst/>
                <a:uFillTx/>
                <a:latin typeface="Times New Roman"/>
              </a:endParaRPr>
            </a:p>
          </p:txBody>
        </p:sp>
        <p:sp>
          <p:nvSpPr>
            <p:cNvPr id="334" name="Text Box 5"/>
            <p:cNvSpPr/>
            <p:nvPr/>
          </p:nvSpPr>
          <p:spPr>
            <a:xfrm>
              <a:off x="304560" y="2590560"/>
              <a:ext cx="1600200" cy="532440"/>
            </a:xfrm>
            <a:prstGeom prst="rect">
              <a:avLst/>
            </a:prstGeom>
            <a:noFill/>
            <a:ln w="38160">
              <a:noFill/>
            </a:ln>
          </p:spPr>
          <p:style>
            <a:lnRef idx="0"/>
            <a:fillRef idx="0"/>
            <a:effectRef idx="0"/>
            <a:fontRef idx="minor"/>
          </p:style>
          <p:txBody>
            <a:bodyPr lIns="90000" tIns="46800" rIns="90000" bIns="46800" anchor="t">
              <a:spAutoFit/>
            </a:bodyPr>
            <a:p>
              <a:pPr algn="ct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Arial"/>
                </a:rPr>
                <a:t>Primary site </a:t>
              </a:r>
              <a:endParaRPr lang="en-US" sz="1600" b="0" u="none" strike="noStrike">
                <a:solidFill>
                  <a:srgbClr val="000000"/>
                </a:solidFill>
                <a:effectLst/>
                <a:uFillTx/>
                <a:latin typeface="Times New Roman"/>
              </a:endParaRPr>
            </a:p>
            <a:p>
              <a:pPr algn="ct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Arial"/>
                </a:rPr>
                <a:t>can be reached</a:t>
              </a:r>
              <a:endParaRPr lang="en-US" sz="1600" b="0" u="none" strike="noStrike">
                <a:solidFill>
                  <a:srgbClr val="000000"/>
                </a:solidFill>
                <a:effectLst/>
                <a:uFillTx/>
                <a:latin typeface="Times New Roman"/>
              </a:endParaRPr>
            </a:p>
          </p:txBody>
        </p:sp>
        <p:sp>
          <p:nvSpPr>
            <p:cNvPr id="335" name="Line 13"/>
            <p:cNvSpPr/>
            <p:nvPr/>
          </p:nvSpPr>
          <p:spPr>
            <a:xfrm>
              <a:off x="1143000" y="2209680"/>
              <a:ext cx="0" cy="38088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36" name="Line 14"/>
            <p:cNvSpPr/>
            <p:nvPr/>
          </p:nvSpPr>
          <p:spPr>
            <a:xfrm>
              <a:off x="1981080" y="2209680"/>
              <a:ext cx="0" cy="121932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37" name="Text Box 15"/>
            <p:cNvSpPr/>
            <p:nvPr/>
          </p:nvSpPr>
          <p:spPr>
            <a:xfrm>
              <a:off x="1218960" y="3352680"/>
              <a:ext cx="1524240" cy="532440"/>
            </a:xfrm>
            <a:prstGeom prst="rect">
              <a:avLst/>
            </a:prstGeom>
            <a:noFill/>
            <a:ln w="38160">
              <a:noFill/>
            </a:ln>
          </p:spPr>
          <p:style>
            <a:lnRef idx="0"/>
            <a:fillRef idx="0"/>
            <a:effectRef idx="0"/>
            <a:fontRef idx="minor"/>
          </p:style>
          <p:txBody>
            <a:bodyPr lIns="90000" tIns="46800" rIns="90000" bIns="46800" anchor="t">
              <a:spAutoFit/>
            </a:bodyPr>
            <a:p>
              <a:pPr algn="ct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Arial"/>
                </a:rPr>
                <a:t>Primary site </a:t>
              </a:r>
              <a:endParaRPr lang="en-US" sz="1600" b="0" u="none" strike="noStrike">
                <a:solidFill>
                  <a:srgbClr val="000000"/>
                </a:solidFill>
                <a:effectLst/>
                <a:uFillTx/>
                <a:latin typeface="Times New Roman"/>
              </a:endParaRPr>
            </a:p>
            <a:p>
              <a:pPr algn="ct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Arial"/>
                </a:rPr>
                <a:t>inaccessible</a:t>
              </a:r>
              <a:endParaRPr lang="en-US" sz="1600" b="0" u="none" strike="noStrike">
                <a:solidFill>
                  <a:srgbClr val="000000"/>
                </a:solidFill>
                <a:effectLst/>
                <a:uFillTx/>
                <a:latin typeface="Times New Roman"/>
              </a:endParaRPr>
            </a:p>
          </p:txBody>
        </p:sp>
        <p:sp>
          <p:nvSpPr>
            <p:cNvPr id="338" name="Text Box 17"/>
            <p:cNvSpPr/>
            <p:nvPr/>
          </p:nvSpPr>
          <p:spPr>
            <a:xfrm>
              <a:off x="1981080" y="2590560"/>
              <a:ext cx="1600200" cy="532440"/>
            </a:xfrm>
            <a:prstGeom prst="rect">
              <a:avLst/>
            </a:prstGeom>
            <a:noFill/>
            <a:ln w="38160">
              <a:noFill/>
            </a:ln>
          </p:spPr>
          <p:style>
            <a:lnRef idx="0"/>
            <a:fillRef idx="0"/>
            <a:effectRef idx="0"/>
            <a:fontRef idx="minor"/>
          </p:style>
          <p:txBody>
            <a:bodyPr lIns="90000" tIns="46800" rIns="90000" bIns="46800" anchor="t">
              <a:spAutoFit/>
            </a:bodyPr>
            <a:p>
              <a:pPr algn="ct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Arial"/>
                </a:rPr>
                <a:t>Backup 1 </a:t>
              </a:r>
              <a:endParaRPr lang="en-US" sz="1600" b="0" u="none" strike="noStrike">
                <a:solidFill>
                  <a:srgbClr val="000000"/>
                </a:solidFill>
                <a:effectLst/>
                <a:uFillTx/>
                <a:latin typeface="Times New Roman"/>
              </a:endParaRPr>
            </a:p>
            <a:p>
              <a:pPr algn="ct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Arial"/>
                </a:rPr>
                <a:t>can be reached</a:t>
              </a:r>
              <a:endParaRPr lang="en-US" sz="1600" b="0" u="none" strike="noStrike">
                <a:solidFill>
                  <a:srgbClr val="000000"/>
                </a:solidFill>
                <a:effectLst/>
                <a:uFillTx/>
                <a:latin typeface="Times New Roman"/>
              </a:endParaRPr>
            </a:p>
          </p:txBody>
        </p:sp>
        <p:sp>
          <p:nvSpPr>
            <p:cNvPr id="339" name="Line 23"/>
            <p:cNvSpPr/>
            <p:nvPr/>
          </p:nvSpPr>
          <p:spPr>
            <a:xfrm>
              <a:off x="2666880" y="2209680"/>
              <a:ext cx="0" cy="38088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40" name="Line 24"/>
            <p:cNvSpPr/>
            <p:nvPr/>
          </p:nvSpPr>
          <p:spPr>
            <a:xfrm>
              <a:off x="3581280" y="2209680"/>
              <a:ext cx="0" cy="106668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41" name="Text Box 25"/>
            <p:cNvSpPr/>
            <p:nvPr/>
          </p:nvSpPr>
          <p:spPr>
            <a:xfrm>
              <a:off x="2819160" y="3200400"/>
              <a:ext cx="1524240" cy="751680"/>
            </a:xfrm>
            <a:prstGeom prst="rect">
              <a:avLst/>
            </a:prstGeom>
            <a:noFill/>
            <a:ln w="38160">
              <a:noFill/>
            </a:ln>
          </p:spPr>
          <p:style>
            <a:lnRef idx="0"/>
            <a:fillRef idx="0"/>
            <a:effectRef idx="0"/>
            <a:fontRef idx="minor"/>
          </p:style>
          <p:txBody>
            <a:bodyPr lIns="90000" tIns="46800" rIns="90000" bIns="46800" anchor="t">
              <a:spAutoFit/>
            </a:bodyPr>
            <a:p>
              <a:pPr algn="ct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Arial"/>
                </a:rPr>
                <a:t>Primary and backup 1 </a:t>
              </a:r>
              <a:endParaRPr lang="en-US" sz="1600" b="0" u="none" strike="noStrike">
                <a:solidFill>
                  <a:srgbClr val="000000"/>
                </a:solidFill>
                <a:effectLst/>
                <a:uFillTx/>
                <a:latin typeface="Times New Roman"/>
              </a:endParaRPr>
            </a:p>
            <a:p>
              <a:pPr algn="ct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Arial"/>
                </a:rPr>
                <a:t>inaccessible</a:t>
              </a:r>
              <a:endParaRPr lang="en-US" sz="1600" b="0" u="none" strike="noStrike">
                <a:solidFill>
                  <a:srgbClr val="000000"/>
                </a:solidFill>
                <a:effectLst/>
                <a:uFillTx/>
                <a:latin typeface="Times New Roman"/>
              </a:endParaRPr>
            </a:p>
          </p:txBody>
        </p:sp>
        <p:sp>
          <p:nvSpPr>
            <p:cNvPr id="342" name="Text Box 27"/>
            <p:cNvSpPr/>
            <p:nvPr/>
          </p:nvSpPr>
          <p:spPr>
            <a:xfrm>
              <a:off x="3581280" y="2590560"/>
              <a:ext cx="1600200" cy="532440"/>
            </a:xfrm>
            <a:prstGeom prst="rect">
              <a:avLst/>
            </a:prstGeom>
            <a:noFill/>
            <a:ln w="38160">
              <a:noFill/>
            </a:ln>
          </p:spPr>
          <p:style>
            <a:lnRef idx="0"/>
            <a:fillRef idx="0"/>
            <a:effectRef idx="0"/>
            <a:fontRef idx="minor"/>
          </p:style>
          <p:txBody>
            <a:bodyPr lIns="90000" tIns="46800" rIns="90000" bIns="46800" anchor="t">
              <a:spAutoFit/>
            </a:bodyPr>
            <a:p>
              <a:pPr algn="ct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Arial"/>
                </a:rPr>
                <a:t>Backup 2 </a:t>
              </a:r>
              <a:endParaRPr lang="en-US" sz="1600" b="0" u="none" strike="noStrike">
                <a:solidFill>
                  <a:srgbClr val="000000"/>
                </a:solidFill>
                <a:effectLst/>
                <a:uFillTx/>
                <a:latin typeface="Times New Roman"/>
              </a:endParaRPr>
            </a:p>
            <a:p>
              <a:pPr algn="ct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Arial"/>
                </a:rPr>
                <a:t>can be reached</a:t>
              </a:r>
              <a:endParaRPr lang="en-US" sz="1600" b="0" u="none" strike="noStrike">
                <a:solidFill>
                  <a:srgbClr val="000000"/>
                </a:solidFill>
                <a:effectLst/>
                <a:uFillTx/>
                <a:latin typeface="Times New Roman"/>
              </a:endParaRPr>
            </a:p>
          </p:txBody>
        </p:sp>
        <p:sp>
          <p:nvSpPr>
            <p:cNvPr id="343" name="Line 28"/>
            <p:cNvSpPr/>
            <p:nvPr/>
          </p:nvSpPr>
          <p:spPr>
            <a:xfrm>
              <a:off x="4267080" y="2209680"/>
              <a:ext cx="0" cy="38088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sp>
        <p:nvSpPr>
          <p:cNvPr id="344" name="Rectangle 30"/>
          <p:cNvSpPr/>
          <p:nvPr/>
        </p:nvSpPr>
        <p:spPr>
          <a:xfrm>
            <a:off x="7391160" y="5029200"/>
            <a:ext cx="1143000" cy="380880"/>
          </a:xfrm>
          <a:prstGeom prst="rect">
            <a:avLst/>
          </a:prstGeom>
          <a:solidFill>
            <a:srgbClr val="66FF66"/>
          </a:solidFill>
          <a:ln w="38160">
            <a:noFill/>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Fig. 1.2</a:t>
            </a:r>
            <a:endParaRPr lang="en-US" sz="2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5" name="Slide Number Placeholder 8"/>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067BD6FC-6195-4348-80B5-55344B75E5BD}"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346"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347" name="PlaceHolder 1"/>
          <p:cNvSpPr>
            <a:spLocks noGrp="1"/>
          </p:cNvSpPr>
          <p:nvPr>
            <p:ph type="title"/>
          </p:nvPr>
        </p:nvSpPr>
        <p:spPr>
          <a:xfrm>
            <a:off x="228600" y="228240"/>
            <a:ext cx="8686800" cy="68580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ea typeface="Arial"/>
              </a:rPr>
              <a:t>Data Dispersion: Three of Five Pieces</a:t>
            </a:r>
            <a:endParaRPr lang="en-US" sz="3200" b="0" u="none" strike="noStrike">
              <a:solidFill>
                <a:srgbClr val="000000"/>
              </a:solidFill>
              <a:effectLst/>
              <a:uFillTx/>
              <a:latin typeface="Arial"/>
            </a:endParaRPr>
          </a:p>
        </p:txBody>
      </p:sp>
      <p:sp>
        <p:nvSpPr>
          <p:cNvPr id="348" name="Rectangle 6"/>
          <p:cNvSpPr/>
          <p:nvPr/>
        </p:nvSpPr>
        <p:spPr>
          <a:xfrm>
            <a:off x="0" y="2330280"/>
            <a:ext cx="9144000" cy="360"/>
          </a:xfrm>
          <a:prstGeom prst="rect">
            <a:avLst/>
          </a:prstGeom>
          <a:noFill/>
          <a:ln w="38160">
            <a:noFill/>
          </a:ln>
        </p:spPr>
        <p:style>
          <a:lnRef idx="0"/>
          <a:fillRef idx="0"/>
          <a:effectRef idx="0"/>
          <a:fontRef idx="minor"/>
        </p:style>
        <p:txBody>
          <a:bodyPr wrap="none" lIns="90000" tIns="-46440" rIns="90000" bIns="-4644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pSp>
        <p:nvGrpSpPr>
          <p:cNvPr id="349" name="Group 7"/>
          <p:cNvGrpSpPr/>
          <p:nvPr/>
        </p:nvGrpSpPr>
        <p:grpSpPr>
          <a:xfrm>
            <a:off x="4952880" y="1118880"/>
            <a:ext cx="3962520" cy="3341880"/>
            <a:chOff x="4952880" y="1118880"/>
            <a:chExt cx="3962520" cy="3341880"/>
          </a:xfrm>
        </p:grpSpPr>
        <p:sp>
          <p:nvSpPr>
            <p:cNvPr id="350" name="AutoShape 8"/>
            <p:cNvSpPr/>
            <p:nvPr/>
          </p:nvSpPr>
          <p:spPr>
            <a:xfrm>
              <a:off x="4952880" y="1118880"/>
              <a:ext cx="3962520" cy="3341880"/>
            </a:xfrm>
            <a:prstGeom prst="rect">
              <a:avLst/>
            </a:prstGeom>
            <a:noFill/>
            <a:ln w="38160">
              <a:noFill/>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pic>
          <p:nvPicPr>
            <p:cNvPr id="351" name="Picture 9"/>
            <p:cNvPicPr/>
            <p:nvPr/>
          </p:nvPicPr>
          <p:blipFill>
            <a:blip r:embed="rId1"/>
            <a:stretch/>
          </p:blipFill>
          <p:spPr>
            <a:xfrm>
              <a:off x="5022360" y="1118880"/>
              <a:ext cx="3892680" cy="3341880"/>
            </a:xfrm>
            <a:prstGeom prst="rect">
              <a:avLst/>
            </a:prstGeom>
            <a:noFill/>
            <a:ln w="38160">
              <a:noFill/>
            </a:ln>
          </p:spPr>
        </p:pic>
      </p:grpSp>
      <p:sp>
        <p:nvSpPr>
          <p:cNvPr id="352" name="Text Box 10"/>
          <p:cNvSpPr/>
          <p:nvPr/>
        </p:nvSpPr>
        <p:spPr>
          <a:xfrm>
            <a:off x="380880" y="4952880"/>
            <a:ext cx="8458200" cy="1053000"/>
          </a:xfrm>
          <a:prstGeom prst="rect">
            <a:avLst/>
          </a:prstGeom>
          <a:noFill/>
          <a:ln w="38160">
            <a:noFill/>
          </a:ln>
        </p:spPr>
        <p:style>
          <a:lnRef idx="0"/>
          <a:fillRef idx="0"/>
          <a:effectRef idx="0"/>
          <a:fontRef idx="minor"/>
        </p:style>
        <p:txBody>
          <a:bodyPr lIns="90000" tIns="46800" rIns="90000" bIns="46800" anchor="t">
            <a:spAutoFit/>
          </a:bodyPr>
          <a:p>
            <a:pPr>
              <a:lnSpc>
                <a:spcPct val="105000"/>
              </a:lnSpc>
              <a:tabLst>
                <a:tab pos="0" algn="l"/>
                <a:tab pos="1828800" algn="l"/>
                <a:tab pos="3429000" algn="l"/>
                <a:tab pos="5029200" algn="l"/>
                <a:tab pos="6629400" algn="l"/>
                <a:tab pos="7315200" algn="l"/>
                <a:tab pos="8229600" algn="l"/>
                <a:tab pos="9144000" algn="l"/>
                <a:tab pos="10058400" algn="l"/>
              </a:tabLst>
            </a:pPr>
            <a:r>
              <a:rPr lang="en-US" sz="2000" b="0" u="none" strike="noStrike">
                <a:solidFill>
                  <a:srgbClr val="000000"/>
                </a:solidFill>
                <a:effectLst/>
                <a:uFillTx/>
                <a:latin typeface="Arial"/>
                <a:ea typeface="Arial"/>
              </a:rPr>
              <a:t>Scheme  </a:t>
            </a:r>
            <a:r>
              <a:rPr lang="en-US" sz="2000" b="0" u="none" strike="noStrike">
                <a:solidFill>
                  <a:srgbClr val="000000"/>
                </a:solidFill>
                <a:effectLst/>
                <a:uFillTx/>
                <a:latin typeface="Symbol"/>
                <a:ea typeface="Symbol"/>
              </a:rPr>
              <a:t></a:t>
            </a:r>
            <a:r>
              <a:rPr lang="en-US" sz="20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Nonredund.</a:t>
            </a:r>
            <a:r>
              <a:rPr lang="en-US" sz="20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Duplication</a:t>
            </a:r>
            <a:r>
              <a:rPr lang="en-US" sz="20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Triplication</a:t>
            </a:r>
            <a:r>
              <a:rPr lang="en-US" sz="20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Dispersion</a:t>
            </a:r>
            <a:endParaRPr lang="en-US" sz="2000" b="0" u="none" strike="noStrike">
              <a:solidFill>
                <a:srgbClr val="000000"/>
              </a:solidFill>
              <a:effectLst/>
              <a:uFillTx/>
              <a:latin typeface="Times New Roman"/>
            </a:endParaRPr>
          </a:p>
          <a:p>
            <a:pPr>
              <a:lnSpc>
                <a:spcPct val="105000"/>
              </a:lnSpc>
              <a:tabLst>
                <a:tab pos="0" algn="l"/>
                <a:tab pos="1828800" algn="l"/>
                <a:tab pos="3429000" algn="l"/>
                <a:tab pos="5029200" algn="l"/>
                <a:tab pos="6629400" algn="l"/>
                <a:tab pos="7315200" algn="l"/>
                <a:tab pos="8229600" algn="l"/>
                <a:tab pos="9144000" algn="l"/>
                <a:tab pos="10058400" algn="l"/>
              </a:tabLst>
            </a:pPr>
            <a:r>
              <a:rPr lang="en-US" sz="2000" b="0" u="none" strike="noStrike">
                <a:solidFill>
                  <a:srgbClr val="000000"/>
                </a:solidFill>
                <a:effectLst/>
                <a:uFillTx/>
                <a:latin typeface="Arial"/>
                <a:ea typeface="Arial"/>
              </a:rPr>
              <a:t>Unavailability</a:t>
            </a:r>
            <a:r>
              <a:rPr lang="en-US" sz="20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   5.95%</a:t>
            </a:r>
            <a:r>
              <a:rPr lang="en-US" sz="20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   0.35%</a:t>
            </a:r>
            <a:r>
              <a:rPr lang="en-US" sz="20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   0.02%</a:t>
            </a:r>
            <a:r>
              <a:rPr lang="en-US" sz="20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   0.08%</a:t>
            </a:r>
            <a:endParaRPr lang="en-US" sz="2000" b="0" u="none" strike="noStrike">
              <a:solidFill>
                <a:srgbClr val="000000"/>
              </a:solidFill>
              <a:effectLst/>
              <a:uFillTx/>
              <a:latin typeface="Times New Roman"/>
            </a:endParaRPr>
          </a:p>
          <a:p>
            <a:pPr>
              <a:lnSpc>
                <a:spcPct val="105000"/>
              </a:lnSpc>
              <a:tabLst>
                <a:tab pos="0" algn="l"/>
                <a:tab pos="1828800" algn="l"/>
                <a:tab pos="3429000" algn="l"/>
                <a:tab pos="5029200" algn="l"/>
                <a:tab pos="6629400" algn="l"/>
                <a:tab pos="7315200" algn="l"/>
                <a:tab pos="8229600" algn="l"/>
                <a:tab pos="9144000" algn="l"/>
                <a:tab pos="10058400" algn="l"/>
              </a:tabLst>
            </a:pPr>
            <a:r>
              <a:rPr lang="en-US" sz="2000" b="0" u="none" strike="noStrike">
                <a:solidFill>
                  <a:srgbClr val="000000"/>
                </a:solidFill>
                <a:effectLst/>
                <a:uFillTx/>
                <a:latin typeface="Arial"/>
                <a:ea typeface="Arial"/>
              </a:rPr>
              <a:t>Redundancy</a:t>
            </a:r>
            <a:r>
              <a:rPr lang="en-US" sz="20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     0%</a:t>
            </a:r>
            <a:r>
              <a:rPr lang="en-US" sz="20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    100%</a:t>
            </a:r>
            <a:r>
              <a:rPr lang="en-US" sz="20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    200%</a:t>
            </a:r>
            <a:r>
              <a:rPr lang="en-US" sz="20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    67%</a:t>
            </a:r>
            <a:endParaRPr lang="en-US" sz="2000" b="0" u="none" strike="noStrike">
              <a:solidFill>
                <a:srgbClr val="000000"/>
              </a:solidFill>
              <a:effectLst/>
              <a:uFillTx/>
              <a:latin typeface="Times New Roman"/>
            </a:endParaRPr>
          </a:p>
        </p:txBody>
      </p:sp>
      <p:sp>
        <p:nvSpPr>
          <p:cNvPr id="353" name="Text Box 12"/>
          <p:cNvSpPr/>
          <p:nvPr/>
        </p:nvSpPr>
        <p:spPr>
          <a:xfrm>
            <a:off x="380880" y="3733560"/>
            <a:ext cx="5334120" cy="915840"/>
          </a:xfrm>
          <a:prstGeom prst="rect">
            <a:avLst/>
          </a:prstGeom>
          <a:noFill/>
          <a:ln w="38160">
            <a:noFill/>
          </a:ln>
        </p:spPr>
        <p:style>
          <a:lnRef idx="0"/>
          <a:fillRef idx="0"/>
          <a:effectRef idx="0"/>
          <a:fontRef idx="minor"/>
        </p:style>
        <p:txBody>
          <a:bodyPr lIns="90000" tIns="46800" rIns="90000" bIns="46800" anchor="t">
            <a:spAutoFit/>
          </a:bodyPr>
          <a:p>
            <a:pPr>
              <a:lnSpc>
                <a:spcPct val="90000"/>
              </a:lnSpc>
              <a:tabLst>
                <a:tab pos="0" algn="l"/>
                <a:tab pos="16002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Dispersed avail.  =  6(</a:t>
            </a:r>
            <a:r>
              <a:rPr lang="en-US" sz="2000" b="0" i="1" u="none" strike="noStrike">
                <a:solidFill>
                  <a:srgbClr val="000000"/>
                </a:solidFill>
                <a:effectLst/>
                <a:uFillTx/>
                <a:latin typeface="Arial"/>
                <a:ea typeface="Arial"/>
              </a:rPr>
              <a:t>SL</a:t>
            </a:r>
            <a:r>
              <a:rPr lang="en-US" sz="2000" b="0" u="none" strike="noStrike">
                <a:solidFill>
                  <a:srgbClr val="000000"/>
                </a:solidFill>
                <a:effectLst/>
                <a:uFillTx/>
                <a:latin typeface="Arial"/>
                <a:ea typeface="Arial"/>
              </a:rPr>
              <a:t>)</a:t>
            </a:r>
            <a:r>
              <a:rPr lang="en-US" sz="2000" b="0" u="none" strike="noStrike" baseline="30000">
                <a:solidFill>
                  <a:srgbClr val="000000"/>
                </a:solidFill>
                <a:effectLst/>
                <a:uFillTx/>
                <a:latin typeface="Arial"/>
                <a:ea typeface="Arial"/>
              </a:rPr>
              <a:t>2</a:t>
            </a:r>
            <a:r>
              <a:rPr lang="en-US" sz="2000" b="0" u="none" strike="noStrike">
                <a:solidFill>
                  <a:srgbClr val="CC3300"/>
                </a:solidFill>
                <a:effectLst/>
                <a:uFillTx/>
                <a:latin typeface="Arial"/>
                <a:ea typeface="Arial"/>
              </a:rPr>
              <a:t> </a:t>
            </a:r>
            <a:r>
              <a:rPr lang="en-US" sz="2000" b="0" u="none" strike="noStrike">
                <a:solidFill>
                  <a:srgbClr val="000000"/>
                </a:solidFill>
                <a:effectLst/>
                <a:uFillTx/>
                <a:latin typeface="Arial"/>
                <a:ea typeface="Arial"/>
              </a:rPr>
              <a:t>– 8(</a:t>
            </a:r>
            <a:r>
              <a:rPr lang="en-US" sz="2000" b="0" i="1" u="none" strike="noStrike">
                <a:solidFill>
                  <a:srgbClr val="000000"/>
                </a:solidFill>
                <a:effectLst/>
                <a:uFillTx/>
                <a:latin typeface="Arial"/>
                <a:ea typeface="Arial"/>
              </a:rPr>
              <a:t>SL</a:t>
            </a:r>
            <a:r>
              <a:rPr lang="en-US" sz="2000" b="0" u="none" strike="noStrike">
                <a:solidFill>
                  <a:srgbClr val="000000"/>
                </a:solidFill>
                <a:effectLst/>
                <a:uFillTx/>
                <a:latin typeface="Arial"/>
                <a:ea typeface="Arial"/>
              </a:rPr>
              <a:t>)</a:t>
            </a:r>
            <a:r>
              <a:rPr lang="en-US" sz="2000" b="0" u="none" strike="noStrike" baseline="30000">
                <a:solidFill>
                  <a:srgbClr val="000000"/>
                </a:solidFill>
                <a:effectLst/>
                <a:uFillTx/>
                <a:latin typeface="Arial"/>
                <a:ea typeface="Arial"/>
              </a:rPr>
              <a:t>3</a:t>
            </a:r>
            <a:r>
              <a:rPr lang="en-US" sz="2000" b="0" u="none" strike="noStrike">
                <a:solidFill>
                  <a:srgbClr val="000000"/>
                </a:solidFill>
                <a:effectLst/>
                <a:uFillTx/>
                <a:latin typeface="Arial"/>
                <a:ea typeface="Arial"/>
              </a:rPr>
              <a:t> + 3(</a:t>
            </a:r>
            <a:r>
              <a:rPr lang="en-US" sz="2000" b="0" i="1" u="none" strike="noStrike">
                <a:solidFill>
                  <a:srgbClr val="000000"/>
                </a:solidFill>
                <a:effectLst/>
                <a:uFillTx/>
                <a:latin typeface="Arial"/>
                <a:ea typeface="Arial"/>
              </a:rPr>
              <a:t>SL</a:t>
            </a:r>
            <a:r>
              <a:rPr lang="en-US" sz="2000" b="0" u="none" strike="noStrike">
                <a:solidFill>
                  <a:srgbClr val="000000"/>
                </a:solidFill>
                <a:effectLst/>
                <a:uFillTx/>
                <a:latin typeface="Arial"/>
                <a:ea typeface="Arial"/>
              </a:rPr>
              <a:t>)</a:t>
            </a:r>
            <a:r>
              <a:rPr lang="en-US" sz="2000" b="0" u="none" strike="noStrike" baseline="30000">
                <a:solidFill>
                  <a:srgbClr val="000000"/>
                </a:solidFill>
                <a:effectLst/>
                <a:uFillTx/>
                <a:latin typeface="Arial"/>
                <a:ea typeface="Arial"/>
              </a:rPr>
              <a:t>4</a:t>
            </a:r>
            <a:endParaRPr lang="en-US" sz="2000" b="0" u="none" strike="noStrike">
              <a:solidFill>
                <a:srgbClr val="000000"/>
              </a:solidFill>
              <a:effectLst/>
              <a:uFillTx/>
              <a:latin typeface="Times New Roman"/>
            </a:endParaRPr>
          </a:p>
          <a:p>
            <a:pPr>
              <a:lnSpc>
                <a:spcPct val="90000"/>
              </a:lnSpc>
              <a:tabLst>
                <a:tab pos="0" algn="l"/>
                <a:tab pos="16002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Availability = 99.92%</a:t>
            </a:r>
            <a:endParaRPr lang="en-US" sz="2000" b="0" u="none" strike="noStrike">
              <a:solidFill>
                <a:srgbClr val="000000"/>
              </a:solidFill>
              <a:effectLst/>
              <a:uFillTx/>
              <a:latin typeface="Times New Roman"/>
            </a:endParaRPr>
          </a:p>
          <a:p>
            <a:pPr>
              <a:lnSpc>
                <a:spcPct val="90000"/>
              </a:lnSpc>
              <a:tabLst>
                <a:tab pos="0" algn="l"/>
                <a:tab pos="16002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Unavailability</a:t>
            </a:r>
            <a:r>
              <a:rPr lang="en-US" sz="20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  1 – Availability  = 0.08%</a:t>
            </a:r>
            <a:endParaRPr lang="en-US" sz="2000" b="0" u="none" strike="noStrike">
              <a:solidFill>
                <a:srgbClr val="000000"/>
              </a:solidFill>
              <a:effectLst/>
              <a:uFillTx/>
              <a:latin typeface="Times New Roman"/>
            </a:endParaRPr>
          </a:p>
        </p:txBody>
      </p:sp>
      <p:sp>
        <p:nvSpPr>
          <p:cNvPr id="354" name="Text Box 17"/>
          <p:cNvSpPr/>
          <p:nvPr/>
        </p:nvSpPr>
        <p:spPr>
          <a:xfrm>
            <a:off x="380880" y="2971800"/>
            <a:ext cx="4572000" cy="641880"/>
          </a:xfrm>
          <a:prstGeom prst="rect">
            <a:avLst/>
          </a:prstGeom>
          <a:noFill/>
          <a:ln w="38160">
            <a:noFill/>
          </a:ln>
        </p:spPr>
        <p:style>
          <a:lnRef idx="0"/>
          <a:fillRef idx="0"/>
          <a:effectRef idx="0"/>
          <a:fontRef idx="minor"/>
        </p:style>
        <p:txBody>
          <a:bodyPr lIns="90000" tIns="46800" rIns="90000" bIns="46800" anchor="t">
            <a:spAutoFit/>
          </a:bodyPr>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ea typeface="Arial"/>
              </a:rPr>
              <a:t>S</a:t>
            </a:r>
            <a:r>
              <a:rPr lang="en-US" sz="2000" b="0" u="none" strike="noStrike">
                <a:solidFill>
                  <a:srgbClr val="000000"/>
                </a:solidFill>
                <a:effectLst/>
                <a:uFillTx/>
                <a:latin typeface="Arial"/>
                <a:ea typeface="Arial"/>
              </a:rPr>
              <a:t>: Site availability</a:t>
            </a:r>
            <a:r>
              <a:rPr lang="en-US" sz="20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e.g., 99%</a:t>
            </a:r>
            <a:endParaRPr lang="en-US" sz="2000" b="0" u="none" strike="noStrike">
              <a:solidFill>
                <a:srgbClr val="000000"/>
              </a:solidFill>
              <a:effectLst/>
              <a:uFillTx/>
              <a:latin typeface="Times New Roman"/>
            </a:endParaRPr>
          </a:p>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ea typeface="Arial"/>
              </a:rPr>
              <a:t>L</a:t>
            </a:r>
            <a:r>
              <a:rPr lang="en-US" sz="2000" b="0" u="none" strike="noStrike">
                <a:solidFill>
                  <a:srgbClr val="000000"/>
                </a:solidFill>
                <a:effectLst/>
                <a:uFillTx/>
                <a:latin typeface="Arial"/>
                <a:ea typeface="Arial"/>
              </a:rPr>
              <a:t>: </a:t>
            </a:r>
            <a:r>
              <a:rPr lang="en-US" sz="8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Link availability</a:t>
            </a:r>
            <a:r>
              <a:rPr lang="en-US" sz="2000" b="0" u="none" strike="noStrike">
                <a:solidFill>
                  <a:srgbClr val="000000"/>
                </a:solidFill>
                <a:effectLst/>
                <a:uFillTx/>
                <a:latin typeface="Arial"/>
                <a:ea typeface="Arial"/>
              </a:rPr>
              <a:t>	</a:t>
            </a:r>
            <a:r>
              <a:rPr lang="en-US" sz="2000" b="0" u="none" strike="noStrike">
                <a:solidFill>
                  <a:srgbClr val="000000"/>
                </a:solidFill>
                <a:effectLst/>
                <a:uFillTx/>
                <a:latin typeface="Arial"/>
                <a:ea typeface="Arial"/>
              </a:rPr>
              <a:t>e.g., 95%</a:t>
            </a:r>
            <a:endParaRPr lang="en-US" sz="2000" b="0" u="none" strike="noStrike">
              <a:solidFill>
                <a:srgbClr val="000000"/>
              </a:solidFill>
              <a:effectLst/>
              <a:uFillTx/>
              <a:latin typeface="Times New Roman"/>
            </a:endParaRPr>
          </a:p>
        </p:txBody>
      </p:sp>
      <p:sp>
        <p:nvSpPr>
          <p:cNvPr id="355" name="Text Box 18"/>
          <p:cNvSpPr/>
          <p:nvPr/>
        </p:nvSpPr>
        <p:spPr>
          <a:xfrm>
            <a:off x="5564160" y="4343400"/>
            <a:ext cx="1231560" cy="45936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8000"/>
                </a:solidFill>
                <a:effectLst/>
                <a:uFillTx/>
                <a:latin typeface="Arial"/>
                <a:ea typeface="Arial"/>
              </a:rPr>
              <a:t>Piece 3</a:t>
            </a:r>
            <a:endParaRPr lang="en-US" sz="2400" b="0" u="none" strike="noStrike">
              <a:solidFill>
                <a:srgbClr val="000000"/>
              </a:solidFill>
              <a:effectLst/>
              <a:uFillTx/>
              <a:latin typeface="Times New Roman"/>
            </a:endParaRPr>
          </a:p>
        </p:txBody>
      </p:sp>
      <p:sp>
        <p:nvSpPr>
          <p:cNvPr id="356" name="Text Box 19"/>
          <p:cNvSpPr/>
          <p:nvPr/>
        </p:nvSpPr>
        <p:spPr>
          <a:xfrm>
            <a:off x="7316640" y="4343400"/>
            <a:ext cx="1231560" cy="45936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A50021"/>
                </a:solidFill>
                <a:effectLst/>
                <a:uFillTx/>
                <a:latin typeface="Arial"/>
                <a:ea typeface="Arial"/>
              </a:rPr>
              <a:t>Piece 2</a:t>
            </a:r>
            <a:endParaRPr lang="en-US" sz="2400" b="0" u="none" strike="noStrike">
              <a:solidFill>
                <a:srgbClr val="000000"/>
              </a:solidFill>
              <a:effectLst/>
              <a:uFillTx/>
              <a:latin typeface="Times New Roman"/>
            </a:endParaRPr>
          </a:p>
        </p:txBody>
      </p:sp>
      <p:sp>
        <p:nvSpPr>
          <p:cNvPr id="357" name="Text Box 20"/>
          <p:cNvSpPr/>
          <p:nvPr/>
        </p:nvSpPr>
        <p:spPr>
          <a:xfrm>
            <a:off x="8003160" y="1752480"/>
            <a:ext cx="858600" cy="45936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3333CC"/>
                </a:solidFill>
                <a:effectLst/>
                <a:uFillTx/>
                <a:latin typeface="Arial"/>
                <a:ea typeface="Arial"/>
              </a:rPr>
              <a:t>User</a:t>
            </a:r>
            <a:endParaRPr lang="en-US" sz="2400" b="0" u="none" strike="noStrike">
              <a:solidFill>
                <a:srgbClr val="000000"/>
              </a:solidFill>
              <a:effectLst/>
              <a:uFillTx/>
              <a:latin typeface="Times New Roman"/>
            </a:endParaRPr>
          </a:p>
        </p:txBody>
      </p:sp>
      <p:sp>
        <p:nvSpPr>
          <p:cNvPr id="358" name="Text Box 21"/>
          <p:cNvSpPr/>
          <p:nvPr/>
        </p:nvSpPr>
        <p:spPr>
          <a:xfrm>
            <a:off x="7088040" y="914400"/>
            <a:ext cx="1231560" cy="45936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FF3300"/>
                </a:solidFill>
                <a:effectLst/>
                <a:uFillTx/>
                <a:latin typeface="Arial"/>
                <a:ea typeface="Arial"/>
              </a:rPr>
              <a:t>Piece 0</a:t>
            </a:r>
            <a:endParaRPr lang="en-US" sz="2400" b="0" u="none" strike="noStrike">
              <a:solidFill>
                <a:srgbClr val="000000"/>
              </a:solidFill>
              <a:effectLst/>
              <a:uFillTx/>
              <a:latin typeface="Times New Roman"/>
            </a:endParaRPr>
          </a:p>
        </p:txBody>
      </p:sp>
      <p:grpSp>
        <p:nvGrpSpPr>
          <p:cNvPr id="359" name="Group 29"/>
          <p:cNvGrpSpPr/>
          <p:nvPr/>
        </p:nvGrpSpPr>
        <p:grpSpPr>
          <a:xfrm>
            <a:off x="228600" y="1218960"/>
            <a:ext cx="5867280" cy="1523160"/>
            <a:chOff x="228600" y="1218960"/>
            <a:chExt cx="5867280" cy="1523160"/>
          </a:xfrm>
        </p:grpSpPr>
        <p:sp>
          <p:nvSpPr>
            <p:cNvPr id="360" name="Text Box 4"/>
            <p:cNvSpPr/>
            <p:nvPr/>
          </p:nvSpPr>
          <p:spPr>
            <a:xfrm>
              <a:off x="380880" y="1218960"/>
              <a:ext cx="5715000" cy="367920"/>
            </a:xfrm>
            <a:prstGeom prst="rect">
              <a:avLst/>
            </a:prstGeom>
            <a:noFill/>
            <a:ln w="38160">
              <a:noFill/>
            </a:ln>
          </p:spPr>
          <p:style>
            <a:lnRef idx="0"/>
            <a:fillRef idx="0"/>
            <a:effectRef idx="0"/>
            <a:fontRef idx="minor"/>
          </p:style>
          <p:txBody>
            <a:bodyPr lIns="90000" tIns="46800" rIns="90000" bIns="46800" anchor="t">
              <a:spAutoFit/>
            </a:bodyPr>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i="1" u="none" strike="noStrike">
                  <a:solidFill>
                    <a:srgbClr val="FF0000"/>
                  </a:solidFill>
                  <a:effectLst/>
                  <a:uFillTx/>
                  <a:latin typeface="Arial"/>
                  <a:ea typeface="Arial"/>
                </a:rPr>
                <a:t>A</a:t>
              </a:r>
              <a:r>
                <a:rPr lang="en-US" sz="2000" b="1" u="none" strike="noStrike">
                  <a:solidFill>
                    <a:srgbClr val="FF0000"/>
                  </a:solidFill>
                  <a:effectLst/>
                  <a:uFillTx/>
                  <a:latin typeface="Arial"/>
                  <a:ea typeface="Arial"/>
                </a:rPr>
                <a:t> = (</a:t>
              </a:r>
              <a:r>
                <a:rPr lang="en-US" sz="2000" b="1" i="1" u="none" strike="noStrike">
                  <a:solidFill>
                    <a:srgbClr val="FF0000"/>
                  </a:solidFill>
                  <a:effectLst/>
                  <a:uFillTx/>
                  <a:latin typeface="Arial"/>
                  <a:ea typeface="Arial"/>
                </a:rPr>
                <a:t>SL</a:t>
              </a:r>
              <a:r>
                <a:rPr lang="en-US" sz="2000" b="1" u="none" strike="noStrike">
                  <a:solidFill>
                    <a:srgbClr val="FF0000"/>
                  </a:solidFill>
                  <a:effectLst/>
                  <a:uFillTx/>
                  <a:latin typeface="Arial"/>
                  <a:ea typeface="Arial"/>
                </a:rPr>
                <a:t>)</a:t>
              </a:r>
              <a:r>
                <a:rPr lang="en-US" sz="2000" b="1" u="none" strike="noStrike" baseline="30000">
                  <a:solidFill>
                    <a:srgbClr val="FF0000"/>
                  </a:solidFill>
                  <a:effectLst/>
                  <a:uFillTx/>
                  <a:latin typeface="Arial"/>
                  <a:ea typeface="Arial"/>
                </a:rPr>
                <a:t>4</a:t>
              </a:r>
              <a:r>
                <a:rPr lang="en-US" sz="2000" b="1" u="none" strike="noStrike">
                  <a:solidFill>
                    <a:srgbClr val="FF0000"/>
                  </a:solidFill>
                  <a:effectLst/>
                  <a:uFillTx/>
                  <a:latin typeface="Arial"/>
                  <a:ea typeface="Arial"/>
                </a:rPr>
                <a:t> + 4(1 – </a:t>
              </a:r>
              <a:r>
                <a:rPr lang="en-US" sz="2000" b="1" i="1" u="none" strike="noStrike">
                  <a:solidFill>
                    <a:srgbClr val="FF0000"/>
                  </a:solidFill>
                  <a:effectLst/>
                  <a:uFillTx/>
                  <a:latin typeface="Arial"/>
                  <a:ea typeface="Arial"/>
                </a:rPr>
                <a:t>SL</a:t>
              </a:r>
              <a:r>
                <a:rPr lang="en-US" sz="2000" b="1" u="none" strike="noStrike">
                  <a:solidFill>
                    <a:srgbClr val="FF0000"/>
                  </a:solidFill>
                  <a:effectLst/>
                  <a:uFillTx/>
                  <a:latin typeface="Arial"/>
                  <a:ea typeface="Arial"/>
                </a:rPr>
                <a:t>)(</a:t>
              </a:r>
              <a:r>
                <a:rPr lang="en-US" sz="2000" b="1" i="1" u="none" strike="noStrike">
                  <a:solidFill>
                    <a:srgbClr val="FF0000"/>
                  </a:solidFill>
                  <a:effectLst/>
                  <a:uFillTx/>
                  <a:latin typeface="Arial"/>
                  <a:ea typeface="Arial"/>
                </a:rPr>
                <a:t>SL</a:t>
              </a:r>
              <a:r>
                <a:rPr lang="en-US" sz="2000" b="1" u="none" strike="noStrike">
                  <a:solidFill>
                    <a:srgbClr val="FF0000"/>
                  </a:solidFill>
                  <a:effectLst/>
                  <a:uFillTx/>
                  <a:latin typeface="Arial"/>
                  <a:ea typeface="Arial"/>
                </a:rPr>
                <a:t>)</a:t>
              </a:r>
              <a:r>
                <a:rPr lang="en-US" sz="2000" b="1" u="none" strike="noStrike" baseline="30000">
                  <a:solidFill>
                    <a:srgbClr val="FF0000"/>
                  </a:solidFill>
                  <a:effectLst/>
                  <a:uFillTx/>
                  <a:latin typeface="Arial"/>
                  <a:ea typeface="Arial"/>
                </a:rPr>
                <a:t>3</a:t>
              </a:r>
              <a:r>
                <a:rPr lang="en-US" sz="2000" b="1" i="1" u="none" strike="noStrike">
                  <a:solidFill>
                    <a:srgbClr val="FF0000"/>
                  </a:solidFill>
                  <a:effectLst/>
                  <a:uFillTx/>
                  <a:latin typeface="Arial"/>
                  <a:ea typeface="Arial"/>
                </a:rPr>
                <a:t> </a:t>
              </a:r>
              <a:r>
                <a:rPr lang="en-US" sz="2000" b="1" u="none" strike="noStrike">
                  <a:solidFill>
                    <a:srgbClr val="FF0000"/>
                  </a:solidFill>
                  <a:effectLst/>
                  <a:uFillTx/>
                  <a:latin typeface="Arial"/>
                  <a:ea typeface="Arial"/>
                </a:rPr>
                <a:t>+ 6(1 – </a:t>
              </a:r>
              <a:r>
                <a:rPr lang="en-US" sz="2000" b="1" i="1" u="none" strike="noStrike">
                  <a:solidFill>
                    <a:srgbClr val="FF0000"/>
                  </a:solidFill>
                  <a:effectLst/>
                  <a:uFillTx/>
                  <a:latin typeface="Arial"/>
                  <a:ea typeface="Arial"/>
                </a:rPr>
                <a:t>SL</a:t>
              </a:r>
              <a:r>
                <a:rPr lang="en-US" sz="2000" b="1" u="none" strike="noStrike">
                  <a:solidFill>
                    <a:srgbClr val="FF0000"/>
                  </a:solidFill>
                  <a:effectLst/>
                  <a:uFillTx/>
                  <a:latin typeface="Arial"/>
                  <a:ea typeface="Arial"/>
                </a:rPr>
                <a:t>)</a:t>
              </a:r>
              <a:r>
                <a:rPr lang="en-US" sz="2000" b="1" u="none" strike="noStrike" baseline="30000">
                  <a:solidFill>
                    <a:srgbClr val="FF0000"/>
                  </a:solidFill>
                  <a:effectLst/>
                  <a:uFillTx/>
                  <a:latin typeface="Arial"/>
                  <a:ea typeface="Arial"/>
                </a:rPr>
                <a:t>2</a:t>
              </a:r>
              <a:r>
                <a:rPr lang="en-US" sz="2000" b="1" u="none" strike="noStrike">
                  <a:solidFill>
                    <a:srgbClr val="FF0000"/>
                  </a:solidFill>
                  <a:effectLst/>
                  <a:uFillTx/>
                  <a:latin typeface="Arial"/>
                  <a:ea typeface="Arial"/>
                </a:rPr>
                <a:t>(</a:t>
              </a:r>
              <a:r>
                <a:rPr lang="en-US" sz="2000" b="1" i="1" u="none" strike="noStrike">
                  <a:solidFill>
                    <a:srgbClr val="FF0000"/>
                  </a:solidFill>
                  <a:effectLst/>
                  <a:uFillTx/>
                  <a:latin typeface="Arial"/>
                  <a:ea typeface="Arial"/>
                </a:rPr>
                <a:t>SL</a:t>
              </a:r>
              <a:r>
                <a:rPr lang="en-US" sz="2000" b="1" u="none" strike="noStrike">
                  <a:solidFill>
                    <a:srgbClr val="FF0000"/>
                  </a:solidFill>
                  <a:effectLst/>
                  <a:uFillTx/>
                  <a:latin typeface="Arial"/>
                  <a:ea typeface="Arial"/>
                </a:rPr>
                <a:t>)</a:t>
              </a:r>
              <a:r>
                <a:rPr lang="en-US" sz="2000" b="1" u="none" strike="noStrike" baseline="30000">
                  <a:solidFill>
                    <a:srgbClr val="FF0000"/>
                  </a:solidFill>
                  <a:effectLst/>
                  <a:uFillTx/>
                  <a:latin typeface="Arial"/>
                  <a:ea typeface="Arial"/>
                </a:rPr>
                <a:t>2</a:t>
              </a:r>
              <a:r>
                <a:rPr lang="en-US" sz="2000" b="1" i="1" u="none" strike="noStrike">
                  <a:solidFill>
                    <a:srgbClr val="FF0000"/>
                  </a:solidFill>
                  <a:effectLst/>
                  <a:uFillTx/>
                  <a:latin typeface="Arial"/>
                  <a:ea typeface="Arial"/>
                </a:rPr>
                <a:t> </a:t>
              </a:r>
              <a:endParaRPr lang="en-US" sz="2000" b="0" u="none" strike="noStrike">
                <a:solidFill>
                  <a:srgbClr val="000000"/>
                </a:solidFill>
                <a:effectLst/>
                <a:uFillTx/>
                <a:latin typeface="Times New Roman"/>
              </a:endParaRPr>
            </a:p>
          </p:txBody>
        </p:sp>
        <p:sp>
          <p:nvSpPr>
            <p:cNvPr id="361" name="Text Box 5"/>
            <p:cNvSpPr/>
            <p:nvPr/>
          </p:nvSpPr>
          <p:spPr>
            <a:xfrm>
              <a:off x="228600" y="2209680"/>
              <a:ext cx="1600200" cy="532440"/>
            </a:xfrm>
            <a:prstGeom prst="rect">
              <a:avLst/>
            </a:prstGeom>
            <a:noFill/>
            <a:ln w="38160">
              <a:noFill/>
            </a:ln>
          </p:spPr>
          <p:style>
            <a:lnRef idx="0"/>
            <a:fillRef idx="0"/>
            <a:effectRef idx="0"/>
            <a:fontRef idx="minor"/>
          </p:style>
          <p:txBody>
            <a:bodyPr lIns="90000" tIns="46800" rIns="90000" bIns="46800" anchor="t">
              <a:spAutoFit/>
            </a:bodyPr>
            <a:p>
              <a:pPr algn="ct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Arial"/>
                </a:rPr>
                <a:t>All 4 pieces </a:t>
              </a:r>
              <a:endParaRPr lang="en-US" sz="1600" b="0" u="none" strike="noStrike">
                <a:solidFill>
                  <a:srgbClr val="000000"/>
                </a:solidFill>
                <a:effectLst/>
                <a:uFillTx/>
                <a:latin typeface="Times New Roman"/>
              </a:endParaRPr>
            </a:p>
            <a:p>
              <a:pPr algn="ct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Arial"/>
                </a:rPr>
                <a:t>can be reached</a:t>
              </a:r>
              <a:endParaRPr lang="en-US" sz="1600" b="0" u="none" strike="noStrike">
                <a:solidFill>
                  <a:srgbClr val="000000"/>
                </a:solidFill>
                <a:effectLst/>
                <a:uFillTx/>
                <a:latin typeface="Times New Roman"/>
              </a:endParaRPr>
            </a:p>
          </p:txBody>
        </p:sp>
        <p:sp>
          <p:nvSpPr>
            <p:cNvPr id="362" name="Line 13"/>
            <p:cNvSpPr/>
            <p:nvPr/>
          </p:nvSpPr>
          <p:spPr>
            <a:xfrm>
              <a:off x="1143000" y="1600200"/>
              <a:ext cx="0" cy="6858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63" name="Text Box 16"/>
            <p:cNvSpPr/>
            <p:nvPr/>
          </p:nvSpPr>
          <p:spPr>
            <a:xfrm>
              <a:off x="1828800" y="2209680"/>
              <a:ext cx="1676160" cy="532440"/>
            </a:xfrm>
            <a:prstGeom prst="rect">
              <a:avLst/>
            </a:prstGeom>
            <a:noFill/>
            <a:ln w="38160">
              <a:noFill/>
            </a:ln>
          </p:spPr>
          <p:style>
            <a:lnRef idx="0"/>
            <a:fillRef idx="0"/>
            <a:effectRef idx="0"/>
            <a:fontRef idx="minor"/>
          </p:style>
          <p:txBody>
            <a:bodyPr lIns="90000" tIns="46800" rIns="90000" bIns="46800" anchor="t">
              <a:spAutoFit/>
            </a:bodyPr>
            <a:p>
              <a:pPr algn="ct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Arial"/>
                </a:rPr>
                <a:t>Exactly 3 pieces</a:t>
              </a:r>
              <a:endParaRPr lang="en-US" sz="1600" b="0" u="none" strike="noStrike">
                <a:solidFill>
                  <a:srgbClr val="000000"/>
                </a:solidFill>
                <a:effectLst/>
                <a:uFillTx/>
                <a:latin typeface="Times New Roman"/>
              </a:endParaRPr>
            </a:p>
            <a:p>
              <a:pPr algn="ct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Arial"/>
                </a:rPr>
                <a:t>can be reached</a:t>
              </a:r>
              <a:endParaRPr lang="en-US" sz="1600" b="0" u="none" strike="noStrike">
                <a:solidFill>
                  <a:srgbClr val="000000"/>
                </a:solidFill>
                <a:effectLst/>
                <a:uFillTx/>
                <a:latin typeface="Times New Roman"/>
              </a:endParaRPr>
            </a:p>
          </p:txBody>
        </p:sp>
        <p:sp>
          <p:nvSpPr>
            <p:cNvPr id="364" name="Line 22"/>
            <p:cNvSpPr/>
            <p:nvPr/>
          </p:nvSpPr>
          <p:spPr>
            <a:xfrm>
              <a:off x="2743200" y="1600200"/>
              <a:ext cx="0" cy="6858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65" name="Text Box 25"/>
            <p:cNvSpPr/>
            <p:nvPr/>
          </p:nvSpPr>
          <p:spPr>
            <a:xfrm>
              <a:off x="3581280" y="2209680"/>
              <a:ext cx="1600200" cy="532440"/>
            </a:xfrm>
            <a:prstGeom prst="rect">
              <a:avLst/>
            </a:prstGeom>
            <a:noFill/>
            <a:ln w="38160">
              <a:noFill/>
            </a:ln>
          </p:spPr>
          <p:style>
            <a:lnRef idx="0"/>
            <a:fillRef idx="0"/>
            <a:effectRef idx="0"/>
            <a:fontRef idx="minor"/>
          </p:style>
          <p:txBody>
            <a:bodyPr lIns="90000" tIns="46800" rIns="90000" bIns="46800" anchor="t">
              <a:spAutoFit/>
            </a:bodyPr>
            <a:p>
              <a:pPr algn="ct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Arial"/>
                </a:rPr>
                <a:t>Only 2 pieces </a:t>
              </a:r>
              <a:endParaRPr lang="en-US" sz="1600" b="0" u="none" strike="noStrike">
                <a:solidFill>
                  <a:srgbClr val="000000"/>
                </a:solidFill>
                <a:effectLst/>
                <a:uFillTx/>
                <a:latin typeface="Times New Roman"/>
              </a:endParaRPr>
            </a:p>
            <a:p>
              <a:pPr algn="ct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Arial"/>
                </a:rPr>
                <a:t>can be reached</a:t>
              </a:r>
              <a:endParaRPr lang="en-US" sz="1600" b="0" u="none" strike="noStrike">
                <a:solidFill>
                  <a:srgbClr val="000000"/>
                </a:solidFill>
                <a:effectLst/>
                <a:uFillTx/>
                <a:latin typeface="Times New Roman"/>
              </a:endParaRPr>
            </a:p>
          </p:txBody>
        </p:sp>
        <p:sp>
          <p:nvSpPr>
            <p:cNvPr id="366" name="Line 26"/>
            <p:cNvSpPr/>
            <p:nvPr/>
          </p:nvSpPr>
          <p:spPr>
            <a:xfrm>
              <a:off x="4419360" y="1600200"/>
              <a:ext cx="0" cy="6858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sp>
        <p:nvSpPr>
          <p:cNvPr id="367" name="Text Box 27"/>
          <p:cNvSpPr/>
          <p:nvPr/>
        </p:nvSpPr>
        <p:spPr>
          <a:xfrm>
            <a:off x="7910640" y="2590560"/>
            <a:ext cx="1231560" cy="45936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33CC"/>
                </a:solidFill>
                <a:effectLst/>
                <a:uFillTx/>
                <a:latin typeface="Arial"/>
                <a:ea typeface="Arial"/>
              </a:rPr>
              <a:t>Piece 1</a:t>
            </a:r>
            <a:endParaRPr lang="en-US" sz="2400" b="0" u="none" strike="noStrike">
              <a:solidFill>
                <a:srgbClr val="000000"/>
              </a:solidFill>
              <a:effectLst/>
              <a:uFillTx/>
              <a:latin typeface="Times New Roman"/>
            </a:endParaRPr>
          </a:p>
        </p:txBody>
      </p:sp>
      <p:sp>
        <p:nvSpPr>
          <p:cNvPr id="368" name="Text Box 28"/>
          <p:cNvSpPr/>
          <p:nvPr/>
        </p:nvSpPr>
        <p:spPr>
          <a:xfrm>
            <a:off x="4802040" y="1752480"/>
            <a:ext cx="1231560" cy="45936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CC6600"/>
                </a:solidFill>
                <a:effectLst/>
                <a:uFillTx/>
                <a:latin typeface="Arial"/>
                <a:ea typeface="Arial"/>
              </a:rPr>
              <a:t>Piece 4</a:t>
            </a:r>
            <a:endParaRPr lang="en-US" sz="2400" b="0" u="none" strike="noStrike">
              <a:solidFill>
                <a:srgbClr val="000000"/>
              </a:solidFill>
              <a:effectLst/>
              <a:uFillTx/>
              <a:latin typeface="Times New Roman"/>
            </a:endParaRPr>
          </a:p>
        </p:txBody>
      </p:sp>
      <p:sp>
        <p:nvSpPr>
          <p:cNvPr id="369" name="Rectangle 30"/>
          <p:cNvSpPr/>
          <p:nvPr/>
        </p:nvSpPr>
        <p:spPr>
          <a:xfrm>
            <a:off x="6400800" y="2590560"/>
            <a:ext cx="1218960" cy="381240"/>
          </a:xfrm>
          <a:prstGeom prst="rect">
            <a:avLst/>
          </a:prstGeom>
          <a:solidFill>
            <a:srgbClr val="66FF66"/>
          </a:solidFill>
          <a:ln w="38160">
            <a:noFill/>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Fig. 1.2</a:t>
            </a:r>
            <a:endParaRPr lang="en-US" sz="2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0" name="Slide Number Placeholder 8"/>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14229B99-FB24-4557-A6D5-2E8A107145FE}"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371"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372" name="PlaceHolder 1"/>
          <p:cNvSpPr>
            <a:spLocks noGrp="1"/>
          </p:cNvSpPr>
          <p:nvPr>
            <p:ph type="title"/>
          </p:nvPr>
        </p:nvSpPr>
        <p:spPr>
          <a:xfrm>
            <a:off x="228600" y="228240"/>
            <a:ext cx="8686800" cy="68580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ea typeface="Arial"/>
              </a:rPr>
              <a:t>Dispersion for Data Security and Integrity</a:t>
            </a:r>
            <a:endParaRPr lang="en-US" sz="3200" b="0" u="none" strike="noStrike">
              <a:solidFill>
                <a:srgbClr val="000000"/>
              </a:solidFill>
              <a:effectLst/>
              <a:uFillTx/>
              <a:latin typeface="Arial"/>
            </a:endParaRPr>
          </a:p>
        </p:txBody>
      </p:sp>
      <p:grpSp>
        <p:nvGrpSpPr>
          <p:cNvPr id="373" name="Group 4"/>
          <p:cNvGrpSpPr/>
          <p:nvPr/>
        </p:nvGrpSpPr>
        <p:grpSpPr>
          <a:xfrm>
            <a:off x="4952880" y="1118880"/>
            <a:ext cx="3962520" cy="3341880"/>
            <a:chOff x="4952880" y="1118880"/>
            <a:chExt cx="3962520" cy="3341880"/>
          </a:xfrm>
        </p:grpSpPr>
        <p:sp>
          <p:nvSpPr>
            <p:cNvPr id="374" name="AutoShape 5"/>
            <p:cNvSpPr/>
            <p:nvPr/>
          </p:nvSpPr>
          <p:spPr>
            <a:xfrm>
              <a:off x="4952880" y="1118880"/>
              <a:ext cx="3962520" cy="3341880"/>
            </a:xfrm>
            <a:prstGeom prst="rect">
              <a:avLst/>
            </a:prstGeom>
            <a:noFill/>
            <a:ln w="38160">
              <a:noFill/>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pic>
          <p:nvPicPr>
            <p:cNvPr id="375" name="Picture 6"/>
            <p:cNvPicPr/>
            <p:nvPr/>
          </p:nvPicPr>
          <p:blipFill>
            <a:blip r:embed="rId1"/>
            <a:stretch/>
          </p:blipFill>
          <p:spPr>
            <a:xfrm>
              <a:off x="5022360" y="1118880"/>
              <a:ext cx="3892680" cy="3341880"/>
            </a:xfrm>
            <a:prstGeom prst="rect">
              <a:avLst/>
            </a:prstGeom>
            <a:noFill/>
            <a:ln w="38160">
              <a:noFill/>
            </a:ln>
          </p:spPr>
        </p:pic>
      </p:grpSp>
      <p:sp>
        <p:nvSpPr>
          <p:cNvPr id="376" name="Text Box 7"/>
          <p:cNvSpPr/>
          <p:nvPr/>
        </p:nvSpPr>
        <p:spPr>
          <a:xfrm>
            <a:off x="5564160" y="4343400"/>
            <a:ext cx="1231560" cy="45936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8000"/>
                </a:solidFill>
                <a:effectLst/>
                <a:uFillTx/>
                <a:latin typeface="Arial"/>
                <a:ea typeface="Arial"/>
              </a:rPr>
              <a:t>Piece 3</a:t>
            </a:r>
            <a:endParaRPr lang="en-US" sz="2400" b="0" u="none" strike="noStrike">
              <a:solidFill>
                <a:srgbClr val="000000"/>
              </a:solidFill>
              <a:effectLst/>
              <a:uFillTx/>
              <a:latin typeface="Times New Roman"/>
            </a:endParaRPr>
          </a:p>
        </p:txBody>
      </p:sp>
      <p:sp>
        <p:nvSpPr>
          <p:cNvPr id="377" name="Text Box 8"/>
          <p:cNvSpPr/>
          <p:nvPr/>
        </p:nvSpPr>
        <p:spPr>
          <a:xfrm>
            <a:off x="7316640" y="4343400"/>
            <a:ext cx="1231560" cy="45936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A50021"/>
                </a:solidFill>
                <a:effectLst/>
                <a:uFillTx/>
                <a:latin typeface="Arial"/>
                <a:ea typeface="Arial"/>
              </a:rPr>
              <a:t>Piece 2</a:t>
            </a:r>
            <a:endParaRPr lang="en-US" sz="2400" b="0" u="none" strike="noStrike">
              <a:solidFill>
                <a:srgbClr val="000000"/>
              </a:solidFill>
              <a:effectLst/>
              <a:uFillTx/>
              <a:latin typeface="Times New Roman"/>
            </a:endParaRPr>
          </a:p>
        </p:txBody>
      </p:sp>
      <p:sp>
        <p:nvSpPr>
          <p:cNvPr id="378" name="Text Box 9"/>
          <p:cNvSpPr/>
          <p:nvPr/>
        </p:nvSpPr>
        <p:spPr>
          <a:xfrm>
            <a:off x="7088040" y="914400"/>
            <a:ext cx="1231560" cy="45936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FF3300"/>
                </a:solidFill>
                <a:effectLst/>
                <a:uFillTx/>
                <a:latin typeface="Arial"/>
                <a:ea typeface="Arial"/>
              </a:rPr>
              <a:t>Piece 0</a:t>
            </a:r>
            <a:endParaRPr lang="en-US" sz="2400" b="0" u="none" strike="noStrike">
              <a:solidFill>
                <a:srgbClr val="000000"/>
              </a:solidFill>
              <a:effectLst/>
              <a:uFillTx/>
              <a:latin typeface="Times New Roman"/>
            </a:endParaRPr>
          </a:p>
        </p:txBody>
      </p:sp>
      <p:sp>
        <p:nvSpPr>
          <p:cNvPr id="379" name="Text Box 10"/>
          <p:cNvSpPr/>
          <p:nvPr/>
        </p:nvSpPr>
        <p:spPr>
          <a:xfrm>
            <a:off x="7910640" y="1752480"/>
            <a:ext cx="1231560" cy="45936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33CC"/>
                </a:solidFill>
                <a:effectLst/>
                <a:uFillTx/>
                <a:latin typeface="Arial"/>
                <a:ea typeface="Arial"/>
              </a:rPr>
              <a:t>Piece 1</a:t>
            </a:r>
            <a:endParaRPr lang="en-US" sz="2400" b="0" u="none" strike="noStrike">
              <a:solidFill>
                <a:srgbClr val="000000"/>
              </a:solidFill>
              <a:effectLst/>
              <a:uFillTx/>
              <a:latin typeface="Times New Roman"/>
            </a:endParaRPr>
          </a:p>
        </p:txBody>
      </p:sp>
      <p:sp>
        <p:nvSpPr>
          <p:cNvPr id="380" name="Text Box 11"/>
          <p:cNvSpPr/>
          <p:nvPr/>
        </p:nvSpPr>
        <p:spPr>
          <a:xfrm>
            <a:off x="4726080" y="1752480"/>
            <a:ext cx="1231560" cy="45936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CC6600"/>
                </a:solidFill>
                <a:effectLst/>
                <a:uFillTx/>
                <a:latin typeface="Arial"/>
                <a:ea typeface="Arial"/>
              </a:rPr>
              <a:t>Piece 4</a:t>
            </a:r>
            <a:endParaRPr lang="en-US" sz="2400" b="0" u="none" strike="noStrike">
              <a:solidFill>
                <a:srgbClr val="000000"/>
              </a:solidFill>
              <a:effectLst/>
              <a:uFillTx/>
              <a:latin typeface="Times New Roman"/>
            </a:endParaRPr>
          </a:p>
        </p:txBody>
      </p:sp>
      <p:sp>
        <p:nvSpPr>
          <p:cNvPr id="381" name="Rectangle 12"/>
          <p:cNvSpPr/>
          <p:nvPr/>
        </p:nvSpPr>
        <p:spPr>
          <a:xfrm>
            <a:off x="380880" y="1523880"/>
            <a:ext cx="838080" cy="457200"/>
          </a:xfrm>
          <a:prstGeom prst="rect">
            <a:avLst/>
          </a:prstGeom>
          <a:solidFill>
            <a:srgbClr val="CCEC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i="1" u="none" strike="noStrike">
                <a:solidFill>
                  <a:srgbClr val="000000"/>
                </a:solidFill>
                <a:effectLst/>
                <a:uFillTx/>
                <a:latin typeface="Arial"/>
                <a:ea typeface="Arial"/>
              </a:rPr>
              <a:t>a</a:t>
            </a:r>
            <a:endParaRPr lang="en-US" sz="2400" b="0" u="none" strike="noStrike">
              <a:solidFill>
                <a:srgbClr val="000000"/>
              </a:solidFill>
              <a:effectLst/>
              <a:uFillTx/>
              <a:latin typeface="Times New Roman"/>
            </a:endParaRPr>
          </a:p>
        </p:txBody>
      </p:sp>
      <p:sp>
        <p:nvSpPr>
          <p:cNvPr id="382" name="Rectangle 13"/>
          <p:cNvSpPr/>
          <p:nvPr/>
        </p:nvSpPr>
        <p:spPr>
          <a:xfrm>
            <a:off x="1218960" y="1523880"/>
            <a:ext cx="838440" cy="457200"/>
          </a:xfrm>
          <a:prstGeom prst="rect">
            <a:avLst/>
          </a:prstGeom>
          <a:solidFill>
            <a:srgbClr val="CCEC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i="1" u="none" strike="noStrike">
                <a:solidFill>
                  <a:srgbClr val="000000"/>
                </a:solidFill>
                <a:effectLst/>
                <a:uFillTx/>
                <a:latin typeface="Arial"/>
                <a:ea typeface="Arial"/>
              </a:rPr>
              <a:t>b</a:t>
            </a:r>
            <a:endParaRPr lang="en-US" sz="2400" b="0" u="none" strike="noStrike">
              <a:solidFill>
                <a:srgbClr val="000000"/>
              </a:solidFill>
              <a:effectLst/>
              <a:uFillTx/>
              <a:latin typeface="Times New Roman"/>
            </a:endParaRPr>
          </a:p>
        </p:txBody>
      </p:sp>
      <p:sp>
        <p:nvSpPr>
          <p:cNvPr id="383" name="Rectangle 14"/>
          <p:cNvSpPr/>
          <p:nvPr/>
        </p:nvSpPr>
        <p:spPr>
          <a:xfrm>
            <a:off x="2057400" y="1523880"/>
            <a:ext cx="838080" cy="457200"/>
          </a:xfrm>
          <a:prstGeom prst="rect">
            <a:avLst/>
          </a:prstGeom>
          <a:solidFill>
            <a:srgbClr val="CCEC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i="1" u="none" strike="noStrike">
                <a:solidFill>
                  <a:srgbClr val="000000"/>
                </a:solidFill>
                <a:effectLst/>
                <a:uFillTx/>
                <a:latin typeface="Arial"/>
                <a:ea typeface="Arial"/>
              </a:rPr>
              <a:t>c</a:t>
            </a:r>
            <a:endParaRPr lang="en-US" sz="2400" b="0" u="none" strike="noStrike">
              <a:solidFill>
                <a:srgbClr val="000000"/>
              </a:solidFill>
              <a:effectLst/>
              <a:uFillTx/>
              <a:latin typeface="Times New Roman"/>
            </a:endParaRPr>
          </a:p>
        </p:txBody>
      </p:sp>
      <p:sp>
        <p:nvSpPr>
          <p:cNvPr id="384" name="Text Box 15"/>
          <p:cNvSpPr/>
          <p:nvPr/>
        </p:nvSpPr>
        <p:spPr>
          <a:xfrm>
            <a:off x="304560" y="2133360"/>
            <a:ext cx="3657600" cy="367920"/>
          </a:xfrm>
          <a:prstGeom prst="rect">
            <a:avLst/>
          </a:prstGeom>
          <a:noFill/>
          <a:ln w="38160">
            <a:noFill/>
          </a:ln>
        </p:spPr>
        <p:style>
          <a:lnRef idx="0"/>
          <a:fillRef idx="0"/>
          <a:effectRef idx="0"/>
          <a:fontRef idx="minor"/>
        </p:style>
        <p:txBody>
          <a:bodyPr lIns="90000" tIns="46800" rIns="90000" bIns="46800" anchor="t">
            <a:spAutoFit/>
          </a:bodyPr>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i="1" u="none" strike="noStrike">
                <a:solidFill>
                  <a:srgbClr val="FF0000"/>
                </a:solidFill>
                <a:effectLst/>
                <a:uFillTx/>
                <a:latin typeface="Arial"/>
                <a:ea typeface="Arial"/>
              </a:rPr>
              <a:t>f</a:t>
            </a:r>
            <a:r>
              <a:rPr lang="en-US" sz="2000" b="1" u="none" strike="noStrike">
                <a:solidFill>
                  <a:srgbClr val="FF0000"/>
                </a:solidFill>
                <a:effectLst/>
                <a:uFillTx/>
                <a:latin typeface="Arial"/>
                <a:ea typeface="Arial"/>
              </a:rPr>
              <a:t>(</a:t>
            </a:r>
            <a:r>
              <a:rPr lang="en-US" sz="2000" b="1" i="1" u="none" strike="noStrike">
                <a:solidFill>
                  <a:srgbClr val="FF0000"/>
                </a:solidFill>
                <a:effectLst/>
                <a:uFillTx/>
                <a:latin typeface="Arial"/>
                <a:ea typeface="Arial"/>
              </a:rPr>
              <a:t>x</a:t>
            </a:r>
            <a:r>
              <a:rPr lang="en-US" sz="2000" b="1" u="none" strike="noStrike">
                <a:solidFill>
                  <a:srgbClr val="FF0000"/>
                </a:solidFill>
                <a:effectLst/>
                <a:uFillTx/>
                <a:latin typeface="Arial"/>
                <a:ea typeface="Arial"/>
              </a:rPr>
              <a:t>) = </a:t>
            </a:r>
            <a:r>
              <a:rPr lang="en-US" sz="2000" b="1" i="1" u="none" strike="noStrike">
                <a:solidFill>
                  <a:srgbClr val="FF0000"/>
                </a:solidFill>
                <a:effectLst/>
                <a:uFillTx/>
                <a:latin typeface="Arial"/>
                <a:ea typeface="Arial"/>
              </a:rPr>
              <a:t>ax</a:t>
            </a:r>
            <a:r>
              <a:rPr lang="en-US" sz="2000" b="1" u="none" strike="noStrike" baseline="30000">
                <a:solidFill>
                  <a:srgbClr val="FF0000"/>
                </a:solidFill>
                <a:effectLst/>
                <a:uFillTx/>
                <a:latin typeface="Arial"/>
                <a:ea typeface="Arial"/>
              </a:rPr>
              <a:t>2</a:t>
            </a:r>
            <a:r>
              <a:rPr lang="en-US" sz="2000" b="1" u="none" strike="noStrike">
                <a:solidFill>
                  <a:srgbClr val="FF0000"/>
                </a:solidFill>
                <a:effectLst/>
                <a:uFillTx/>
                <a:latin typeface="Arial"/>
                <a:ea typeface="Arial"/>
              </a:rPr>
              <a:t>+</a:t>
            </a:r>
            <a:r>
              <a:rPr lang="en-US" sz="2000" b="1" i="1" u="none" strike="noStrike">
                <a:solidFill>
                  <a:srgbClr val="FF0000"/>
                </a:solidFill>
                <a:effectLst/>
                <a:uFillTx/>
                <a:latin typeface="Arial"/>
                <a:ea typeface="Arial"/>
              </a:rPr>
              <a:t> bx </a:t>
            </a:r>
            <a:r>
              <a:rPr lang="en-US" sz="2000" b="1" u="none" strike="noStrike">
                <a:solidFill>
                  <a:srgbClr val="FF0000"/>
                </a:solidFill>
                <a:effectLst/>
                <a:uFillTx/>
                <a:latin typeface="Arial"/>
                <a:ea typeface="Arial"/>
              </a:rPr>
              <a:t>+</a:t>
            </a:r>
            <a:r>
              <a:rPr lang="en-US" sz="2000" b="1" i="1" u="none" strike="noStrike">
                <a:solidFill>
                  <a:srgbClr val="FF0000"/>
                </a:solidFill>
                <a:effectLst/>
                <a:uFillTx/>
                <a:latin typeface="Arial"/>
                <a:ea typeface="Arial"/>
              </a:rPr>
              <a:t> c</a:t>
            </a:r>
            <a:endParaRPr lang="en-US" sz="2000" b="0" u="none" strike="noStrike">
              <a:solidFill>
                <a:srgbClr val="000000"/>
              </a:solidFill>
              <a:effectLst/>
              <a:uFillTx/>
              <a:latin typeface="Times New Roman"/>
            </a:endParaRPr>
          </a:p>
        </p:txBody>
      </p:sp>
      <p:sp>
        <p:nvSpPr>
          <p:cNvPr id="385" name="Rectangle 16"/>
          <p:cNvSpPr/>
          <p:nvPr/>
        </p:nvSpPr>
        <p:spPr>
          <a:xfrm>
            <a:off x="380880" y="2819160"/>
            <a:ext cx="838080" cy="457200"/>
          </a:xfrm>
          <a:prstGeom prst="rect">
            <a:avLst/>
          </a:prstGeom>
          <a:solidFill>
            <a:srgbClr val="CCEC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i="1" u="none" strike="noStrike">
                <a:solidFill>
                  <a:srgbClr val="000000"/>
                </a:solidFill>
                <a:effectLst/>
                <a:uFillTx/>
                <a:latin typeface="Arial"/>
                <a:ea typeface="Arial"/>
              </a:rPr>
              <a:t>f</a:t>
            </a:r>
            <a:r>
              <a:rPr lang="en-US" sz="2400" b="0" u="none" strike="noStrike">
                <a:solidFill>
                  <a:srgbClr val="000000"/>
                </a:solidFill>
                <a:effectLst/>
                <a:uFillTx/>
                <a:latin typeface="Arial"/>
                <a:ea typeface="Arial"/>
              </a:rPr>
              <a:t>(0)</a:t>
            </a:r>
            <a:endParaRPr lang="en-US" sz="2400" b="0" u="none" strike="noStrike">
              <a:solidFill>
                <a:srgbClr val="000000"/>
              </a:solidFill>
              <a:effectLst/>
              <a:uFillTx/>
              <a:latin typeface="Times New Roman"/>
            </a:endParaRPr>
          </a:p>
        </p:txBody>
      </p:sp>
      <p:sp>
        <p:nvSpPr>
          <p:cNvPr id="386" name="Rectangle 17"/>
          <p:cNvSpPr/>
          <p:nvPr/>
        </p:nvSpPr>
        <p:spPr>
          <a:xfrm>
            <a:off x="1218960" y="2819160"/>
            <a:ext cx="838440" cy="457200"/>
          </a:xfrm>
          <a:prstGeom prst="rect">
            <a:avLst/>
          </a:prstGeom>
          <a:solidFill>
            <a:srgbClr val="CCEC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i="1" u="none" strike="noStrike">
                <a:solidFill>
                  <a:srgbClr val="000000"/>
                </a:solidFill>
                <a:effectLst/>
                <a:uFillTx/>
                <a:latin typeface="Arial"/>
                <a:ea typeface="Arial"/>
              </a:rPr>
              <a:t>f</a:t>
            </a:r>
            <a:r>
              <a:rPr lang="en-US" sz="2400" b="0" u="none" strike="noStrike">
                <a:solidFill>
                  <a:srgbClr val="000000"/>
                </a:solidFill>
                <a:effectLst/>
                <a:uFillTx/>
                <a:latin typeface="Arial"/>
                <a:ea typeface="Arial"/>
              </a:rPr>
              <a:t>(1)</a:t>
            </a:r>
            <a:endParaRPr lang="en-US" sz="2400" b="0" u="none" strike="noStrike">
              <a:solidFill>
                <a:srgbClr val="000000"/>
              </a:solidFill>
              <a:effectLst/>
              <a:uFillTx/>
              <a:latin typeface="Times New Roman"/>
            </a:endParaRPr>
          </a:p>
        </p:txBody>
      </p:sp>
      <p:sp>
        <p:nvSpPr>
          <p:cNvPr id="387" name="Rectangle 18"/>
          <p:cNvSpPr/>
          <p:nvPr/>
        </p:nvSpPr>
        <p:spPr>
          <a:xfrm>
            <a:off x="2057400" y="2819160"/>
            <a:ext cx="838080" cy="457200"/>
          </a:xfrm>
          <a:prstGeom prst="rect">
            <a:avLst/>
          </a:prstGeom>
          <a:solidFill>
            <a:srgbClr val="CCEC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i="1" u="none" strike="noStrike">
                <a:solidFill>
                  <a:srgbClr val="000000"/>
                </a:solidFill>
                <a:effectLst/>
                <a:uFillTx/>
                <a:latin typeface="Arial"/>
                <a:ea typeface="Arial"/>
              </a:rPr>
              <a:t>f</a:t>
            </a:r>
            <a:r>
              <a:rPr lang="en-US" sz="2400" b="0" u="none" strike="noStrike">
                <a:solidFill>
                  <a:srgbClr val="000000"/>
                </a:solidFill>
                <a:effectLst/>
                <a:uFillTx/>
                <a:latin typeface="Arial"/>
                <a:ea typeface="Arial"/>
              </a:rPr>
              <a:t>(2)</a:t>
            </a:r>
            <a:endParaRPr lang="en-US" sz="2400" b="0" u="none" strike="noStrike">
              <a:solidFill>
                <a:srgbClr val="000000"/>
              </a:solidFill>
              <a:effectLst/>
              <a:uFillTx/>
              <a:latin typeface="Times New Roman"/>
            </a:endParaRPr>
          </a:p>
        </p:txBody>
      </p:sp>
      <p:sp>
        <p:nvSpPr>
          <p:cNvPr id="388" name="Rectangle 19"/>
          <p:cNvSpPr/>
          <p:nvPr/>
        </p:nvSpPr>
        <p:spPr>
          <a:xfrm>
            <a:off x="2895480" y="2819160"/>
            <a:ext cx="838080" cy="457200"/>
          </a:xfrm>
          <a:prstGeom prst="rect">
            <a:avLst/>
          </a:prstGeom>
          <a:solidFill>
            <a:srgbClr val="CCEC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i="1" u="none" strike="noStrike">
                <a:solidFill>
                  <a:srgbClr val="000000"/>
                </a:solidFill>
                <a:effectLst/>
                <a:uFillTx/>
                <a:latin typeface="Arial"/>
                <a:ea typeface="Arial"/>
              </a:rPr>
              <a:t>f</a:t>
            </a:r>
            <a:r>
              <a:rPr lang="en-US" sz="2400" b="0" u="none" strike="noStrike">
                <a:solidFill>
                  <a:srgbClr val="000000"/>
                </a:solidFill>
                <a:effectLst/>
                <a:uFillTx/>
                <a:latin typeface="Arial"/>
                <a:ea typeface="Arial"/>
              </a:rPr>
              <a:t>(3)</a:t>
            </a:r>
            <a:endParaRPr lang="en-US" sz="2400" b="0" u="none" strike="noStrike">
              <a:solidFill>
                <a:srgbClr val="000000"/>
              </a:solidFill>
              <a:effectLst/>
              <a:uFillTx/>
              <a:latin typeface="Times New Roman"/>
            </a:endParaRPr>
          </a:p>
        </p:txBody>
      </p:sp>
      <p:sp>
        <p:nvSpPr>
          <p:cNvPr id="389" name="Rectangle 20"/>
          <p:cNvSpPr/>
          <p:nvPr/>
        </p:nvSpPr>
        <p:spPr>
          <a:xfrm>
            <a:off x="3733560" y="2819160"/>
            <a:ext cx="838440" cy="457200"/>
          </a:xfrm>
          <a:prstGeom prst="rect">
            <a:avLst/>
          </a:prstGeom>
          <a:solidFill>
            <a:srgbClr val="CCEC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i="1" u="none" strike="noStrike">
                <a:solidFill>
                  <a:srgbClr val="000000"/>
                </a:solidFill>
                <a:effectLst/>
                <a:uFillTx/>
                <a:latin typeface="Arial"/>
                <a:ea typeface="Arial"/>
              </a:rPr>
              <a:t>f</a:t>
            </a:r>
            <a:r>
              <a:rPr lang="en-US" sz="2400" b="0" u="none" strike="noStrike">
                <a:solidFill>
                  <a:srgbClr val="000000"/>
                </a:solidFill>
                <a:effectLst/>
                <a:uFillTx/>
                <a:latin typeface="Arial"/>
                <a:ea typeface="Arial"/>
              </a:rPr>
              <a:t>(4)</a:t>
            </a:r>
            <a:endParaRPr lang="en-US" sz="2400" b="0" u="none" strike="noStrike">
              <a:solidFill>
                <a:srgbClr val="000000"/>
              </a:solidFill>
              <a:effectLst/>
              <a:uFillTx/>
              <a:latin typeface="Times New Roman"/>
            </a:endParaRPr>
          </a:p>
        </p:txBody>
      </p:sp>
      <p:sp>
        <p:nvSpPr>
          <p:cNvPr id="390" name="Line 21"/>
          <p:cNvSpPr/>
          <p:nvPr/>
        </p:nvSpPr>
        <p:spPr>
          <a:xfrm>
            <a:off x="380880" y="1371600"/>
            <a:ext cx="2514600" cy="0"/>
          </a:xfrm>
          <a:prstGeom prst="line">
            <a:avLst/>
          </a:prstGeom>
          <a:ln w="9360">
            <a:solidFill>
              <a:srgbClr val="000000"/>
            </a:solidFill>
            <a:miter/>
            <a:headEnd len="med" type="triangle" w="med"/>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91" name="Text Box 22"/>
          <p:cNvSpPr/>
          <p:nvPr/>
        </p:nvSpPr>
        <p:spPr>
          <a:xfrm>
            <a:off x="1297080" y="1218960"/>
            <a:ext cx="592920" cy="307080"/>
          </a:xfrm>
          <a:prstGeom prst="rect">
            <a:avLst/>
          </a:prstGeom>
          <a:solidFill>
            <a:srgbClr val="FFFFFF"/>
          </a:solid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i="1" u="none" strike="noStrike">
                <a:solidFill>
                  <a:srgbClr val="008000"/>
                </a:solidFill>
                <a:effectLst/>
                <a:uFillTx/>
                <a:latin typeface="Arial"/>
                <a:ea typeface="Arial"/>
              </a:rPr>
              <a:t>l</a:t>
            </a:r>
            <a:r>
              <a:rPr lang="en-US" sz="1400" b="1" u="none" strike="noStrike">
                <a:solidFill>
                  <a:srgbClr val="008000"/>
                </a:solidFill>
                <a:effectLst/>
                <a:uFillTx/>
                <a:latin typeface="Arial"/>
                <a:ea typeface="Arial"/>
              </a:rPr>
              <a:t> bits</a:t>
            </a:r>
            <a:endParaRPr lang="en-US" sz="1400" b="0" u="none" strike="noStrike">
              <a:solidFill>
                <a:srgbClr val="000000"/>
              </a:solidFill>
              <a:effectLst/>
              <a:uFillTx/>
              <a:latin typeface="Times New Roman"/>
            </a:endParaRPr>
          </a:p>
        </p:txBody>
      </p:sp>
      <p:sp>
        <p:nvSpPr>
          <p:cNvPr id="392" name="Line 23"/>
          <p:cNvSpPr/>
          <p:nvPr/>
        </p:nvSpPr>
        <p:spPr>
          <a:xfrm>
            <a:off x="380880" y="2666880"/>
            <a:ext cx="4114800" cy="0"/>
          </a:xfrm>
          <a:prstGeom prst="line">
            <a:avLst/>
          </a:prstGeom>
          <a:ln w="9360">
            <a:solidFill>
              <a:srgbClr val="000000"/>
            </a:solidFill>
            <a:miter/>
            <a:headEnd len="med" type="triangle" w="med"/>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93" name="Text Box 24"/>
          <p:cNvSpPr/>
          <p:nvPr/>
        </p:nvSpPr>
        <p:spPr>
          <a:xfrm>
            <a:off x="1982880" y="2514600"/>
            <a:ext cx="838800" cy="307080"/>
          </a:xfrm>
          <a:prstGeom prst="rect">
            <a:avLst/>
          </a:prstGeom>
          <a:solidFill>
            <a:srgbClr val="FFFFFF"/>
          </a:solid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008000"/>
                </a:solidFill>
                <a:effectLst/>
                <a:uFillTx/>
                <a:latin typeface="Arial"/>
                <a:ea typeface="Arial"/>
              </a:rPr>
              <a:t>5</a:t>
            </a:r>
            <a:r>
              <a:rPr lang="en-US" sz="1400" b="1" i="1" u="none" strike="noStrike">
                <a:solidFill>
                  <a:srgbClr val="008000"/>
                </a:solidFill>
                <a:effectLst/>
                <a:uFillTx/>
                <a:latin typeface="Arial"/>
                <a:ea typeface="Arial"/>
              </a:rPr>
              <a:t>l</a:t>
            </a:r>
            <a:r>
              <a:rPr lang="en-US" sz="1400" b="1" u="none" strike="noStrike">
                <a:solidFill>
                  <a:srgbClr val="008000"/>
                </a:solidFill>
                <a:effectLst/>
                <a:uFillTx/>
                <a:latin typeface="Arial"/>
                <a:ea typeface="Arial"/>
              </a:rPr>
              <a:t>/3 bits</a:t>
            </a:r>
            <a:endParaRPr lang="en-US" sz="1400" b="0" u="none" strike="noStrike">
              <a:solidFill>
                <a:srgbClr val="000000"/>
              </a:solidFill>
              <a:effectLst/>
              <a:uFillTx/>
              <a:latin typeface="Times New Roman"/>
            </a:endParaRPr>
          </a:p>
        </p:txBody>
      </p:sp>
      <p:sp>
        <p:nvSpPr>
          <p:cNvPr id="394" name="Line 25"/>
          <p:cNvSpPr/>
          <p:nvPr/>
        </p:nvSpPr>
        <p:spPr>
          <a:xfrm flipV="1">
            <a:off x="380880" y="3733200"/>
            <a:ext cx="0" cy="205740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95" name="Line 26"/>
          <p:cNvSpPr/>
          <p:nvPr/>
        </p:nvSpPr>
        <p:spPr>
          <a:xfrm>
            <a:off x="380880" y="5790960"/>
            <a:ext cx="480060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96" name="Freeform 27"/>
          <p:cNvSpPr/>
          <p:nvPr/>
        </p:nvSpPr>
        <p:spPr>
          <a:xfrm>
            <a:off x="672840" y="3982680"/>
            <a:ext cx="4127760" cy="1706760"/>
          </a:xfrm>
          <a:custGeom>
            <a:avLst/>
            <a:gdLst>
              <a:gd name="GluePoint1X" fmla="*/ 0 w 2600"/>
              <a:gd name="GluePoint1Y" fmla="*/ 2147483646 h 1075"/>
              <a:gd name="GluePoint2X" fmla="*/ 2147483646 w 2600"/>
              <a:gd name="GluePoint2Y" fmla="*/ 2147483646 h 1075"/>
              <a:gd name="GluePoint3X" fmla="*/ 2147483646 w 2600"/>
              <a:gd name="GluePoint3Y" fmla="*/ 2147483646 h 1075"/>
              <a:gd name="GluePoint4X" fmla="*/ 2147483646 w 2600"/>
              <a:gd name="GluePoint4Y" fmla="*/ 2147483646 h 1075"/>
              <a:gd name="GluePoint5X" fmla="*/ 2147483646 w 2600"/>
              <a:gd name="GluePoint5Y" fmla="*/ 2147483646 h 1075"/>
              <a:gd name="GluePoint6X" fmla="*/ 2147483646 w 2600"/>
              <a:gd name="GluePoint6Y" fmla="*/ 2147483646 h 107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2600" h="1075">
                <a:moveTo>
                  <a:pt x="0" y="1035"/>
                </a:moveTo>
                <a:cubicBezTo>
                  <a:pt x="64" y="942"/>
                  <a:pt x="236" y="641"/>
                  <a:pt x="384" y="483"/>
                </a:cubicBezTo>
                <a:cubicBezTo>
                  <a:pt x="532" y="325"/>
                  <a:pt x="699" y="158"/>
                  <a:pt x="888" y="87"/>
                </a:cubicBezTo>
                <a:cubicBezTo>
                  <a:pt x="1077" y="16"/>
                  <a:pt x="1320" y="0"/>
                  <a:pt x="1520" y="61"/>
                </a:cubicBezTo>
                <a:cubicBezTo>
                  <a:pt x="1720" y="122"/>
                  <a:pt x="1908" y="282"/>
                  <a:pt x="2088" y="451"/>
                </a:cubicBezTo>
                <a:cubicBezTo>
                  <a:pt x="2268" y="620"/>
                  <a:pt x="2493" y="945"/>
                  <a:pt x="2600" y="1075"/>
                </a:cubicBezTo>
              </a:path>
            </a:pathLst>
          </a:custGeom>
          <a:noFill/>
          <a:ln w="28440">
            <a:solidFill>
              <a:srgbClr val="000000"/>
            </a:solidFill>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97" name="Oval 28"/>
          <p:cNvSpPr/>
          <p:nvPr/>
        </p:nvSpPr>
        <p:spPr>
          <a:xfrm>
            <a:off x="3504960" y="4267080"/>
            <a:ext cx="152640" cy="152280"/>
          </a:xfrm>
          <a:prstGeom prst="ellipse">
            <a:avLst/>
          </a:prstGeom>
          <a:solidFill>
            <a:srgbClr val="00CC99"/>
          </a:solidFill>
          <a:ln w="9360">
            <a:solidFill>
              <a:srgbClr val="000000"/>
            </a:solidFill>
            <a:miter/>
          </a:ln>
        </p:spPr>
        <p:style>
          <a:lnRef idx="0"/>
          <a:fillRef idx="0"/>
          <a:effectRef idx="0"/>
          <a:fontRef idx="minor"/>
        </p:style>
        <p:txBody>
          <a:bodyPr wrap="none"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398" name="Oval 29"/>
          <p:cNvSpPr/>
          <p:nvPr/>
        </p:nvSpPr>
        <p:spPr>
          <a:xfrm>
            <a:off x="4572000" y="5410080"/>
            <a:ext cx="152280" cy="152280"/>
          </a:xfrm>
          <a:prstGeom prst="ellipse">
            <a:avLst/>
          </a:prstGeom>
          <a:solidFill>
            <a:srgbClr val="00CC99"/>
          </a:solidFill>
          <a:ln w="9360">
            <a:solidFill>
              <a:srgbClr val="000000"/>
            </a:solidFill>
            <a:miter/>
          </a:ln>
        </p:spPr>
        <p:style>
          <a:lnRef idx="0"/>
          <a:fillRef idx="0"/>
          <a:effectRef idx="0"/>
          <a:fontRef idx="minor"/>
        </p:style>
        <p:txBody>
          <a:bodyPr wrap="none"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399" name="Line 31"/>
          <p:cNvSpPr/>
          <p:nvPr/>
        </p:nvSpPr>
        <p:spPr>
          <a:xfrm>
            <a:off x="3352680" y="3200400"/>
            <a:ext cx="228600" cy="1143000"/>
          </a:xfrm>
          <a:prstGeom prst="line">
            <a:avLst/>
          </a:prstGeom>
          <a:ln w="9360">
            <a:solidFill>
              <a:srgbClr val="4D4D4D"/>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00" name="Line 32"/>
          <p:cNvSpPr/>
          <p:nvPr/>
        </p:nvSpPr>
        <p:spPr>
          <a:xfrm>
            <a:off x="4190760" y="3200400"/>
            <a:ext cx="457200" cy="2286000"/>
          </a:xfrm>
          <a:prstGeom prst="line">
            <a:avLst/>
          </a:prstGeom>
          <a:ln w="9360">
            <a:solidFill>
              <a:srgbClr val="4D4D4D"/>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01" name="Oval 33"/>
          <p:cNvSpPr/>
          <p:nvPr/>
        </p:nvSpPr>
        <p:spPr>
          <a:xfrm>
            <a:off x="1371600" y="4495680"/>
            <a:ext cx="152280" cy="152280"/>
          </a:xfrm>
          <a:prstGeom prst="ellipse">
            <a:avLst/>
          </a:prstGeom>
          <a:solidFill>
            <a:srgbClr val="00CC99"/>
          </a:solidFill>
          <a:ln w="9360">
            <a:solidFill>
              <a:srgbClr val="000000"/>
            </a:solidFill>
            <a:miter/>
          </a:ln>
        </p:spPr>
        <p:style>
          <a:lnRef idx="0"/>
          <a:fillRef idx="0"/>
          <a:effectRef idx="0"/>
          <a:fontRef idx="minor"/>
        </p:style>
        <p:txBody>
          <a:bodyPr wrap="none"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402" name="AutoShape 34"/>
          <p:cNvSpPr/>
          <p:nvPr/>
        </p:nvSpPr>
        <p:spPr>
          <a:xfrm rot="5400000">
            <a:off x="3225960" y="1649880"/>
            <a:ext cx="814320" cy="866520"/>
          </a:xfrm>
          <a:custGeom>
            <a:avLst/>
            <a:gdLst>
              <a:gd name="textAreaLeft" fmla="*/ 468360 w 814320"/>
              <a:gd name="textAreaRight" fmla="*/ 717480 w 814320"/>
              <a:gd name="textAreaTop" fmla="*/ 152280 h 866520"/>
              <a:gd name="textAreaBottom" fmla="*/ 335520 h 866520"/>
              <a:gd name="GluePoint1X" fmla="*/ 2147483646 w 21600"/>
              <a:gd name="GluePoint1Y" fmla="*/ 0 h 21600"/>
              <a:gd name="GluePoint2X" fmla="*/ 2147483646 w 21600"/>
              <a:gd name="GluePoint2Y" fmla="*/ 2147483646 h 21600"/>
              <a:gd name="GluePoint3X" fmla="*/ 2147483646 w 21600"/>
              <a:gd name="GluePoint3Y" fmla="*/ 2147483646 h 21600"/>
              <a:gd name="GluePoint4X" fmla="*/ 2147483646 w 21600"/>
              <a:gd name="GluePoint4Y" fmla="*/ 2147483646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21600" y="6079"/>
                </a:moveTo>
                <a:lnTo>
                  <a:pt x="14736" y="0"/>
                </a:lnTo>
                <a:lnTo>
                  <a:pt x="14736" y="3797"/>
                </a:lnTo>
                <a:lnTo>
                  <a:pt x="12427" y="3797"/>
                </a:lnTo>
                <a:cubicBezTo>
                  <a:pt x="5564" y="3797"/>
                  <a:pt x="0" y="7540"/>
                  <a:pt x="0" y="12158"/>
                </a:cubicBezTo>
                <a:lnTo>
                  <a:pt x="0" y="21600"/>
                </a:lnTo>
                <a:lnTo>
                  <a:pt x="4665" y="21600"/>
                </a:lnTo>
                <a:lnTo>
                  <a:pt x="4665" y="12158"/>
                </a:lnTo>
                <a:cubicBezTo>
                  <a:pt x="4665" y="10061"/>
                  <a:pt x="8140" y="8361"/>
                  <a:pt x="12427" y="8361"/>
                </a:cubicBezTo>
                <a:lnTo>
                  <a:pt x="14736" y="8361"/>
                </a:lnTo>
                <a:lnTo>
                  <a:pt x="14736" y="12158"/>
                </a:lnTo>
                <a:lnTo>
                  <a:pt x="21600" y="6079"/>
                </a:lnTo>
                <a:close/>
              </a:path>
            </a:pathLst>
          </a:custGeom>
          <a:solidFill>
            <a:srgbClr val="FFFF00"/>
          </a:solidFill>
          <a:ln w="9360">
            <a:solidFill>
              <a:srgbClr val="000000"/>
            </a:solidFill>
            <a:miter/>
          </a:ln>
        </p:spPr>
        <p:style>
          <a:lnRef idx="0"/>
          <a:fillRef idx="0"/>
          <a:effectRef idx="0"/>
          <a:fontRef idx="minor"/>
        </p:style>
        <p:txBody>
          <a:bodyPr wrap="none" lIns="90000" tIns="46800" rIns="90000" bIns="46800" anchor="ctr">
            <a:noAutofit/>
          </a:bodyPr>
          <a:p>
            <a:endParaRPr lang="en-US" sz="2400" b="0" u="none" strike="noStrike">
              <a:solidFill>
                <a:srgbClr val="000000"/>
              </a:solidFill>
              <a:effectLst/>
              <a:uFillTx/>
              <a:latin typeface="Times New Roman"/>
            </a:endParaRPr>
          </a:p>
        </p:txBody>
      </p:sp>
      <p:sp>
        <p:nvSpPr>
          <p:cNvPr id="403" name="Text Box 35"/>
          <p:cNvSpPr/>
          <p:nvPr/>
        </p:nvSpPr>
        <p:spPr>
          <a:xfrm>
            <a:off x="3126960" y="1066680"/>
            <a:ext cx="1702080" cy="58140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Arial"/>
              </a:rPr>
              <a:t>Encoding with</a:t>
            </a:r>
            <a:endParaRPr lang="en-US" sz="16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Arial"/>
              </a:rPr>
              <a:t>67% redundancy</a:t>
            </a:r>
            <a:endParaRPr lang="en-US" sz="1600" b="0" u="none" strike="noStrike">
              <a:solidFill>
                <a:srgbClr val="000000"/>
              </a:solidFill>
              <a:effectLst/>
              <a:uFillTx/>
              <a:latin typeface="Times New Roman"/>
            </a:endParaRPr>
          </a:p>
        </p:txBody>
      </p:sp>
      <p:sp>
        <p:nvSpPr>
          <p:cNvPr id="404" name="Text Box 36"/>
          <p:cNvSpPr/>
          <p:nvPr/>
        </p:nvSpPr>
        <p:spPr>
          <a:xfrm>
            <a:off x="5715000" y="4952880"/>
            <a:ext cx="2666880" cy="1007640"/>
          </a:xfrm>
          <a:prstGeom prst="rect">
            <a:avLst/>
          </a:prstGeom>
          <a:solidFill>
            <a:srgbClr val="66FF66"/>
          </a:solid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Note that two pieces would be inadequate for reconstruction</a:t>
            </a:r>
            <a:endParaRPr lang="en-US" sz="2000" b="0" u="none" strike="noStrike">
              <a:solidFill>
                <a:srgbClr val="000000"/>
              </a:solidFill>
              <a:effectLst/>
              <a:uFillTx/>
              <a:latin typeface="Times New Roman"/>
            </a:endParaRPr>
          </a:p>
        </p:txBody>
      </p:sp>
      <p:sp>
        <p:nvSpPr>
          <p:cNvPr id="405" name="Line 30"/>
          <p:cNvSpPr/>
          <p:nvPr/>
        </p:nvSpPr>
        <p:spPr>
          <a:xfrm flipH="1">
            <a:off x="1447200" y="3200400"/>
            <a:ext cx="228600" cy="1371600"/>
          </a:xfrm>
          <a:prstGeom prst="line">
            <a:avLst/>
          </a:prstGeom>
          <a:ln w="9360">
            <a:solidFill>
              <a:srgbClr val="4D4D4D"/>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06" name="Freeform 37"/>
          <p:cNvSpPr/>
          <p:nvPr/>
        </p:nvSpPr>
        <p:spPr>
          <a:xfrm>
            <a:off x="3047760" y="4114800"/>
            <a:ext cx="1676520" cy="1706400"/>
          </a:xfrm>
          <a:custGeom>
            <a:avLst/>
            <a:gdLst>
              <a:gd name="GluePoint1X" fmla="*/ 0 w 2600"/>
              <a:gd name="GluePoint1Y" fmla="*/ 2147483646 h 1075"/>
              <a:gd name="GluePoint2X" fmla="*/ 2147483646 w 2600"/>
              <a:gd name="GluePoint2Y" fmla="*/ 2147483646 h 1075"/>
              <a:gd name="GluePoint3X" fmla="*/ 2147483646 w 2600"/>
              <a:gd name="GluePoint3Y" fmla="*/ 2147483646 h 1075"/>
              <a:gd name="GluePoint4X" fmla="*/ 2147483646 w 2600"/>
              <a:gd name="GluePoint4Y" fmla="*/ 2147483646 h 1075"/>
              <a:gd name="GluePoint5X" fmla="*/ 2147483646 w 2600"/>
              <a:gd name="GluePoint5Y" fmla="*/ 2147483646 h 1075"/>
              <a:gd name="GluePoint6X" fmla="*/ 2147483646 w 2600"/>
              <a:gd name="GluePoint6Y" fmla="*/ 2147483646 h 107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2600" h="1075">
                <a:moveTo>
                  <a:pt x="0" y="1035"/>
                </a:moveTo>
                <a:cubicBezTo>
                  <a:pt x="64" y="942"/>
                  <a:pt x="236" y="641"/>
                  <a:pt x="384" y="483"/>
                </a:cubicBezTo>
                <a:cubicBezTo>
                  <a:pt x="532" y="325"/>
                  <a:pt x="699" y="158"/>
                  <a:pt x="888" y="87"/>
                </a:cubicBezTo>
                <a:cubicBezTo>
                  <a:pt x="1077" y="16"/>
                  <a:pt x="1320" y="0"/>
                  <a:pt x="1520" y="61"/>
                </a:cubicBezTo>
                <a:cubicBezTo>
                  <a:pt x="1720" y="122"/>
                  <a:pt x="1908" y="282"/>
                  <a:pt x="2088" y="451"/>
                </a:cubicBezTo>
                <a:cubicBezTo>
                  <a:pt x="2268" y="620"/>
                  <a:pt x="2493" y="945"/>
                  <a:pt x="2600" y="1075"/>
                </a:cubicBezTo>
              </a:path>
            </a:pathLst>
          </a:custGeom>
          <a:noFill/>
          <a:ln w="18720">
            <a:solidFill>
              <a:srgbClr val="CC6600"/>
            </a:solidFill>
            <a:prstDash val="dash"/>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07" name="Freeform 38"/>
          <p:cNvSpPr/>
          <p:nvPr/>
        </p:nvSpPr>
        <p:spPr>
          <a:xfrm flipV="1">
            <a:off x="3429000" y="3733560"/>
            <a:ext cx="1981080" cy="1905120"/>
          </a:xfrm>
          <a:custGeom>
            <a:avLst/>
            <a:gdLst>
              <a:gd name="GluePoint1X" fmla="*/ 0 w 2600"/>
              <a:gd name="GluePoint1Y" fmla="*/ 2147483646 h 1075"/>
              <a:gd name="GluePoint2X" fmla="*/ 2147483646 w 2600"/>
              <a:gd name="GluePoint2Y" fmla="*/ 2147483646 h 1075"/>
              <a:gd name="GluePoint3X" fmla="*/ 2147483646 w 2600"/>
              <a:gd name="GluePoint3Y" fmla="*/ 2147483646 h 1075"/>
              <a:gd name="GluePoint4X" fmla="*/ 2147483646 w 2600"/>
              <a:gd name="GluePoint4Y" fmla="*/ 2147483646 h 1075"/>
              <a:gd name="GluePoint5X" fmla="*/ 2147483646 w 2600"/>
              <a:gd name="GluePoint5Y" fmla="*/ 2147483646 h 1075"/>
              <a:gd name="GluePoint6X" fmla="*/ 2147483646 w 2600"/>
              <a:gd name="GluePoint6Y" fmla="*/ 2147483646 h 107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2600" h="1075">
                <a:moveTo>
                  <a:pt x="0" y="1035"/>
                </a:moveTo>
                <a:cubicBezTo>
                  <a:pt x="64" y="942"/>
                  <a:pt x="236" y="641"/>
                  <a:pt x="384" y="483"/>
                </a:cubicBezTo>
                <a:cubicBezTo>
                  <a:pt x="532" y="325"/>
                  <a:pt x="699" y="158"/>
                  <a:pt x="888" y="87"/>
                </a:cubicBezTo>
                <a:cubicBezTo>
                  <a:pt x="1077" y="16"/>
                  <a:pt x="1320" y="0"/>
                  <a:pt x="1520" y="61"/>
                </a:cubicBezTo>
                <a:cubicBezTo>
                  <a:pt x="1720" y="122"/>
                  <a:pt x="1908" y="282"/>
                  <a:pt x="2088" y="451"/>
                </a:cubicBezTo>
                <a:cubicBezTo>
                  <a:pt x="2268" y="620"/>
                  <a:pt x="2493" y="945"/>
                  <a:pt x="2600" y="1075"/>
                </a:cubicBezTo>
              </a:path>
            </a:pathLst>
          </a:custGeom>
          <a:noFill/>
          <a:ln w="18720">
            <a:solidFill>
              <a:srgbClr val="CC6600"/>
            </a:solidFill>
            <a:prstDash val="dash"/>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08" name="Freeform 39"/>
          <p:cNvSpPr/>
          <p:nvPr/>
        </p:nvSpPr>
        <p:spPr>
          <a:xfrm>
            <a:off x="1828800" y="4267080"/>
            <a:ext cx="3047760" cy="1630440"/>
          </a:xfrm>
          <a:custGeom>
            <a:avLst/>
            <a:gdLst>
              <a:gd name="GluePoint1X" fmla="*/ 0 w 2600"/>
              <a:gd name="GluePoint1Y" fmla="*/ 2147483646 h 1075"/>
              <a:gd name="GluePoint2X" fmla="*/ 2147483646 w 2600"/>
              <a:gd name="GluePoint2Y" fmla="*/ 2147483646 h 1075"/>
              <a:gd name="GluePoint3X" fmla="*/ 2147483646 w 2600"/>
              <a:gd name="GluePoint3Y" fmla="*/ 2147483646 h 1075"/>
              <a:gd name="GluePoint4X" fmla="*/ 2147483646 w 2600"/>
              <a:gd name="GluePoint4Y" fmla="*/ 2147483646 h 1075"/>
              <a:gd name="GluePoint5X" fmla="*/ 2147483646 w 2600"/>
              <a:gd name="GluePoint5Y" fmla="*/ 2147483646 h 1075"/>
              <a:gd name="GluePoint6X" fmla="*/ 2147483646 w 2600"/>
              <a:gd name="GluePoint6Y" fmla="*/ 2147483646 h 107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2600" h="1075">
                <a:moveTo>
                  <a:pt x="0" y="1035"/>
                </a:moveTo>
                <a:cubicBezTo>
                  <a:pt x="64" y="942"/>
                  <a:pt x="236" y="641"/>
                  <a:pt x="384" y="483"/>
                </a:cubicBezTo>
                <a:cubicBezTo>
                  <a:pt x="532" y="325"/>
                  <a:pt x="699" y="158"/>
                  <a:pt x="888" y="87"/>
                </a:cubicBezTo>
                <a:cubicBezTo>
                  <a:pt x="1077" y="16"/>
                  <a:pt x="1320" y="0"/>
                  <a:pt x="1520" y="61"/>
                </a:cubicBezTo>
                <a:cubicBezTo>
                  <a:pt x="1720" y="122"/>
                  <a:pt x="1908" y="282"/>
                  <a:pt x="2088" y="451"/>
                </a:cubicBezTo>
                <a:cubicBezTo>
                  <a:pt x="2268" y="620"/>
                  <a:pt x="2493" y="945"/>
                  <a:pt x="2600" y="1075"/>
                </a:cubicBezTo>
              </a:path>
            </a:pathLst>
          </a:custGeom>
          <a:noFill/>
          <a:ln w="18720">
            <a:solidFill>
              <a:srgbClr val="CC6600"/>
            </a:solidFill>
            <a:prstDash val="dash"/>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09" name="Rectangle 40"/>
          <p:cNvSpPr/>
          <p:nvPr/>
        </p:nvSpPr>
        <p:spPr>
          <a:xfrm>
            <a:off x="6400800" y="2590560"/>
            <a:ext cx="1218960" cy="381240"/>
          </a:xfrm>
          <a:prstGeom prst="rect">
            <a:avLst/>
          </a:prstGeom>
          <a:solidFill>
            <a:srgbClr val="66FF66"/>
          </a:solidFill>
          <a:ln w="38160">
            <a:noFill/>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Fig. 1.2</a:t>
            </a:r>
            <a:endParaRPr lang="en-US" sz="2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0" name="Slide Number Placeholder 8"/>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E088A96F-F631-4859-829B-4DE3F298CBA2}"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411"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412" name="PlaceHolder 1"/>
          <p:cNvSpPr>
            <a:spLocks noGrp="1"/>
          </p:cNvSpPr>
          <p:nvPr>
            <p:ph type="title"/>
          </p:nvPr>
        </p:nvSpPr>
        <p:spPr>
          <a:xfrm>
            <a:off x="228600" y="228240"/>
            <a:ext cx="8686800" cy="68580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ea typeface="Arial"/>
              </a:rPr>
              <a:t>Triple modular redundancy (TMR)</a:t>
            </a:r>
            <a:endParaRPr lang="en-US" sz="3200" b="0" u="none" strike="noStrike">
              <a:solidFill>
                <a:srgbClr val="000000"/>
              </a:solidFill>
              <a:effectLst/>
              <a:uFillTx/>
              <a:latin typeface="Arial"/>
            </a:endParaRPr>
          </a:p>
        </p:txBody>
      </p:sp>
      <p:pic>
        <p:nvPicPr>
          <p:cNvPr id="413" name="Picture 4" descr="Triple modular redundancy - Wikipedia"/>
          <p:cNvPicPr/>
          <p:nvPr/>
        </p:nvPicPr>
        <p:blipFill>
          <a:blip r:embed="rId1"/>
          <a:stretch/>
        </p:blipFill>
        <p:spPr>
          <a:xfrm>
            <a:off x="1143000" y="4184640"/>
            <a:ext cx="2895480" cy="1860480"/>
          </a:xfrm>
          <a:prstGeom prst="rect">
            <a:avLst/>
          </a:prstGeom>
          <a:noFill/>
          <a:ln w="38160">
            <a:noFill/>
          </a:ln>
        </p:spPr>
      </p:pic>
      <p:pic>
        <p:nvPicPr>
          <p:cNvPr id="414" name="Picture 4" descr="Basic triple modular redundancy | Download Scientific Diagram"/>
          <p:cNvPicPr/>
          <p:nvPr/>
        </p:nvPicPr>
        <p:blipFill>
          <a:blip r:embed="rId2"/>
          <a:stretch/>
        </p:blipFill>
        <p:spPr>
          <a:xfrm>
            <a:off x="1447560" y="1877760"/>
            <a:ext cx="6114960" cy="1704960"/>
          </a:xfrm>
          <a:prstGeom prst="rect">
            <a:avLst/>
          </a:prstGeom>
          <a:noFill/>
          <a:ln w="38160">
            <a:noFill/>
          </a:ln>
        </p:spPr>
      </p:pic>
      <p:pic>
        <p:nvPicPr>
          <p:cNvPr id="415" name="Picture 4" descr="Ambit: In-Memory Accelerator for Bulk Bitwise Operations Using Commodity  DRAM Technology | Research"/>
          <p:cNvPicPr/>
          <p:nvPr/>
        </p:nvPicPr>
        <p:blipFill>
          <a:blip r:embed="rId3"/>
          <a:srcRect l="0" t="0" r="0" b="12997"/>
          <a:stretch/>
        </p:blipFill>
        <p:spPr>
          <a:xfrm>
            <a:off x="4190760" y="4000320"/>
            <a:ext cx="4496040" cy="2228760"/>
          </a:xfrm>
          <a:prstGeom prst="rect">
            <a:avLst/>
          </a:prstGeom>
          <a:noFill/>
          <a:ln w="38160">
            <a:noFill/>
          </a:ln>
        </p:spPr>
      </p:pic>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6" name="Slide Number Placeholder 8"/>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0A26EC4B-BA7C-4A40-BC4F-85DA5C48AC3B}"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417"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418" name="PlaceHolder 1"/>
          <p:cNvSpPr>
            <a:spLocks noGrp="1"/>
          </p:cNvSpPr>
          <p:nvPr>
            <p:ph type="title"/>
          </p:nvPr>
        </p:nvSpPr>
        <p:spPr>
          <a:xfrm>
            <a:off x="457200" y="228240"/>
            <a:ext cx="8229600" cy="68580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ea typeface="Arial"/>
              </a:rPr>
              <a:t>Questions Ignored in Our Simple Example</a:t>
            </a:r>
            <a:endParaRPr lang="en-US" sz="3200" b="0" u="none" strike="noStrike">
              <a:solidFill>
                <a:srgbClr val="000000"/>
              </a:solidFill>
              <a:effectLst/>
              <a:uFillTx/>
              <a:latin typeface="Arial"/>
            </a:endParaRPr>
          </a:p>
        </p:txBody>
      </p:sp>
      <p:sp>
        <p:nvSpPr>
          <p:cNvPr id="419" name="Text Box 4"/>
          <p:cNvSpPr/>
          <p:nvPr/>
        </p:nvSpPr>
        <p:spPr>
          <a:xfrm>
            <a:off x="457200" y="914400"/>
            <a:ext cx="8229600" cy="100764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FF0000"/>
                </a:solidFill>
                <a:effectLst/>
                <a:uFillTx/>
                <a:latin typeface="Arial"/>
                <a:ea typeface="Arial"/>
              </a:rPr>
              <a:t>1. How redundant copies of data are kept consistent </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When a user modifies the data, how to update the redundant copies (pieces) quickly and prevent the use of stale data in the meantime?</a:t>
            </a:r>
            <a:endParaRPr lang="en-US" sz="2000" b="0" u="none" strike="noStrike">
              <a:solidFill>
                <a:srgbClr val="000000"/>
              </a:solidFill>
              <a:effectLst/>
              <a:uFillTx/>
              <a:latin typeface="Times New Roman"/>
            </a:endParaRPr>
          </a:p>
        </p:txBody>
      </p:sp>
      <p:sp>
        <p:nvSpPr>
          <p:cNvPr id="420" name="Text Box 5"/>
          <p:cNvSpPr/>
          <p:nvPr/>
        </p:nvSpPr>
        <p:spPr>
          <a:xfrm>
            <a:off x="457200" y="1981080"/>
            <a:ext cx="822960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FF0000"/>
                </a:solidFill>
                <a:effectLst/>
                <a:uFillTx/>
                <a:latin typeface="Arial"/>
                <a:ea typeface="Arial"/>
              </a:rPr>
              <a:t>2. How malfunctioning sites and links are identified</a:t>
            </a:r>
            <a:r>
              <a:rPr lang="en-US" sz="2000" b="0" u="none" strike="noStrike">
                <a:solidFill>
                  <a:srgbClr val="000000"/>
                </a:solidFill>
                <a:effectLst/>
                <a:uFillTx/>
                <a:latin typeface="Arial"/>
                <a:ea typeface="Arial"/>
              </a:rPr>
              <a:t> </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Malfunction diagnosis must be quick to avoid data contamination</a:t>
            </a:r>
            <a:endParaRPr lang="en-US" sz="2000" b="0" u="none" strike="noStrike">
              <a:solidFill>
                <a:srgbClr val="000000"/>
              </a:solidFill>
              <a:effectLst/>
              <a:uFillTx/>
              <a:latin typeface="Times New Roman"/>
            </a:endParaRPr>
          </a:p>
        </p:txBody>
      </p:sp>
      <p:sp>
        <p:nvSpPr>
          <p:cNvPr id="421" name="Text Box 6"/>
          <p:cNvSpPr/>
          <p:nvPr/>
        </p:nvSpPr>
        <p:spPr>
          <a:xfrm>
            <a:off x="457200" y="2743200"/>
            <a:ext cx="8229600" cy="100764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FF0000"/>
                </a:solidFill>
                <a:effectLst/>
                <a:uFillTx/>
                <a:latin typeface="Arial"/>
                <a:ea typeface="Arial"/>
              </a:rPr>
              <a:t>3. How recovery is accomplished when a malfunctioning site</a:t>
            </a:r>
            <a:r>
              <a:rPr lang="en-US" sz="1000" b="1" u="none" strike="noStrike">
                <a:solidFill>
                  <a:srgbClr val="FF0000"/>
                </a:solidFill>
                <a:effectLst/>
                <a:uFillTx/>
                <a:latin typeface="Arial"/>
                <a:ea typeface="Arial"/>
              </a:rPr>
              <a:t> </a:t>
            </a:r>
            <a:r>
              <a:rPr lang="en-US" sz="2000" b="1" u="none" strike="noStrike">
                <a:solidFill>
                  <a:srgbClr val="FF0000"/>
                </a:solidFill>
                <a:effectLst/>
                <a:uFillTx/>
                <a:latin typeface="Arial"/>
                <a:ea typeface="Arial"/>
              </a:rPr>
              <a:t>/</a:t>
            </a:r>
            <a:r>
              <a:rPr lang="en-US" sz="1000" b="1" u="none" strike="noStrike">
                <a:solidFill>
                  <a:srgbClr val="FF0000"/>
                </a:solidFill>
                <a:effectLst/>
                <a:uFillTx/>
                <a:latin typeface="Arial"/>
                <a:ea typeface="Arial"/>
              </a:rPr>
              <a:t> </a:t>
            </a:r>
            <a:r>
              <a:rPr lang="en-US" sz="2000" b="1" u="none" strike="noStrike">
                <a:solidFill>
                  <a:srgbClr val="FF0000"/>
                </a:solidFill>
                <a:effectLst/>
                <a:uFillTx/>
                <a:latin typeface="Arial"/>
                <a:ea typeface="Arial"/>
              </a:rPr>
              <a:t>link returns to service after repair</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The returning site must be brought up to date with regard to changes</a:t>
            </a:r>
            <a:endParaRPr lang="en-US" sz="2000" b="0" u="none" strike="noStrike">
              <a:solidFill>
                <a:srgbClr val="000000"/>
              </a:solidFill>
              <a:effectLst/>
              <a:uFillTx/>
              <a:latin typeface="Times New Roman"/>
            </a:endParaRPr>
          </a:p>
        </p:txBody>
      </p:sp>
      <p:sp>
        <p:nvSpPr>
          <p:cNvPr id="422" name="Text Box 8"/>
          <p:cNvSpPr/>
          <p:nvPr/>
        </p:nvSpPr>
        <p:spPr>
          <a:xfrm>
            <a:off x="457200" y="3809880"/>
            <a:ext cx="822960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FF0000"/>
                </a:solidFill>
                <a:effectLst/>
                <a:uFillTx/>
                <a:latin typeface="Arial"/>
                <a:ea typeface="Arial"/>
              </a:rPr>
              <a:t>4. How data corrupted by the actions of an adversary is detected</a:t>
            </a:r>
            <a:r>
              <a:rPr lang="en-US" sz="2000" b="0" u="none" strike="noStrike">
                <a:solidFill>
                  <a:srgbClr val="000000"/>
                </a:solidFill>
                <a:effectLst/>
                <a:uFillTx/>
                <a:latin typeface="Arial"/>
                <a:ea typeface="Arial"/>
              </a:rPr>
              <a:t> This is more difficult than detecting random malfunctions</a:t>
            </a:r>
            <a:endParaRPr lang="en-US" sz="2000" b="0" u="none" strike="noStrike">
              <a:solidFill>
                <a:srgbClr val="000000"/>
              </a:solidFill>
              <a:effectLst/>
              <a:uFillTx/>
              <a:latin typeface="Times New Roman"/>
            </a:endParaRPr>
          </a:p>
        </p:txBody>
      </p:sp>
      <p:sp>
        <p:nvSpPr>
          <p:cNvPr id="423" name="Text Box 11"/>
          <p:cNvSpPr/>
          <p:nvPr/>
        </p:nvSpPr>
        <p:spPr>
          <a:xfrm>
            <a:off x="457200" y="4647960"/>
            <a:ext cx="8153280" cy="1312200"/>
          </a:xfrm>
          <a:prstGeom prst="rect">
            <a:avLst/>
          </a:prstGeom>
          <a:solidFill>
            <a:srgbClr val="FFFF66"/>
          </a:solid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The example does demonstrate, however, that: </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    </a:t>
            </a:r>
            <a:r>
              <a:rPr lang="en-US" sz="2000" b="0" u="none" strike="noStrike">
                <a:solidFill>
                  <a:srgbClr val="000000"/>
                </a:solidFill>
                <a:effectLst/>
                <a:uFillTx/>
                <a:latin typeface="Wingdings"/>
                <a:ea typeface="Wingdings"/>
              </a:rPr>
              <a:t></a:t>
            </a:r>
            <a:r>
              <a:rPr lang="en-US" sz="2000" b="0" u="none" strike="noStrike">
                <a:solidFill>
                  <a:srgbClr val="000000"/>
                </a:solidFill>
                <a:effectLst/>
                <a:uFillTx/>
                <a:latin typeface="Arial"/>
                <a:ea typeface="Arial"/>
              </a:rPr>
              <a:t>  Many alternatives are available for improving dependability </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    </a:t>
            </a:r>
            <a:r>
              <a:rPr lang="en-US" sz="2000" b="0" u="none" strike="noStrike">
                <a:solidFill>
                  <a:srgbClr val="000000"/>
                </a:solidFill>
                <a:effectLst/>
                <a:uFillTx/>
                <a:latin typeface="Wingdings"/>
                <a:ea typeface="Wingdings"/>
              </a:rPr>
              <a:t></a:t>
            </a:r>
            <a:r>
              <a:rPr lang="en-US" sz="2000" b="0" u="none" strike="noStrike">
                <a:solidFill>
                  <a:srgbClr val="000000"/>
                </a:solidFill>
                <a:effectLst/>
                <a:uFillTx/>
                <a:latin typeface="Arial"/>
                <a:ea typeface="Arial"/>
              </a:rPr>
              <a:t>  Proposed methods must be assessed through modeling</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    </a:t>
            </a:r>
            <a:r>
              <a:rPr lang="en-US" sz="2000" b="0" u="none" strike="noStrike">
                <a:solidFill>
                  <a:srgbClr val="000000"/>
                </a:solidFill>
                <a:effectLst/>
                <a:uFillTx/>
                <a:latin typeface="Wingdings"/>
                <a:ea typeface="Wingdings"/>
              </a:rPr>
              <a:t></a:t>
            </a:r>
            <a:r>
              <a:rPr lang="en-US" sz="2000" b="0" u="none" strike="noStrike">
                <a:solidFill>
                  <a:srgbClr val="000000"/>
                </a:solidFill>
                <a:effectLst/>
                <a:uFillTx/>
                <a:latin typeface="Arial"/>
                <a:ea typeface="Arial"/>
              </a:rPr>
              <a:t>  The most cost-effective solution may be far from obvious</a:t>
            </a:r>
            <a:endParaRPr lang="en-US" sz="2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4" name="Slide Number Placeholder 8"/>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1EBE46FD-AB91-46FF-854B-04C47599BD24}"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425"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426" name="PlaceHolder 1"/>
          <p:cNvSpPr>
            <a:spLocks noGrp="1"/>
          </p:cNvSpPr>
          <p:nvPr>
            <p:ph type="title"/>
          </p:nvPr>
        </p:nvSpPr>
        <p:spPr>
          <a:xfrm>
            <a:off x="685800" y="228600"/>
            <a:ext cx="7772400" cy="91440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000000"/>
                </a:solidFill>
                <a:effectLst/>
                <a:uFillTx/>
                <a:latin typeface="Arial"/>
                <a:ea typeface="Arial"/>
              </a:rPr>
              <a:t>1.3  Impairments to Dependability</a:t>
            </a:r>
            <a:endParaRPr lang="en-US" sz="3600" b="0" u="none" strike="noStrike">
              <a:solidFill>
                <a:srgbClr val="000000"/>
              </a:solidFill>
              <a:effectLst/>
              <a:uFillTx/>
              <a:latin typeface="Arial"/>
            </a:endParaRPr>
          </a:p>
        </p:txBody>
      </p:sp>
      <p:sp>
        <p:nvSpPr>
          <p:cNvPr id="427" name="Text Box 4"/>
          <p:cNvSpPr/>
          <p:nvPr/>
        </p:nvSpPr>
        <p:spPr>
          <a:xfrm rot="21169200">
            <a:off x="761760" y="3276000"/>
            <a:ext cx="1862280" cy="64260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FF0000"/>
                </a:solidFill>
                <a:effectLst/>
                <a:uFillTx/>
                <a:latin typeface="Stencil"/>
                <a:ea typeface="Arial"/>
              </a:rPr>
              <a:t>Error</a:t>
            </a:r>
            <a:endParaRPr lang="en-US" sz="3600" b="0" u="none" strike="noStrike">
              <a:solidFill>
                <a:srgbClr val="000000"/>
              </a:solidFill>
              <a:effectLst/>
              <a:uFillTx/>
              <a:latin typeface="Times New Roman"/>
            </a:endParaRPr>
          </a:p>
        </p:txBody>
      </p:sp>
      <p:sp>
        <p:nvSpPr>
          <p:cNvPr id="428" name="Text Box 5"/>
          <p:cNvSpPr/>
          <p:nvPr/>
        </p:nvSpPr>
        <p:spPr>
          <a:xfrm rot="2164200">
            <a:off x="6100560" y="4571280"/>
            <a:ext cx="2241000" cy="58140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FF0066"/>
                </a:solidFill>
                <a:effectLst/>
                <a:uFillTx/>
                <a:latin typeface="Tahoma"/>
              </a:rPr>
              <a:t>Malfunction</a:t>
            </a:r>
            <a:endParaRPr lang="en-US" sz="3200" b="0" u="none" strike="noStrike">
              <a:solidFill>
                <a:srgbClr val="000000"/>
              </a:solidFill>
              <a:effectLst/>
              <a:uFillTx/>
              <a:latin typeface="Times New Roman"/>
            </a:endParaRPr>
          </a:p>
        </p:txBody>
      </p:sp>
      <p:sp>
        <p:nvSpPr>
          <p:cNvPr id="429" name="Text Box 6"/>
          <p:cNvSpPr/>
          <p:nvPr/>
        </p:nvSpPr>
        <p:spPr>
          <a:xfrm rot="20839200">
            <a:off x="3660480" y="3047400"/>
            <a:ext cx="2545560" cy="58140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1" u="none" strike="noStrike">
                <a:solidFill>
                  <a:srgbClr val="D60093"/>
                </a:solidFill>
                <a:effectLst/>
                <a:uFillTx/>
                <a:latin typeface="Arial"/>
                <a:ea typeface="Arial"/>
              </a:rPr>
              <a:t>Degradation</a:t>
            </a:r>
            <a:endParaRPr lang="en-US" sz="3200" b="0" u="none" strike="noStrike">
              <a:solidFill>
                <a:srgbClr val="000000"/>
              </a:solidFill>
              <a:effectLst/>
              <a:uFillTx/>
              <a:latin typeface="Times New Roman"/>
            </a:endParaRPr>
          </a:p>
        </p:txBody>
      </p:sp>
      <p:sp>
        <p:nvSpPr>
          <p:cNvPr id="430" name="Text Box 7"/>
          <p:cNvSpPr/>
          <p:nvPr/>
        </p:nvSpPr>
        <p:spPr>
          <a:xfrm rot="19278000">
            <a:off x="917280" y="4723560"/>
            <a:ext cx="1844640" cy="70344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000" b="1" u="none" strike="noStrike">
                <a:solidFill>
                  <a:srgbClr val="FF6600"/>
                </a:solidFill>
                <a:effectLst/>
                <a:uFillTx/>
                <a:latin typeface="Arial"/>
                <a:ea typeface="Arial"/>
              </a:rPr>
              <a:t>Failure</a:t>
            </a:r>
            <a:endParaRPr lang="en-US" sz="4000" b="0" u="none" strike="noStrike">
              <a:solidFill>
                <a:srgbClr val="000000"/>
              </a:solidFill>
              <a:effectLst/>
              <a:uFillTx/>
              <a:latin typeface="Times New Roman"/>
            </a:endParaRPr>
          </a:p>
        </p:txBody>
      </p:sp>
      <p:sp>
        <p:nvSpPr>
          <p:cNvPr id="431" name="Text Box 8"/>
          <p:cNvSpPr/>
          <p:nvPr/>
        </p:nvSpPr>
        <p:spPr>
          <a:xfrm rot="2323800">
            <a:off x="2666160" y="1904760"/>
            <a:ext cx="1454040" cy="64260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u="none" strike="noStrike">
                <a:solidFill>
                  <a:srgbClr val="3333CC"/>
                </a:solidFill>
                <a:effectLst/>
                <a:uFillTx/>
                <a:latin typeface="Arial"/>
                <a:ea typeface="Arial"/>
              </a:rPr>
              <a:t>Fault</a:t>
            </a:r>
            <a:endParaRPr lang="en-US" sz="3600" b="0" u="none" strike="noStrike">
              <a:solidFill>
                <a:srgbClr val="000000"/>
              </a:solidFill>
              <a:effectLst/>
              <a:uFillTx/>
              <a:latin typeface="Times New Roman"/>
            </a:endParaRPr>
          </a:p>
        </p:txBody>
      </p:sp>
      <p:sp>
        <p:nvSpPr>
          <p:cNvPr id="432" name="Text Box 9"/>
          <p:cNvSpPr/>
          <p:nvPr/>
        </p:nvSpPr>
        <p:spPr>
          <a:xfrm rot="1305600">
            <a:off x="3125880" y="4647960"/>
            <a:ext cx="1735560" cy="58140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3399FF"/>
                </a:solidFill>
                <a:effectLst/>
                <a:uFillTx/>
                <a:latin typeface="Arial"/>
                <a:ea typeface="Arial"/>
              </a:rPr>
              <a:t>Intrusion</a:t>
            </a:r>
            <a:endParaRPr lang="en-US" sz="3200" b="0" u="none" strike="noStrike">
              <a:solidFill>
                <a:srgbClr val="000000"/>
              </a:solidFill>
              <a:effectLst/>
              <a:uFillTx/>
              <a:latin typeface="Times New Roman"/>
            </a:endParaRPr>
          </a:p>
        </p:txBody>
      </p:sp>
      <p:sp>
        <p:nvSpPr>
          <p:cNvPr id="433" name="Text Box 10"/>
          <p:cNvSpPr/>
          <p:nvPr/>
        </p:nvSpPr>
        <p:spPr>
          <a:xfrm rot="21035400">
            <a:off x="4498560" y="1371600"/>
            <a:ext cx="1532520" cy="58140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1" u="none" strike="noStrike">
                <a:solidFill>
                  <a:srgbClr val="CC3300"/>
                </a:solidFill>
                <a:effectLst/>
                <a:uFillTx/>
                <a:latin typeface="Arial"/>
                <a:ea typeface="Arial"/>
              </a:rPr>
              <a:t>Hazard</a:t>
            </a:r>
            <a:endParaRPr lang="en-US" sz="3200" b="0" u="none" strike="noStrike">
              <a:solidFill>
                <a:srgbClr val="000000"/>
              </a:solidFill>
              <a:effectLst/>
              <a:uFillTx/>
              <a:latin typeface="Times New Roman"/>
            </a:endParaRPr>
          </a:p>
        </p:txBody>
      </p:sp>
      <p:sp>
        <p:nvSpPr>
          <p:cNvPr id="434" name="Text Box 11"/>
          <p:cNvSpPr/>
          <p:nvPr/>
        </p:nvSpPr>
        <p:spPr>
          <a:xfrm rot="19860000">
            <a:off x="7166520" y="3276000"/>
            <a:ext cx="1266120" cy="52020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09900"/>
                </a:solidFill>
                <a:effectLst/>
                <a:uFillTx/>
                <a:latin typeface="Arial"/>
                <a:ea typeface="Arial"/>
              </a:rPr>
              <a:t>Defect</a:t>
            </a:r>
            <a:endParaRPr lang="en-US" sz="2800" b="0" u="none" strike="noStrike">
              <a:solidFill>
                <a:srgbClr val="000000"/>
              </a:solidFill>
              <a:effectLst/>
              <a:uFillTx/>
              <a:latin typeface="Times New Roman"/>
            </a:endParaRPr>
          </a:p>
        </p:txBody>
      </p:sp>
      <p:sp>
        <p:nvSpPr>
          <p:cNvPr id="435" name="Text Box 12"/>
          <p:cNvSpPr/>
          <p:nvPr/>
        </p:nvSpPr>
        <p:spPr>
          <a:xfrm rot="18763800">
            <a:off x="968040" y="1928520"/>
            <a:ext cx="1081800" cy="58140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1" u="none" strike="noStrike">
                <a:solidFill>
                  <a:srgbClr val="008000"/>
                </a:solidFill>
                <a:effectLst/>
                <a:uFillTx/>
                <a:latin typeface="Arial"/>
                <a:ea typeface="Arial"/>
              </a:rPr>
              <a:t>Flaw</a:t>
            </a:r>
            <a:endParaRPr lang="en-US" sz="3200" b="0" u="none" strike="noStrike">
              <a:solidFill>
                <a:srgbClr val="000000"/>
              </a:solidFill>
              <a:effectLst/>
              <a:uFillTx/>
              <a:latin typeface="Times New Roman"/>
            </a:endParaRPr>
          </a:p>
        </p:txBody>
      </p:sp>
      <p:sp>
        <p:nvSpPr>
          <p:cNvPr id="436" name="Text Box 13"/>
          <p:cNvSpPr/>
          <p:nvPr/>
        </p:nvSpPr>
        <p:spPr>
          <a:xfrm rot="2100000">
            <a:off x="6936120" y="1752120"/>
            <a:ext cx="870840" cy="52020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CC00FF"/>
                </a:solidFill>
                <a:effectLst/>
                <a:uFillTx/>
                <a:latin typeface="Arial"/>
                <a:ea typeface="Arial"/>
              </a:rPr>
              <a:t>Bug</a:t>
            </a:r>
            <a:endParaRPr lang="en-US" sz="2800" b="0" u="none" strike="noStrike">
              <a:solidFill>
                <a:srgbClr val="000000"/>
              </a:solidFill>
              <a:effectLst/>
              <a:uFillTx/>
              <a:latin typeface="Times New Roman"/>
            </a:endParaRPr>
          </a:p>
        </p:txBody>
      </p:sp>
      <p:sp>
        <p:nvSpPr>
          <p:cNvPr id="437" name="Text Box 14"/>
          <p:cNvSpPr/>
          <p:nvPr/>
        </p:nvSpPr>
        <p:spPr>
          <a:xfrm rot="21228600">
            <a:off x="5336280" y="4952880"/>
            <a:ext cx="1190160" cy="58140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A50021"/>
                </a:solidFill>
                <a:effectLst/>
                <a:uFillTx/>
                <a:latin typeface="Tahoma"/>
              </a:rPr>
              <a:t>Crash</a:t>
            </a:r>
            <a:endParaRPr lang="en-US" sz="3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8" name="Slide Number Placeholder 8"/>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77E21ECF-B6F5-4965-9EF8-D33E01C55E24}"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439"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440" name="PlaceHolder 1"/>
          <p:cNvSpPr>
            <a:spLocks noGrp="1"/>
          </p:cNvSpPr>
          <p:nvPr>
            <p:ph type="title"/>
          </p:nvPr>
        </p:nvSpPr>
        <p:spPr>
          <a:xfrm>
            <a:off x="685800" y="228600"/>
            <a:ext cx="7772400" cy="91440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ea typeface="Arial"/>
              </a:rPr>
              <a:t>The Fault-Error-Failure Cycle</a:t>
            </a:r>
            <a:endParaRPr lang="en-US" sz="3200" b="0" u="none" strike="noStrike">
              <a:solidFill>
                <a:srgbClr val="000000"/>
              </a:solidFill>
              <a:effectLst/>
              <a:uFillTx/>
              <a:latin typeface="Arial"/>
            </a:endParaRPr>
          </a:p>
        </p:txBody>
      </p:sp>
      <p:sp>
        <p:nvSpPr>
          <p:cNvPr id="441" name="Text Box 4"/>
          <p:cNvSpPr/>
          <p:nvPr/>
        </p:nvSpPr>
        <p:spPr>
          <a:xfrm>
            <a:off x="1523880" y="4572000"/>
            <a:ext cx="670572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Schematic diagram of the Newcastle hierarchical model and the impairments within one level.</a:t>
            </a:r>
            <a:endParaRPr lang="en-US" sz="2000" b="0" u="none" strike="noStrike">
              <a:solidFill>
                <a:srgbClr val="000000"/>
              </a:solidFill>
              <a:effectLst/>
              <a:uFillTx/>
              <a:latin typeface="Times New Roman"/>
            </a:endParaRPr>
          </a:p>
        </p:txBody>
      </p:sp>
      <p:sp>
        <p:nvSpPr>
          <p:cNvPr id="442" name="Rectangle 5"/>
          <p:cNvSpPr/>
          <p:nvPr/>
        </p:nvSpPr>
        <p:spPr>
          <a:xfrm>
            <a:off x="0" y="2787480"/>
            <a:ext cx="9144000" cy="360"/>
          </a:xfrm>
          <a:prstGeom prst="rect">
            <a:avLst/>
          </a:prstGeom>
          <a:noFill/>
          <a:ln w="38160">
            <a:noFill/>
          </a:ln>
        </p:spPr>
        <p:style>
          <a:lnRef idx="0"/>
          <a:fillRef idx="0"/>
          <a:effectRef idx="0"/>
          <a:fontRef idx="minor"/>
        </p:style>
        <p:txBody>
          <a:bodyPr wrap="none" lIns="90000" tIns="-46440" rIns="90000" bIns="-4644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443" name="AutoShape 6"/>
          <p:cNvSpPr/>
          <p:nvPr/>
        </p:nvSpPr>
        <p:spPr>
          <a:xfrm>
            <a:off x="1676160" y="1447560"/>
            <a:ext cx="6096240" cy="2805120"/>
          </a:xfrm>
          <a:prstGeom prst="rect">
            <a:avLst/>
          </a:prstGeom>
          <a:noFill/>
          <a:ln w="38160">
            <a:noFill/>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pic>
        <p:nvPicPr>
          <p:cNvPr id="444" name="Picture 7"/>
          <p:cNvPicPr/>
          <p:nvPr/>
        </p:nvPicPr>
        <p:blipFill>
          <a:blip r:embed="rId1"/>
          <a:stretch/>
        </p:blipFill>
        <p:spPr>
          <a:xfrm>
            <a:off x="1776240" y="1447560"/>
            <a:ext cx="5581800" cy="2805120"/>
          </a:xfrm>
          <a:prstGeom prst="rect">
            <a:avLst/>
          </a:prstGeom>
          <a:noFill/>
          <a:ln w="38160">
            <a:noFill/>
          </a:ln>
        </p:spPr>
      </p:pic>
      <p:grpSp>
        <p:nvGrpSpPr>
          <p:cNvPr id="445" name="Group 8"/>
          <p:cNvGrpSpPr/>
          <p:nvPr/>
        </p:nvGrpSpPr>
        <p:grpSpPr>
          <a:xfrm>
            <a:off x="609480" y="1828800"/>
            <a:ext cx="1828800" cy="825120"/>
            <a:chOff x="609480" y="1828800"/>
            <a:chExt cx="1828800" cy="825120"/>
          </a:xfrm>
        </p:grpSpPr>
        <p:sp>
          <p:nvSpPr>
            <p:cNvPr id="446" name="Text Box 9"/>
            <p:cNvSpPr/>
            <p:nvPr/>
          </p:nvSpPr>
          <p:spPr>
            <a:xfrm>
              <a:off x="609480" y="1828800"/>
              <a:ext cx="1447560" cy="8251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FF0000"/>
                  </a:solidFill>
                  <a:effectLst/>
                  <a:uFillTx/>
                  <a:latin typeface="Arial"/>
                  <a:ea typeface="Arial"/>
                </a:rPr>
                <a:t>Includes both components and design</a:t>
              </a:r>
              <a:endParaRPr lang="en-US" sz="1600" b="0" u="none" strike="noStrike">
                <a:solidFill>
                  <a:srgbClr val="000000"/>
                </a:solidFill>
                <a:effectLst/>
                <a:uFillTx/>
                <a:latin typeface="Times New Roman"/>
              </a:endParaRPr>
            </a:p>
          </p:txBody>
        </p:sp>
        <p:sp>
          <p:nvSpPr>
            <p:cNvPr id="447" name="Line 10"/>
            <p:cNvSpPr/>
            <p:nvPr/>
          </p:nvSpPr>
          <p:spPr>
            <a:xfrm>
              <a:off x="1904760" y="2286000"/>
              <a:ext cx="533520" cy="0"/>
            </a:xfrm>
            <a:prstGeom prst="line">
              <a:avLst/>
            </a:prstGeom>
            <a:ln w="9360">
              <a:solidFill>
                <a:srgbClr val="FF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grpSp>
        <p:nvGrpSpPr>
          <p:cNvPr id="448" name="Group 11"/>
          <p:cNvGrpSpPr/>
          <p:nvPr/>
        </p:nvGrpSpPr>
        <p:grpSpPr>
          <a:xfrm>
            <a:off x="6858000" y="2057400"/>
            <a:ext cx="2133360" cy="1054080"/>
            <a:chOff x="6858000" y="2057400"/>
            <a:chExt cx="2133360" cy="1054080"/>
          </a:xfrm>
        </p:grpSpPr>
        <p:sp>
          <p:nvSpPr>
            <p:cNvPr id="449" name="AutoShape 12"/>
            <p:cNvSpPr/>
            <p:nvPr/>
          </p:nvSpPr>
          <p:spPr>
            <a:xfrm>
              <a:off x="7391160" y="2514600"/>
              <a:ext cx="609840" cy="457200"/>
            </a:xfrm>
            <a:prstGeom prst="flowChartDelay">
              <a:avLst/>
            </a:prstGeom>
            <a:noFill/>
            <a:ln w="9360">
              <a:solidFill>
                <a:srgbClr val="000000"/>
              </a:solidFill>
              <a:miter/>
            </a:ln>
          </p:spPr>
          <p:style>
            <a:lnRef idx="0"/>
            <a:fillRef idx="0"/>
            <a:effectRef idx="0"/>
            <a:fontRef idx="minor"/>
          </p:style>
          <p:txBody>
            <a:bodyPr wrap="none"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450" name="Line 13"/>
            <p:cNvSpPr/>
            <p:nvPr/>
          </p:nvSpPr>
          <p:spPr>
            <a:xfrm>
              <a:off x="7086600" y="2590560"/>
              <a:ext cx="30456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51" name="Line 14"/>
            <p:cNvSpPr/>
            <p:nvPr/>
          </p:nvSpPr>
          <p:spPr>
            <a:xfrm>
              <a:off x="7086600" y="2895480"/>
              <a:ext cx="30456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52" name="Line 15"/>
            <p:cNvSpPr/>
            <p:nvPr/>
          </p:nvSpPr>
          <p:spPr>
            <a:xfrm>
              <a:off x="8001000" y="2743200"/>
              <a:ext cx="30456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53" name="Text Box 16"/>
            <p:cNvSpPr/>
            <p:nvPr/>
          </p:nvSpPr>
          <p:spPr>
            <a:xfrm>
              <a:off x="6859440" y="2743200"/>
              <a:ext cx="307800" cy="36828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0</a:t>
              </a:r>
              <a:endParaRPr lang="en-US" sz="1800" b="0" u="none" strike="noStrike">
                <a:solidFill>
                  <a:srgbClr val="000000"/>
                </a:solidFill>
                <a:effectLst/>
                <a:uFillTx/>
                <a:latin typeface="Times New Roman"/>
              </a:endParaRPr>
            </a:p>
          </p:txBody>
        </p:sp>
        <p:sp>
          <p:nvSpPr>
            <p:cNvPr id="454" name="Text Box 17"/>
            <p:cNvSpPr/>
            <p:nvPr/>
          </p:nvSpPr>
          <p:spPr>
            <a:xfrm>
              <a:off x="8154720" y="2743200"/>
              <a:ext cx="307800" cy="36828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0</a:t>
              </a:r>
              <a:endParaRPr lang="en-US" sz="1800" b="0" u="none" strike="noStrike">
                <a:solidFill>
                  <a:srgbClr val="000000"/>
                </a:solidFill>
                <a:effectLst/>
                <a:uFillTx/>
                <a:latin typeface="Times New Roman"/>
              </a:endParaRPr>
            </a:p>
          </p:txBody>
        </p:sp>
        <p:sp>
          <p:nvSpPr>
            <p:cNvPr id="455" name="Text Box 18"/>
            <p:cNvSpPr/>
            <p:nvPr/>
          </p:nvSpPr>
          <p:spPr>
            <a:xfrm>
              <a:off x="6859440" y="2286000"/>
              <a:ext cx="307800" cy="36828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FF0000"/>
                  </a:solidFill>
                  <a:effectLst/>
                  <a:uFillTx/>
                  <a:latin typeface="Arial"/>
                  <a:ea typeface="Arial"/>
                </a:rPr>
                <a:t>0</a:t>
              </a:r>
              <a:endParaRPr lang="en-US" sz="1800" b="0" u="none" strike="noStrike">
                <a:solidFill>
                  <a:srgbClr val="000000"/>
                </a:solidFill>
                <a:effectLst/>
                <a:uFillTx/>
                <a:latin typeface="Times New Roman"/>
              </a:endParaRPr>
            </a:p>
          </p:txBody>
        </p:sp>
        <p:sp>
          <p:nvSpPr>
            <p:cNvPr id="456" name="Text Box 19"/>
            <p:cNvSpPr/>
            <p:nvPr/>
          </p:nvSpPr>
          <p:spPr>
            <a:xfrm>
              <a:off x="6858000" y="2057400"/>
              <a:ext cx="761760" cy="3376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FF0000"/>
                  </a:solidFill>
                  <a:effectLst/>
                  <a:uFillTx/>
                  <a:latin typeface="Arial"/>
                  <a:ea typeface="Arial"/>
                </a:rPr>
                <a:t>Fault</a:t>
              </a:r>
              <a:endParaRPr lang="en-US" sz="1600" b="0" u="none" strike="noStrike">
                <a:solidFill>
                  <a:srgbClr val="000000"/>
                </a:solidFill>
                <a:effectLst/>
                <a:uFillTx/>
                <a:latin typeface="Times New Roman"/>
              </a:endParaRPr>
            </a:p>
          </p:txBody>
        </p:sp>
        <p:sp>
          <p:nvSpPr>
            <p:cNvPr id="457" name="Text Box 20"/>
            <p:cNvSpPr/>
            <p:nvPr/>
          </p:nvSpPr>
          <p:spPr>
            <a:xfrm>
              <a:off x="7924680" y="2057400"/>
              <a:ext cx="1066680" cy="58140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Arial"/>
                </a:rPr>
                <a:t>Correct</a:t>
              </a:r>
              <a:endParaRPr lang="en-US" sz="16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Arial"/>
                </a:rPr>
                <a:t>signal</a:t>
              </a:r>
              <a:endParaRPr lang="en-US" sz="1600" b="0" u="none" strike="noStrike">
                <a:solidFill>
                  <a:srgbClr val="000000"/>
                </a:solidFill>
                <a:effectLst/>
                <a:uFillTx/>
                <a:latin typeface="Times New Roman"/>
              </a:endParaRPr>
            </a:p>
          </p:txBody>
        </p:sp>
      </p:grpSp>
      <p:grpSp>
        <p:nvGrpSpPr>
          <p:cNvPr id="458" name="Group 21"/>
          <p:cNvGrpSpPr/>
          <p:nvPr/>
        </p:nvGrpSpPr>
        <p:grpSpPr>
          <a:xfrm>
            <a:off x="7619760" y="2743200"/>
            <a:ext cx="1067040" cy="1510920"/>
            <a:chOff x="7619760" y="2743200"/>
            <a:chExt cx="1067040" cy="1510920"/>
          </a:xfrm>
        </p:grpSpPr>
        <p:sp>
          <p:nvSpPr>
            <p:cNvPr id="459" name="Line 22"/>
            <p:cNvSpPr/>
            <p:nvPr/>
          </p:nvSpPr>
          <p:spPr>
            <a:xfrm>
              <a:off x="7619760" y="2743200"/>
              <a:ext cx="0" cy="99036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60" name="Text Box 23"/>
            <p:cNvSpPr/>
            <p:nvPr/>
          </p:nvSpPr>
          <p:spPr>
            <a:xfrm>
              <a:off x="7619760" y="3429000"/>
              <a:ext cx="1067040" cy="8251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Arial"/>
                </a:rPr>
                <a:t>Replaced with NAND?</a:t>
              </a:r>
              <a:endParaRPr lang="en-US" sz="1600" b="0" u="none" strike="noStrike">
                <a:solidFill>
                  <a:srgbClr val="000000"/>
                </a:solidFill>
                <a:effectLst/>
                <a:uFillTx/>
                <a:latin typeface="Times New Roman"/>
              </a:endParaRPr>
            </a:p>
          </p:txBody>
        </p:sp>
      </p:grpSp>
      <p:sp>
        <p:nvSpPr>
          <p:cNvPr id="461" name="Rectangle 24"/>
          <p:cNvSpPr/>
          <p:nvPr/>
        </p:nvSpPr>
        <p:spPr>
          <a:xfrm>
            <a:off x="761760" y="3657600"/>
            <a:ext cx="1219320" cy="380880"/>
          </a:xfrm>
          <a:prstGeom prst="rect">
            <a:avLst/>
          </a:prstGeom>
          <a:solidFill>
            <a:srgbClr val="66FF66"/>
          </a:solidFill>
          <a:ln w="38160">
            <a:noFill/>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Fig. 1.3</a:t>
            </a:r>
            <a:endParaRPr lang="en-US" sz="2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2" name="Slide Number Placeholder 8"/>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224EB302-C30C-41E1-97E0-41CCD174A7C0}"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463"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464" name="PlaceHolder 1"/>
          <p:cNvSpPr>
            <a:spLocks noGrp="1"/>
          </p:cNvSpPr>
          <p:nvPr>
            <p:ph type="title"/>
          </p:nvPr>
        </p:nvSpPr>
        <p:spPr>
          <a:xfrm>
            <a:off x="685800" y="228600"/>
            <a:ext cx="7772400" cy="91440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ea typeface="Arial"/>
              </a:rPr>
              <a:t>The Four-Universe Model</a:t>
            </a:r>
            <a:endParaRPr lang="en-US" sz="3200" b="0" u="none" strike="noStrike">
              <a:solidFill>
                <a:srgbClr val="000000"/>
              </a:solidFill>
              <a:effectLst/>
              <a:uFillTx/>
              <a:latin typeface="Arial"/>
            </a:endParaRPr>
          </a:p>
        </p:txBody>
      </p:sp>
      <p:sp>
        <p:nvSpPr>
          <p:cNvPr id="465" name="Text Box 4"/>
          <p:cNvSpPr/>
          <p:nvPr/>
        </p:nvSpPr>
        <p:spPr>
          <a:xfrm>
            <a:off x="1676160" y="5029200"/>
            <a:ext cx="586764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Cause-effect diagram for Avižienis’ four-universe model of impairments to dependability.</a:t>
            </a:r>
            <a:endParaRPr lang="en-US" sz="2000" b="0" u="none" strike="noStrike">
              <a:solidFill>
                <a:srgbClr val="000000"/>
              </a:solidFill>
              <a:effectLst/>
              <a:uFillTx/>
              <a:latin typeface="Times New Roman"/>
            </a:endParaRPr>
          </a:p>
        </p:txBody>
      </p:sp>
      <p:sp>
        <p:nvSpPr>
          <p:cNvPr id="466" name="Rectangle 5"/>
          <p:cNvSpPr/>
          <p:nvPr/>
        </p:nvSpPr>
        <p:spPr>
          <a:xfrm>
            <a:off x="0" y="2787480"/>
            <a:ext cx="9144000" cy="360"/>
          </a:xfrm>
          <a:prstGeom prst="rect">
            <a:avLst/>
          </a:prstGeom>
          <a:noFill/>
          <a:ln w="38160">
            <a:noFill/>
          </a:ln>
        </p:spPr>
        <p:style>
          <a:lnRef idx="0"/>
          <a:fillRef idx="0"/>
          <a:effectRef idx="0"/>
          <a:fontRef idx="minor"/>
        </p:style>
        <p:txBody>
          <a:bodyPr wrap="none" lIns="90000" tIns="-46440" rIns="90000" bIns="-4644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467" name="Rectangle 6"/>
          <p:cNvSpPr/>
          <p:nvPr/>
        </p:nvSpPr>
        <p:spPr>
          <a:xfrm>
            <a:off x="0" y="2539800"/>
            <a:ext cx="9144000" cy="360"/>
          </a:xfrm>
          <a:prstGeom prst="rect">
            <a:avLst/>
          </a:prstGeom>
          <a:noFill/>
          <a:ln w="38160">
            <a:noFill/>
          </a:ln>
        </p:spPr>
        <p:style>
          <a:lnRef idx="0"/>
          <a:fillRef idx="0"/>
          <a:effectRef idx="0"/>
          <a:fontRef idx="minor"/>
        </p:style>
        <p:txBody>
          <a:bodyPr wrap="none" lIns="90000" tIns="-46440" rIns="90000" bIns="-4644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pSp>
        <p:nvGrpSpPr>
          <p:cNvPr id="468" name="Group 7"/>
          <p:cNvGrpSpPr/>
          <p:nvPr/>
        </p:nvGrpSpPr>
        <p:grpSpPr>
          <a:xfrm>
            <a:off x="1828800" y="1295280"/>
            <a:ext cx="5562360" cy="3546360"/>
            <a:chOff x="1828800" y="1295280"/>
            <a:chExt cx="5562360" cy="3546360"/>
          </a:xfrm>
        </p:grpSpPr>
        <p:sp>
          <p:nvSpPr>
            <p:cNvPr id="469" name="AutoShape 8"/>
            <p:cNvSpPr/>
            <p:nvPr/>
          </p:nvSpPr>
          <p:spPr>
            <a:xfrm>
              <a:off x="1828800" y="1295280"/>
              <a:ext cx="5562360" cy="3546360"/>
            </a:xfrm>
            <a:prstGeom prst="rect">
              <a:avLst/>
            </a:prstGeom>
            <a:noFill/>
            <a:ln w="38160">
              <a:noFill/>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pic>
          <p:nvPicPr>
            <p:cNvPr id="470" name="Picture 9"/>
            <p:cNvPicPr/>
            <p:nvPr/>
          </p:nvPicPr>
          <p:blipFill>
            <a:blip r:embed="rId1"/>
            <a:stretch/>
          </p:blipFill>
          <p:spPr>
            <a:xfrm>
              <a:off x="1919880" y="1295280"/>
              <a:ext cx="5092560" cy="3546360"/>
            </a:xfrm>
            <a:prstGeom prst="rect">
              <a:avLst/>
            </a:prstGeom>
            <a:noFill/>
            <a:ln w="38160">
              <a:noFill/>
            </a:ln>
          </p:spPr>
        </p:pic>
      </p:grpSp>
      <p:sp>
        <p:nvSpPr>
          <p:cNvPr id="471" name="Rectangle 10"/>
          <p:cNvSpPr/>
          <p:nvPr/>
        </p:nvSpPr>
        <p:spPr>
          <a:xfrm>
            <a:off x="761760" y="4114800"/>
            <a:ext cx="1219320" cy="380880"/>
          </a:xfrm>
          <a:prstGeom prst="rect">
            <a:avLst/>
          </a:prstGeom>
          <a:solidFill>
            <a:srgbClr val="66FF66"/>
          </a:solidFill>
          <a:ln w="38160">
            <a:noFill/>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Fig. 1.4</a:t>
            </a:r>
            <a:endParaRPr lang="en-US" sz="2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2" name="Slide Number Placeholder 8"/>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3D51B4C3-7F7C-47E1-8D1B-8F07750F137F}"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473"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474" name="PlaceHolder 1"/>
          <p:cNvSpPr>
            <a:spLocks noGrp="1"/>
          </p:cNvSpPr>
          <p:nvPr>
            <p:ph type="title"/>
          </p:nvPr>
        </p:nvSpPr>
        <p:spPr>
          <a:xfrm>
            <a:off x="685800" y="228600"/>
            <a:ext cx="7772400" cy="91440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ea typeface="Arial"/>
              </a:rPr>
              <a:t>Unrolling the Fault-Error-Failure Cycle</a:t>
            </a:r>
            <a:endParaRPr lang="en-US" sz="3200" b="0" u="none" strike="noStrike">
              <a:solidFill>
                <a:srgbClr val="000000"/>
              </a:solidFill>
              <a:effectLst/>
              <a:uFillTx/>
              <a:latin typeface="Arial"/>
            </a:endParaRPr>
          </a:p>
        </p:txBody>
      </p:sp>
      <p:sp>
        <p:nvSpPr>
          <p:cNvPr id="475" name="Text Box 4"/>
          <p:cNvSpPr/>
          <p:nvPr/>
        </p:nvSpPr>
        <p:spPr>
          <a:xfrm>
            <a:off x="3352680" y="5105160"/>
            <a:ext cx="556272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Cause-effect diagram for an extended six-level view of impairments to dependability.</a:t>
            </a:r>
            <a:endParaRPr lang="en-US" sz="2000" b="0" u="none" strike="noStrike">
              <a:solidFill>
                <a:srgbClr val="000000"/>
              </a:solidFill>
              <a:effectLst/>
              <a:uFillTx/>
              <a:latin typeface="Times New Roman"/>
            </a:endParaRPr>
          </a:p>
        </p:txBody>
      </p:sp>
      <p:sp>
        <p:nvSpPr>
          <p:cNvPr id="476" name="Rectangle 5"/>
          <p:cNvSpPr/>
          <p:nvPr/>
        </p:nvSpPr>
        <p:spPr>
          <a:xfrm>
            <a:off x="0" y="2787480"/>
            <a:ext cx="9144000" cy="360"/>
          </a:xfrm>
          <a:prstGeom prst="rect">
            <a:avLst/>
          </a:prstGeom>
          <a:noFill/>
          <a:ln w="38160">
            <a:noFill/>
          </a:ln>
        </p:spPr>
        <p:style>
          <a:lnRef idx="0"/>
          <a:fillRef idx="0"/>
          <a:effectRef idx="0"/>
          <a:fontRef idx="minor"/>
        </p:style>
        <p:txBody>
          <a:bodyPr wrap="none" lIns="90000" tIns="-46440" rIns="90000" bIns="-4644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477" name="Rectangle 6"/>
          <p:cNvSpPr/>
          <p:nvPr/>
        </p:nvSpPr>
        <p:spPr>
          <a:xfrm>
            <a:off x="0" y="2539800"/>
            <a:ext cx="9144000" cy="360"/>
          </a:xfrm>
          <a:prstGeom prst="rect">
            <a:avLst/>
          </a:prstGeom>
          <a:noFill/>
          <a:ln w="38160">
            <a:noFill/>
          </a:ln>
        </p:spPr>
        <p:style>
          <a:lnRef idx="0"/>
          <a:fillRef idx="0"/>
          <a:effectRef idx="0"/>
          <a:fontRef idx="minor"/>
        </p:style>
        <p:txBody>
          <a:bodyPr wrap="none" lIns="90000" tIns="-46440" rIns="90000" bIns="-4644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478" name="Rectangle 7"/>
          <p:cNvSpPr/>
          <p:nvPr/>
        </p:nvSpPr>
        <p:spPr>
          <a:xfrm>
            <a:off x="0" y="2057400"/>
            <a:ext cx="9144000" cy="360"/>
          </a:xfrm>
          <a:prstGeom prst="rect">
            <a:avLst/>
          </a:prstGeom>
          <a:noFill/>
          <a:ln w="38160">
            <a:noFill/>
          </a:ln>
        </p:spPr>
        <p:style>
          <a:lnRef idx="0"/>
          <a:fillRef idx="0"/>
          <a:effectRef idx="0"/>
          <a:fontRef idx="minor"/>
        </p:style>
        <p:txBody>
          <a:bodyPr wrap="none" lIns="90000" tIns="-46440" rIns="90000" bIns="-4644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pSp>
        <p:nvGrpSpPr>
          <p:cNvPr id="479" name="Group 8"/>
          <p:cNvGrpSpPr/>
          <p:nvPr/>
        </p:nvGrpSpPr>
        <p:grpSpPr>
          <a:xfrm>
            <a:off x="152280" y="1981080"/>
            <a:ext cx="3429000" cy="1752480"/>
            <a:chOff x="152280" y="1981080"/>
            <a:chExt cx="3429000" cy="1752480"/>
          </a:xfrm>
        </p:grpSpPr>
        <p:sp>
          <p:nvSpPr>
            <p:cNvPr id="480" name="AutoShape 9"/>
            <p:cNvSpPr/>
            <p:nvPr/>
          </p:nvSpPr>
          <p:spPr>
            <a:xfrm>
              <a:off x="152280" y="1981080"/>
              <a:ext cx="3429000" cy="1752480"/>
            </a:xfrm>
            <a:prstGeom prst="rect">
              <a:avLst/>
            </a:prstGeom>
            <a:noFill/>
            <a:ln w="38160">
              <a:noFill/>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pic>
          <p:nvPicPr>
            <p:cNvPr id="481" name="Picture 10"/>
            <p:cNvPicPr/>
            <p:nvPr/>
          </p:nvPicPr>
          <p:blipFill>
            <a:blip r:embed="rId1"/>
            <a:stretch/>
          </p:blipFill>
          <p:spPr>
            <a:xfrm>
              <a:off x="208440" y="1981080"/>
              <a:ext cx="3139560" cy="1752480"/>
            </a:xfrm>
            <a:prstGeom prst="rect">
              <a:avLst/>
            </a:prstGeom>
            <a:noFill/>
            <a:ln w="38160">
              <a:noFill/>
            </a:ln>
          </p:spPr>
        </p:pic>
      </p:grpSp>
      <p:grpSp>
        <p:nvGrpSpPr>
          <p:cNvPr id="482" name="Group 11"/>
          <p:cNvGrpSpPr/>
          <p:nvPr/>
        </p:nvGrpSpPr>
        <p:grpSpPr>
          <a:xfrm>
            <a:off x="3429000" y="1218960"/>
            <a:ext cx="5715000" cy="3767040"/>
            <a:chOff x="3429000" y="1218960"/>
            <a:chExt cx="5715000" cy="3767040"/>
          </a:xfrm>
        </p:grpSpPr>
        <p:grpSp>
          <p:nvGrpSpPr>
            <p:cNvPr id="483" name="Group 12"/>
            <p:cNvGrpSpPr/>
            <p:nvPr/>
          </p:nvGrpSpPr>
          <p:grpSpPr>
            <a:xfrm>
              <a:off x="3429000" y="1218960"/>
              <a:ext cx="5715000" cy="3767040"/>
              <a:chOff x="3429000" y="1218960"/>
              <a:chExt cx="5715000" cy="3767040"/>
            </a:xfrm>
          </p:grpSpPr>
          <p:sp>
            <p:nvSpPr>
              <p:cNvPr id="484" name="AutoShape 13"/>
              <p:cNvSpPr/>
              <p:nvPr/>
            </p:nvSpPr>
            <p:spPr>
              <a:xfrm>
                <a:off x="3429000" y="1218960"/>
                <a:ext cx="5715000" cy="3767040"/>
              </a:xfrm>
              <a:prstGeom prst="rect">
                <a:avLst/>
              </a:prstGeom>
              <a:noFill/>
              <a:ln w="38160">
                <a:noFill/>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pic>
            <p:nvPicPr>
              <p:cNvPr id="485" name="Picture 14"/>
              <p:cNvPicPr/>
              <p:nvPr/>
            </p:nvPicPr>
            <p:blipFill>
              <a:blip r:embed="rId2"/>
              <a:stretch/>
            </p:blipFill>
            <p:spPr>
              <a:xfrm>
                <a:off x="3491640" y="1375560"/>
                <a:ext cx="5273280" cy="3504240"/>
              </a:xfrm>
              <a:prstGeom prst="rect">
                <a:avLst/>
              </a:prstGeom>
              <a:noFill/>
              <a:ln w="38160">
                <a:noFill/>
              </a:ln>
            </p:spPr>
          </p:pic>
        </p:grpSp>
        <p:sp>
          <p:nvSpPr>
            <p:cNvPr id="486" name="Text Box 15"/>
            <p:cNvSpPr/>
            <p:nvPr/>
          </p:nvSpPr>
          <p:spPr>
            <a:xfrm>
              <a:off x="4800600" y="1676160"/>
              <a:ext cx="1143000" cy="337680"/>
            </a:xfrm>
            <a:prstGeom prst="rect">
              <a:avLst/>
            </a:prstGeom>
            <a:solidFill>
              <a:srgbClr val="FFFFFF"/>
            </a:solid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Times New Roman"/>
                </a:rPr>
                <a:t>Device</a:t>
              </a:r>
              <a:endParaRPr lang="en-US" sz="1600" b="0" u="none" strike="noStrike">
                <a:solidFill>
                  <a:srgbClr val="000000"/>
                </a:solidFill>
                <a:effectLst/>
                <a:uFillTx/>
                <a:latin typeface="Times New Roman"/>
              </a:endParaRPr>
            </a:p>
          </p:txBody>
        </p:sp>
      </p:grpSp>
      <p:sp>
        <p:nvSpPr>
          <p:cNvPr id="487" name="Rectangle 16"/>
          <p:cNvSpPr/>
          <p:nvPr/>
        </p:nvSpPr>
        <p:spPr>
          <a:xfrm>
            <a:off x="2133360" y="4572000"/>
            <a:ext cx="1219320" cy="380880"/>
          </a:xfrm>
          <a:prstGeom prst="rect">
            <a:avLst/>
          </a:prstGeom>
          <a:solidFill>
            <a:srgbClr val="66FF66"/>
          </a:solidFill>
          <a:ln w="38160">
            <a:noFill/>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Fig. 1.5</a:t>
            </a:r>
            <a:endParaRPr lang="en-US" sz="2000" b="0" u="none" strike="noStrike">
              <a:solidFill>
                <a:srgbClr val="000000"/>
              </a:solidFill>
              <a:effectLst/>
              <a:uFillTx/>
              <a:latin typeface="Times New Roman"/>
            </a:endParaRPr>
          </a:p>
        </p:txBody>
      </p:sp>
      <p:sp>
        <p:nvSpPr>
          <p:cNvPr id="488" name="Rectangle 17"/>
          <p:cNvSpPr/>
          <p:nvPr/>
        </p:nvSpPr>
        <p:spPr>
          <a:xfrm>
            <a:off x="4724280" y="2819160"/>
            <a:ext cx="1295280" cy="304920"/>
          </a:xfrm>
          <a:prstGeom prst="rect">
            <a:avLst/>
          </a:prstGeom>
          <a:solidFill>
            <a:srgbClr val="FFFFFF"/>
          </a:solidFill>
          <a:ln w="38160">
            <a:noFill/>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Times New Roman"/>
              </a:rPr>
              <a:t>State</a:t>
            </a:r>
            <a:endParaRPr lang="en-US" sz="16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9" name="Slide Number Placeholder 5"/>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9DFB72DF-6C23-4CDD-9899-16080294BFBF}"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490"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491" name="PlaceHolder 1"/>
          <p:cNvSpPr>
            <a:spLocks noGrp="1"/>
          </p:cNvSpPr>
          <p:nvPr>
            <p:ph type="title"/>
          </p:nvPr>
        </p:nvSpPr>
        <p:spPr>
          <a:xfrm>
            <a:off x="-360" y="228600"/>
            <a:ext cx="4647960" cy="76176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000000"/>
                </a:solidFill>
                <a:effectLst/>
                <a:uFillTx/>
                <a:latin typeface="Arial"/>
                <a:ea typeface="Arial"/>
              </a:rPr>
              <a:t>1.4 </a:t>
            </a:r>
            <a:r>
              <a:rPr lang="en-US" sz="2400" b="0" u="none" strike="noStrike">
                <a:solidFill>
                  <a:srgbClr val="000000"/>
                </a:solidFill>
                <a:effectLst/>
                <a:uFillTx/>
                <a:latin typeface="Arial"/>
                <a:ea typeface="Arial"/>
              </a:rPr>
              <a:t> </a:t>
            </a:r>
            <a:r>
              <a:rPr lang="en-US" sz="3600" b="0" u="none" strike="noStrike">
                <a:solidFill>
                  <a:srgbClr val="000000"/>
                </a:solidFill>
                <a:effectLst/>
                <a:uFillTx/>
                <a:latin typeface="Arial Narrow"/>
                <a:ea typeface="Arial"/>
              </a:rPr>
              <a:t>A Multilevel Model</a:t>
            </a:r>
            <a:endParaRPr lang="en-US" sz="3600" b="0" u="none" strike="noStrike">
              <a:solidFill>
                <a:srgbClr val="000000"/>
              </a:solidFill>
              <a:effectLst/>
              <a:uFillTx/>
              <a:latin typeface="Arial"/>
            </a:endParaRPr>
          </a:p>
        </p:txBody>
      </p:sp>
      <p:sp>
        <p:nvSpPr>
          <p:cNvPr id="492" name="Rectangle 4"/>
          <p:cNvSpPr/>
          <p:nvPr/>
        </p:nvSpPr>
        <p:spPr>
          <a:xfrm>
            <a:off x="0" y="1287360"/>
            <a:ext cx="9144000" cy="360"/>
          </a:xfrm>
          <a:prstGeom prst="rect">
            <a:avLst/>
          </a:prstGeom>
          <a:noFill/>
          <a:ln w="38160">
            <a:noFill/>
          </a:ln>
        </p:spPr>
        <p:style>
          <a:lnRef idx="0"/>
          <a:fillRef idx="0"/>
          <a:effectRef idx="0"/>
          <a:fontRef idx="minor"/>
        </p:style>
        <p:txBody>
          <a:bodyPr wrap="none" lIns="90000" tIns="-46440" rIns="90000" bIns="-4644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493" name="Text Box 5"/>
          <p:cNvSpPr/>
          <p:nvPr/>
        </p:nvSpPr>
        <p:spPr>
          <a:xfrm>
            <a:off x="457200" y="1218960"/>
            <a:ext cx="2361960" cy="52020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Arial"/>
                <a:ea typeface="Arial"/>
              </a:rPr>
              <a:t>Device</a:t>
            </a:r>
            <a:endParaRPr lang="en-US" sz="2800" b="0" u="none" strike="noStrike">
              <a:solidFill>
                <a:srgbClr val="000000"/>
              </a:solidFill>
              <a:effectLst/>
              <a:uFillTx/>
              <a:latin typeface="Times New Roman"/>
            </a:endParaRPr>
          </a:p>
        </p:txBody>
      </p:sp>
      <p:sp>
        <p:nvSpPr>
          <p:cNvPr id="494" name="Text Box 6"/>
          <p:cNvSpPr/>
          <p:nvPr/>
        </p:nvSpPr>
        <p:spPr>
          <a:xfrm>
            <a:off x="473040" y="2017440"/>
            <a:ext cx="2346120" cy="52020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Arial"/>
                <a:ea typeface="Arial"/>
              </a:rPr>
              <a:t>Logic</a:t>
            </a:r>
            <a:endParaRPr lang="en-US" sz="2800" b="0" u="none" strike="noStrike">
              <a:solidFill>
                <a:srgbClr val="000000"/>
              </a:solidFill>
              <a:effectLst/>
              <a:uFillTx/>
              <a:latin typeface="Times New Roman"/>
            </a:endParaRPr>
          </a:p>
        </p:txBody>
      </p:sp>
      <p:sp>
        <p:nvSpPr>
          <p:cNvPr id="495" name="Text Box 7"/>
          <p:cNvSpPr/>
          <p:nvPr/>
        </p:nvSpPr>
        <p:spPr>
          <a:xfrm>
            <a:off x="457200" y="4572000"/>
            <a:ext cx="2361960" cy="52020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Arial"/>
                <a:ea typeface="Arial"/>
              </a:rPr>
              <a:t>Service</a:t>
            </a:r>
            <a:endParaRPr lang="en-US" sz="2800" b="0" u="none" strike="noStrike">
              <a:solidFill>
                <a:srgbClr val="000000"/>
              </a:solidFill>
              <a:effectLst/>
              <a:uFillTx/>
              <a:latin typeface="Times New Roman"/>
            </a:endParaRPr>
          </a:p>
        </p:txBody>
      </p:sp>
      <p:sp>
        <p:nvSpPr>
          <p:cNvPr id="496" name="Text Box 8"/>
          <p:cNvSpPr/>
          <p:nvPr/>
        </p:nvSpPr>
        <p:spPr>
          <a:xfrm>
            <a:off x="457200" y="5410080"/>
            <a:ext cx="2361960" cy="52020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Arial"/>
                <a:ea typeface="Arial"/>
              </a:rPr>
              <a:t>Result</a:t>
            </a:r>
            <a:endParaRPr lang="en-US" sz="2800" b="0" u="none" strike="noStrike">
              <a:solidFill>
                <a:srgbClr val="000000"/>
              </a:solidFill>
              <a:effectLst/>
              <a:uFillTx/>
              <a:latin typeface="Times New Roman"/>
            </a:endParaRPr>
          </a:p>
        </p:txBody>
      </p:sp>
      <p:sp>
        <p:nvSpPr>
          <p:cNvPr id="497" name="Text Box 9"/>
          <p:cNvSpPr/>
          <p:nvPr/>
        </p:nvSpPr>
        <p:spPr>
          <a:xfrm>
            <a:off x="441000" y="2858760"/>
            <a:ext cx="2378160" cy="52020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Arial"/>
                <a:ea typeface="Arial"/>
              </a:rPr>
              <a:t>State</a:t>
            </a:r>
            <a:endParaRPr lang="en-US" sz="2800" b="0" u="none" strike="noStrike">
              <a:solidFill>
                <a:srgbClr val="000000"/>
              </a:solidFill>
              <a:effectLst/>
              <a:uFillTx/>
              <a:latin typeface="Times New Roman"/>
            </a:endParaRPr>
          </a:p>
        </p:txBody>
      </p:sp>
      <p:sp>
        <p:nvSpPr>
          <p:cNvPr id="498" name="Text Box 10"/>
          <p:cNvSpPr/>
          <p:nvPr/>
        </p:nvSpPr>
        <p:spPr>
          <a:xfrm>
            <a:off x="457200" y="3733560"/>
            <a:ext cx="2361960" cy="52020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Arial"/>
                <a:ea typeface="Arial"/>
              </a:rPr>
              <a:t>System</a:t>
            </a:r>
            <a:endParaRPr lang="en-US" sz="2800" b="0" u="none" strike="noStrike">
              <a:solidFill>
                <a:srgbClr val="000000"/>
              </a:solidFill>
              <a:effectLst/>
              <a:uFillTx/>
              <a:latin typeface="Times New Roman"/>
            </a:endParaRPr>
          </a:p>
        </p:txBody>
      </p:sp>
      <p:grpSp>
        <p:nvGrpSpPr>
          <p:cNvPr id="499" name="Group 11"/>
          <p:cNvGrpSpPr/>
          <p:nvPr/>
        </p:nvGrpSpPr>
        <p:grpSpPr>
          <a:xfrm>
            <a:off x="3101760" y="304560"/>
            <a:ext cx="6042240" cy="5943600"/>
            <a:chOff x="3101760" y="304560"/>
            <a:chExt cx="6042240" cy="5943600"/>
          </a:xfrm>
        </p:grpSpPr>
        <p:sp>
          <p:nvSpPr>
            <p:cNvPr id="500" name="AutoShape 12"/>
            <p:cNvSpPr/>
            <p:nvPr/>
          </p:nvSpPr>
          <p:spPr>
            <a:xfrm>
              <a:off x="3101760" y="304560"/>
              <a:ext cx="6042240" cy="5943600"/>
            </a:xfrm>
            <a:prstGeom prst="rect">
              <a:avLst/>
            </a:prstGeom>
            <a:noFill/>
            <a:ln w="38160">
              <a:noFill/>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pic>
          <p:nvPicPr>
            <p:cNvPr id="501" name="Picture 13"/>
            <p:cNvPicPr/>
            <p:nvPr/>
          </p:nvPicPr>
          <p:blipFill>
            <a:blip r:embed="rId1"/>
            <a:stretch/>
          </p:blipFill>
          <p:spPr>
            <a:xfrm>
              <a:off x="3101760" y="304560"/>
              <a:ext cx="6042240" cy="5826960"/>
            </a:xfrm>
            <a:prstGeom prst="rect">
              <a:avLst/>
            </a:prstGeom>
            <a:noFill/>
            <a:ln w="38160">
              <a:noFill/>
            </a:ln>
          </p:spPr>
        </p:pic>
        <p:sp>
          <p:nvSpPr>
            <p:cNvPr id="502" name="Freeform 14"/>
            <p:cNvSpPr/>
            <p:nvPr/>
          </p:nvSpPr>
          <p:spPr>
            <a:xfrm>
              <a:off x="7354440" y="1268640"/>
              <a:ext cx="354600" cy="261360"/>
            </a:xfrm>
            <a:custGeom>
              <a:avLst/>
              <a:gdLst>
                <a:gd name="GluePoint1X" fmla="*/ 0 w 375"/>
                <a:gd name="GluePoint1Y" fmla="*/ 6 h 269"/>
                <a:gd name="GluePoint2X" fmla="*/ 13 w 375"/>
                <a:gd name="GluePoint2Y" fmla="*/ 3 h 269"/>
                <a:gd name="GluePoint3X" fmla="*/ 20 w 375"/>
                <a:gd name="GluePoint3Y" fmla="*/ 11 h 269"/>
                <a:gd name="GluePoint4X" fmla="*/ 15 w 375"/>
                <a:gd name="GluePoint4Y" fmla="*/ 21 h 269"/>
                <a:gd name="GluePoint5X" fmla="*/ 3 w 375"/>
                <a:gd name="GluePoint5Y" fmla="*/ 23 h 269"/>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375" h="269">
                  <a:moveTo>
                    <a:pt x="0" y="69"/>
                  </a:moveTo>
                  <a:cubicBezTo>
                    <a:pt x="37" y="59"/>
                    <a:pt x="160" y="0"/>
                    <a:pt x="221" y="10"/>
                  </a:cubicBezTo>
                  <a:cubicBezTo>
                    <a:pt x="282" y="20"/>
                    <a:pt x="361" y="88"/>
                    <a:pt x="368" y="127"/>
                  </a:cubicBezTo>
                  <a:cubicBezTo>
                    <a:pt x="375" y="166"/>
                    <a:pt x="319" y="221"/>
                    <a:pt x="265" y="245"/>
                  </a:cubicBezTo>
                  <a:cubicBezTo>
                    <a:pt x="211" y="269"/>
                    <a:pt x="90" y="264"/>
                    <a:pt x="44" y="269"/>
                  </a:cubicBezTo>
                </a:path>
              </a:pathLst>
            </a:custGeom>
            <a:noFill/>
            <a:ln w="9360">
              <a:solidFill>
                <a:srgbClr val="000000"/>
              </a:solidFill>
              <a:round/>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503" name="Text Box 15"/>
            <p:cNvSpPr/>
            <p:nvPr/>
          </p:nvSpPr>
          <p:spPr>
            <a:xfrm>
              <a:off x="3101760" y="1528200"/>
              <a:ext cx="1020600" cy="524160"/>
            </a:xfrm>
            <a:prstGeom prst="rect">
              <a:avLst/>
            </a:prstGeom>
            <a:solidFill>
              <a:srgbClr val="FFFFFF"/>
            </a:solidFill>
            <a:ln w="38160">
              <a:noFill/>
            </a:ln>
          </p:spPr>
          <p:style>
            <a:lnRef idx="0"/>
            <a:fillRef idx="0"/>
            <a:effectRef idx="0"/>
            <a:fontRef idx="minor"/>
          </p:style>
          <p:txBody>
            <a:bodyPr lIns="90000" tIns="46800" rIns="90000" bIns="46800" anchor="t">
              <a:norm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1" u="none" strike="noStrike">
                  <a:solidFill>
                    <a:srgbClr val="000000"/>
                  </a:solidFill>
                  <a:effectLst/>
                  <a:uFillTx/>
                  <a:latin typeface="Times New Roman"/>
                  <a:ea typeface="Times New Roman"/>
                </a:rPr>
                <a:t>Legend:</a:t>
              </a:r>
              <a:endParaRPr lang="en-US" sz="1800" b="0" u="none" strike="noStrike">
                <a:solidFill>
                  <a:srgbClr val="000000"/>
                </a:solidFill>
                <a:effectLst/>
                <a:uFillTx/>
                <a:latin typeface="Times New Roman"/>
              </a:endParaRPr>
            </a:p>
          </p:txBody>
        </p:sp>
        <p:sp>
          <p:nvSpPr>
            <p:cNvPr id="504" name="Text Box 16"/>
            <p:cNvSpPr/>
            <p:nvPr/>
          </p:nvSpPr>
          <p:spPr>
            <a:xfrm>
              <a:off x="3101760" y="5591160"/>
              <a:ext cx="1275840" cy="522000"/>
            </a:xfrm>
            <a:prstGeom prst="rect">
              <a:avLst/>
            </a:prstGeom>
            <a:solidFill>
              <a:srgbClr val="FFFFFF"/>
            </a:solidFill>
            <a:ln w="38160">
              <a:noFill/>
            </a:ln>
          </p:spPr>
          <p:style>
            <a:lnRef idx="0"/>
            <a:fillRef idx="0"/>
            <a:effectRef idx="0"/>
            <a:fontRef idx="minor"/>
          </p:style>
          <p:txBody>
            <a:bodyPr lIns="90000" tIns="46800" rIns="90000" bIns="46800" anchor="t">
              <a:norm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Times New Roman"/>
                  <a:ea typeface="Times New Roman"/>
                </a:rPr>
                <a:t>Tolerance</a:t>
              </a:r>
              <a:endParaRPr lang="en-US" sz="1800" b="0" u="none" strike="noStrike">
                <a:solidFill>
                  <a:srgbClr val="000000"/>
                </a:solidFill>
                <a:effectLst/>
                <a:uFillTx/>
                <a:latin typeface="Times New Roman"/>
              </a:endParaRPr>
            </a:p>
          </p:txBody>
        </p:sp>
        <p:sp>
          <p:nvSpPr>
            <p:cNvPr id="505" name="Freeform 17"/>
            <p:cNvSpPr/>
            <p:nvPr/>
          </p:nvSpPr>
          <p:spPr>
            <a:xfrm>
              <a:off x="3441960" y="5374800"/>
              <a:ext cx="354960" cy="258120"/>
            </a:xfrm>
            <a:custGeom>
              <a:avLst/>
              <a:gdLst>
                <a:gd name="GluePoint1X" fmla="*/ 0 w 375"/>
                <a:gd name="GluePoint1Y" fmla="*/ 5 h 269"/>
                <a:gd name="GluePoint2X" fmla="*/ 13 w 375"/>
                <a:gd name="GluePoint2Y" fmla="*/ 3 h 269"/>
                <a:gd name="GluePoint3X" fmla="*/ 20 w 375"/>
                <a:gd name="GluePoint3Y" fmla="*/ 9 h 269"/>
                <a:gd name="GluePoint4X" fmla="*/ 15 w 375"/>
                <a:gd name="GluePoint4Y" fmla="*/ 18 h 269"/>
                <a:gd name="GluePoint5X" fmla="*/ 3 w 375"/>
                <a:gd name="GluePoint5Y" fmla="*/ 19 h 269"/>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375" h="269">
                  <a:moveTo>
                    <a:pt x="0" y="69"/>
                  </a:moveTo>
                  <a:cubicBezTo>
                    <a:pt x="37" y="59"/>
                    <a:pt x="160" y="0"/>
                    <a:pt x="221" y="10"/>
                  </a:cubicBezTo>
                  <a:cubicBezTo>
                    <a:pt x="282" y="20"/>
                    <a:pt x="361" y="88"/>
                    <a:pt x="368" y="127"/>
                  </a:cubicBezTo>
                  <a:cubicBezTo>
                    <a:pt x="375" y="166"/>
                    <a:pt x="319" y="221"/>
                    <a:pt x="265" y="245"/>
                  </a:cubicBezTo>
                  <a:cubicBezTo>
                    <a:pt x="211" y="269"/>
                    <a:pt x="90" y="264"/>
                    <a:pt x="44" y="269"/>
                  </a:cubicBezTo>
                </a:path>
              </a:pathLst>
            </a:custGeom>
            <a:noFill/>
            <a:ln w="9360">
              <a:solidFill>
                <a:srgbClr val="000000"/>
              </a:solidFill>
              <a:round/>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506" name="Freeform 18"/>
            <p:cNvSpPr/>
            <p:nvPr/>
          </p:nvSpPr>
          <p:spPr>
            <a:xfrm>
              <a:off x="7354440" y="2136600"/>
              <a:ext cx="354600" cy="261360"/>
            </a:xfrm>
            <a:custGeom>
              <a:avLst/>
              <a:gdLst>
                <a:gd name="GluePoint1X" fmla="*/ 0 w 375"/>
                <a:gd name="GluePoint1Y" fmla="*/ 6 h 269"/>
                <a:gd name="GluePoint2X" fmla="*/ 13 w 375"/>
                <a:gd name="GluePoint2Y" fmla="*/ 3 h 269"/>
                <a:gd name="GluePoint3X" fmla="*/ 20 w 375"/>
                <a:gd name="GluePoint3Y" fmla="*/ 11 h 269"/>
                <a:gd name="GluePoint4X" fmla="*/ 15 w 375"/>
                <a:gd name="GluePoint4Y" fmla="*/ 21 h 269"/>
                <a:gd name="GluePoint5X" fmla="*/ 3 w 375"/>
                <a:gd name="GluePoint5Y" fmla="*/ 23 h 269"/>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375" h="269">
                  <a:moveTo>
                    <a:pt x="0" y="69"/>
                  </a:moveTo>
                  <a:cubicBezTo>
                    <a:pt x="37" y="59"/>
                    <a:pt x="160" y="0"/>
                    <a:pt x="221" y="10"/>
                  </a:cubicBezTo>
                  <a:cubicBezTo>
                    <a:pt x="282" y="20"/>
                    <a:pt x="361" y="88"/>
                    <a:pt x="368" y="127"/>
                  </a:cubicBezTo>
                  <a:cubicBezTo>
                    <a:pt x="375" y="166"/>
                    <a:pt x="319" y="221"/>
                    <a:pt x="265" y="245"/>
                  </a:cubicBezTo>
                  <a:cubicBezTo>
                    <a:pt x="211" y="269"/>
                    <a:pt x="90" y="264"/>
                    <a:pt x="44" y="269"/>
                  </a:cubicBezTo>
                </a:path>
              </a:pathLst>
            </a:custGeom>
            <a:noFill/>
            <a:ln w="9360">
              <a:solidFill>
                <a:srgbClr val="000000"/>
              </a:solidFill>
              <a:round/>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507" name="Freeform 19"/>
            <p:cNvSpPr/>
            <p:nvPr/>
          </p:nvSpPr>
          <p:spPr>
            <a:xfrm>
              <a:off x="7354440" y="2988720"/>
              <a:ext cx="354600" cy="261360"/>
            </a:xfrm>
            <a:custGeom>
              <a:avLst/>
              <a:gdLst>
                <a:gd name="GluePoint1X" fmla="*/ 0 w 375"/>
                <a:gd name="GluePoint1Y" fmla="*/ 6 h 269"/>
                <a:gd name="GluePoint2X" fmla="*/ 13 w 375"/>
                <a:gd name="GluePoint2Y" fmla="*/ 3 h 269"/>
                <a:gd name="GluePoint3X" fmla="*/ 20 w 375"/>
                <a:gd name="GluePoint3Y" fmla="*/ 11 h 269"/>
                <a:gd name="GluePoint4X" fmla="*/ 15 w 375"/>
                <a:gd name="GluePoint4Y" fmla="*/ 21 h 269"/>
                <a:gd name="GluePoint5X" fmla="*/ 3 w 375"/>
                <a:gd name="GluePoint5Y" fmla="*/ 23 h 269"/>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375" h="269">
                  <a:moveTo>
                    <a:pt x="0" y="69"/>
                  </a:moveTo>
                  <a:cubicBezTo>
                    <a:pt x="37" y="59"/>
                    <a:pt x="160" y="0"/>
                    <a:pt x="221" y="10"/>
                  </a:cubicBezTo>
                  <a:cubicBezTo>
                    <a:pt x="282" y="20"/>
                    <a:pt x="361" y="88"/>
                    <a:pt x="368" y="127"/>
                  </a:cubicBezTo>
                  <a:cubicBezTo>
                    <a:pt x="375" y="166"/>
                    <a:pt x="319" y="221"/>
                    <a:pt x="265" y="245"/>
                  </a:cubicBezTo>
                  <a:cubicBezTo>
                    <a:pt x="211" y="269"/>
                    <a:pt x="90" y="264"/>
                    <a:pt x="44" y="269"/>
                  </a:cubicBezTo>
                </a:path>
              </a:pathLst>
            </a:custGeom>
            <a:noFill/>
            <a:ln w="9360">
              <a:solidFill>
                <a:srgbClr val="000000"/>
              </a:solidFill>
              <a:round/>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508" name="Freeform 20"/>
            <p:cNvSpPr/>
            <p:nvPr/>
          </p:nvSpPr>
          <p:spPr>
            <a:xfrm>
              <a:off x="7354440" y="3843000"/>
              <a:ext cx="354600" cy="259200"/>
            </a:xfrm>
            <a:custGeom>
              <a:avLst/>
              <a:gdLst>
                <a:gd name="GluePoint1X" fmla="*/ 0 w 375"/>
                <a:gd name="GluePoint1Y" fmla="*/ 6 h 269"/>
                <a:gd name="GluePoint2X" fmla="*/ 13 w 375"/>
                <a:gd name="GluePoint2Y" fmla="*/ 3 h 269"/>
                <a:gd name="GluePoint3X" fmla="*/ 20 w 375"/>
                <a:gd name="GluePoint3Y" fmla="*/ 10 h 269"/>
                <a:gd name="GluePoint4X" fmla="*/ 15 w 375"/>
                <a:gd name="GluePoint4Y" fmla="*/ 19 h 269"/>
                <a:gd name="GluePoint5X" fmla="*/ 3 w 375"/>
                <a:gd name="GluePoint5Y" fmla="*/ 20 h 269"/>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375" h="269">
                  <a:moveTo>
                    <a:pt x="0" y="69"/>
                  </a:moveTo>
                  <a:cubicBezTo>
                    <a:pt x="37" y="59"/>
                    <a:pt x="160" y="0"/>
                    <a:pt x="221" y="10"/>
                  </a:cubicBezTo>
                  <a:cubicBezTo>
                    <a:pt x="282" y="20"/>
                    <a:pt x="361" y="88"/>
                    <a:pt x="368" y="127"/>
                  </a:cubicBezTo>
                  <a:cubicBezTo>
                    <a:pt x="375" y="166"/>
                    <a:pt x="319" y="221"/>
                    <a:pt x="265" y="245"/>
                  </a:cubicBezTo>
                  <a:cubicBezTo>
                    <a:pt x="211" y="269"/>
                    <a:pt x="90" y="264"/>
                    <a:pt x="44" y="269"/>
                  </a:cubicBezTo>
                </a:path>
              </a:pathLst>
            </a:custGeom>
            <a:noFill/>
            <a:ln w="9360">
              <a:solidFill>
                <a:srgbClr val="000000"/>
              </a:solidFill>
              <a:round/>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509" name="Freeform 21"/>
            <p:cNvSpPr/>
            <p:nvPr/>
          </p:nvSpPr>
          <p:spPr>
            <a:xfrm>
              <a:off x="7354440" y="4709520"/>
              <a:ext cx="354600" cy="261720"/>
            </a:xfrm>
            <a:custGeom>
              <a:avLst/>
              <a:gdLst>
                <a:gd name="GluePoint1X" fmla="*/ 0 w 375"/>
                <a:gd name="GluePoint1Y" fmla="*/ 6 h 269"/>
                <a:gd name="GluePoint2X" fmla="*/ 13 w 375"/>
                <a:gd name="GluePoint2Y" fmla="*/ 3 h 269"/>
                <a:gd name="GluePoint3X" fmla="*/ 20 w 375"/>
                <a:gd name="GluePoint3Y" fmla="*/ 11 h 269"/>
                <a:gd name="GluePoint4X" fmla="*/ 15 w 375"/>
                <a:gd name="GluePoint4Y" fmla="*/ 21 h 269"/>
                <a:gd name="GluePoint5X" fmla="*/ 3 w 375"/>
                <a:gd name="GluePoint5Y" fmla="*/ 23 h 269"/>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375" h="269">
                  <a:moveTo>
                    <a:pt x="0" y="69"/>
                  </a:moveTo>
                  <a:cubicBezTo>
                    <a:pt x="37" y="59"/>
                    <a:pt x="160" y="0"/>
                    <a:pt x="221" y="10"/>
                  </a:cubicBezTo>
                  <a:cubicBezTo>
                    <a:pt x="282" y="20"/>
                    <a:pt x="361" y="88"/>
                    <a:pt x="368" y="127"/>
                  </a:cubicBezTo>
                  <a:cubicBezTo>
                    <a:pt x="375" y="166"/>
                    <a:pt x="319" y="221"/>
                    <a:pt x="265" y="245"/>
                  </a:cubicBezTo>
                  <a:cubicBezTo>
                    <a:pt x="211" y="269"/>
                    <a:pt x="90" y="264"/>
                    <a:pt x="44" y="269"/>
                  </a:cubicBezTo>
                </a:path>
              </a:pathLst>
            </a:custGeom>
            <a:noFill/>
            <a:ln w="9360">
              <a:solidFill>
                <a:srgbClr val="000000"/>
              </a:solidFill>
              <a:round/>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510" name="Freeform 22"/>
            <p:cNvSpPr/>
            <p:nvPr/>
          </p:nvSpPr>
          <p:spPr>
            <a:xfrm>
              <a:off x="7354440" y="5549040"/>
              <a:ext cx="354600" cy="261360"/>
            </a:xfrm>
            <a:custGeom>
              <a:avLst/>
              <a:gdLst>
                <a:gd name="GluePoint1X" fmla="*/ 0 w 375"/>
                <a:gd name="GluePoint1Y" fmla="*/ 6 h 269"/>
                <a:gd name="GluePoint2X" fmla="*/ 13 w 375"/>
                <a:gd name="GluePoint2Y" fmla="*/ 3 h 269"/>
                <a:gd name="GluePoint3X" fmla="*/ 20 w 375"/>
                <a:gd name="GluePoint3Y" fmla="*/ 11 h 269"/>
                <a:gd name="GluePoint4X" fmla="*/ 15 w 375"/>
                <a:gd name="GluePoint4Y" fmla="*/ 21 h 269"/>
                <a:gd name="GluePoint5X" fmla="*/ 3 w 375"/>
                <a:gd name="GluePoint5Y" fmla="*/ 23 h 269"/>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375" h="269">
                  <a:moveTo>
                    <a:pt x="0" y="69"/>
                  </a:moveTo>
                  <a:cubicBezTo>
                    <a:pt x="37" y="59"/>
                    <a:pt x="160" y="0"/>
                    <a:pt x="221" y="10"/>
                  </a:cubicBezTo>
                  <a:cubicBezTo>
                    <a:pt x="282" y="20"/>
                    <a:pt x="361" y="88"/>
                    <a:pt x="368" y="127"/>
                  </a:cubicBezTo>
                  <a:cubicBezTo>
                    <a:pt x="375" y="166"/>
                    <a:pt x="319" y="221"/>
                    <a:pt x="265" y="245"/>
                  </a:cubicBezTo>
                  <a:cubicBezTo>
                    <a:pt x="211" y="269"/>
                    <a:pt x="90" y="264"/>
                    <a:pt x="44" y="269"/>
                  </a:cubicBezTo>
                </a:path>
              </a:pathLst>
            </a:custGeom>
            <a:noFill/>
            <a:ln w="9360">
              <a:solidFill>
                <a:srgbClr val="000000"/>
              </a:solidFill>
              <a:round/>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511" name="Text Box 23"/>
            <p:cNvSpPr/>
            <p:nvPr/>
          </p:nvSpPr>
          <p:spPr>
            <a:xfrm>
              <a:off x="3101760" y="2402640"/>
              <a:ext cx="1020600" cy="523080"/>
            </a:xfrm>
            <a:prstGeom prst="rect">
              <a:avLst/>
            </a:prstGeom>
            <a:solidFill>
              <a:srgbClr val="FFFFFF"/>
            </a:solidFill>
            <a:ln w="38160">
              <a:noFill/>
            </a:ln>
          </p:spPr>
          <p:style>
            <a:lnRef idx="0"/>
            <a:fillRef idx="0"/>
            <a:effectRef idx="0"/>
            <a:fontRef idx="minor"/>
          </p:style>
          <p:txBody>
            <a:bodyPr lIns="90000" tIns="46800" rIns="90000" bIns="46800" anchor="t">
              <a:norm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Times New Roman"/>
                  <a:ea typeface="Times New Roman"/>
                </a:rPr>
                <a:t>Entry</a:t>
              </a:r>
              <a:endParaRPr lang="en-US" sz="1800" b="0" u="none" strike="noStrike">
                <a:solidFill>
                  <a:srgbClr val="000000"/>
                </a:solidFill>
                <a:effectLst/>
                <a:uFillTx/>
                <a:latin typeface="Times New Roman"/>
              </a:endParaRPr>
            </a:p>
          </p:txBody>
        </p:sp>
      </p:grpSp>
      <p:sp>
        <p:nvSpPr>
          <p:cNvPr id="512" name="Rectangle 24"/>
          <p:cNvSpPr/>
          <p:nvPr/>
        </p:nvSpPr>
        <p:spPr>
          <a:xfrm>
            <a:off x="3047760" y="1371600"/>
            <a:ext cx="1143000" cy="4647960"/>
          </a:xfrm>
          <a:prstGeom prst="rect">
            <a:avLst/>
          </a:prstGeom>
          <a:noFill/>
          <a:ln w="9360">
            <a:solidFill>
              <a:srgbClr val="000000"/>
            </a:solidFill>
            <a:prstDash val="dash"/>
            <a:miter/>
          </a:ln>
        </p:spPr>
        <p:style>
          <a:lnRef idx="0"/>
          <a:fillRef idx="0"/>
          <a:effectRef idx="0"/>
          <a:fontRef idx="minor"/>
        </p:style>
        <p:txBody>
          <a:bodyPr wrap="none"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513" name="Rectangle 28"/>
          <p:cNvSpPr/>
          <p:nvPr/>
        </p:nvSpPr>
        <p:spPr>
          <a:xfrm>
            <a:off x="7010280" y="152280"/>
            <a:ext cx="762120" cy="5791320"/>
          </a:xfrm>
          <a:prstGeom prst="rect">
            <a:avLst/>
          </a:prstGeom>
          <a:solidFill>
            <a:srgbClr val="FFFFFF"/>
          </a:solidFill>
          <a:ln w="38160">
            <a:noFill/>
          </a:ln>
        </p:spPr>
        <p:style>
          <a:lnRef idx="0"/>
          <a:fillRef idx="0"/>
          <a:effectRef idx="0"/>
          <a:fontRef idx="minor"/>
        </p:style>
        <p:txBody>
          <a:bodyPr wrap="none"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514" name="Rectangle 29"/>
          <p:cNvSpPr/>
          <p:nvPr/>
        </p:nvSpPr>
        <p:spPr>
          <a:xfrm>
            <a:off x="4343400" y="304560"/>
            <a:ext cx="761760" cy="5791320"/>
          </a:xfrm>
          <a:prstGeom prst="rect">
            <a:avLst/>
          </a:prstGeom>
          <a:solidFill>
            <a:srgbClr val="FFFFFF"/>
          </a:solidFill>
          <a:ln w="38160">
            <a:noFill/>
          </a:ln>
        </p:spPr>
        <p:style>
          <a:lnRef idx="0"/>
          <a:fillRef idx="0"/>
          <a:effectRef idx="0"/>
          <a:fontRef idx="minor"/>
        </p:style>
        <p:txBody>
          <a:bodyPr wrap="none"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aphicFrame>
        <p:nvGraphicFramePr>
          <p:cNvPr id="515" name="Object 26"/>
          <p:cNvGraphicFramePr/>
          <p:nvPr/>
        </p:nvGraphicFramePr>
        <p:xfrm>
          <a:off x="4495680" y="152280"/>
          <a:ext cx="3048120" cy="5867280"/>
        </p:xfrm>
        <a:graphic>
          <a:graphicData uri="http://schemas.openxmlformats.org/presentationml/2006/ole">
            <p:oleObj r:id="rId2" spid="">
              <p:embed/>
              <p:pic>
                <p:nvPicPr>
                  <p:cNvPr id="516" name="Object 26"/>
                  <p:cNvPicPr/>
                  <p:nvPr/>
                </p:nvPicPr>
                <p:blipFill>
                  <a:blip r:embed="rId3"/>
                  <a:stretch/>
                </p:blipFill>
                <p:spPr>
                  <a:xfrm>
                    <a:off x="4495680" y="152280"/>
                    <a:ext cx="3048120" cy="5867280"/>
                  </a:xfrm>
                  <a:prstGeom prst="rect">
                    <a:avLst/>
                  </a:prstGeom>
                  <a:noFill/>
                  <a:ln w="38160">
                    <a:noFill/>
                  </a:ln>
                </p:spPr>
              </p:pic>
            </p:oleObj>
          </a:graphicData>
        </a:graphic>
      </p:graphicFrame>
      <p:sp>
        <p:nvSpPr>
          <p:cNvPr id="517" name="Rectangle 25"/>
          <p:cNvSpPr/>
          <p:nvPr/>
        </p:nvSpPr>
        <p:spPr>
          <a:xfrm>
            <a:off x="7619760" y="457200"/>
            <a:ext cx="1219320" cy="380880"/>
          </a:xfrm>
          <a:prstGeom prst="rect">
            <a:avLst/>
          </a:prstGeom>
          <a:solidFill>
            <a:srgbClr val="66FF66"/>
          </a:solidFill>
          <a:ln w="38160">
            <a:noFill/>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Fig. 1.6</a:t>
            </a:r>
            <a:endParaRPr lang="en-US" sz="2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2121</TotalTime>
  <Application>LibreOffice/26.8.0.3$Linux_X86_64 LibreOffice_project/680$Build-3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2003-03-02T02:14:00Z</dcterms:created>
  <dc:creator>Behrooz Parhami</dc:creator>
  <dc:description/>
  <dc:language>en-US</dc:language>
  <cp:lastModifiedBy>Xin Xin</cp:lastModifiedBy>
  <cp:lastPrinted>2021-09-29T00:46:54Z</cp:lastPrinted>
  <dcterms:modified xsi:type="dcterms:W3CDTF">2024-08-23T14:17:15Z</dcterms:modified>
  <cp:revision>460</cp:revision>
  <dc:subject/>
  <dc:title>Fault Tolerance, Lecture 01</dc:title>
</cp:coreProperties>
</file>