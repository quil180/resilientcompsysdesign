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.wmf" ContentType="image/x-wmf"/>
  <Override PartName="/ppt/media/image5.wmf" ContentType="image/x-wmf"/>
  <Override PartName="/ppt/presentation.xml" ContentType="application/vnd.openxmlformats-officedocument.presentationml.presentation.main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9144000" cy="6858000"/>
  <p:notesSz cx="6858000" cy="9294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6858000" cy="92952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-360"/>
            <a:ext cx="2971800" cy="463320"/>
          </a:xfrm>
          <a:prstGeom prst="rect">
            <a:avLst/>
          </a:prstGeom>
          <a:noFill/>
          <a:ln w="3816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2"/>
          </p:nvPr>
        </p:nvSpPr>
        <p:spPr>
          <a:xfrm>
            <a:off x="3885840" y="-360"/>
            <a:ext cx="2971800" cy="463320"/>
          </a:xfrm>
          <a:prstGeom prst="rect">
            <a:avLst/>
          </a:prstGeom>
          <a:noFill/>
          <a:ln w="3816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Img"/>
          </p:nvPr>
        </p:nvSpPr>
        <p:spPr>
          <a:xfrm>
            <a:off x="1105920" y="698400"/>
            <a:ext cx="4646520" cy="34862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2160" tIns="46080" rIns="92160" bIns="4608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-36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txBody>
          <a:bodyPr lIns="92160" tIns="46080" rIns="92160" bIns="4608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388584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txBody>
          <a:bodyPr lIns="92160" tIns="46080" rIns="92160" bIns="4608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B81BA95-999A-4818-AB27-FAEE7CDC08A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C8D3601-437A-4FA0-AA5A-D822CBBBB44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28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7D4A9DF-35BC-4EAF-9265-CB0513844052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B0CFD86-449A-40F9-8A4D-C564240EE17C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34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6A92906-F47C-4A38-B8E7-9D19DF537879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37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E337D85-90BA-4444-B778-BA1091BD16ED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40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DFCDDF8-3ADD-4BBC-A170-2FE53165D8AF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43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F23D6AA-1D66-4365-9477-8808DE3A3BC4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46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F76F2E3-D98A-4CA2-A0B1-062B8D0334B3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49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774CBA8-1A2B-48FC-A689-0DEC6FDD7155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52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10DC0E2-B1C0-4DD5-9C37-C094729D5924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55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4446DEA-EC30-4B64-BF2E-83D3E3291EEE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58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F9109FA-4347-4996-A68E-F591C0083CFC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61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2D79233-BCAB-4A52-9997-1E08C3473891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64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F407761-23D9-40AE-9E6E-850D45E0A661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67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7AFF3C9-0E7A-477C-8694-61737CBB3196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70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AE2D74D-E2F5-4693-8067-21D417FA7491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73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10C4133-9CB3-499C-AC15-59679A2DD638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76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8002F72-04F0-47F3-9C03-C17922C9A196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79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EBC7897-9464-49B8-A971-ABDAF1681C2F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82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235DB59-0017-42EF-80A3-BEAB44B09806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85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F003A85-BA0C-4998-A737-E895D11D77A8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88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A4D973A-DF79-4E31-BC55-29BF56B10D47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91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BC7FD37-EEF6-4001-8FA8-3845ABFDA969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94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FE3A45E-6893-47D8-9D13-C976A4CD42AF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197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1A4C0D-FA1C-463F-B21C-B72947F053D6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200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4FCED5A-A29D-40A2-8EF6-273B8A6294CD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203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Code example from: Garrett, P., The Mathematics of Coding Theory, Prentice Hall, 2004, p. 283. For more info, see the website www.4i2i.com/reed_solomon_codes.htm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1A42C95-5CE1-4243-9761-6CEAA2747F08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206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Example from: Hankerson, R. et al., Coding Theory and Cryptography: The Essentials, Marcel Dekker, 2000, p. 120.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060DE81-E434-465E-A7B4-5A2CB956D7EA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209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two encoders for Turbo codes are generally identical. Soft decoding means that each of two decoders provides an assessment of the probability of a bit being 1. The two decoders then exchange information and refine their estimates iteratively. Turbo codes are extensively used in cell phones and other communication applications.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Rectangle 7"/>
          <p:cNvSpPr/>
          <p:nvPr/>
        </p:nvSpPr>
        <p:spPr>
          <a:xfrm>
            <a:off x="3886200" y="8832600"/>
            <a:ext cx="2971800" cy="463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FBDEBF9-3C6E-4DAA-9B19-007CB0F67B87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PlaceHolder 1"/>
          <p:cNvSpPr>
            <a:spLocks noGrp="1"/>
          </p:cNvSpPr>
          <p:nvPr>
            <p:ph type="sldImg"/>
          </p:nvPr>
        </p:nvSpPr>
        <p:spPr>
          <a:xfrm>
            <a:off x="1106280" y="698400"/>
            <a:ext cx="4646520" cy="3486240"/>
          </a:xfrm>
          <a:prstGeom prst="rect">
            <a:avLst/>
          </a:prstGeom>
          <a:ln w="0">
            <a:noFill/>
          </a:ln>
        </p:spPr>
      </p:sp>
      <p:sp>
        <p:nvSpPr>
          <p:cNvPr id="1212" name="PlaceHolder 2"/>
          <p:cNvSpPr>
            <a:spLocks noGrp="1"/>
          </p:cNvSpPr>
          <p:nvPr>
            <p:ph type="body"/>
          </p:nvPr>
        </p:nvSpPr>
        <p:spPr>
          <a:xfrm>
            <a:off x="914400" y="4416120"/>
            <a:ext cx="5029200" cy="41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8EC567B-48BD-49F4-B653-79D381708DC9}" type="slidenum">
              <a:t>&lt;#&gt;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C791BE61-614C-4778-83C5-BFC103B1E09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wmf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3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1066320"/>
            <a:ext cx="9144000" cy="106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>
                <a:solidFill>
                  <a:srgbClr val="CC3300"/>
                </a:solidFill>
                <a:effectLst/>
                <a:uFillTx/>
                <a:latin typeface="Arial"/>
                <a:ea typeface="Arial"/>
              </a:rPr>
              <a:t>ECE 5706: Resilient Computer System Design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AutoShape 3"/>
          <p:cNvSpPr/>
          <p:nvPr/>
        </p:nvSpPr>
        <p:spPr>
          <a:xfrm>
            <a:off x="1376280" y="1452240"/>
            <a:ext cx="6629400" cy="42181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Text Box 6"/>
          <p:cNvSpPr/>
          <p:nvPr/>
        </p:nvSpPr>
        <p:spPr>
          <a:xfrm>
            <a:off x="2590560" y="2590560"/>
            <a:ext cx="4186440" cy="2286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Error Detection &amp; Correction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Xin Xin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Assistant Professor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Electrical and Computer Engineering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Box 2"/>
          <p:cNvSpPr/>
          <p:nvPr/>
        </p:nvSpPr>
        <p:spPr>
          <a:xfrm>
            <a:off x="2604960" y="5562360"/>
            <a:ext cx="4419720" cy="11901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ACKNOWLEDGEMENT: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Prof. Behrooz Parhami at UCSB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Prof. Ronald F. DeMara at UCF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E2940A90-72D1-4D80-A51A-F0D703AC7B9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Hamming Distance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Box 4"/>
          <p:cNvSpPr/>
          <p:nvPr/>
        </p:nvSpPr>
        <p:spPr>
          <a:xfrm>
            <a:off x="380880" y="990360"/>
            <a:ext cx="77724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Definition: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Hamming distance between two bit-vectors is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 number of positions in which they differ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Text Box 5"/>
          <p:cNvSpPr/>
          <p:nvPr/>
        </p:nvSpPr>
        <p:spPr>
          <a:xfrm>
            <a:off x="1523880" y="4190760"/>
            <a:ext cx="5791320" cy="1921320"/>
          </a:xfrm>
          <a:prstGeom prst="rect">
            <a:avLst/>
          </a:prstGeom>
          <a:solidFill>
            <a:srgbClr val="FFFF66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137952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Min H-dist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Code capability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137952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1; 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137952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1; SEC  or 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2; DED)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137952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1 and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2; SEC/DED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137952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  or 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1 and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3; SEC/3ED)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137952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EC/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ED such that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Text Box 6"/>
          <p:cNvSpPr/>
          <p:nvPr/>
        </p:nvSpPr>
        <p:spPr>
          <a:xfrm>
            <a:off x="380880" y="1828800"/>
            <a:ext cx="2438280" cy="34441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 distance-2 code: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00011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00101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001</a:t>
            </a:r>
            <a:r>
              <a:rPr lang="en-US" sz="2000" b="0" u="none" strike="noStrike">
                <a:solidFill>
                  <a:srgbClr val="0033CC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Times New Roman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01010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10001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10010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10100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2" name="Group 7"/>
          <p:cNvGrpSpPr/>
          <p:nvPr/>
        </p:nvGrpSpPr>
        <p:grpSpPr>
          <a:xfrm>
            <a:off x="5333760" y="1371600"/>
            <a:ext cx="3581280" cy="2743200"/>
            <a:chOff x="5333760" y="1371600"/>
            <a:chExt cx="3581280" cy="2743200"/>
          </a:xfrm>
        </p:grpSpPr>
        <p:sp>
          <p:nvSpPr>
            <p:cNvPr id="23" name="Oval 8"/>
            <p:cNvSpPr/>
            <p:nvPr/>
          </p:nvSpPr>
          <p:spPr>
            <a:xfrm>
              <a:off x="6705360" y="2743200"/>
              <a:ext cx="152640" cy="152280"/>
            </a:xfrm>
            <a:prstGeom prst="ellipse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" name="Oval 9"/>
            <p:cNvSpPr/>
            <p:nvPr/>
          </p:nvSpPr>
          <p:spPr>
            <a:xfrm>
              <a:off x="6400800" y="2438280"/>
              <a:ext cx="761760" cy="76212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Oval 10"/>
            <p:cNvSpPr/>
            <p:nvPr/>
          </p:nvSpPr>
          <p:spPr>
            <a:xfrm>
              <a:off x="6095880" y="2133720"/>
              <a:ext cx="1371600" cy="137160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" name="Oval 11"/>
            <p:cNvSpPr/>
            <p:nvPr/>
          </p:nvSpPr>
          <p:spPr>
            <a:xfrm>
              <a:off x="5790960" y="1828800"/>
              <a:ext cx="1981440" cy="198108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" name="Oval 12"/>
            <p:cNvSpPr/>
            <p:nvPr/>
          </p:nvSpPr>
          <p:spPr>
            <a:xfrm>
              <a:off x="5486400" y="1523880"/>
              <a:ext cx="2590560" cy="259092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" name="Oval 13"/>
            <p:cNvSpPr/>
            <p:nvPr/>
          </p:nvSpPr>
          <p:spPr>
            <a:xfrm>
              <a:off x="7772400" y="3505320"/>
              <a:ext cx="152280" cy="152280"/>
            </a:xfrm>
            <a:prstGeom prst="ellipse">
              <a:avLst/>
            </a:prstGeom>
            <a:solidFill>
              <a:srgbClr val="00CC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" name="Oval 14"/>
            <p:cNvSpPr/>
            <p:nvPr/>
          </p:nvSpPr>
          <p:spPr>
            <a:xfrm>
              <a:off x="6705360" y="2362320"/>
              <a:ext cx="152640" cy="15228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" name="Oval 15"/>
            <p:cNvSpPr/>
            <p:nvPr/>
          </p:nvSpPr>
          <p:spPr>
            <a:xfrm>
              <a:off x="7315200" y="3048120"/>
              <a:ext cx="152280" cy="15228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" name="Line 16"/>
            <p:cNvSpPr/>
            <p:nvPr/>
          </p:nvSpPr>
          <p:spPr>
            <a:xfrm flipV="1">
              <a:off x="6781680" y="2514240"/>
              <a:ext cx="0" cy="22860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" name="Line 17"/>
            <p:cNvSpPr/>
            <p:nvPr/>
          </p:nvSpPr>
          <p:spPr>
            <a:xfrm>
              <a:off x="6858000" y="2867040"/>
              <a:ext cx="457200" cy="22860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" name="Line 18"/>
            <p:cNvSpPr/>
            <p:nvPr/>
          </p:nvSpPr>
          <p:spPr>
            <a:xfrm flipH="1" flipV="1">
              <a:off x="7467120" y="3200040"/>
              <a:ext cx="304920" cy="304920"/>
            </a:xfrm>
            <a:prstGeom prst="line">
              <a:avLst/>
            </a:prstGeom>
            <a:ln w="9360">
              <a:solidFill>
                <a:srgbClr val="000000"/>
              </a:solidFill>
              <a:prstDash val="dash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" name="Rectangle 19"/>
            <p:cNvSpPr/>
            <p:nvPr/>
          </p:nvSpPr>
          <p:spPr>
            <a:xfrm>
              <a:off x="5333760" y="2743200"/>
              <a:ext cx="1143000" cy="152280"/>
            </a:xfrm>
            <a:prstGeom prst="rect">
              <a:avLst/>
            </a:prstGeom>
            <a:solidFill>
              <a:srgbClr val="FFFFFF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" name="Text Box 20"/>
            <p:cNvSpPr/>
            <p:nvPr/>
          </p:nvSpPr>
          <p:spPr>
            <a:xfrm>
              <a:off x="5338440" y="2692440"/>
              <a:ext cx="1197360" cy="27684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4      3     2     1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" name="Text Box 21"/>
            <p:cNvSpPr/>
            <p:nvPr/>
          </p:nvSpPr>
          <p:spPr>
            <a:xfrm>
              <a:off x="7735320" y="3657600"/>
              <a:ext cx="875520" cy="27684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Codeword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" name="Line 22"/>
            <p:cNvSpPr/>
            <p:nvPr/>
          </p:nvSpPr>
          <p:spPr>
            <a:xfrm>
              <a:off x="6717960" y="2514600"/>
              <a:ext cx="0" cy="2286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" name="Text Box 23"/>
            <p:cNvSpPr/>
            <p:nvPr/>
          </p:nvSpPr>
          <p:spPr>
            <a:xfrm>
              <a:off x="7467480" y="1371600"/>
              <a:ext cx="968400" cy="45972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Correctable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error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" name="Line 24"/>
            <p:cNvSpPr/>
            <p:nvPr/>
          </p:nvSpPr>
          <p:spPr>
            <a:xfrm flipV="1">
              <a:off x="6781680" y="1676520"/>
              <a:ext cx="914400" cy="76176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" name="Text Box 25"/>
            <p:cNvSpPr/>
            <p:nvPr/>
          </p:nvSpPr>
          <p:spPr>
            <a:xfrm>
              <a:off x="8005680" y="2209680"/>
              <a:ext cx="909360" cy="45972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Detectable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error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" name="Line 26"/>
            <p:cNvSpPr/>
            <p:nvPr/>
          </p:nvSpPr>
          <p:spPr>
            <a:xfrm flipH="1">
              <a:off x="7390800" y="2514600"/>
              <a:ext cx="838440" cy="60948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" name="Text Box 27"/>
            <p:cNvSpPr/>
            <p:nvPr/>
          </p:nvSpPr>
          <p:spPr>
            <a:xfrm>
              <a:off x="6477120" y="2879640"/>
              <a:ext cx="595800" cy="31356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algn="ctr">
                <a:lnSpc>
                  <a:spcPct val="6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Code-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lnSpc>
                  <a:spcPct val="6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word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" name="Text Box 28"/>
            <p:cNvSpPr/>
            <p:nvPr/>
          </p:nvSpPr>
          <p:spPr>
            <a:xfrm>
              <a:off x="6781680" y="3276720"/>
              <a:ext cx="841680" cy="31356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algn="ctr">
                <a:lnSpc>
                  <a:spcPct val="6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Noncode-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lnSpc>
                  <a:spcPct val="6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word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44" name="Group 29"/>
          <p:cNvGrpSpPr/>
          <p:nvPr/>
        </p:nvGrpSpPr>
        <p:grpSpPr>
          <a:xfrm>
            <a:off x="1295280" y="2514600"/>
            <a:ext cx="3429000" cy="946800"/>
            <a:chOff x="1295280" y="2514600"/>
            <a:chExt cx="3429000" cy="946800"/>
          </a:xfrm>
        </p:grpSpPr>
        <p:sp>
          <p:nvSpPr>
            <p:cNvPr id="45" name="Line 30"/>
            <p:cNvSpPr/>
            <p:nvPr/>
          </p:nvSpPr>
          <p:spPr>
            <a:xfrm flipV="1">
              <a:off x="1295280" y="2666880"/>
              <a:ext cx="990720" cy="2286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Text Box 31"/>
            <p:cNvSpPr/>
            <p:nvPr/>
          </p:nvSpPr>
          <p:spPr>
            <a:xfrm>
              <a:off x="2286000" y="2514600"/>
              <a:ext cx="2438280" cy="94680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0011</a:t>
              </a:r>
              <a:r>
                <a:rPr lang="en-US" sz="20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Times New Roman"/>
                </a:rPr>
                <a:t>1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 (0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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 error)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001</a:t>
              </a:r>
              <a:r>
                <a:rPr lang="en-US" sz="2000" b="0" u="none" strike="noStrike">
                  <a:solidFill>
                    <a:srgbClr val="0033CC"/>
                  </a:solidFill>
                  <a:effectLst/>
                  <a:uFillTx/>
                  <a:latin typeface="Arial"/>
                  <a:ea typeface="Times New Roman"/>
                </a:rPr>
                <a:t>0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0 (1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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0 error)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7" name="Line 32"/>
            <p:cNvSpPr/>
            <p:nvPr/>
          </p:nvSpPr>
          <p:spPr>
            <a:xfrm>
              <a:off x="1295280" y="2971800"/>
              <a:ext cx="990720" cy="304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8" name="Text Box 33"/>
          <p:cNvSpPr/>
          <p:nvPr/>
        </p:nvSpPr>
        <p:spPr>
          <a:xfrm>
            <a:off x="6553080" y="4343400"/>
            <a:ext cx="2209680" cy="916920"/>
          </a:xfrm>
          <a:prstGeom prst="rect">
            <a:avLst/>
          </a:prstGeom>
          <a:solidFill>
            <a:srgbClr val="FFCC66"/>
          </a:solidFill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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so that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–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represents the add’l detection capability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A2C13440-8AAC-4758-B1CA-293CEDAFB69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28600" y="151920"/>
            <a:ext cx="86868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 Classification and Models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Text Box 3"/>
          <p:cNvPicPr/>
          <p:nvPr/>
        </p:nvPicPr>
        <p:blipFill>
          <a:blip r:embed="rId1"/>
          <a:stretch/>
        </p:blipFill>
        <p:spPr>
          <a:xfrm>
            <a:off x="317160" y="792000"/>
            <a:ext cx="8521920" cy="48528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F416B5AE-3A77-4C96-A1CC-DD735C62A85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28600" y="151920"/>
            <a:ext cx="86868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 Detection in Natural Language Texts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Group 2"/>
          <p:cNvGrpSpPr/>
          <p:nvPr/>
        </p:nvGrpSpPr>
        <p:grpSpPr>
          <a:xfrm>
            <a:off x="420480" y="1062000"/>
            <a:ext cx="3733920" cy="962280"/>
            <a:chOff x="420480" y="1062000"/>
            <a:chExt cx="3733920" cy="962280"/>
          </a:xfrm>
        </p:grpSpPr>
        <p:sp>
          <p:nvSpPr>
            <p:cNvPr id="58" name="Text Box 3"/>
            <p:cNvSpPr/>
            <p:nvPr/>
          </p:nvSpPr>
          <p:spPr>
            <a:xfrm>
              <a:off x="565560" y="1062000"/>
              <a:ext cx="3353040" cy="962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9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ERROR</a:t>
              </a:r>
              <a:endParaRPr lang="en-US" sz="6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420480" y="1350720"/>
              <a:ext cx="3733920" cy="615960"/>
            </a:xfrm>
            <a:prstGeom prst="rect">
              <a:avLst/>
            </a:prstGeom>
            <a:solidFill>
              <a:srgbClr val="FFFFFF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0" name="Group 9"/>
          <p:cNvGrpSpPr/>
          <p:nvPr/>
        </p:nvGrpSpPr>
        <p:grpSpPr>
          <a:xfrm>
            <a:off x="398160" y="1974600"/>
            <a:ext cx="3733920" cy="992160"/>
            <a:chOff x="398160" y="1974600"/>
            <a:chExt cx="3733920" cy="992160"/>
          </a:xfrm>
        </p:grpSpPr>
        <p:sp>
          <p:nvSpPr>
            <p:cNvPr id="61" name="Text Box 3"/>
            <p:cNvSpPr/>
            <p:nvPr/>
          </p:nvSpPr>
          <p:spPr>
            <a:xfrm>
              <a:off x="530280" y="1974600"/>
              <a:ext cx="3353040" cy="962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9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ERROR</a:t>
              </a:r>
              <a:endParaRPr lang="en-US" sz="6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" name="Rectangle 11"/>
            <p:cNvSpPr/>
            <p:nvPr/>
          </p:nvSpPr>
          <p:spPr>
            <a:xfrm>
              <a:off x="398160" y="2350800"/>
              <a:ext cx="3733920" cy="615960"/>
            </a:xfrm>
            <a:prstGeom prst="rect">
              <a:avLst/>
            </a:prstGeom>
            <a:solidFill>
              <a:srgbClr val="FFFFFF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3" name="Group 12"/>
          <p:cNvGrpSpPr/>
          <p:nvPr/>
        </p:nvGrpSpPr>
        <p:grpSpPr>
          <a:xfrm>
            <a:off x="474480" y="2990520"/>
            <a:ext cx="3733920" cy="962280"/>
            <a:chOff x="474480" y="2990520"/>
            <a:chExt cx="3733920" cy="962280"/>
          </a:xfrm>
        </p:grpSpPr>
        <p:sp>
          <p:nvSpPr>
            <p:cNvPr id="64" name="Text Box 3"/>
            <p:cNvSpPr/>
            <p:nvPr/>
          </p:nvSpPr>
          <p:spPr>
            <a:xfrm>
              <a:off x="534240" y="2990520"/>
              <a:ext cx="3353040" cy="962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9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ERROR</a:t>
              </a:r>
              <a:endParaRPr lang="en-US" sz="6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" name="Rectangle 14"/>
            <p:cNvSpPr/>
            <p:nvPr/>
          </p:nvSpPr>
          <p:spPr>
            <a:xfrm>
              <a:off x="474480" y="3503520"/>
              <a:ext cx="3733920" cy="376200"/>
            </a:xfrm>
            <a:prstGeom prst="rect">
              <a:avLst/>
            </a:prstGeom>
            <a:solidFill>
              <a:srgbClr val="FFFFFF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6" name="Group 15"/>
          <p:cNvGrpSpPr/>
          <p:nvPr/>
        </p:nvGrpSpPr>
        <p:grpSpPr>
          <a:xfrm>
            <a:off x="448920" y="3971880"/>
            <a:ext cx="3733920" cy="962280"/>
            <a:chOff x="448920" y="3971880"/>
            <a:chExt cx="3733920" cy="962280"/>
          </a:xfrm>
        </p:grpSpPr>
        <p:sp>
          <p:nvSpPr>
            <p:cNvPr id="67" name="Text Box 3"/>
            <p:cNvSpPr/>
            <p:nvPr/>
          </p:nvSpPr>
          <p:spPr>
            <a:xfrm>
              <a:off x="564840" y="3971880"/>
              <a:ext cx="3353040" cy="962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9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ERROR</a:t>
              </a:r>
              <a:endParaRPr lang="en-US" sz="6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" name="Rectangle 17"/>
            <p:cNvSpPr/>
            <p:nvPr/>
          </p:nvSpPr>
          <p:spPr>
            <a:xfrm>
              <a:off x="448920" y="4589280"/>
              <a:ext cx="3733920" cy="287280"/>
            </a:xfrm>
            <a:prstGeom prst="rect">
              <a:avLst/>
            </a:prstGeom>
            <a:solidFill>
              <a:srgbClr val="FFFFFF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69" name="Text Box 3"/>
          <p:cNvSpPr/>
          <p:nvPr/>
        </p:nvSpPr>
        <p:spPr>
          <a:xfrm>
            <a:off x="536400" y="4921200"/>
            <a:ext cx="3352680" cy="962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0" name="Group 9216"/>
          <p:cNvGrpSpPr/>
          <p:nvPr/>
        </p:nvGrpSpPr>
        <p:grpSpPr>
          <a:xfrm>
            <a:off x="5094000" y="1062000"/>
            <a:ext cx="3353040" cy="1268280"/>
            <a:chOff x="5094000" y="1062000"/>
            <a:chExt cx="3353040" cy="1268280"/>
          </a:xfrm>
        </p:grpSpPr>
        <p:sp>
          <p:nvSpPr>
            <p:cNvPr id="71" name="Text Box 3"/>
            <p:cNvSpPr/>
            <p:nvPr/>
          </p:nvSpPr>
          <p:spPr>
            <a:xfrm>
              <a:off x="5094000" y="1062000"/>
              <a:ext cx="3353040" cy="962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9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ERROR</a:t>
              </a:r>
              <a:endParaRPr lang="en-US" sz="6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2" name="Rectangle 7"/>
            <p:cNvSpPr/>
            <p:nvPr/>
          </p:nvSpPr>
          <p:spPr>
            <a:xfrm>
              <a:off x="5932080" y="1126800"/>
              <a:ext cx="503280" cy="76680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B3B3B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Rectangle 24"/>
            <p:cNvSpPr/>
            <p:nvPr/>
          </p:nvSpPr>
          <p:spPr>
            <a:xfrm>
              <a:off x="7030800" y="1126800"/>
              <a:ext cx="522360" cy="76680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B3B3B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" name="Text Box 3"/>
            <p:cNvSpPr/>
            <p:nvPr/>
          </p:nvSpPr>
          <p:spPr>
            <a:xfrm>
              <a:off x="5270760" y="1946880"/>
              <a:ext cx="2999520" cy="38340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9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Erasure errors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5" name="Group 21"/>
          <p:cNvGrpSpPr/>
          <p:nvPr/>
        </p:nvGrpSpPr>
        <p:grpSpPr>
          <a:xfrm>
            <a:off x="5072040" y="2803320"/>
            <a:ext cx="3352680" cy="1267200"/>
            <a:chOff x="5072040" y="2803320"/>
            <a:chExt cx="3352680" cy="1267200"/>
          </a:xfrm>
        </p:grpSpPr>
        <p:sp>
          <p:nvSpPr>
            <p:cNvPr id="76" name="Text Box 3"/>
            <p:cNvSpPr/>
            <p:nvPr/>
          </p:nvSpPr>
          <p:spPr>
            <a:xfrm>
              <a:off x="5072040" y="2803320"/>
              <a:ext cx="3352680" cy="962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9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EQROR</a:t>
              </a:r>
              <a:endParaRPr lang="en-US" sz="6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7" name="Text Box 3"/>
            <p:cNvSpPr/>
            <p:nvPr/>
          </p:nvSpPr>
          <p:spPr>
            <a:xfrm>
              <a:off x="5248800" y="3687120"/>
              <a:ext cx="2999160" cy="38340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9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Substitution error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8" name="Group 26"/>
          <p:cNvGrpSpPr/>
          <p:nvPr/>
        </p:nvGrpSpPr>
        <p:grpSpPr>
          <a:xfrm>
            <a:off x="5057640" y="4589280"/>
            <a:ext cx="3352680" cy="1268640"/>
            <a:chOff x="5057640" y="4589280"/>
            <a:chExt cx="3352680" cy="1268640"/>
          </a:xfrm>
        </p:grpSpPr>
        <p:sp>
          <p:nvSpPr>
            <p:cNvPr id="79" name="Text Box 3"/>
            <p:cNvSpPr/>
            <p:nvPr/>
          </p:nvSpPr>
          <p:spPr>
            <a:xfrm>
              <a:off x="5057640" y="4589280"/>
              <a:ext cx="3352680" cy="962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9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6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ERORR</a:t>
              </a:r>
              <a:endParaRPr lang="en-US" sz="6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0" name="Text Box 3"/>
            <p:cNvSpPr/>
            <p:nvPr/>
          </p:nvSpPr>
          <p:spPr>
            <a:xfrm>
              <a:off x="5234400" y="5474520"/>
              <a:ext cx="2999160" cy="38340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9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Transposition error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1AA33D00-BF2C-47CE-BB80-39079CA1B89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28600" y="151920"/>
            <a:ext cx="86868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Application of Coding to Error Control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3"/>
          <p:cNvPicPr/>
          <p:nvPr/>
        </p:nvPicPr>
        <p:blipFill>
          <a:blip r:embed="rId1"/>
          <a:stretch/>
        </p:blipFill>
        <p:spPr>
          <a:xfrm>
            <a:off x="4267080" y="914400"/>
            <a:ext cx="4608360" cy="510516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86" name="Text Box 4"/>
          <p:cNvSpPr/>
          <p:nvPr/>
        </p:nvSpPr>
        <p:spPr>
          <a:xfrm>
            <a:off x="1523880" y="5333760"/>
            <a:ext cx="3657600" cy="703080"/>
          </a:xfrm>
          <a:prstGeom prst="rect">
            <a:avLst/>
          </a:prstGeom>
          <a:solidFill>
            <a:srgbClr val="CCFF99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common way of applying information coding techniques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Text Box 5"/>
          <p:cNvSpPr/>
          <p:nvPr/>
        </p:nvSpPr>
        <p:spPr>
          <a:xfrm>
            <a:off x="304560" y="3504960"/>
            <a:ext cx="3886200" cy="1656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Arithmetic codes can help detect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(or correct) errors during data manipulations: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1.  Product codes (e.g., 15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2.  Residue codes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mod 15)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Text Box 6"/>
          <p:cNvSpPr/>
          <p:nvPr/>
        </p:nvSpPr>
        <p:spPr>
          <a:xfrm>
            <a:off x="304560" y="914400"/>
            <a:ext cx="3886200" cy="24091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Ordinary codes can be used for storage and transmission errors; they are not closed under arithmetic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logic operations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Error-detecting, error-correcting, or combination codes (e.g., Hamming SEC/DED)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13553611-45E9-4D74-99D9-813E2FD2643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Concept of Error-Detecting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Box 4"/>
          <p:cNvSpPr/>
          <p:nvPr/>
        </p:nvSpPr>
        <p:spPr>
          <a:xfrm>
            <a:off x="609480" y="3657600"/>
            <a:ext cx="8001000" cy="22258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 simplest possible error-detecting code: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Attach an even parity bit to each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-bit data word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Check bit = XOR of all data bits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Data space: All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possible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-bit words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Code space: All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possible even-parity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+ 1)-bit codewords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Error space: All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possible odd-parity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+ 1)-bit noncodewords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Detects all single-bit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Oval 5"/>
          <p:cNvSpPr/>
          <p:nvPr/>
        </p:nvSpPr>
        <p:spPr>
          <a:xfrm>
            <a:off x="990360" y="1447560"/>
            <a:ext cx="2133720" cy="1371600"/>
          </a:xfrm>
          <a:prstGeom prst="ellipse">
            <a:avLst/>
          </a:prstGeom>
          <a:solidFill>
            <a:srgbClr val="CCE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Oval 6"/>
          <p:cNvSpPr/>
          <p:nvPr/>
        </p:nvSpPr>
        <p:spPr>
          <a:xfrm>
            <a:off x="2133360" y="2057400"/>
            <a:ext cx="152640" cy="152280"/>
          </a:xfrm>
          <a:prstGeom prst="ellipse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Oval 7"/>
          <p:cNvSpPr/>
          <p:nvPr/>
        </p:nvSpPr>
        <p:spPr>
          <a:xfrm>
            <a:off x="4800600" y="1371600"/>
            <a:ext cx="3200400" cy="213336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reeform 8"/>
          <p:cNvSpPr/>
          <p:nvPr/>
        </p:nvSpPr>
        <p:spPr>
          <a:xfrm>
            <a:off x="2286000" y="1688760"/>
            <a:ext cx="3962160" cy="444600"/>
          </a:xfrm>
          <a:custGeom>
            <a:avLst/>
            <a:gdLst>
              <a:gd name="GluePoint1X" fmla="*/ 0 w 2496"/>
              <a:gd name="GluePoint1Y" fmla="*/ 2147483646 h 280"/>
              <a:gd name="GluePoint2X" fmla="*/ 2147483646 w 2496"/>
              <a:gd name="GluePoint2Y" fmla="*/ 2147483646 h 280"/>
              <a:gd name="GluePoint3X" fmla="*/ 2147483646 w 2496"/>
              <a:gd name="GluePoint3Y" fmla="*/ 2147483646 h 280"/>
              <a:gd name="GluePoint4X" fmla="*/ 2147483646 w 2496"/>
              <a:gd name="GluePoint4Y" fmla="*/ 2147483646 h 2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496" h="280">
                <a:moveTo>
                  <a:pt x="0" y="232"/>
                </a:moveTo>
                <a:cubicBezTo>
                  <a:pt x="168" y="152"/>
                  <a:pt x="336" y="72"/>
                  <a:pt x="624" y="40"/>
                </a:cubicBezTo>
                <a:cubicBezTo>
                  <a:pt x="912" y="8"/>
                  <a:pt x="1416" y="0"/>
                  <a:pt x="1728" y="40"/>
                </a:cubicBezTo>
                <a:cubicBezTo>
                  <a:pt x="2040" y="80"/>
                  <a:pt x="2368" y="240"/>
                  <a:pt x="2496" y="280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reeform 9"/>
          <p:cNvSpPr/>
          <p:nvPr/>
        </p:nvSpPr>
        <p:spPr>
          <a:xfrm>
            <a:off x="2286000" y="2209680"/>
            <a:ext cx="3936960" cy="420480"/>
          </a:xfrm>
          <a:custGeom>
            <a:avLst/>
            <a:gdLst>
              <a:gd name="GluePoint1X" fmla="*/ 0 w 2480"/>
              <a:gd name="GluePoint1Y" fmla="*/ 0 h 265"/>
              <a:gd name="GluePoint2X" fmla="*/ 2147483646 w 2480"/>
              <a:gd name="GluePoint2Y" fmla="*/ 2147483646 h 265"/>
              <a:gd name="GluePoint3X" fmla="*/ 2147483646 w 2480"/>
              <a:gd name="GluePoint3Y" fmla="*/ 2147483646 h 265"/>
              <a:gd name="GluePoint4X" fmla="*/ 2147483646 w 2480"/>
              <a:gd name="GluePoint4Y" fmla="*/ 2147483646 h 26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480" h="265">
                <a:moveTo>
                  <a:pt x="0" y="0"/>
                </a:moveTo>
                <a:cubicBezTo>
                  <a:pt x="95" y="36"/>
                  <a:pt x="291" y="177"/>
                  <a:pt x="568" y="216"/>
                </a:cubicBezTo>
                <a:cubicBezTo>
                  <a:pt x="845" y="255"/>
                  <a:pt x="1345" y="265"/>
                  <a:pt x="1664" y="232"/>
                </a:cubicBezTo>
                <a:cubicBezTo>
                  <a:pt x="1983" y="199"/>
                  <a:pt x="2310" y="61"/>
                  <a:pt x="2480" y="16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ext Box 10"/>
          <p:cNvSpPr/>
          <p:nvPr/>
        </p:nvSpPr>
        <p:spPr>
          <a:xfrm>
            <a:off x="3506400" y="1395360"/>
            <a:ext cx="10260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Encoding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Text Box 11"/>
          <p:cNvSpPr/>
          <p:nvPr/>
        </p:nvSpPr>
        <p:spPr>
          <a:xfrm>
            <a:off x="3430080" y="2614320"/>
            <a:ext cx="103716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Decoding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Oval 12"/>
          <p:cNvSpPr/>
          <p:nvPr/>
        </p:nvSpPr>
        <p:spPr>
          <a:xfrm>
            <a:off x="7135560" y="2666880"/>
            <a:ext cx="15264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Oval 13"/>
          <p:cNvSpPr/>
          <p:nvPr/>
        </p:nvSpPr>
        <p:spPr>
          <a:xfrm>
            <a:off x="6248160" y="2895480"/>
            <a:ext cx="15264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Line 14"/>
          <p:cNvSpPr/>
          <p:nvPr/>
        </p:nvSpPr>
        <p:spPr>
          <a:xfrm>
            <a:off x="6324480" y="2209680"/>
            <a:ext cx="838080" cy="45720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Line 15"/>
          <p:cNvSpPr/>
          <p:nvPr/>
        </p:nvSpPr>
        <p:spPr>
          <a:xfrm>
            <a:off x="6324480" y="2286000"/>
            <a:ext cx="0" cy="6094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Oval 16"/>
          <p:cNvSpPr/>
          <p:nvPr/>
        </p:nvSpPr>
        <p:spPr>
          <a:xfrm>
            <a:off x="7086600" y="1904760"/>
            <a:ext cx="152280" cy="152640"/>
          </a:xfrm>
          <a:prstGeom prst="ellipse">
            <a:avLst/>
          </a:prstGeom>
          <a:solidFill>
            <a:srgbClr val="0066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Oval 17"/>
          <p:cNvSpPr/>
          <p:nvPr/>
        </p:nvSpPr>
        <p:spPr>
          <a:xfrm>
            <a:off x="1676160" y="1600200"/>
            <a:ext cx="152640" cy="152280"/>
          </a:xfrm>
          <a:prstGeom prst="ellipse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Oval 18"/>
          <p:cNvSpPr/>
          <p:nvPr/>
        </p:nvSpPr>
        <p:spPr>
          <a:xfrm>
            <a:off x="1371600" y="2133360"/>
            <a:ext cx="152280" cy="152640"/>
          </a:xfrm>
          <a:prstGeom prst="ellipse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Text Box 19"/>
          <p:cNvSpPr/>
          <p:nvPr/>
        </p:nvSpPr>
        <p:spPr>
          <a:xfrm>
            <a:off x="1221480" y="1752480"/>
            <a:ext cx="12060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Data words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Text Box 20"/>
          <p:cNvSpPr/>
          <p:nvPr/>
        </p:nvSpPr>
        <p:spPr>
          <a:xfrm>
            <a:off x="5945400" y="1676160"/>
            <a:ext cx="12060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Codewords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Text Box 21"/>
          <p:cNvSpPr/>
          <p:nvPr/>
        </p:nvSpPr>
        <p:spPr>
          <a:xfrm>
            <a:off x="5945400" y="2971800"/>
            <a:ext cx="153288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Noncodewords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Oval 22"/>
          <p:cNvSpPr/>
          <p:nvPr/>
        </p:nvSpPr>
        <p:spPr>
          <a:xfrm>
            <a:off x="6781680" y="2819160"/>
            <a:ext cx="152280" cy="15264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Line 23"/>
          <p:cNvSpPr/>
          <p:nvPr/>
        </p:nvSpPr>
        <p:spPr>
          <a:xfrm>
            <a:off x="6324480" y="2209680"/>
            <a:ext cx="457200" cy="6094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Oval 24"/>
          <p:cNvSpPr/>
          <p:nvPr/>
        </p:nvSpPr>
        <p:spPr>
          <a:xfrm>
            <a:off x="6248160" y="2133360"/>
            <a:ext cx="152640" cy="152640"/>
          </a:xfrm>
          <a:prstGeom prst="ellipse">
            <a:avLst/>
          </a:prstGeom>
          <a:solidFill>
            <a:srgbClr val="0066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Oval 25"/>
          <p:cNvSpPr/>
          <p:nvPr/>
        </p:nvSpPr>
        <p:spPr>
          <a:xfrm>
            <a:off x="7543800" y="2133360"/>
            <a:ext cx="152280" cy="152640"/>
          </a:xfrm>
          <a:prstGeom prst="ellipse">
            <a:avLst/>
          </a:prstGeom>
          <a:solidFill>
            <a:srgbClr val="0066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Oval 26"/>
          <p:cNvSpPr/>
          <p:nvPr/>
        </p:nvSpPr>
        <p:spPr>
          <a:xfrm>
            <a:off x="1752480" y="2286000"/>
            <a:ext cx="152280" cy="152280"/>
          </a:xfrm>
          <a:prstGeom prst="ellipse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Text Box 27"/>
          <p:cNvSpPr/>
          <p:nvPr/>
        </p:nvSpPr>
        <p:spPr>
          <a:xfrm>
            <a:off x="6631920" y="2133360"/>
            <a:ext cx="7326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Errors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Line 28"/>
          <p:cNvSpPr/>
          <p:nvPr/>
        </p:nvSpPr>
        <p:spPr>
          <a:xfrm>
            <a:off x="5715000" y="2743200"/>
            <a:ext cx="533160" cy="20952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Oval 29"/>
          <p:cNvSpPr/>
          <p:nvPr/>
        </p:nvSpPr>
        <p:spPr>
          <a:xfrm>
            <a:off x="5638680" y="2666880"/>
            <a:ext cx="152280" cy="152280"/>
          </a:xfrm>
          <a:prstGeom prst="ellipse">
            <a:avLst/>
          </a:prstGeom>
          <a:solidFill>
            <a:srgbClr val="0066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Line 30"/>
          <p:cNvSpPr/>
          <p:nvPr/>
        </p:nvSpPr>
        <p:spPr>
          <a:xfrm flipH="1">
            <a:off x="7238520" y="2286000"/>
            <a:ext cx="304920" cy="3808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Text Box 31"/>
          <p:cNvSpPr/>
          <p:nvPr/>
        </p:nvSpPr>
        <p:spPr>
          <a:xfrm>
            <a:off x="1450080" y="1143000"/>
            <a:ext cx="12060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Text Box 32"/>
          <p:cNvSpPr/>
          <p:nvPr/>
        </p:nvSpPr>
        <p:spPr>
          <a:xfrm>
            <a:off x="5335920" y="1066680"/>
            <a:ext cx="126252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Code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reeform 33"/>
          <p:cNvSpPr/>
          <p:nvPr/>
        </p:nvSpPr>
        <p:spPr>
          <a:xfrm>
            <a:off x="5422680" y="2427120"/>
            <a:ext cx="2540160" cy="849240"/>
          </a:xfrm>
          <a:custGeom>
            <a:avLst/>
            <a:gdLst>
              <a:gd name="GluePoint1X" fmla="*/ 0 w 1600"/>
              <a:gd name="GluePoint1Y" fmla="*/ 2147483646 h 535"/>
              <a:gd name="GluePoint2X" fmla="*/ 2147483646 w 1600"/>
              <a:gd name="GluePoint2Y" fmla="*/ 2147483646 h 535"/>
              <a:gd name="GluePoint3X" fmla="*/ 2147483646 w 1600"/>
              <a:gd name="GluePoint3Y" fmla="*/ 2147483646 h 535"/>
              <a:gd name="GluePoint4X" fmla="*/ 2147483646 w 1600"/>
              <a:gd name="GluePoint4Y" fmla="*/ 2147483646 h 53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1600" h="535">
                <a:moveTo>
                  <a:pt x="0" y="535"/>
                </a:moveTo>
                <a:cubicBezTo>
                  <a:pt x="71" y="470"/>
                  <a:pt x="249" y="239"/>
                  <a:pt x="424" y="151"/>
                </a:cubicBezTo>
                <a:cubicBezTo>
                  <a:pt x="599" y="63"/>
                  <a:pt x="852" y="14"/>
                  <a:pt x="1048" y="7"/>
                </a:cubicBezTo>
                <a:cubicBezTo>
                  <a:pt x="1244" y="0"/>
                  <a:pt x="1485" y="89"/>
                  <a:pt x="1600" y="111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Text Box 34"/>
          <p:cNvSpPr/>
          <p:nvPr/>
        </p:nvSpPr>
        <p:spPr>
          <a:xfrm>
            <a:off x="6784920" y="3429000"/>
            <a:ext cx="122832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Error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Text Box 35"/>
          <p:cNvSpPr/>
          <p:nvPr/>
        </p:nvSpPr>
        <p:spPr>
          <a:xfrm>
            <a:off x="6248160" y="4267080"/>
            <a:ext cx="251460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0 0 1 0 1 0 0 0 1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6" name="Group 36"/>
          <p:cNvGrpSpPr/>
          <p:nvPr/>
        </p:nvGrpSpPr>
        <p:grpSpPr>
          <a:xfrm>
            <a:off x="7467480" y="4038480"/>
            <a:ext cx="380880" cy="533520"/>
            <a:chOff x="7467480" y="4038480"/>
            <a:chExt cx="380880" cy="533520"/>
          </a:xfrm>
        </p:grpSpPr>
        <p:sp>
          <p:nvSpPr>
            <p:cNvPr id="127" name="Line 37"/>
            <p:cNvSpPr/>
            <p:nvPr/>
          </p:nvSpPr>
          <p:spPr>
            <a:xfrm flipH="1">
              <a:off x="7619760" y="4343400"/>
              <a:ext cx="152640" cy="22860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" name="Text Box 38"/>
            <p:cNvSpPr/>
            <p:nvPr/>
          </p:nvSpPr>
          <p:spPr>
            <a:xfrm>
              <a:off x="7467480" y="4038480"/>
              <a:ext cx="380880" cy="39852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BE2389DD-B6DD-4E38-A583-11666B3A5B5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Evaluation of Error-Detecting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Box 4"/>
          <p:cNvSpPr/>
          <p:nvPr/>
        </p:nvSpPr>
        <p:spPr>
          <a:xfrm>
            <a:off x="457200" y="990360"/>
            <a:ext cx="800100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Redundancy: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data bits encoded in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bits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redundant bits)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Text Box 5"/>
          <p:cNvSpPr/>
          <p:nvPr/>
        </p:nvSpPr>
        <p:spPr>
          <a:xfrm>
            <a:off x="457200" y="1600200"/>
            <a:ext cx="800100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Encoding: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Complexity (cost / time) to form codeword from data word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Text Box 6"/>
          <p:cNvSpPr/>
          <p:nvPr/>
        </p:nvSpPr>
        <p:spPr>
          <a:xfrm>
            <a:off x="457200" y="2209680"/>
            <a:ext cx="82296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Decoding: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Complexity (cost / time) to obtain data word from codeword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Separable codes have computation-free decoding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Text Box 7"/>
          <p:cNvSpPr/>
          <p:nvPr/>
        </p:nvSpPr>
        <p:spPr>
          <a:xfrm>
            <a:off x="457200" y="3124080"/>
            <a:ext cx="830556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Capability: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Classes of error that can be detected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Greater detection capability generally involves more redundancy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To detect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bit-errors, a minimum code distance of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+ 1 is required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Text Box 8"/>
          <p:cNvSpPr/>
          <p:nvPr/>
        </p:nvSpPr>
        <p:spPr>
          <a:xfrm>
            <a:off x="457200" y="5105160"/>
            <a:ext cx="80010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Closure: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Arithmetic and other operations done directly on codewords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(rather than in 3 stages: decode, operate, and encode)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Text Box 9"/>
          <p:cNvSpPr/>
          <p:nvPr/>
        </p:nvSpPr>
        <p:spPr>
          <a:xfrm>
            <a:off x="457200" y="4190760"/>
            <a:ext cx="80010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Examples of code detection capabilities: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Single, double,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-bit burst, byte, unidirectional, . . .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9CDF32F3-887C-4BBD-88C9-11FD81B24FD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13.2  Checksum Codes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Box 4"/>
          <p:cNvSpPr/>
          <p:nvPr/>
        </p:nvSpPr>
        <p:spPr>
          <a:xfrm>
            <a:off x="380880" y="990360"/>
            <a:ext cx="8381880" cy="1312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Ex.: 12-digit UPC-A universal product code—Computing the check digit: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Add the odd-indexed digits and multiply the sum by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Add the sum of even-indexed digits to previous result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Subtract the total from the next higher multiple of 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" name="Text Box 5"/>
          <p:cNvPicPr/>
          <p:nvPr/>
        </p:nvPicPr>
        <p:blipFill>
          <a:blip r:embed="rId1"/>
          <a:stretch/>
        </p:blipFill>
        <p:spPr>
          <a:xfrm>
            <a:off x="317160" y="5005080"/>
            <a:ext cx="6388200" cy="11462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47" name="Text Box 6"/>
          <p:cNvSpPr/>
          <p:nvPr/>
        </p:nvSpPr>
        <p:spPr>
          <a:xfrm>
            <a:off x="380880" y="4190760"/>
            <a:ext cx="632448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Checking: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Verify that weighted mod-10 sum of all 12 digits is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Text Box 7"/>
          <p:cNvSpPr/>
          <p:nvPr/>
        </p:nvSpPr>
        <p:spPr>
          <a:xfrm>
            <a:off x="380880" y="2438280"/>
            <a:ext cx="6324480" cy="16167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Example: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Sum odd indexed digits: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14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Multiply by 3: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14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3 =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42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Add even-indexed digits: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42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9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58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Compute check digit: 60 – 58 = </a:t>
            </a:r>
            <a:r>
              <a:rPr lang="en-US" sz="2000" b="0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Text Box 8"/>
          <p:cNvSpPr/>
          <p:nvPr/>
        </p:nvSpPr>
        <p:spPr>
          <a:xfrm>
            <a:off x="6629400" y="4419360"/>
            <a:ext cx="2225520" cy="1556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Bar code uses 7 bits per digit, with different encodings on the right and left halves and different parities at various positions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Picture 9" descr="In the UPC-A barcode, each digit is represented by a seven-bit sequence, encoded by a series of alternating bars and spaces. Guard bars, shown in green, separate the two groups of six digits."/>
          <p:cNvPicPr/>
          <p:nvPr/>
        </p:nvPicPr>
        <p:blipFill>
          <a:blip r:embed="rId2"/>
          <a:stretch/>
        </p:blipFill>
        <p:spPr>
          <a:xfrm>
            <a:off x="6476760" y="2286000"/>
            <a:ext cx="2438640" cy="190332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51" name="Oval 10"/>
          <p:cNvSpPr/>
          <p:nvPr/>
        </p:nvSpPr>
        <p:spPr>
          <a:xfrm>
            <a:off x="8591400" y="3809880"/>
            <a:ext cx="228600" cy="380880"/>
          </a:xfrm>
          <a:prstGeom prst="ellipse">
            <a:avLst/>
          </a:prstGeom>
          <a:noFill/>
          <a:ln w="284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Text Box 11"/>
          <p:cNvSpPr/>
          <p:nvPr/>
        </p:nvSpPr>
        <p:spPr>
          <a:xfrm>
            <a:off x="6476760" y="3962160"/>
            <a:ext cx="2362320" cy="6724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1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6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  7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9</a:t>
            </a:r>
            <a:r>
              <a:rPr lang="en-US" sz="1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0033CC"/>
                </a:solidFill>
                <a:effectLst/>
                <a:uFillTx/>
                <a:latin typeface="Arial Narrow"/>
                <a:ea typeface="Arial"/>
              </a:rPr>
              <a:t>10</a:t>
            </a:r>
            <a:r>
              <a:rPr lang="en-US" sz="1000" b="0" u="none" strike="noStrike">
                <a:solidFill>
                  <a:srgbClr val="0033CC"/>
                </a:solidFill>
                <a:effectLst/>
                <a:uFillTx/>
                <a:latin typeface="Arial Narrow"/>
                <a:ea typeface="Arial"/>
              </a:rPr>
              <a:t>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 Narrow"/>
                <a:ea typeface="Arial"/>
              </a:rPr>
              <a:t>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4C251DCA-3B74-4396-9BFD-CA52B2EAA95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Characterization of Checksum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Box 4"/>
          <p:cNvSpPr/>
          <p:nvPr/>
        </p:nvSpPr>
        <p:spPr>
          <a:xfrm>
            <a:off x="533160" y="990360"/>
            <a:ext cx="8153640" cy="1335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Given a data vector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. . . 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encode the data by attaching the checksum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the end, such that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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=1 to 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</a:t>
            </a:r>
            <a:r>
              <a:rPr lang="en-US" sz="12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0 mod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elements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of the weight vector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are predetermined constants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Text Box 5"/>
          <p:cNvSpPr/>
          <p:nvPr/>
        </p:nvSpPr>
        <p:spPr>
          <a:xfrm>
            <a:off x="533160" y="4647960"/>
            <a:ext cx="800100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Capabilities: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Detects all errors adding an error magnitude that is not a multiple of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Text Box 6"/>
          <p:cNvSpPr/>
          <p:nvPr/>
        </p:nvSpPr>
        <p:spPr>
          <a:xfrm>
            <a:off x="533160" y="3809880"/>
            <a:ext cx="632484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Checking: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Verify that weighted mod-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sum of all elements is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Text Box 7"/>
          <p:cNvSpPr/>
          <p:nvPr/>
        </p:nvSpPr>
        <p:spPr>
          <a:xfrm>
            <a:off x="533160" y="2361960"/>
            <a:ext cx="6324840" cy="1312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Example: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 the UPC-A checksum scheme, we have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3, 1, 3, 1, 3, 1, 3, 1, 3, 1, 3,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Text Box 8"/>
          <p:cNvSpPr/>
          <p:nvPr/>
        </p:nvSpPr>
        <p:spPr>
          <a:xfrm>
            <a:off x="533160" y="5562360"/>
            <a:ext cx="800100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Variant: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Vector elements may be XORed rather than added together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3" name="Picture 9" descr="In the UPC-A barcode, each digit is represented by a seven-bit sequence, encoded by a series of alternating bars and spaces. Guard bars, shown in green, separate the two groups of six digits."/>
          <p:cNvPicPr/>
          <p:nvPr/>
        </p:nvPicPr>
        <p:blipFill>
          <a:blip r:embed="rId1"/>
          <a:stretch/>
        </p:blipFill>
        <p:spPr>
          <a:xfrm>
            <a:off x="6476760" y="2286000"/>
            <a:ext cx="2438640" cy="190332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64" name="Text Box 10"/>
          <p:cNvSpPr/>
          <p:nvPr/>
        </p:nvSpPr>
        <p:spPr>
          <a:xfrm>
            <a:off x="6476760" y="3962160"/>
            <a:ext cx="2362320" cy="6724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1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6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  7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9</a:t>
            </a:r>
            <a:r>
              <a:rPr lang="en-US" sz="1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0033CC"/>
                </a:solidFill>
                <a:effectLst/>
                <a:uFillTx/>
                <a:latin typeface="Arial Narrow"/>
                <a:ea typeface="Arial"/>
              </a:rPr>
              <a:t>10</a:t>
            </a:r>
            <a:r>
              <a:rPr lang="en-US" sz="1000" b="0" u="none" strike="noStrike">
                <a:solidFill>
                  <a:srgbClr val="0033CC"/>
                </a:solidFill>
                <a:effectLst/>
                <a:uFillTx/>
                <a:latin typeface="Arial Narrow"/>
                <a:ea typeface="Arial"/>
              </a:rPr>
              <a:t> </a:t>
            </a: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 Narrow"/>
                <a:ea typeface="Arial"/>
              </a:rPr>
              <a:t>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Oval 11"/>
          <p:cNvSpPr/>
          <p:nvPr/>
        </p:nvSpPr>
        <p:spPr>
          <a:xfrm>
            <a:off x="8591400" y="3809880"/>
            <a:ext cx="228600" cy="380880"/>
          </a:xfrm>
          <a:prstGeom prst="ellipse">
            <a:avLst/>
          </a:prstGeom>
          <a:noFill/>
          <a:ln w="284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D0434FF3-F10D-45FE-AE71-2FBA8B2303C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304200" y="228240"/>
            <a:ext cx="853452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13.3  Weight-Based and Berger Codes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Box 4"/>
          <p:cNvSpPr/>
          <p:nvPr/>
        </p:nvSpPr>
        <p:spPr>
          <a:xfrm>
            <a:off x="380880" y="990360"/>
            <a:ext cx="7772400" cy="8550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Constant-weight codes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Definition: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All codewords have the same number of 1s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Text Box 5"/>
          <p:cNvSpPr/>
          <p:nvPr/>
        </p:nvSpPr>
        <p:spPr>
          <a:xfrm>
            <a:off x="3124080" y="2209680"/>
            <a:ext cx="5410080" cy="13122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Can detect all unidirectional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Maximum number of codewords obtained when weight of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-bit codewords is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/2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Text Box 6"/>
          <p:cNvSpPr/>
          <p:nvPr/>
        </p:nvSpPr>
        <p:spPr>
          <a:xfrm>
            <a:off x="380880" y="2209680"/>
            <a:ext cx="2438280" cy="34441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 weight-2 code: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00011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00101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00110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01010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10001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10010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10100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35ED6883-637E-4ECB-AA53-7C5992C68B6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6" name="Group 11"/>
          <p:cNvGrpSpPr/>
          <p:nvPr/>
        </p:nvGrpSpPr>
        <p:grpSpPr>
          <a:xfrm>
            <a:off x="1676160" y="2743200"/>
            <a:ext cx="3070440" cy="3244680"/>
            <a:chOff x="1676160" y="2743200"/>
            <a:chExt cx="3070440" cy="3244680"/>
          </a:xfrm>
        </p:grpSpPr>
        <p:sp>
          <p:nvSpPr>
            <p:cNvPr id="177" name="Rectangle 3"/>
            <p:cNvSpPr/>
            <p:nvPr/>
          </p:nvSpPr>
          <p:spPr>
            <a:xfrm>
              <a:off x="1676160" y="2743200"/>
              <a:ext cx="533520" cy="3244680"/>
            </a:xfrm>
            <a:prstGeom prst="rect">
              <a:avLst/>
            </a:prstGeom>
            <a:solidFill>
              <a:srgbClr val="FFFF66"/>
            </a:solidFill>
            <a:ln w="9360">
              <a:solidFill>
                <a:srgbClr val="FF99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8" name="Line 4"/>
            <p:cNvSpPr/>
            <p:nvPr/>
          </p:nvSpPr>
          <p:spPr>
            <a:xfrm>
              <a:off x="2209680" y="5257800"/>
              <a:ext cx="936720" cy="249120"/>
            </a:xfrm>
            <a:prstGeom prst="line">
              <a:avLst/>
            </a:prstGeom>
            <a:ln w="9360">
              <a:solidFill>
                <a:srgbClr val="FF993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9" name="Text Box 5"/>
            <p:cNvSpPr/>
            <p:nvPr/>
          </p:nvSpPr>
          <p:spPr>
            <a:xfrm>
              <a:off x="3146400" y="5354280"/>
              <a:ext cx="1600200" cy="337680"/>
            </a:xfrm>
            <a:prstGeom prst="rect">
              <a:avLst/>
            </a:prstGeom>
            <a:solidFill>
              <a:srgbClr val="FFFFFF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Check part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80" name="Rectangle 6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Berger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Box 8"/>
          <p:cNvSpPr/>
          <p:nvPr/>
        </p:nvSpPr>
        <p:spPr>
          <a:xfrm>
            <a:off x="380880" y="990360"/>
            <a:ext cx="8381880" cy="1159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Definition: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Separable code that has the count of 0s within the data part attached as a binary number that forms the check part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Alternative – attach the 1’s-complement of the number of 1s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Text Box 9"/>
          <p:cNvSpPr/>
          <p:nvPr/>
        </p:nvSpPr>
        <p:spPr>
          <a:xfrm>
            <a:off x="3124080" y="2438280"/>
            <a:ext cx="5410080" cy="104940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Can detect all unidirectional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log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+ 1)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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check bits for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data bits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Text Box 10"/>
          <p:cNvSpPr/>
          <p:nvPr/>
        </p:nvSpPr>
        <p:spPr>
          <a:xfrm>
            <a:off x="380880" y="2361960"/>
            <a:ext cx="2133720" cy="36874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 Berger code: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ucida Console"/>
                <a:ea typeface="Times New Roman"/>
              </a:rPr>
              <a:t>000000  110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ucida Console"/>
                <a:ea typeface="Times New Roman"/>
              </a:rPr>
              <a:t>000001  101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ucida Console"/>
                <a:ea typeface="Times New Roman"/>
              </a:rPr>
              <a:t>000010  101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ucida Console"/>
                <a:ea typeface="Times New Roman"/>
              </a:rPr>
              <a:t>000011  100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ucida Console"/>
                <a:ea typeface="Times New Roman"/>
              </a:rPr>
              <a:t>. .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ucida Console"/>
                <a:ea typeface="Times New Roman"/>
              </a:rPr>
              <a:t>100111  010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ucida Console"/>
                <a:ea typeface="Times New Roman"/>
              </a:rPr>
              <a:t>101000  100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ucida Console"/>
                <a:ea typeface="Times New Roman"/>
              </a:rPr>
              <a:t>. .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ucida Console"/>
                <a:ea typeface="Times New Roman"/>
              </a:rPr>
              <a:t>111110  001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ucida Console"/>
                <a:ea typeface="Times New Roman"/>
              </a:rPr>
              <a:t>111111  000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Text Box 10"/>
          <p:cNvSpPr/>
          <p:nvPr/>
        </p:nvSpPr>
        <p:spPr>
          <a:xfrm>
            <a:off x="6782400" y="5254560"/>
            <a:ext cx="1667160" cy="642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Jay M. Berger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(IBM)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Rectangle 14"/>
          <p:cNvSpPr/>
          <p:nvPr/>
        </p:nvSpPr>
        <p:spPr>
          <a:xfrm>
            <a:off x="5290920" y="4190760"/>
            <a:ext cx="1357200" cy="1676520"/>
          </a:xfrm>
          <a:prstGeom prst="rect">
            <a:avLst/>
          </a:prstGeom>
          <a:solidFill>
            <a:srgbClr val="FFFFFF"/>
          </a:solidFill>
          <a:ln w="25200">
            <a:solidFill>
              <a:srgbClr val="00956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297E9B89-5203-4B11-936C-E1ED74C920B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13.4  Cyclic Codes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Box 4"/>
          <p:cNvSpPr/>
          <p:nvPr/>
        </p:nvSpPr>
        <p:spPr>
          <a:xfrm>
            <a:off x="380880" y="990360"/>
            <a:ext cx="830592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Definition: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Any cyclic shift of a codeword produces another codeword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Text Box 5"/>
          <p:cNvSpPr/>
          <p:nvPr/>
        </p:nvSpPr>
        <p:spPr>
          <a:xfrm>
            <a:off x="380880" y="3200400"/>
            <a:ext cx="8458200" cy="192132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To encode data (1101001), multiply its associated polynomial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1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+ </a:t>
            </a:r>
            <a:r>
              <a:rPr lang="en-US" sz="2000" b="0" i="1" u="sng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sng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sng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 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1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7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9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1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+  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7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1 0 1 0 0 0 0 1 0 1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Text Box 6"/>
          <p:cNvSpPr/>
          <p:nvPr/>
        </p:nvSpPr>
        <p:spPr>
          <a:xfrm>
            <a:off x="380880" y="1523880"/>
            <a:ext cx="807732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-bit data word corresponds to a polynomial of degree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Data = 1101001: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1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(addition is mod 2)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Text Box 7"/>
          <p:cNvSpPr/>
          <p:nvPr/>
        </p:nvSpPr>
        <p:spPr>
          <a:xfrm>
            <a:off x="380880" y="2361960"/>
            <a:ext cx="807732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 code has a generator polynomial of degree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1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95" name="Group 8"/>
          <p:cNvGrpSpPr/>
          <p:nvPr/>
        </p:nvGrpSpPr>
        <p:grpSpPr>
          <a:xfrm>
            <a:off x="1142640" y="4190760"/>
            <a:ext cx="4572000" cy="304920"/>
            <a:chOff x="1142640" y="4190760"/>
            <a:chExt cx="4572000" cy="304920"/>
          </a:xfrm>
        </p:grpSpPr>
        <p:grpSp>
          <p:nvGrpSpPr>
            <p:cNvPr id="196" name="Group 9"/>
            <p:cNvGrpSpPr/>
            <p:nvPr/>
          </p:nvGrpSpPr>
          <p:grpSpPr>
            <a:xfrm>
              <a:off x="1142640" y="4190760"/>
              <a:ext cx="1600200" cy="304560"/>
              <a:chOff x="1142640" y="4190760"/>
              <a:chExt cx="1600200" cy="304560"/>
            </a:xfrm>
          </p:grpSpPr>
          <p:sp>
            <p:nvSpPr>
              <p:cNvPr id="197" name="Line 10"/>
              <p:cNvSpPr/>
              <p:nvPr/>
            </p:nvSpPr>
            <p:spPr>
              <a:xfrm flipH="1">
                <a:off x="1142640" y="4190760"/>
                <a:ext cx="228600" cy="30456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8" name="Line 11"/>
              <p:cNvSpPr/>
              <p:nvPr/>
            </p:nvSpPr>
            <p:spPr>
              <a:xfrm flipH="1">
                <a:off x="2514240" y="4190760"/>
                <a:ext cx="228600" cy="30456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99" name="Group 12"/>
            <p:cNvGrpSpPr/>
            <p:nvPr/>
          </p:nvGrpSpPr>
          <p:grpSpPr>
            <a:xfrm>
              <a:off x="1599840" y="4190760"/>
              <a:ext cx="3124080" cy="304560"/>
              <a:chOff x="1599840" y="4190760"/>
              <a:chExt cx="3124080" cy="304560"/>
            </a:xfrm>
          </p:grpSpPr>
          <p:sp>
            <p:nvSpPr>
              <p:cNvPr id="200" name="Line 13"/>
              <p:cNvSpPr/>
              <p:nvPr/>
            </p:nvSpPr>
            <p:spPr>
              <a:xfrm flipH="1">
                <a:off x="1599840" y="4190760"/>
                <a:ext cx="228600" cy="304560"/>
              </a:xfrm>
              <a:prstGeom prst="line">
                <a:avLst/>
              </a:prstGeom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1" name="Line 14"/>
              <p:cNvSpPr/>
              <p:nvPr/>
            </p:nvSpPr>
            <p:spPr>
              <a:xfrm flipH="1">
                <a:off x="4495320" y="4190760"/>
                <a:ext cx="228600" cy="304560"/>
              </a:xfrm>
              <a:prstGeom prst="line">
                <a:avLst/>
              </a:prstGeom>
              <a:ln w="9360">
                <a:solidFill>
                  <a:srgbClr val="0033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202" name="Group 15"/>
            <p:cNvGrpSpPr/>
            <p:nvPr/>
          </p:nvGrpSpPr>
          <p:grpSpPr>
            <a:xfrm>
              <a:off x="3504600" y="4190760"/>
              <a:ext cx="1752840" cy="304560"/>
              <a:chOff x="3504600" y="4190760"/>
              <a:chExt cx="1752840" cy="304560"/>
            </a:xfrm>
          </p:grpSpPr>
          <p:sp>
            <p:nvSpPr>
              <p:cNvPr id="203" name="Line 16"/>
              <p:cNvSpPr/>
              <p:nvPr/>
            </p:nvSpPr>
            <p:spPr>
              <a:xfrm flipH="1">
                <a:off x="3504600" y="4190760"/>
                <a:ext cx="228600" cy="304560"/>
              </a:xfrm>
              <a:prstGeom prst="line">
                <a:avLst/>
              </a:prstGeom>
              <a:ln w="9360">
                <a:solidFill>
                  <a:srgbClr val="00FF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4" name="Line 17"/>
              <p:cNvSpPr/>
              <p:nvPr/>
            </p:nvSpPr>
            <p:spPr>
              <a:xfrm flipH="1">
                <a:off x="5028840" y="4190760"/>
                <a:ext cx="228600" cy="304560"/>
              </a:xfrm>
              <a:prstGeom prst="line">
                <a:avLst/>
              </a:prstGeom>
              <a:ln w="9360">
                <a:solidFill>
                  <a:srgbClr val="00FF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205" name="Line 18"/>
            <p:cNvSpPr/>
            <p:nvPr/>
          </p:nvSpPr>
          <p:spPr>
            <a:xfrm flipH="1">
              <a:off x="2057040" y="4190760"/>
              <a:ext cx="228600" cy="304920"/>
            </a:xfrm>
            <a:prstGeom prst="line">
              <a:avLst/>
            </a:prstGeom>
            <a:ln w="9360">
              <a:solidFill>
                <a:srgbClr val="CC00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6" name="Line 19"/>
            <p:cNvSpPr/>
            <p:nvPr/>
          </p:nvSpPr>
          <p:spPr>
            <a:xfrm flipH="1">
              <a:off x="5486040" y="4190760"/>
              <a:ext cx="228600" cy="304920"/>
            </a:xfrm>
            <a:prstGeom prst="line">
              <a:avLst/>
            </a:prstGeom>
            <a:ln w="9360">
              <a:solidFill>
                <a:srgbClr val="CC00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07" name="Text Box 20"/>
          <p:cNvSpPr/>
          <p:nvPr/>
        </p:nvSpPr>
        <p:spPr>
          <a:xfrm>
            <a:off x="380880" y="5257800"/>
            <a:ext cx="830592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Detects all burst errors of width less than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Burst error polynomial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j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), where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is of degree less than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A1C11945-198D-48BE-AA9C-4AD248898A6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Cyclic Codes: Encoding and Decoding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Box 4"/>
          <p:cNvSpPr/>
          <p:nvPr/>
        </p:nvSpPr>
        <p:spPr>
          <a:xfrm>
            <a:off x="380880" y="990360"/>
            <a:ext cx="830592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Encoding: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Multiplication by the generator polynomial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Text Box 5"/>
          <p:cNvSpPr/>
          <p:nvPr/>
        </p:nvSpPr>
        <p:spPr>
          <a:xfrm>
            <a:off x="380880" y="5486400"/>
            <a:ext cx="807732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(1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 Box 6"/>
          <p:cNvSpPr/>
          <p:nvPr/>
        </p:nvSpPr>
        <p:spPr>
          <a:xfrm>
            <a:off x="380880" y="3124080"/>
            <a:ext cx="830592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Decoding: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Division by the generator polynomial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15" name="Group 7"/>
          <p:cNvGrpSpPr/>
          <p:nvPr/>
        </p:nvGrpSpPr>
        <p:grpSpPr>
          <a:xfrm>
            <a:off x="1295280" y="1523880"/>
            <a:ext cx="6629400" cy="1404360"/>
            <a:chOff x="1295280" y="1523880"/>
            <a:chExt cx="6629400" cy="1404360"/>
          </a:xfrm>
        </p:grpSpPr>
        <p:grpSp>
          <p:nvGrpSpPr>
            <p:cNvPr id="216" name="Group 8"/>
            <p:cNvGrpSpPr/>
            <p:nvPr/>
          </p:nvGrpSpPr>
          <p:grpSpPr>
            <a:xfrm>
              <a:off x="2286000" y="1523880"/>
              <a:ext cx="457200" cy="914400"/>
              <a:chOff x="2286000" y="1523880"/>
              <a:chExt cx="457200" cy="914400"/>
            </a:xfrm>
          </p:grpSpPr>
          <p:sp>
            <p:nvSpPr>
              <p:cNvPr id="217" name="Rectangle 9"/>
              <p:cNvSpPr/>
              <p:nvPr/>
            </p:nvSpPr>
            <p:spPr>
              <a:xfrm>
                <a:off x="2286000" y="1676160"/>
                <a:ext cx="457200" cy="762120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rPr>
                  <a:t>FF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8" name="Line 10"/>
              <p:cNvSpPr/>
              <p:nvPr/>
            </p:nvSpPr>
            <p:spPr>
              <a:xfrm>
                <a:off x="2438280" y="1676160"/>
                <a:ext cx="76320" cy="1094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9" name="Line 11"/>
              <p:cNvSpPr/>
              <p:nvPr/>
            </p:nvSpPr>
            <p:spPr>
              <a:xfrm flipV="1">
                <a:off x="2514600" y="1676160"/>
                <a:ext cx="75960" cy="1094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0" name="Line 12"/>
              <p:cNvSpPr/>
              <p:nvPr/>
            </p:nvSpPr>
            <p:spPr>
              <a:xfrm>
                <a:off x="2514600" y="1523880"/>
                <a:ext cx="0" cy="15228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221" name="Line 13"/>
            <p:cNvSpPr/>
            <p:nvPr/>
          </p:nvSpPr>
          <p:spPr>
            <a:xfrm>
              <a:off x="1981080" y="2057400"/>
              <a:ext cx="304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222" name="Group 14"/>
            <p:cNvGrpSpPr/>
            <p:nvPr/>
          </p:nvGrpSpPr>
          <p:grpSpPr>
            <a:xfrm>
              <a:off x="3200400" y="1523880"/>
              <a:ext cx="457200" cy="914400"/>
              <a:chOff x="3200400" y="1523880"/>
              <a:chExt cx="457200" cy="914400"/>
            </a:xfrm>
          </p:grpSpPr>
          <p:sp>
            <p:nvSpPr>
              <p:cNvPr id="223" name="Rectangle 15"/>
              <p:cNvSpPr/>
              <p:nvPr/>
            </p:nvSpPr>
            <p:spPr>
              <a:xfrm>
                <a:off x="3200400" y="1676160"/>
                <a:ext cx="457200" cy="762120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rPr>
                  <a:t>FF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4" name="Line 16"/>
              <p:cNvSpPr/>
              <p:nvPr/>
            </p:nvSpPr>
            <p:spPr>
              <a:xfrm>
                <a:off x="3352680" y="1676160"/>
                <a:ext cx="76320" cy="1094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5" name="Line 17"/>
              <p:cNvSpPr/>
              <p:nvPr/>
            </p:nvSpPr>
            <p:spPr>
              <a:xfrm flipV="1">
                <a:off x="3429000" y="1676160"/>
                <a:ext cx="75960" cy="1094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6" name="Line 18"/>
              <p:cNvSpPr/>
              <p:nvPr/>
            </p:nvSpPr>
            <p:spPr>
              <a:xfrm>
                <a:off x="3429000" y="1523880"/>
                <a:ext cx="0" cy="15228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227" name="Line 19"/>
            <p:cNvSpPr/>
            <p:nvPr/>
          </p:nvSpPr>
          <p:spPr>
            <a:xfrm>
              <a:off x="2743200" y="205740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228" name="Group 20"/>
            <p:cNvGrpSpPr/>
            <p:nvPr/>
          </p:nvGrpSpPr>
          <p:grpSpPr>
            <a:xfrm>
              <a:off x="5029200" y="1523880"/>
              <a:ext cx="457200" cy="914400"/>
              <a:chOff x="5029200" y="1523880"/>
              <a:chExt cx="457200" cy="914400"/>
            </a:xfrm>
          </p:grpSpPr>
          <p:sp>
            <p:nvSpPr>
              <p:cNvPr id="229" name="Rectangle 21"/>
              <p:cNvSpPr/>
              <p:nvPr/>
            </p:nvSpPr>
            <p:spPr>
              <a:xfrm>
                <a:off x="5029200" y="1676160"/>
                <a:ext cx="457200" cy="762120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rPr>
                  <a:t>FF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0" name="Line 22"/>
              <p:cNvSpPr/>
              <p:nvPr/>
            </p:nvSpPr>
            <p:spPr>
              <a:xfrm>
                <a:off x="5181480" y="1676160"/>
                <a:ext cx="76320" cy="1094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1" name="Line 23"/>
              <p:cNvSpPr/>
              <p:nvPr/>
            </p:nvSpPr>
            <p:spPr>
              <a:xfrm flipV="1">
                <a:off x="5257800" y="1676160"/>
                <a:ext cx="75960" cy="1094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2" name="Line 24"/>
              <p:cNvSpPr/>
              <p:nvPr/>
            </p:nvSpPr>
            <p:spPr>
              <a:xfrm>
                <a:off x="5257800" y="1523880"/>
                <a:ext cx="0" cy="15228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233" name="Line 25"/>
            <p:cNvSpPr/>
            <p:nvPr/>
          </p:nvSpPr>
          <p:spPr>
            <a:xfrm>
              <a:off x="4724280" y="2057400"/>
              <a:ext cx="304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4" name="Line 26"/>
            <p:cNvSpPr/>
            <p:nvPr/>
          </p:nvSpPr>
          <p:spPr>
            <a:xfrm>
              <a:off x="1981080" y="2057400"/>
              <a:ext cx="0" cy="68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5" name="Line 27"/>
            <p:cNvSpPr/>
            <p:nvPr/>
          </p:nvSpPr>
          <p:spPr>
            <a:xfrm>
              <a:off x="1981080" y="2743200"/>
              <a:ext cx="51814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236" name="Group 28"/>
            <p:cNvGrpSpPr/>
            <p:nvPr/>
          </p:nvGrpSpPr>
          <p:grpSpPr>
            <a:xfrm>
              <a:off x="5943600" y="1828800"/>
              <a:ext cx="609480" cy="482400"/>
              <a:chOff x="5943600" y="1828800"/>
              <a:chExt cx="609480" cy="482400"/>
            </a:xfrm>
          </p:grpSpPr>
          <p:sp>
            <p:nvSpPr>
              <p:cNvPr id="237" name="Freeform 29"/>
              <p:cNvSpPr/>
              <p:nvPr/>
            </p:nvSpPr>
            <p:spPr>
              <a:xfrm>
                <a:off x="6019560" y="1841400"/>
                <a:ext cx="88920" cy="457200"/>
              </a:xfrm>
              <a:custGeom>
                <a:avLst/>
                <a:gdLst>
                  <a:gd name="GluePoint1X" fmla="*/ 0 w 56"/>
                  <a:gd name="GluePoint1Y" fmla="*/ 0 h 288"/>
                  <a:gd name="GluePoint2X" fmla="*/ 48 w 56"/>
                  <a:gd name="GluePoint2Y" fmla="*/ 96 h 288"/>
                  <a:gd name="GluePoint3X" fmla="*/ 48 w 56"/>
                  <a:gd name="GluePoint3Y" fmla="*/ 192 h 288"/>
                  <a:gd name="GluePoint4X" fmla="*/ 0 w 56"/>
                  <a:gd name="GluePoint4Y" fmla="*/ 288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56" h="288">
                    <a:moveTo>
                      <a:pt x="0" y="0"/>
                    </a:moveTo>
                    <a:cubicBezTo>
                      <a:pt x="20" y="32"/>
                      <a:pt x="40" y="64"/>
                      <a:pt x="48" y="96"/>
                    </a:cubicBezTo>
                    <a:cubicBezTo>
                      <a:pt x="56" y="128"/>
                      <a:pt x="56" y="160"/>
                      <a:pt x="48" y="192"/>
                    </a:cubicBezTo>
                    <a:cubicBezTo>
                      <a:pt x="40" y="224"/>
                      <a:pt x="8" y="272"/>
                      <a:pt x="0" y="288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8" name="Freeform 30"/>
              <p:cNvSpPr/>
              <p:nvPr/>
            </p:nvSpPr>
            <p:spPr>
              <a:xfrm>
                <a:off x="6019560" y="1828800"/>
                <a:ext cx="533520" cy="241200"/>
              </a:xfrm>
              <a:custGeom>
                <a:avLst/>
                <a:gdLst>
                  <a:gd name="GluePoint1X" fmla="*/ 0 w 336"/>
                  <a:gd name="GluePoint1Y" fmla="*/ 8 h 152"/>
                  <a:gd name="GluePoint2X" fmla="*/ 96 w 336"/>
                  <a:gd name="GluePoint2Y" fmla="*/ 8 h 152"/>
                  <a:gd name="GluePoint3X" fmla="*/ 240 w 336"/>
                  <a:gd name="GluePoint3Y" fmla="*/ 56 h 152"/>
                  <a:gd name="GluePoint4X" fmla="*/ 336 w 336"/>
                  <a:gd name="GluePoint4Y" fmla="*/ 152 h 1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36" h="152">
                    <a:moveTo>
                      <a:pt x="0" y="8"/>
                    </a:moveTo>
                    <a:cubicBezTo>
                      <a:pt x="28" y="4"/>
                      <a:pt x="56" y="0"/>
                      <a:pt x="96" y="8"/>
                    </a:cubicBezTo>
                    <a:cubicBezTo>
                      <a:pt x="136" y="16"/>
                      <a:pt x="200" y="32"/>
                      <a:pt x="240" y="56"/>
                    </a:cubicBezTo>
                    <a:cubicBezTo>
                      <a:pt x="280" y="80"/>
                      <a:pt x="320" y="136"/>
                      <a:pt x="336" y="152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9" name="Freeform 31"/>
              <p:cNvSpPr/>
              <p:nvPr/>
            </p:nvSpPr>
            <p:spPr>
              <a:xfrm flipV="1">
                <a:off x="6019560" y="2070000"/>
                <a:ext cx="533520" cy="241200"/>
              </a:xfrm>
              <a:custGeom>
                <a:avLst/>
                <a:gdLst>
                  <a:gd name="GluePoint1X" fmla="*/ 0 w 336"/>
                  <a:gd name="GluePoint1Y" fmla="*/ 8 h 152"/>
                  <a:gd name="GluePoint2X" fmla="*/ 96 w 336"/>
                  <a:gd name="GluePoint2Y" fmla="*/ 8 h 152"/>
                  <a:gd name="GluePoint3X" fmla="*/ 240 w 336"/>
                  <a:gd name="GluePoint3Y" fmla="*/ 56 h 152"/>
                  <a:gd name="GluePoint4X" fmla="*/ 336 w 336"/>
                  <a:gd name="GluePoint4Y" fmla="*/ 152 h 1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36" h="152">
                    <a:moveTo>
                      <a:pt x="0" y="8"/>
                    </a:moveTo>
                    <a:cubicBezTo>
                      <a:pt x="28" y="4"/>
                      <a:pt x="56" y="0"/>
                      <a:pt x="96" y="8"/>
                    </a:cubicBezTo>
                    <a:cubicBezTo>
                      <a:pt x="136" y="16"/>
                      <a:pt x="200" y="32"/>
                      <a:pt x="240" y="56"/>
                    </a:cubicBezTo>
                    <a:cubicBezTo>
                      <a:pt x="280" y="80"/>
                      <a:pt x="320" y="136"/>
                      <a:pt x="336" y="152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0" name="Freeform 32"/>
              <p:cNvSpPr/>
              <p:nvPr/>
            </p:nvSpPr>
            <p:spPr>
              <a:xfrm>
                <a:off x="5943600" y="1828800"/>
                <a:ext cx="88560" cy="457200"/>
              </a:xfrm>
              <a:custGeom>
                <a:avLst/>
                <a:gdLst>
                  <a:gd name="GluePoint1X" fmla="*/ 0 w 56"/>
                  <a:gd name="GluePoint1Y" fmla="*/ 0 h 288"/>
                  <a:gd name="GluePoint2X" fmla="*/ 48 w 56"/>
                  <a:gd name="GluePoint2Y" fmla="*/ 96 h 288"/>
                  <a:gd name="GluePoint3X" fmla="*/ 48 w 56"/>
                  <a:gd name="GluePoint3Y" fmla="*/ 192 h 288"/>
                  <a:gd name="GluePoint4X" fmla="*/ 0 w 56"/>
                  <a:gd name="GluePoint4Y" fmla="*/ 288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56" h="288">
                    <a:moveTo>
                      <a:pt x="0" y="0"/>
                    </a:moveTo>
                    <a:cubicBezTo>
                      <a:pt x="20" y="32"/>
                      <a:pt x="40" y="64"/>
                      <a:pt x="48" y="96"/>
                    </a:cubicBezTo>
                    <a:cubicBezTo>
                      <a:pt x="56" y="128"/>
                      <a:pt x="56" y="160"/>
                      <a:pt x="48" y="192"/>
                    </a:cubicBezTo>
                    <a:cubicBezTo>
                      <a:pt x="40" y="224"/>
                      <a:pt x="8" y="272"/>
                      <a:pt x="0" y="288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241" name="Group 33"/>
            <p:cNvGrpSpPr/>
            <p:nvPr/>
          </p:nvGrpSpPr>
          <p:grpSpPr>
            <a:xfrm>
              <a:off x="4114800" y="1828800"/>
              <a:ext cx="609480" cy="482400"/>
              <a:chOff x="4114800" y="1828800"/>
              <a:chExt cx="609480" cy="482400"/>
            </a:xfrm>
          </p:grpSpPr>
          <p:sp>
            <p:nvSpPr>
              <p:cNvPr id="242" name="Freeform 34"/>
              <p:cNvSpPr/>
              <p:nvPr/>
            </p:nvSpPr>
            <p:spPr>
              <a:xfrm>
                <a:off x="4190760" y="1841400"/>
                <a:ext cx="88920" cy="457200"/>
              </a:xfrm>
              <a:custGeom>
                <a:avLst/>
                <a:gdLst>
                  <a:gd name="GluePoint1X" fmla="*/ 0 w 56"/>
                  <a:gd name="GluePoint1Y" fmla="*/ 0 h 288"/>
                  <a:gd name="GluePoint2X" fmla="*/ 48 w 56"/>
                  <a:gd name="GluePoint2Y" fmla="*/ 96 h 288"/>
                  <a:gd name="GluePoint3X" fmla="*/ 48 w 56"/>
                  <a:gd name="GluePoint3Y" fmla="*/ 192 h 288"/>
                  <a:gd name="GluePoint4X" fmla="*/ 0 w 56"/>
                  <a:gd name="GluePoint4Y" fmla="*/ 288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56" h="288">
                    <a:moveTo>
                      <a:pt x="0" y="0"/>
                    </a:moveTo>
                    <a:cubicBezTo>
                      <a:pt x="20" y="32"/>
                      <a:pt x="40" y="64"/>
                      <a:pt x="48" y="96"/>
                    </a:cubicBezTo>
                    <a:cubicBezTo>
                      <a:pt x="56" y="128"/>
                      <a:pt x="56" y="160"/>
                      <a:pt x="48" y="192"/>
                    </a:cubicBezTo>
                    <a:cubicBezTo>
                      <a:pt x="40" y="224"/>
                      <a:pt x="8" y="272"/>
                      <a:pt x="0" y="288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3" name="Freeform 35"/>
              <p:cNvSpPr/>
              <p:nvPr/>
            </p:nvSpPr>
            <p:spPr>
              <a:xfrm>
                <a:off x="4190760" y="1828800"/>
                <a:ext cx="533520" cy="241200"/>
              </a:xfrm>
              <a:custGeom>
                <a:avLst/>
                <a:gdLst>
                  <a:gd name="GluePoint1X" fmla="*/ 0 w 336"/>
                  <a:gd name="GluePoint1Y" fmla="*/ 8 h 152"/>
                  <a:gd name="GluePoint2X" fmla="*/ 96 w 336"/>
                  <a:gd name="GluePoint2Y" fmla="*/ 8 h 152"/>
                  <a:gd name="GluePoint3X" fmla="*/ 240 w 336"/>
                  <a:gd name="GluePoint3Y" fmla="*/ 56 h 152"/>
                  <a:gd name="GluePoint4X" fmla="*/ 336 w 336"/>
                  <a:gd name="GluePoint4Y" fmla="*/ 152 h 1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36" h="152">
                    <a:moveTo>
                      <a:pt x="0" y="8"/>
                    </a:moveTo>
                    <a:cubicBezTo>
                      <a:pt x="28" y="4"/>
                      <a:pt x="56" y="0"/>
                      <a:pt x="96" y="8"/>
                    </a:cubicBezTo>
                    <a:cubicBezTo>
                      <a:pt x="136" y="16"/>
                      <a:pt x="200" y="32"/>
                      <a:pt x="240" y="56"/>
                    </a:cubicBezTo>
                    <a:cubicBezTo>
                      <a:pt x="280" y="80"/>
                      <a:pt x="320" y="136"/>
                      <a:pt x="336" y="152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4" name="Freeform 36"/>
              <p:cNvSpPr/>
              <p:nvPr/>
            </p:nvSpPr>
            <p:spPr>
              <a:xfrm flipV="1">
                <a:off x="4190760" y="2070000"/>
                <a:ext cx="533520" cy="241200"/>
              </a:xfrm>
              <a:custGeom>
                <a:avLst/>
                <a:gdLst>
                  <a:gd name="GluePoint1X" fmla="*/ 0 w 336"/>
                  <a:gd name="GluePoint1Y" fmla="*/ 8 h 152"/>
                  <a:gd name="GluePoint2X" fmla="*/ 96 w 336"/>
                  <a:gd name="GluePoint2Y" fmla="*/ 8 h 152"/>
                  <a:gd name="GluePoint3X" fmla="*/ 240 w 336"/>
                  <a:gd name="GluePoint3Y" fmla="*/ 56 h 152"/>
                  <a:gd name="GluePoint4X" fmla="*/ 336 w 336"/>
                  <a:gd name="GluePoint4Y" fmla="*/ 152 h 1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36" h="152">
                    <a:moveTo>
                      <a:pt x="0" y="8"/>
                    </a:moveTo>
                    <a:cubicBezTo>
                      <a:pt x="28" y="4"/>
                      <a:pt x="56" y="0"/>
                      <a:pt x="96" y="8"/>
                    </a:cubicBezTo>
                    <a:cubicBezTo>
                      <a:pt x="136" y="16"/>
                      <a:pt x="200" y="32"/>
                      <a:pt x="240" y="56"/>
                    </a:cubicBezTo>
                    <a:cubicBezTo>
                      <a:pt x="280" y="80"/>
                      <a:pt x="320" y="136"/>
                      <a:pt x="336" y="152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5" name="Freeform 37"/>
              <p:cNvSpPr/>
              <p:nvPr/>
            </p:nvSpPr>
            <p:spPr>
              <a:xfrm>
                <a:off x="4114800" y="1828800"/>
                <a:ext cx="88560" cy="457200"/>
              </a:xfrm>
              <a:custGeom>
                <a:avLst/>
                <a:gdLst>
                  <a:gd name="GluePoint1X" fmla="*/ 0 w 56"/>
                  <a:gd name="GluePoint1Y" fmla="*/ 0 h 288"/>
                  <a:gd name="GluePoint2X" fmla="*/ 48 w 56"/>
                  <a:gd name="GluePoint2Y" fmla="*/ 96 h 288"/>
                  <a:gd name="GluePoint3X" fmla="*/ 48 w 56"/>
                  <a:gd name="GluePoint3Y" fmla="*/ 192 h 288"/>
                  <a:gd name="GluePoint4X" fmla="*/ 0 w 56"/>
                  <a:gd name="GluePoint4Y" fmla="*/ 288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56" h="288">
                    <a:moveTo>
                      <a:pt x="0" y="0"/>
                    </a:moveTo>
                    <a:cubicBezTo>
                      <a:pt x="20" y="32"/>
                      <a:pt x="40" y="64"/>
                      <a:pt x="48" y="96"/>
                    </a:cubicBezTo>
                    <a:cubicBezTo>
                      <a:pt x="56" y="128"/>
                      <a:pt x="56" y="160"/>
                      <a:pt x="48" y="192"/>
                    </a:cubicBezTo>
                    <a:cubicBezTo>
                      <a:pt x="40" y="224"/>
                      <a:pt x="8" y="272"/>
                      <a:pt x="0" y="288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246" name="Line 38"/>
            <p:cNvSpPr/>
            <p:nvPr/>
          </p:nvSpPr>
          <p:spPr>
            <a:xfrm flipH="1">
              <a:off x="3961800" y="2209680"/>
              <a:ext cx="2286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7" name="Line 39"/>
            <p:cNvSpPr/>
            <p:nvPr/>
          </p:nvSpPr>
          <p:spPr>
            <a:xfrm>
              <a:off x="3962160" y="2209680"/>
              <a:ext cx="0" cy="533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8" name="Line 40"/>
            <p:cNvSpPr/>
            <p:nvPr/>
          </p:nvSpPr>
          <p:spPr>
            <a:xfrm flipH="1">
              <a:off x="5790600" y="2209680"/>
              <a:ext cx="2286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9" name="Line 41"/>
            <p:cNvSpPr/>
            <p:nvPr/>
          </p:nvSpPr>
          <p:spPr>
            <a:xfrm>
              <a:off x="5790960" y="2209680"/>
              <a:ext cx="0" cy="533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0" name="Line 42"/>
            <p:cNvSpPr/>
            <p:nvPr/>
          </p:nvSpPr>
          <p:spPr>
            <a:xfrm>
              <a:off x="3657600" y="2057400"/>
              <a:ext cx="2286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1" name="Line 43"/>
            <p:cNvSpPr/>
            <p:nvPr/>
          </p:nvSpPr>
          <p:spPr>
            <a:xfrm flipV="1">
              <a:off x="3886200" y="1904760"/>
              <a:ext cx="0" cy="1526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2" name="Line 44"/>
            <p:cNvSpPr/>
            <p:nvPr/>
          </p:nvSpPr>
          <p:spPr>
            <a:xfrm>
              <a:off x="3886200" y="1904760"/>
              <a:ext cx="304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3" name="Line 45"/>
            <p:cNvSpPr/>
            <p:nvPr/>
          </p:nvSpPr>
          <p:spPr>
            <a:xfrm>
              <a:off x="5486400" y="2057400"/>
              <a:ext cx="2286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4" name="Line 46"/>
            <p:cNvSpPr/>
            <p:nvPr/>
          </p:nvSpPr>
          <p:spPr>
            <a:xfrm flipV="1">
              <a:off x="5715000" y="1904760"/>
              <a:ext cx="0" cy="1526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5" name="Line 47"/>
            <p:cNvSpPr/>
            <p:nvPr/>
          </p:nvSpPr>
          <p:spPr>
            <a:xfrm>
              <a:off x="5715000" y="1904760"/>
              <a:ext cx="304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6" name="Line 48"/>
            <p:cNvSpPr/>
            <p:nvPr/>
          </p:nvSpPr>
          <p:spPr>
            <a:xfrm>
              <a:off x="6553080" y="2057400"/>
              <a:ext cx="6094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7" name="Text Box 49"/>
            <p:cNvSpPr/>
            <p:nvPr/>
          </p:nvSpPr>
          <p:spPr>
            <a:xfrm>
              <a:off x="7162560" y="1904760"/>
              <a:ext cx="76212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V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(</a:t>
              </a: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x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) 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8" name="Text Box 50"/>
            <p:cNvSpPr/>
            <p:nvPr/>
          </p:nvSpPr>
          <p:spPr>
            <a:xfrm>
              <a:off x="7162560" y="2590560"/>
              <a:ext cx="76212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 D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(</a:t>
              </a: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x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) 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9" name="Text Box 51"/>
            <p:cNvSpPr/>
            <p:nvPr/>
          </p:nvSpPr>
          <p:spPr>
            <a:xfrm>
              <a:off x="1904760" y="1600200"/>
              <a:ext cx="4572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 x</a:t>
              </a:r>
              <a:r>
                <a:rPr lang="en-US" sz="1600" b="0" u="none" strike="noStrike" baseline="30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3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0" name="Text Box 52"/>
            <p:cNvSpPr/>
            <p:nvPr/>
          </p:nvSpPr>
          <p:spPr>
            <a:xfrm>
              <a:off x="3657600" y="1600200"/>
              <a:ext cx="4572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x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1" name="Text Box 53"/>
            <p:cNvSpPr/>
            <p:nvPr/>
          </p:nvSpPr>
          <p:spPr>
            <a:xfrm>
              <a:off x="5486400" y="1600200"/>
              <a:ext cx="4572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2" name="Text Box 54"/>
            <p:cNvSpPr/>
            <p:nvPr/>
          </p:nvSpPr>
          <p:spPr>
            <a:xfrm>
              <a:off x="1295280" y="1600200"/>
              <a:ext cx="76212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G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(</a:t>
              </a: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x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): 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63" name="Group 55"/>
          <p:cNvGrpSpPr/>
          <p:nvPr/>
        </p:nvGrpSpPr>
        <p:grpSpPr>
          <a:xfrm>
            <a:off x="2286000" y="4343400"/>
            <a:ext cx="457200" cy="914400"/>
            <a:chOff x="2286000" y="4343400"/>
            <a:chExt cx="457200" cy="914400"/>
          </a:xfrm>
        </p:grpSpPr>
        <p:sp>
          <p:nvSpPr>
            <p:cNvPr id="264" name="Rectangle 56"/>
            <p:cNvSpPr/>
            <p:nvPr/>
          </p:nvSpPr>
          <p:spPr>
            <a:xfrm>
              <a:off x="2286000" y="4495680"/>
              <a:ext cx="457200" cy="76212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FF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5" name="Line 57"/>
            <p:cNvSpPr/>
            <p:nvPr/>
          </p:nvSpPr>
          <p:spPr>
            <a:xfrm>
              <a:off x="2438280" y="4495680"/>
              <a:ext cx="76320" cy="1094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6" name="Line 58"/>
            <p:cNvSpPr/>
            <p:nvPr/>
          </p:nvSpPr>
          <p:spPr>
            <a:xfrm flipV="1">
              <a:off x="2514600" y="4495680"/>
              <a:ext cx="75960" cy="1094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7" name="Line 59"/>
            <p:cNvSpPr/>
            <p:nvPr/>
          </p:nvSpPr>
          <p:spPr>
            <a:xfrm>
              <a:off x="2514600" y="4343400"/>
              <a:ext cx="0" cy="152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8" name="Line 60"/>
          <p:cNvSpPr/>
          <p:nvPr/>
        </p:nvSpPr>
        <p:spPr>
          <a:xfrm>
            <a:off x="1981080" y="4876560"/>
            <a:ext cx="3049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69" name="Group 61"/>
          <p:cNvGrpSpPr/>
          <p:nvPr/>
        </p:nvGrpSpPr>
        <p:grpSpPr>
          <a:xfrm>
            <a:off x="3200400" y="4343400"/>
            <a:ext cx="457200" cy="914400"/>
            <a:chOff x="3200400" y="4343400"/>
            <a:chExt cx="457200" cy="914400"/>
          </a:xfrm>
        </p:grpSpPr>
        <p:sp>
          <p:nvSpPr>
            <p:cNvPr id="270" name="Rectangle 62"/>
            <p:cNvSpPr/>
            <p:nvPr/>
          </p:nvSpPr>
          <p:spPr>
            <a:xfrm>
              <a:off x="3200400" y="4495680"/>
              <a:ext cx="457200" cy="76212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FF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1" name="Line 63"/>
            <p:cNvSpPr/>
            <p:nvPr/>
          </p:nvSpPr>
          <p:spPr>
            <a:xfrm>
              <a:off x="3352680" y="4495680"/>
              <a:ext cx="76320" cy="1094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2" name="Line 64"/>
            <p:cNvSpPr/>
            <p:nvPr/>
          </p:nvSpPr>
          <p:spPr>
            <a:xfrm flipV="1">
              <a:off x="3429000" y="4495680"/>
              <a:ext cx="75960" cy="1094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3" name="Line 65"/>
            <p:cNvSpPr/>
            <p:nvPr/>
          </p:nvSpPr>
          <p:spPr>
            <a:xfrm>
              <a:off x="3429000" y="4343400"/>
              <a:ext cx="0" cy="152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74" name="Line 66"/>
          <p:cNvSpPr/>
          <p:nvPr/>
        </p:nvSpPr>
        <p:spPr>
          <a:xfrm>
            <a:off x="2743200" y="4876560"/>
            <a:ext cx="457200" cy="0"/>
          </a:xfrm>
          <a:prstGeom prst="line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75" name="Group 67"/>
          <p:cNvGrpSpPr/>
          <p:nvPr/>
        </p:nvGrpSpPr>
        <p:grpSpPr>
          <a:xfrm>
            <a:off x="5029200" y="4343400"/>
            <a:ext cx="457200" cy="914400"/>
            <a:chOff x="5029200" y="4343400"/>
            <a:chExt cx="457200" cy="914400"/>
          </a:xfrm>
        </p:grpSpPr>
        <p:sp>
          <p:nvSpPr>
            <p:cNvPr id="276" name="Rectangle 68"/>
            <p:cNvSpPr/>
            <p:nvPr/>
          </p:nvSpPr>
          <p:spPr>
            <a:xfrm>
              <a:off x="5029200" y="4495680"/>
              <a:ext cx="457200" cy="76212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FF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7" name="Line 69"/>
            <p:cNvSpPr/>
            <p:nvPr/>
          </p:nvSpPr>
          <p:spPr>
            <a:xfrm>
              <a:off x="5181480" y="4495680"/>
              <a:ext cx="76320" cy="1094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8" name="Line 70"/>
            <p:cNvSpPr/>
            <p:nvPr/>
          </p:nvSpPr>
          <p:spPr>
            <a:xfrm flipV="1">
              <a:off x="5257800" y="4495680"/>
              <a:ext cx="75960" cy="1094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9" name="Line 71"/>
            <p:cNvSpPr/>
            <p:nvPr/>
          </p:nvSpPr>
          <p:spPr>
            <a:xfrm>
              <a:off x="5257800" y="4343400"/>
              <a:ext cx="0" cy="152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80" name="Line 72"/>
          <p:cNvSpPr/>
          <p:nvPr/>
        </p:nvSpPr>
        <p:spPr>
          <a:xfrm>
            <a:off x="3657600" y="4876560"/>
            <a:ext cx="1371600" cy="0"/>
          </a:xfrm>
          <a:prstGeom prst="line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Line 73"/>
          <p:cNvSpPr/>
          <p:nvPr/>
        </p:nvSpPr>
        <p:spPr>
          <a:xfrm>
            <a:off x="1981080" y="3962160"/>
            <a:ext cx="0" cy="9144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82" name="Group 74"/>
          <p:cNvGrpSpPr/>
          <p:nvPr/>
        </p:nvGrpSpPr>
        <p:grpSpPr>
          <a:xfrm>
            <a:off x="5943600" y="3886200"/>
            <a:ext cx="609480" cy="482400"/>
            <a:chOff x="5943600" y="3886200"/>
            <a:chExt cx="609480" cy="482400"/>
          </a:xfrm>
        </p:grpSpPr>
        <p:sp>
          <p:nvSpPr>
            <p:cNvPr id="283" name="Freeform 75"/>
            <p:cNvSpPr/>
            <p:nvPr/>
          </p:nvSpPr>
          <p:spPr>
            <a:xfrm>
              <a:off x="6019560" y="3898800"/>
              <a:ext cx="88920" cy="457200"/>
            </a:xfrm>
            <a:custGeom>
              <a:avLst/>
              <a:gdLst>
                <a:gd name="GluePoint1X" fmla="*/ 0 w 56"/>
                <a:gd name="GluePoint1Y" fmla="*/ 0 h 288"/>
                <a:gd name="GluePoint2X" fmla="*/ 48 w 56"/>
                <a:gd name="GluePoint2Y" fmla="*/ 96 h 288"/>
                <a:gd name="GluePoint3X" fmla="*/ 48 w 56"/>
                <a:gd name="GluePoint3Y" fmla="*/ 192 h 288"/>
                <a:gd name="GluePoint4X" fmla="*/ 0 w 56"/>
                <a:gd name="GluePoint4Y" fmla="*/ 288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6" h="288">
                  <a:moveTo>
                    <a:pt x="0" y="0"/>
                  </a:moveTo>
                  <a:cubicBezTo>
                    <a:pt x="20" y="32"/>
                    <a:pt x="40" y="64"/>
                    <a:pt x="48" y="96"/>
                  </a:cubicBezTo>
                  <a:cubicBezTo>
                    <a:pt x="56" y="128"/>
                    <a:pt x="56" y="160"/>
                    <a:pt x="48" y="192"/>
                  </a:cubicBezTo>
                  <a:cubicBezTo>
                    <a:pt x="40" y="224"/>
                    <a:pt x="8" y="272"/>
                    <a:pt x="0" y="288"/>
                  </a:cubicBezTo>
                </a:path>
              </a:pathLst>
            </a:cu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4" name="Freeform 76"/>
            <p:cNvSpPr/>
            <p:nvPr/>
          </p:nvSpPr>
          <p:spPr>
            <a:xfrm>
              <a:off x="6019560" y="3886200"/>
              <a:ext cx="533520" cy="241200"/>
            </a:xfrm>
            <a:custGeom>
              <a:avLst/>
              <a:gdLst>
                <a:gd name="GluePoint1X" fmla="*/ 0 w 336"/>
                <a:gd name="GluePoint1Y" fmla="*/ 8 h 152"/>
                <a:gd name="GluePoint2X" fmla="*/ 96 w 336"/>
                <a:gd name="GluePoint2Y" fmla="*/ 8 h 152"/>
                <a:gd name="GluePoint3X" fmla="*/ 240 w 336"/>
                <a:gd name="GluePoint3Y" fmla="*/ 56 h 152"/>
                <a:gd name="GluePoint4X" fmla="*/ 336 w 336"/>
                <a:gd name="GluePoint4Y" fmla="*/ 152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336" h="152">
                  <a:moveTo>
                    <a:pt x="0" y="8"/>
                  </a:moveTo>
                  <a:cubicBezTo>
                    <a:pt x="28" y="4"/>
                    <a:pt x="56" y="0"/>
                    <a:pt x="96" y="8"/>
                  </a:cubicBezTo>
                  <a:cubicBezTo>
                    <a:pt x="136" y="16"/>
                    <a:pt x="200" y="32"/>
                    <a:pt x="240" y="56"/>
                  </a:cubicBezTo>
                  <a:cubicBezTo>
                    <a:pt x="280" y="80"/>
                    <a:pt x="320" y="136"/>
                    <a:pt x="336" y="152"/>
                  </a:cubicBezTo>
                </a:path>
              </a:pathLst>
            </a:cu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5" name="Freeform 77"/>
            <p:cNvSpPr/>
            <p:nvPr/>
          </p:nvSpPr>
          <p:spPr>
            <a:xfrm flipV="1">
              <a:off x="6019560" y="4127400"/>
              <a:ext cx="533520" cy="241200"/>
            </a:xfrm>
            <a:custGeom>
              <a:avLst/>
              <a:gdLst>
                <a:gd name="GluePoint1X" fmla="*/ 0 w 336"/>
                <a:gd name="GluePoint1Y" fmla="*/ 8 h 152"/>
                <a:gd name="GluePoint2X" fmla="*/ 96 w 336"/>
                <a:gd name="GluePoint2Y" fmla="*/ 8 h 152"/>
                <a:gd name="GluePoint3X" fmla="*/ 240 w 336"/>
                <a:gd name="GluePoint3Y" fmla="*/ 56 h 152"/>
                <a:gd name="GluePoint4X" fmla="*/ 336 w 336"/>
                <a:gd name="GluePoint4Y" fmla="*/ 152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336" h="152">
                  <a:moveTo>
                    <a:pt x="0" y="8"/>
                  </a:moveTo>
                  <a:cubicBezTo>
                    <a:pt x="28" y="4"/>
                    <a:pt x="56" y="0"/>
                    <a:pt x="96" y="8"/>
                  </a:cubicBezTo>
                  <a:cubicBezTo>
                    <a:pt x="136" y="16"/>
                    <a:pt x="200" y="32"/>
                    <a:pt x="240" y="56"/>
                  </a:cubicBezTo>
                  <a:cubicBezTo>
                    <a:pt x="280" y="80"/>
                    <a:pt x="320" y="136"/>
                    <a:pt x="336" y="152"/>
                  </a:cubicBezTo>
                </a:path>
              </a:pathLst>
            </a:cu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6" name="Freeform 78"/>
            <p:cNvSpPr/>
            <p:nvPr/>
          </p:nvSpPr>
          <p:spPr>
            <a:xfrm>
              <a:off x="5943600" y="3886200"/>
              <a:ext cx="88560" cy="457200"/>
            </a:xfrm>
            <a:custGeom>
              <a:avLst/>
              <a:gdLst>
                <a:gd name="GluePoint1X" fmla="*/ 0 w 56"/>
                <a:gd name="GluePoint1Y" fmla="*/ 0 h 288"/>
                <a:gd name="GluePoint2X" fmla="*/ 48 w 56"/>
                <a:gd name="GluePoint2Y" fmla="*/ 96 h 288"/>
                <a:gd name="GluePoint3X" fmla="*/ 48 w 56"/>
                <a:gd name="GluePoint3Y" fmla="*/ 192 h 288"/>
                <a:gd name="GluePoint4X" fmla="*/ 0 w 56"/>
                <a:gd name="GluePoint4Y" fmla="*/ 288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6" h="288">
                  <a:moveTo>
                    <a:pt x="0" y="0"/>
                  </a:moveTo>
                  <a:cubicBezTo>
                    <a:pt x="20" y="32"/>
                    <a:pt x="40" y="64"/>
                    <a:pt x="48" y="96"/>
                  </a:cubicBezTo>
                  <a:cubicBezTo>
                    <a:pt x="56" y="128"/>
                    <a:pt x="56" y="160"/>
                    <a:pt x="48" y="192"/>
                  </a:cubicBezTo>
                  <a:cubicBezTo>
                    <a:pt x="40" y="224"/>
                    <a:pt x="8" y="272"/>
                    <a:pt x="0" y="288"/>
                  </a:cubicBezTo>
                </a:path>
              </a:pathLst>
            </a:cu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87" name="Group 79"/>
          <p:cNvGrpSpPr/>
          <p:nvPr/>
        </p:nvGrpSpPr>
        <p:grpSpPr>
          <a:xfrm>
            <a:off x="4114800" y="3886200"/>
            <a:ext cx="609480" cy="482400"/>
            <a:chOff x="4114800" y="3886200"/>
            <a:chExt cx="609480" cy="482400"/>
          </a:xfrm>
        </p:grpSpPr>
        <p:sp>
          <p:nvSpPr>
            <p:cNvPr id="288" name="Freeform 80"/>
            <p:cNvSpPr/>
            <p:nvPr/>
          </p:nvSpPr>
          <p:spPr>
            <a:xfrm>
              <a:off x="4190760" y="3898800"/>
              <a:ext cx="88920" cy="457200"/>
            </a:xfrm>
            <a:custGeom>
              <a:avLst/>
              <a:gdLst>
                <a:gd name="GluePoint1X" fmla="*/ 0 w 56"/>
                <a:gd name="GluePoint1Y" fmla="*/ 0 h 288"/>
                <a:gd name="GluePoint2X" fmla="*/ 48 w 56"/>
                <a:gd name="GluePoint2Y" fmla="*/ 96 h 288"/>
                <a:gd name="GluePoint3X" fmla="*/ 48 w 56"/>
                <a:gd name="GluePoint3Y" fmla="*/ 192 h 288"/>
                <a:gd name="GluePoint4X" fmla="*/ 0 w 56"/>
                <a:gd name="GluePoint4Y" fmla="*/ 288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6" h="288">
                  <a:moveTo>
                    <a:pt x="0" y="0"/>
                  </a:moveTo>
                  <a:cubicBezTo>
                    <a:pt x="20" y="32"/>
                    <a:pt x="40" y="64"/>
                    <a:pt x="48" y="96"/>
                  </a:cubicBezTo>
                  <a:cubicBezTo>
                    <a:pt x="56" y="128"/>
                    <a:pt x="56" y="160"/>
                    <a:pt x="48" y="192"/>
                  </a:cubicBezTo>
                  <a:cubicBezTo>
                    <a:pt x="40" y="224"/>
                    <a:pt x="8" y="272"/>
                    <a:pt x="0" y="288"/>
                  </a:cubicBezTo>
                </a:path>
              </a:pathLst>
            </a:cu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9" name="Freeform 81"/>
            <p:cNvSpPr/>
            <p:nvPr/>
          </p:nvSpPr>
          <p:spPr>
            <a:xfrm>
              <a:off x="4190760" y="3886200"/>
              <a:ext cx="533520" cy="241200"/>
            </a:xfrm>
            <a:custGeom>
              <a:avLst/>
              <a:gdLst>
                <a:gd name="GluePoint1X" fmla="*/ 0 w 336"/>
                <a:gd name="GluePoint1Y" fmla="*/ 8 h 152"/>
                <a:gd name="GluePoint2X" fmla="*/ 96 w 336"/>
                <a:gd name="GluePoint2Y" fmla="*/ 8 h 152"/>
                <a:gd name="GluePoint3X" fmla="*/ 240 w 336"/>
                <a:gd name="GluePoint3Y" fmla="*/ 56 h 152"/>
                <a:gd name="GluePoint4X" fmla="*/ 336 w 336"/>
                <a:gd name="GluePoint4Y" fmla="*/ 152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336" h="152">
                  <a:moveTo>
                    <a:pt x="0" y="8"/>
                  </a:moveTo>
                  <a:cubicBezTo>
                    <a:pt x="28" y="4"/>
                    <a:pt x="56" y="0"/>
                    <a:pt x="96" y="8"/>
                  </a:cubicBezTo>
                  <a:cubicBezTo>
                    <a:pt x="136" y="16"/>
                    <a:pt x="200" y="32"/>
                    <a:pt x="240" y="56"/>
                  </a:cubicBezTo>
                  <a:cubicBezTo>
                    <a:pt x="280" y="80"/>
                    <a:pt x="320" y="136"/>
                    <a:pt x="336" y="152"/>
                  </a:cubicBezTo>
                </a:path>
              </a:pathLst>
            </a:cu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0" name="Freeform 82"/>
            <p:cNvSpPr/>
            <p:nvPr/>
          </p:nvSpPr>
          <p:spPr>
            <a:xfrm flipV="1">
              <a:off x="4190760" y="4127400"/>
              <a:ext cx="533520" cy="241200"/>
            </a:xfrm>
            <a:custGeom>
              <a:avLst/>
              <a:gdLst>
                <a:gd name="GluePoint1X" fmla="*/ 0 w 336"/>
                <a:gd name="GluePoint1Y" fmla="*/ 8 h 152"/>
                <a:gd name="GluePoint2X" fmla="*/ 96 w 336"/>
                <a:gd name="GluePoint2Y" fmla="*/ 8 h 152"/>
                <a:gd name="GluePoint3X" fmla="*/ 240 w 336"/>
                <a:gd name="GluePoint3Y" fmla="*/ 56 h 152"/>
                <a:gd name="GluePoint4X" fmla="*/ 336 w 336"/>
                <a:gd name="GluePoint4Y" fmla="*/ 152 h 1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336" h="152">
                  <a:moveTo>
                    <a:pt x="0" y="8"/>
                  </a:moveTo>
                  <a:cubicBezTo>
                    <a:pt x="28" y="4"/>
                    <a:pt x="56" y="0"/>
                    <a:pt x="96" y="8"/>
                  </a:cubicBezTo>
                  <a:cubicBezTo>
                    <a:pt x="136" y="16"/>
                    <a:pt x="200" y="32"/>
                    <a:pt x="240" y="56"/>
                  </a:cubicBezTo>
                  <a:cubicBezTo>
                    <a:pt x="280" y="80"/>
                    <a:pt x="320" y="136"/>
                    <a:pt x="336" y="152"/>
                  </a:cubicBezTo>
                </a:path>
              </a:pathLst>
            </a:cu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1" name="Freeform 83"/>
            <p:cNvSpPr/>
            <p:nvPr/>
          </p:nvSpPr>
          <p:spPr>
            <a:xfrm>
              <a:off x="4114800" y="3886200"/>
              <a:ext cx="88560" cy="457200"/>
            </a:xfrm>
            <a:custGeom>
              <a:avLst/>
              <a:gdLst>
                <a:gd name="GluePoint1X" fmla="*/ 0 w 56"/>
                <a:gd name="GluePoint1Y" fmla="*/ 0 h 288"/>
                <a:gd name="GluePoint2X" fmla="*/ 48 w 56"/>
                <a:gd name="GluePoint2Y" fmla="*/ 96 h 288"/>
                <a:gd name="GluePoint3X" fmla="*/ 48 w 56"/>
                <a:gd name="GluePoint3Y" fmla="*/ 192 h 288"/>
                <a:gd name="GluePoint4X" fmla="*/ 0 w 56"/>
                <a:gd name="GluePoint4Y" fmla="*/ 288 h 2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6" h="288">
                  <a:moveTo>
                    <a:pt x="0" y="0"/>
                  </a:moveTo>
                  <a:cubicBezTo>
                    <a:pt x="20" y="32"/>
                    <a:pt x="40" y="64"/>
                    <a:pt x="48" y="96"/>
                  </a:cubicBezTo>
                  <a:cubicBezTo>
                    <a:pt x="56" y="128"/>
                    <a:pt x="56" y="160"/>
                    <a:pt x="48" y="192"/>
                  </a:cubicBezTo>
                  <a:cubicBezTo>
                    <a:pt x="40" y="224"/>
                    <a:pt x="8" y="272"/>
                    <a:pt x="0" y="288"/>
                  </a:cubicBezTo>
                </a:path>
              </a:pathLst>
            </a:custGeom>
            <a:solidFill>
              <a:srgbClr val="FFFFFF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92" name="Line 84"/>
          <p:cNvSpPr/>
          <p:nvPr/>
        </p:nvSpPr>
        <p:spPr>
          <a:xfrm flipV="1">
            <a:off x="6705360" y="4114800"/>
            <a:ext cx="0" cy="7617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Line 85"/>
          <p:cNvSpPr/>
          <p:nvPr/>
        </p:nvSpPr>
        <p:spPr>
          <a:xfrm>
            <a:off x="4724280" y="4114800"/>
            <a:ext cx="8380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Line 86"/>
          <p:cNvSpPr/>
          <p:nvPr/>
        </p:nvSpPr>
        <p:spPr>
          <a:xfrm flipV="1">
            <a:off x="5562360" y="4114440"/>
            <a:ext cx="0" cy="1522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Line 87"/>
          <p:cNvSpPr/>
          <p:nvPr/>
        </p:nvSpPr>
        <p:spPr>
          <a:xfrm>
            <a:off x="5562360" y="4267080"/>
            <a:ext cx="45720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Line 88"/>
          <p:cNvSpPr/>
          <p:nvPr/>
        </p:nvSpPr>
        <p:spPr>
          <a:xfrm>
            <a:off x="5486400" y="4876560"/>
            <a:ext cx="1218960" cy="0"/>
          </a:xfrm>
          <a:prstGeom prst="line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Line 89"/>
          <p:cNvSpPr/>
          <p:nvPr/>
        </p:nvSpPr>
        <p:spPr>
          <a:xfrm>
            <a:off x="6553080" y="4114800"/>
            <a:ext cx="68580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Text Box 90"/>
          <p:cNvSpPr/>
          <p:nvPr/>
        </p:nvSpPr>
        <p:spPr>
          <a:xfrm>
            <a:off x="7162560" y="3581280"/>
            <a:ext cx="76212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V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Text Box 91"/>
          <p:cNvSpPr/>
          <p:nvPr/>
        </p:nvSpPr>
        <p:spPr>
          <a:xfrm>
            <a:off x="7162560" y="3962160"/>
            <a:ext cx="76212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D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Text Box 92"/>
          <p:cNvSpPr/>
          <p:nvPr/>
        </p:nvSpPr>
        <p:spPr>
          <a:xfrm>
            <a:off x="1904760" y="4419360"/>
            <a:ext cx="4572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x</a:t>
            </a:r>
            <a:r>
              <a:rPr lang="en-US" sz="16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Text Box 93"/>
          <p:cNvSpPr/>
          <p:nvPr/>
        </p:nvSpPr>
        <p:spPr>
          <a:xfrm>
            <a:off x="3657600" y="4419360"/>
            <a:ext cx="4572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Text Box 94"/>
          <p:cNvSpPr/>
          <p:nvPr/>
        </p:nvSpPr>
        <p:spPr>
          <a:xfrm>
            <a:off x="5486400" y="4419360"/>
            <a:ext cx="4572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Text Box 95"/>
          <p:cNvSpPr/>
          <p:nvPr/>
        </p:nvSpPr>
        <p:spPr>
          <a:xfrm>
            <a:off x="1295280" y="4419360"/>
            <a:ext cx="76212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):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Line 96"/>
          <p:cNvSpPr/>
          <p:nvPr/>
        </p:nvSpPr>
        <p:spPr>
          <a:xfrm>
            <a:off x="5790960" y="3733560"/>
            <a:ext cx="0" cy="2286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Line 97"/>
          <p:cNvSpPr/>
          <p:nvPr/>
        </p:nvSpPr>
        <p:spPr>
          <a:xfrm>
            <a:off x="5790960" y="3962160"/>
            <a:ext cx="22860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Line 98"/>
          <p:cNvSpPr/>
          <p:nvPr/>
        </p:nvSpPr>
        <p:spPr>
          <a:xfrm>
            <a:off x="5790960" y="3733560"/>
            <a:ext cx="137160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Line 99"/>
          <p:cNvSpPr/>
          <p:nvPr/>
        </p:nvSpPr>
        <p:spPr>
          <a:xfrm flipH="1">
            <a:off x="1981080" y="3962160"/>
            <a:ext cx="22096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Line 100"/>
          <p:cNvSpPr/>
          <p:nvPr/>
        </p:nvSpPr>
        <p:spPr>
          <a:xfrm>
            <a:off x="3962160" y="4267080"/>
            <a:ext cx="0" cy="6094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Line 101"/>
          <p:cNvSpPr/>
          <p:nvPr/>
        </p:nvSpPr>
        <p:spPr>
          <a:xfrm>
            <a:off x="3962160" y="4267080"/>
            <a:ext cx="22860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Text Box 102"/>
          <p:cNvSpPr/>
          <p:nvPr/>
        </p:nvSpPr>
        <p:spPr>
          <a:xfrm>
            <a:off x="4724280" y="3809880"/>
            <a:ext cx="76212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680F9C22-B21A-4D0C-A33E-02BC890B00C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Separable Cyclic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Box 4"/>
          <p:cNvSpPr/>
          <p:nvPr/>
        </p:nvSpPr>
        <p:spPr>
          <a:xfrm>
            <a:off x="380880" y="990360"/>
            <a:ext cx="830592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Let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and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be the data and generator polynomials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Text Box 5"/>
          <p:cNvSpPr/>
          <p:nvPr/>
        </p:nvSpPr>
        <p:spPr>
          <a:xfrm>
            <a:off x="380880" y="3657600"/>
            <a:ext cx="8458200" cy="1921320"/>
          </a:xfrm>
          <a:prstGeom prst="rect">
            <a:avLst/>
          </a:prstGeom>
          <a:solidFill>
            <a:srgbClr val="FFFF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Example: 7-bit code with 4 data bits and 3 check bits,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1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Data = 1 0 0 1,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1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mod (1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  =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 +    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Codeword  =  0     1     1     1     0    0 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Text Box 6"/>
          <p:cNvSpPr/>
          <p:nvPr/>
        </p:nvSpPr>
        <p:spPr>
          <a:xfrm>
            <a:off x="380880" y="1676160"/>
            <a:ext cx="8077320" cy="16470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Encoding: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Multiply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and divide the result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to get the remainder polynomial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of degree less than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Form the codeword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), which is divisible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19" name="Group 7"/>
          <p:cNvGrpSpPr/>
          <p:nvPr/>
        </p:nvGrpSpPr>
        <p:grpSpPr>
          <a:xfrm>
            <a:off x="1981080" y="5562360"/>
            <a:ext cx="3048120" cy="337680"/>
            <a:chOff x="1981080" y="5562360"/>
            <a:chExt cx="3048120" cy="337680"/>
          </a:xfrm>
        </p:grpSpPr>
        <p:sp>
          <p:nvSpPr>
            <p:cNvPr id="320" name="Line 8"/>
            <p:cNvSpPr/>
            <p:nvPr/>
          </p:nvSpPr>
          <p:spPr>
            <a:xfrm>
              <a:off x="3581280" y="5562360"/>
              <a:ext cx="13716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1" name="Line 9"/>
            <p:cNvSpPr/>
            <p:nvPr/>
          </p:nvSpPr>
          <p:spPr>
            <a:xfrm>
              <a:off x="2057400" y="5562360"/>
              <a:ext cx="11430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2" name="Text Box 10"/>
            <p:cNvSpPr/>
            <p:nvPr/>
          </p:nvSpPr>
          <p:spPr>
            <a:xfrm>
              <a:off x="1981080" y="5562360"/>
              <a:ext cx="304812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 Check part             Data part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23" name="Text Box 11"/>
          <p:cNvSpPr/>
          <p:nvPr/>
        </p:nvSpPr>
        <p:spPr>
          <a:xfrm>
            <a:off x="5942880" y="4419360"/>
            <a:ext cx="2246400" cy="703080"/>
          </a:xfrm>
          <a:prstGeom prst="rect">
            <a:avLst/>
          </a:prstGeom>
          <a:solidFill>
            <a:srgbClr val="FFFF66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aka CRC = cyclic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redundancy check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Text Box 12"/>
          <p:cNvSpPr/>
          <p:nvPr/>
        </p:nvSpPr>
        <p:spPr>
          <a:xfrm>
            <a:off x="5943600" y="5305320"/>
            <a:ext cx="2286000" cy="703080"/>
          </a:xfrm>
          <a:prstGeom prst="rect">
            <a:avLst/>
          </a:prstGeom>
          <a:solidFill>
            <a:srgbClr val="CCEC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Single parity bit: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F5298EDF-B863-487A-8AA2-BBF2BBA823E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228600" y="228240"/>
            <a:ext cx="861048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13.5  Arithmetic Error-Detecting Codes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3"/>
          <p:cNvSpPr/>
          <p:nvPr/>
        </p:nvSpPr>
        <p:spPr>
          <a:xfrm>
            <a:off x="0" y="241452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Text Box 4"/>
          <p:cNvSpPr/>
          <p:nvPr/>
        </p:nvSpPr>
        <p:spPr>
          <a:xfrm>
            <a:off x="380880" y="914400"/>
            <a:ext cx="5867280" cy="20188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Unsigned addition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0010 0111 0010 0001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                +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0101 1000 1101 0011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–––––––––––––––––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Correct sum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0111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1111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1111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Erroneous sum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1000 0000 0000 0100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6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               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6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Stage generating 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6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erroneous carry of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Text Box 5"/>
          <p:cNvSpPr/>
          <p:nvPr/>
        </p:nvSpPr>
        <p:spPr>
          <a:xfrm>
            <a:off x="5867280" y="990360"/>
            <a:ext cx="2895480" cy="1312200"/>
          </a:xfrm>
          <a:prstGeom prst="rect">
            <a:avLst/>
          </a:prstGeom>
          <a:solidFill>
            <a:srgbClr val="CCFF99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How a single carry error can lead to an arbitrary number of bit-errors (inversions)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Text Box 6"/>
          <p:cNvSpPr/>
          <p:nvPr/>
        </p:nvSpPr>
        <p:spPr>
          <a:xfrm>
            <a:off x="380880" y="2971800"/>
            <a:ext cx="8381880" cy="30798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90000"/>
              </a:lnSpc>
              <a:tabLst>
                <a:tab pos="0" algn="l"/>
                <a:tab pos="2514600" algn="l"/>
                <a:tab pos="543564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arithmetic weight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of an error: Min number of signed powers of 2 that must be added to the correct value to turn it into the erroneous result (contrast with Hamming weight of an error)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pos="0" algn="l"/>
                <a:tab pos="2514600" algn="l"/>
                <a:tab pos="543564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pos="0" algn="l"/>
                <a:tab pos="2514600" algn="l"/>
                <a:tab pos="543564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Example 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Example 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pos="0" algn="l"/>
                <a:tab pos="2514600" algn="l"/>
                <a:tab pos="543564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------------------------------------------------------------------------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--------------------------------------------------------------------------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pos="0" algn="l"/>
                <a:tab pos="2514600" algn="l"/>
                <a:tab pos="543564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Correct value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0111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1111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1111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0100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1101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1111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1111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pos="0" algn="l"/>
                <a:tab pos="2514600" algn="l"/>
                <a:tab pos="543564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Erroneous value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1000 0000 0000 0100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0110 0000 0000 0100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pos="0" algn="l"/>
                <a:tab pos="2514600" algn="l"/>
                <a:tab pos="543564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Difference (error)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16 = 2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–32752 = –2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+ 2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pos="0" algn="l"/>
                <a:tab pos="2514600" algn="l"/>
                <a:tab pos="543564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Min-weight BSD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0000 0000 0001 0000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–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1000 0000 0001 0000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pos="0" algn="l"/>
                <a:tab pos="2514600" algn="l"/>
                <a:tab pos="543564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Arithmetic weight        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pos="0" algn="l"/>
                <a:tab pos="2514600" algn="l"/>
                <a:tab pos="543564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Error type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Single, positive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Double, negative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71CA2B2D-D13E-4B1F-A9FD-B834AB8B244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380880" y="228240"/>
            <a:ext cx="830592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Codes for Arithmetic Operations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Box 3"/>
          <p:cNvSpPr/>
          <p:nvPr/>
        </p:nvSpPr>
        <p:spPr>
          <a:xfrm>
            <a:off x="838080" y="1295280"/>
            <a:ext cx="7483320" cy="45399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Arithmetic error-detecting codes: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Are characterized by arithmetic weights of detectable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Allow direct arithmetic on coded operands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We will discuss two classes of arithmetic error-detecting codes, both of which are based on a check modulus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(usually a small odd number)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Product or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codes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Represent the value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by the number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Residue (or inverse residue) codes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Represent the value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by the pair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where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is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mod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or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mod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mod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2C950A86-CD8D-4E1B-8D7E-AE75712456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380880" y="228240"/>
            <a:ext cx="830592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Product or 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Box 3"/>
          <p:cNvSpPr/>
          <p:nvPr/>
        </p:nvSpPr>
        <p:spPr>
          <a:xfrm>
            <a:off x="533160" y="1066680"/>
            <a:ext cx="8077320" cy="42051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For odd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all weight-1 arithmetic errors are detected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Arithmetic errors of weight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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2 may go undetected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e.g., the error 32 736 = 2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2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undetectable with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3, 11, or 31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Error detection: check divisibility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Encoding/decoding: multiply/divide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Arithmetic also requires multiplication and division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Product codes are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nonseparate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nonseparable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codes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Data and redundant check info are intermixed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38625748-A3F5-4C0C-B742-A301E5FDFA3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380880" y="228240"/>
            <a:ext cx="830592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Low-Cost Product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Box 3"/>
          <p:cNvSpPr/>
          <p:nvPr/>
        </p:nvSpPr>
        <p:spPr>
          <a:xfrm>
            <a:off x="380880" y="1066680"/>
            <a:ext cx="8458200" cy="41749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Use low-cost check moduli of the form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Multiplication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1: done by shift-subtract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1)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Division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1: done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bits at a time as follows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Given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(2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1)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find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by computing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. . . xxxx 0000   –   . . . xxxx xxxx   =    . . . xxxx xxxx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Unknown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Known (2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1)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Unknown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Theorem: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Any unidirectional error with arithmetic weight of at most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 is detectable by a low-cost product code based on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294024F1-2711-481C-9A89-352868E094A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059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Arithmetic on 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-Coded Operands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Box 3"/>
          <p:cNvSpPr/>
          <p:nvPr/>
        </p:nvSpPr>
        <p:spPr>
          <a:xfrm>
            <a:off x="685800" y="1295280"/>
            <a:ext cx="7924680" cy="42044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Add/subtract is done directly: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Direct multiplication results in: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 result must be corrected through division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For division, if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z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qd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we have: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Az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q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Thus,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q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is unprotected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Possible cure: premultiply the dividend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Az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The result will need correction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Square rooting leads to a problem similar to division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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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=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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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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which is not the same as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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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064A6DFD-7E3B-42CF-9A66-E76C204773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380880" y="228240"/>
            <a:ext cx="830592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Residue and Inverse Residue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Box 3"/>
          <p:cNvSpPr/>
          <p:nvPr/>
        </p:nvSpPr>
        <p:spPr>
          <a:xfrm>
            <a:off x="533160" y="1066680"/>
            <a:ext cx="8153640" cy="48747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Represent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by the pair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)), where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mod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Residue codes are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separate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separable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codes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Separate data and check parts make decoding trivial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Encoding: Given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compute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mod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Low-cost residue codes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use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To compute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mod (2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1), add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-bit segments of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modulo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(no division is required)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Example: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Compute  0101  1101  1010  1110  mod 15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0101 + 1101 = 0011  (addition with end-around carry)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0011 + 1010 = 1101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1101 + 1110 = 1100  The final residue mod 15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520222B8-9C51-4572-A787-FF747F7B87F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380880" y="228240"/>
            <a:ext cx="830592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Arithmetic on Residue-Coded Operands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Box 3"/>
          <p:cNvSpPr/>
          <p:nvPr/>
        </p:nvSpPr>
        <p:spPr>
          <a:xfrm>
            <a:off x="533160" y="990360"/>
            <a:ext cx="8077320" cy="1920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Add/subtract: Data and check parts are handled separately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))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))  = 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)) mod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Multiply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))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))  = 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)) mod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Divide/square-root: difficult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Rectangle 4"/>
          <p:cNvSpPr/>
          <p:nvPr/>
        </p:nvSpPr>
        <p:spPr>
          <a:xfrm>
            <a:off x="0" y="233352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64" name="Object 5"/>
          <p:cNvGraphicFramePr/>
          <p:nvPr/>
        </p:nvGraphicFramePr>
        <p:xfrm>
          <a:off x="533160" y="3047760"/>
          <a:ext cx="6248520" cy="32292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365" name="Object 5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33160" y="3047760"/>
                    <a:ext cx="6248520" cy="3229200"/>
                  </a:xfrm>
                  <a:prstGeom prst="rect">
                    <a:avLst/>
                  </a:prstGeom>
                  <a:noFill/>
                  <a:ln w="38160">
                    <a:noFill/>
                  </a:ln>
                </p:spPr>
              </p:pic>
            </p:oleObj>
          </a:graphicData>
        </a:graphic>
      </p:graphicFrame>
      <p:sp>
        <p:nvSpPr>
          <p:cNvPr id="366" name="Text Box 6"/>
          <p:cNvSpPr/>
          <p:nvPr/>
        </p:nvSpPr>
        <p:spPr>
          <a:xfrm>
            <a:off x="5790960" y="5105160"/>
            <a:ext cx="2743200" cy="703080"/>
          </a:xfrm>
          <a:prstGeom prst="rect">
            <a:avLst/>
          </a:prstGeom>
          <a:solidFill>
            <a:srgbClr val="CCFF99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Arithmetic processor with residue checking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Footer Placeholder 5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Slide Number Placeholder 6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EDBC7C02-390D-403C-9A89-54830A322A3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13.6  Other Error-Detecting Codes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Box 4"/>
          <p:cNvSpPr/>
          <p:nvPr/>
        </p:nvSpPr>
        <p:spPr>
          <a:xfrm>
            <a:off x="266400" y="1143000"/>
            <a:ext cx="8610840" cy="4692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Codes for erasure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Assume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total symbols,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info symbol,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erasures allowed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Info can be recovered from any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symbols in an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-symbol codeword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When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 the erasure code is optimal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Codes for byte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Bytes are common units of data representation, storage, transmission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So, it makes sense to tie our error detection capability to bytes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Example: Single-byte-error-correcting, double-byte-error-detecting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Codes for burst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With serial data or scratched disk surface, adjacent bits can be affected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Example: Single-bit-error-correcting, 6-bit-burst-error-detecting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Date Placeholder 4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oter Placeholder 5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Higher-Level Error Coding Methods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Box 4"/>
          <p:cNvSpPr/>
          <p:nvPr/>
        </p:nvSpPr>
        <p:spPr>
          <a:xfrm>
            <a:off x="685800" y="1143000"/>
            <a:ext cx="761976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We have applied coding to data at the bit-string or word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Text Box 5"/>
          <p:cNvSpPr/>
          <p:nvPr/>
        </p:nvSpPr>
        <p:spPr>
          <a:xfrm>
            <a:off x="685800" y="1981080"/>
            <a:ext cx="7619760" cy="14641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It is also possible to apply coding at higher levels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Data structure level – Robust data structures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Application level – Algorithm-based error tolerance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7A5FB03B-BAC4-49D3-A347-8FBC983A90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304200" y="228600"/>
            <a:ext cx="85345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Error Correction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2" name="Picture 4" descr="contactlens"/>
          <p:cNvPicPr/>
          <p:nvPr/>
        </p:nvPicPr>
        <p:blipFill>
          <a:blip r:embed="rId1"/>
          <a:srcRect l="0" t="30329" r="0" b="21099"/>
          <a:stretch/>
        </p:blipFill>
        <p:spPr>
          <a:xfrm>
            <a:off x="609480" y="990360"/>
            <a:ext cx="7924680" cy="51292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7FAA567E-8674-4AB3-9B53-73213DF8DC3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Rectangle 2"/>
          <p:cNvSpPr/>
          <p:nvPr/>
        </p:nvSpPr>
        <p:spPr>
          <a:xfrm>
            <a:off x="8305560" y="5333760"/>
            <a:ext cx="381240" cy="228600"/>
          </a:xfrm>
          <a:prstGeom prst="rect">
            <a:avLst/>
          </a:prstGeom>
          <a:solidFill>
            <a:srgbClr val="FF66FF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87" name="Group 3"/>
          <p:cNvGrpSpPr/>
          <p:nvPr/>
        </p:nvGrpSpPr>
        <p:grpSpPr>
          <a:xfrm>
            <a:off x="7924680" y="4876560"/>
            <a:ext cx="533160" cy="430200"/>
            <a:chOff x="7924680" y="4876560"/>
            <a:chExt cx="533160" cy="430200"/>
          </a:xfrm>
        </p:grpSpPr>
        <p:sp>
          <p:nvSpPr>
            <p:cNvPr id="388" name="Rectangle 4"/>
            <p:cNvSpPr/>
            <p:nvPr/>
          </p:nvSpPr>
          <p:spPr>
            <a:xfrm>
              <a:off x="7924680" y="4876560"/>
              <a:ext cx="533160" cy="219240"/>
            </a:xfrm>
            <a:prstGeom prst="rect">
              <a:avLst/>
            </a:prstGeom>
            <a:solidFill>
              <a:srgbClr val="FFCC66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9" name="Rectangle 5"/>
            <p:cNvSpPr/>
            <p:nvPr/>
          </p:nvSpPr>
          <p:spPr>
            <a:xfrm>
              <a:off x="7924680" y="4876560"/>
              <a:ext cx="245880" cy="430200"/>
            </a:xfrm>
            <a:prstGeom prst="rect">
              <a:avLst/>
            </a:prstGeom>
            <a:solidFill>
              <a:srgbClr val="FFCC66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90" name="Rectangle 6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Concept of Error-Correcting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Box 8"/>
          <p:cNvSpPr/>
          <p:nvPr/>
        </p:nvSpPr>
        <p:spPr>
          <a:xfrm>
            <a:off x="457200" y="3581280"/>
            <a:ext cx="8001000" cy="25304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 conceptually simple error-correcting code: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Arrange the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data bits into a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1/2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1/2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square array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Attach an even parity bit to each row and column of the array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Row/Column check bit = XOR of all row/column data bits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Data space: All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possible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-bit words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Redundancy: 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1/2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+ 1 check bits for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data bits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Corrects all single-bit errors (lead to distinct noncodewords)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Detects all double-bit errors (some triples go undetected)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Oval 9"/>
          <p:cNvSpPr/>
          <p:nvPr/>
        </p:nvSpPr>
        <p:spPr>
          <a:xfrm>
            <a:off x="990360" y="1447560"/>
            <a:ext cx="2133720" cy="1371600"/>
          </a:xfrm>
          <a:prstGeom prst="ellipse">
            <a:avLst/>
          </a:prstGeom>
          <a:solidFill>
            <a:srgbClr val="CCE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Oval 10"/>
          <p:cNvSpPr/>
          <p:nvPr/>
        </p:nvSpPr>
        <p:spPr>
          <a:xfrm>
            <a:off x="2133360" y="2057400"/>
            <a:ext cx="152640" cy="152280"/>
          </a:xfrm>
          <a:prstGeom prst="ellipse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Oval 11"/>
          <p:cNvSpPr/>
          <p:nvPr/>
        </p:nvSpPr>
        <p:spPr>
          <a:xfrm>
            <a:off x="4800600" y="1371600"/>
            <a:ext cx="3200400" cy="213336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Freeform 12"/>
          <p:cNvSpPr/>
          <p:nvPr/>
        </p:nvSpPr>
        <p:spPr>
          <a:xfrm>
            <a:off x="2286000" y="1688760"/>
            <a:ext cx="3962160" cy="444600"/>
          </a:xfrm>
          <a:custGeom>
            <a:avLst/>
            <a:gdLst>
              <a:gd name="GluePoint1X" fmla="*/ 0 w 2496"/>
              <a:gd name="GluePoint1Y" fmla="*/ 2147483646 h 280"/>
              <a:gd name="GluePoint2X" fmla="*/ 2147483646 w 2496"/>
              <a:gd name="GluePoint2Y" fmla="*/ 2147483646 h 280"/>
              <a:gd name="GluePoint3X" fmla="*/ 2147483646 w 2496"/>
              <a:gd name="GluePoint3Y" fmla="*/ 2147483646 h 280"/>
              <a:gd name="GluePoint4X" fmla="*/ 2147483646 w 2496"/>
              <a:gd name="GluePoint4Y" fmla="*/ 2147483646 h 2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496" h="280">
                <a:moveTo>
                  <a:pt x="0" y="232"/>
                </a:moveTo>
                <a:cubicBezTo>
                  <a:pt x="168" y="152"/>
                  <a:pt x="336" y="72"/>
                  <a:pt x="624" y="40"/>
                </a:cubicBezTo>
                <a:cubicBezTo>
                  <a:pt x="912" y="8"/>
                  <a:pt x="1416" y="0"/>
                  <a:pt x="1728" y="40"/>
                </a:cubicBezTo>
                <a:cubicBezTo>
                  <a:pt x="2040" y="80"/>
                  <a:pt x="2368" y="240"/>
                  <a:pt x="2496" y="280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Freeform 13"/>
          <p:cNvSpPr/>
          <p:nvPr/>
        </p:nvSpPr>
        <p:spPr>
          <a:xfrm>
            <a:off x="2286000" y="2209680"/>
            <a:ext cx="3936960" cy="420480"/>
          </a:xfrm>
          <a:custGeom>
            <a:avLst/>
            <a:gdLst>
              <a:gd name="GluePoint1X" fmla="*/ 0 w 2480"/>
              <a:gd name="GluePoint1Y" fmla="*/ 0 h 265"/>
              <a:gd name="GluePoint2X" fmla="*/ 2147483646 w 2480"/>
              <a:gd name="GluePoint2Y" fmla="*/ 2147483646 h 265"/>
              <a:gd name="GluePoint3X" fmla="*/ 2147483646 w 2480"/>
              <a:gd name="GluePoint3Y" fmla="*/ 2147483646 h 265"/>
              <a:gd name="GluePoint4X" fmla="*/ 2147483646 w 2480"/>
              <a:gd name="GluePoint4Y" fmla="*/ 2147483646 h 26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480" h="265">
                <a:moveTo>
                  <a:pt x="0" y="0"/>
                </a:moveTo>
                <a:cubicBezTo>
                  <a:pt x="95" y="36"/>
                  <a:pt x="291" y="177"/>
                  <a:pt x="568" y="216"/>
                </a:cubicBezTo>
                <a:cubicBezTo>
                  <a:pt x="845" y="255"/>
                  <a:pt x="1345" y="265"/>
                  <a:pt x="1664" y="232"/>
                </a:cubicBezTo>
                <a:cubicBezTo>
                  <a:pt x="1983" y="199"/>
                  <a:pt x="2310" y="61"/>
                  <a:pt x="2480" y="16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Text Box 14"/>
          <p:cNvSpPr/>
          <p:nvPr/>
        </p:nvSpPr>
        <p:spPr>
          <a:xfrm>
            <a:off x="3506400" y="1395360"/>
            <a:ext cx="10260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Encoding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Text Box 15"/>
          <p:cNvSpPr/>
          <p:nvPr/>
        </p:nvSpPr>
        <p:spPr>
          <a:xfrm>
            <a:off x="3430080" y="2614320"/>
            <a:ext cx="103716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Decoding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Oval 16"/>
          <p:cNvSpPr/>
          <p:nvPr/>
        </p:nvSpPr>
        <p:spPr>
          <a:xfrm>
            <a:off x="7135560" y="2666880"/>
            <a:ext cx="15264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Oval 17"/>
          <p:cNvSpPr/>
          <p:nvPr/>
        </p:nvSpPr>
        <p:spPr>
          <a:xfrm>
            <a:off x="6248160" y="2895480"/>
            <a:ext cx="15264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Line 18"/>
          <p:cNvSpPr/>
          <p:nvPr/>
        </p:nvSpPr>
        <p:spPr>
          <a:xfrm flipH="1">
            <a:off x="7238880" y="2209680"/>
            <a:ext cx="380880" cy="45720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Line 19"/>
          <p:cNvSpPr/>
          <p:nvPr/>
        </p:nvSpPr>
        <p:spPr>
          <a:xfrm>
            <a:off x="6324480" y="2286000"/>
            <a:ext cx="0" cy="6094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Oval 20"/>
          <p:cNvSpPr/>
          <p:nvPr/>
        </p:nvSpPr>
        <p:spPr>
          <a:xfrm>
            <a:off x="7086600" y="1904760"/>
            <a:ext cx="152280" cy="152640"/>
          </a:xfrm>
          <a:prstGeom prst="ellipse">
            <a:avLst/>
          </a:prstGeom>
          <a:solidFill>
            <a:srgbClr val="0066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Oval 21"/>
          <p:cNvSpPr/>
          <p:nvPr/>
        </p:nvSpPr>
        <p:spPr>
          <a:xfrm>
            <a:off x="1676160" y="1600200"/>
            <a:ext cx="152640" cy="152280"/>
          </a:xfrm>
          <a:prstGeom prst="ellipse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Oval 22"/>
          <p:cNvSpPr/>
          <p:nvPr/>
        </p:nvSpPr>
        <p:spPr>
          <a:xfrm>
            <a:off x="1371600" y="2133360"/>
            <a:ext cx="152280" cy="152640"/>
          </a:xfrm>
          <a:prstGeom prst="ellipse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Text Box 23"/>
          <p:cNvSpPr/>
          <p:nvPr/>
        </p:nvSpPr>
        <p:spPr>
          <a:xfrm>
            <a:off x="1221480" y="1752480"/>
            <a:ext cx="12060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Data words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Text Box 24"/>
          <p:cNvSpPr/>
          <p:nvPr/>
        </p:nvSpPr>
        <p:spPr>
          <a:xfrm>
            <a:off x="5945400" y="1676160"/>
            <a:ext cx="12060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Codewords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Text Box 25"/>
          <p:cNvSpPr/>
          <p:nvPr/>
        </p:nvSpPr>
        <p:spPr>
          <a:xfrm>
            <a:off x="5945760" y="2971800"/>
            <a:ext cx="158904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Noncodewords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Oval 26"/>
          <p:cNvSpPr/>
          <p:nvPr/>
        </p:nvSpPr>
        <p:spPr>
          <a:xfrm>
            <a:off x="6781680" y="2819160"/>
            <a:ext cx="152280" cy="15264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Line 27"/>
          <p:cNvSpPr/>
          <p:nvPr/>
        </p:nvSpPr>
        <p:spPr>
          <a:xfrm>
            <a:off x="6324480" y="2209680"/>
            <a:ext cx="457200" cy="6094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Oval 28"/>
          <p:cNvSpPr/>
          <p:nvPr/>
        </p:nvSpPr>
        <p:spPr>
          <a:xfrm>
            <a:off x="6248160" y="2133360"/>
            <a:ext cx="152640" cy="152640"/>
          </a:xfrm>
          <a:prstGeom prst="ellipse">
            <a:avLst/>
          </a:prstGeom>
          <a:solidFill>
            <a:srgbClr val="0066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Oval 29"/>
          <p:cNvSpPr/>
          <p:nvPr/>
        </p:nvSpPr>
        <p:spPr>
          <a:xfrm>
            <a:off x="1752480" y="2286000"/>
            <a:ext cx="152280" cy="152280"/>
          </a:xfrm>
          <a:prstGeom prst="ellipse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Text Box 30"/>
          <p:cNvSpPr/>
          <p:nvPr/>
        </p:nvSpPr>
        <p:spPr>
          <a:xfrm>
            <a:off x="6631560" y="2133360"/>
            <a:ext cx="662040" cy="307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Errors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Line 31"/>
          <p:cNvSpPr/>
          <p:nvPr/>
        </p:nvSpPr>
        <p:spPr>
          <a:xfrm>
            <a:off x="5715000" y="2743200"/>
            <a:ext cx="152280" cy="3808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Oval 32"/>
          <p:cNvSpPr/>
          <p:nvPr/>
        </p:nvSpPr>
        <p:spPr>
          <a:xfrm>
            <a:off x="5638680" y="2666880"/>
            <a:ext cx="152280" cy="152280"/>
          </a:xfrm>
          <a:prstGeom prst="ellipse">
            <a:avLst/>
          </a:prstGeom>
          <a:solidFill>
            <a:srgbClr val="0066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Line 33"/>
          <p:cNvSpPr/>
          <p:nvPr/>
        </p:nvSpPr>
        <p:spPr>
          <a:xfrm flipH="1">
            <a:off x="7543440" y="2286000"/>
            <a:ext cx="75960" cy="45720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Text Box 34"/>
          <p:cNvSpPr/>
          <p:nvPr/>
        </p:nvSpPr>
        <p:spPr>
          <a:xfrm>
            <a:off x="1450080" y="1143000"/>
            <a:ext cx="12060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Text Box 35"/>
          <p:cNvSpPr/>
          <p:nvPr/>
        </p:nvSpPr>
        <p:spPr>
          <a:xfrm>
            <a:off x="5335920" y="1066680"/>
            <a:ext cx="126252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Code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Freeform 36"/>
          <p:cNvSpPr/>
          <p:nvPr/>
        </p:nvSpPr>
        <p:spPr>
          <a:xfrm>
            <a:off x="5422680" y="2427120"/>
            <a:ext cx="2540160" cy="849240"/>
          </a:xfrm>
          <a:custGeom>
            <a:avLst/>
            <a:gdLst>
              <a:gd name="GluePoint1X" fmla="*/ 0 w 1600"/>
              <a:gd name="GluePoint1Y" fmla="*/ 2147483646 h 535"/>
              <a:gd name="GluePoint2X" fmla="*/ 2147483646 w 1600"/>
              <a:gd name="GluePoint2Y" fmla="*/ 2147483646 h 535"/>
              <a:gd name="GluePoint3X" fmla="*/ 2147483646 w 1600"/>
              <a:gd name="GluePoint3Y" fmla="*/ 2147483646 h 535"/>
              <a:gd name="GluePoint4X" fmla="*/ 2147483646 w 1600"/>
              <a:gd name="GluePoint4Y" fmla="*/ 2147483646 h 53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1600" h="535">
                <a:moveTo>
                  <a:pt x="0" y="535"/>
                </a:moveTo>
                <a:cubicBezTo>
                  <a:pt x="71" y="470"/>
                  <a:pt x="249" y="239"/>
                  <a:pt x="424" y="151"/>
                </a:cubicBezTo>
                <a:cubicBezTo>
                  <a:pt x="599" y="63"/>
                  <a:pt x="852" y="14"/>
                  <a:pt x="1048" y="7"/>
                </a:cubicBezTo>
                <a:cubicBezTo>
                  <a:pt x="1244" y="0"/>
                  <a:pt x="1485" y="89"/>
                  <a:pt x="1600" y="111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Text Box 37"/>
          <p:cNvSpPr/>
          <p:nvPr/>
        </p:nvSpPr>
        <p:spPr>
          <a:xfrm>
            <a:off x="6784920" y="3429000"/>
            <a:ext cx="122832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Error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Text Box 38"/>
          <p:cNvSpPr/>
          <p:nvPr/>
        </p:nvSpPr>
        <p:spPr>
          <a:xfrm>
            <a:off x="7619760" y="4876560"/>
            <a:ext cx="1219320" cy="9464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0  1  1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0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0  1  0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0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33CC"/>
                </a:solidFill>
                <a:effectLst/>
                <a:uFillTx/>
                <a:latin typeface="Arial"/>
                <a:ea typeface="Arial"/>
              </a:rPr>
              <a:t>1  0  1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0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1  0  0</a:t>
            </a:r>
            <a:r>
              <a:rPr lang="en-US" sz="2000" b="0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0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Oval 39"/>
          <p:cNvSpPr/>
          <p:nvPr/>
        </p:nvSpPr>
        <p:spPr>
          <a:xfrm>
            <a:off x="7467480" y="2743200"/>
            <a:ext cx="15228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Oval 40"/>
          <p:cNvSpPr/>
          <p:nvPr/>
        </p:nvSpPr>
        <p:spPr>
          <a:xfrm>
            <a:off x="5813280" y="3124080"/>
            <a:ext cx="15228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25" name="Group 41"/>
          <p:cNvGrpSpPr/>
          <p:nvPr/>
        </p:nvGrpSpPr>
        <p:grpSpPr>
          <a:xfrm>
            <a:off x="8153280" y="4572000"/>
            <a:ext cx="380880" cy="532800"/>
            <a:chOff x="8153280" y="4572000"/>
            <a:chExt cx="380880" cy="532800"/>
          </a:xfrm>
        </p:grpSpPr>
        <p:sp>
          <p:nvSpPr>
            <p:cNvPr id="426" name="Line 42"/>
            <p:cNvSpPr/>
            <p:nvPr/>
          </p:nvSpPr>
          <p:spPr>
            <a:xfrm flipH="1">
              <a:off x="8305560" y="4876560"/>
              <a:ext cx="152640" cy="2282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7" name="Text Box 43"/>
            <p:cNvSpPr/>
            <p:nvPr/>
          </p:nvSpPr>
          <p:spPr>
            <a:xfrm>
              <a:off x="8153280" y="4572000"/>
              <a:ext cx="380880" cy="39852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28" name="Oval 44"/>
          <p:cNvSpPr/>
          <p:nvPr/>
        </p:nvSpPr>
        <p:spPr>
          <a:xfrm>
            <a:off x="7543800" y="2133360"/>
            <a:ext cx="152280" cy="152640"/>
          </a:xfrm>
          <a:prstGeom prst="ellipse">
            <a:avLst/>
          </a:prstGeom>
          <a:solidFill>
            <a:srgbClr val="0066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Line 45"/>
          <p:cNvSpPr/>
          <p:nvPr/>
        </p:nvSpPr>
        <p:spPr>
          <a:xfrm flipH="1" flipV="1">
            <a:off x="7238520" y="2028240"/>
            <a:ext cx="304920" cy="152280"/>
          </a:xfrm>
          <a:prstGeom prst="line">
            <a:avLst/>
          </a:prstGeom>
          <a:ln w="9360">
            <a:solidFill>
              <a:srgbClr val="FF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Line 46"/>
          <p:cNvSpPr/>
          <p:nvPr/>
        </p:nvSpPr>
        <p:spPr>
          <a:xfrm flipV="1">
            <a:off x="7391160" y="1447560"/>
            <a:ext cx="304920" cy="60984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Text Box 47"/>
          <p:cNvSpPr/>
          <p:nvPr/>
        </p:nvSpPr>
        <p:spPr>
          <a:xfrm>
            <a:off x="7238880" y="914400"/>
            <a:ext cx="1600200" cy="58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 be avoided at all cost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Line 48"/>
          <p:cNvSpPr/>
          <p:nvPr/>
        </p:nvSpPr>
        <p:spPr>
          <a:xfrm flipV="1">
            <a:off x="6476760" y="2285640"/>
            <a:ext cx="228600" cy="7596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9160" rIns="90000" bIns="29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Line 49"/>
          <p:cNvSpPr/>
          <p:nvPr/>
        </p:nvSpPr>
        <p:spPr>
          <a:xfrm>
            <a:off x="7238880" y="2286000"/>
            <a:ext cx="228600" cy="7596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9160" rIns="90000" bIns="29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E84FD454-3BDD-4B64-B0E1-024BEDF4889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Evaluation of Error-Correcting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Box 4"/>
          <p:cNvSpPr/>
          <p:nvPr/>
        </p:nvSpPr>
        <p:spPr>
          <a:xfrm>
            <a:off x="457200" y="990360"/>
            <a:ext cx="800100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Redundancy: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data bits encoded in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bits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redundant bits)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Text Box 5"/>
          <p:cNvSpPr/>
          <p:nvPr/>
        </p:nvSpPr>
        <p:spPr>
          <a:xfrm>
            <a:off x="457200" y="1523880"/>
            <a:ext cx="8381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Encoding: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Complexity (circuit / time) to form codeword from data word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Text Box 6"/>
          <p:cNvSpPr/>
          <p:nvPr/>
        </p:nvSpPr>
        <p:spPr>
          <a:xfrm>
            <a:off x="457200" y="2057400"/>
            <a:ext cx="8381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Decoding: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Complexity (circuit / time) to obtain data word from codeword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Text Box 7"/>
          <p:cNvSpPr/>
          <p:nvPr/>
        </p:nvSpPr>
        <p:spPr>
          <a:xfrm>
            <a:off x="457200" y="2590560"/>
            <a:ext cx="8229600" cy="1312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Capability: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Classes of error that can be corrected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Greater correction capability generally involves more redundancy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To correct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bit-errors, a minimum code distance of 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+ 1 is required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Text Box 8"/>
          <p:cNvSpPr/>
          <p:nvPr/>
        </p:nvSpPr>
        <p:spPr>
          <a:xfrm>
            <a:off x="457200" y="4495680"/>
            <a:ext cx="8001000" cy="14338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Combined error correction/detection capability: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To correct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errors and additionally detect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errors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&gt;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),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a minimum code distance of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+ 1 is required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Example: Hamming SEC/DED code has a code distance of 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Text Box 9"/>
          <p:cNvSpPr/>
          <p:nvPr/>
        </p:nvSpPr>
        <p:spPr>
          <a:xfrm>
            <a:off x="457200" y="3657600"/>
            <a:ext cx="80010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Examples of code correction capabilities: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Single, double, byte,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-bit burst, unidirectional, . . .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56F3F712-7F7D-4FE4-9E94-CA3942C7277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Oval 2"/>
          <p:cNvSpPr/>
          <p:nvPr/>
        </p:nvSpPr>
        <p:spPr>
          <a:xfrm>
            <a:off x="8534160" y="55623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Oval 3"/>
          <p:cNvSpPr/>
          <p:nvPr/>
        </p:nvSpPr>
        <p:spPr>
          <a:xfrm>
            <a:off x="8534160" y="18288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Oval 4"/>
          <p:cNvSpPr/>
          <p:nvPr/>
        </p:nvSpPr>
        <p:spPr>
          <a:xfrm>
            <a:off x="8534160" y="23619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Oval 5"/>
          <p:cNvSpPr/>
          <p:nvPr/>
        </p:nvSpPr>
        <p:spPr>
          <a:xfrm>
            <a:off x="8534160" y="289548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Oval 6"/>
          <p:cNvSpPr/>
          <p:nvPr/>
        </p:nvSpPr>
        <p:spPr>
          <a:xfrm>
            <a:off x="8534160" y="34290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Oval 7"/>
          <p:cNvSpPr/>
          <p:nvPr/>
        </p:nvSpPr>
        <p:spPr>
          <a:xfrm>
            <a:off x="8534160" y="39621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Oval 8"/>
          <p:cNvSpPr/>
          <p:nvPr/>
        </p:nvSpPr>
        <p:spPr>
          <a:xfrm>
            <a:off x="8534160" y="449568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Oval 9"/>
          <p:cNvSpPr/>
          <p:nvPr/>
        </p:nvSpPr>
        <p:spPr>
          <a:xfrm>
            <a:off x="8534160" y="50292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Oval 10"/>
          <p:cNvSpPr/>
          <p:nvPr/>
        </p:nvSpPr>
        <p:spPr>
          <a:xfrm>
            <a:off x="4267080" y="55623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Oval 11"/>
          <p:cNvSpPr/>
          <p:nvPr/>
        </p:nvSpPr>
        <p:spPr>
          <a:xfrm>
            <a:off x="4267080" y="18288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Oval 12"/>
          <p:cNvSpPr/>
          <p:nvPr/>
        </p:nvSpPr>
        <p:spPr>
          <a:xfrm>
            <a:off x="4267080" y="23619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Oval 13"/>
          <p:cNvSpPr/>
          <p:nvPr/>
        </p:nvSpPr>
        <p:spPr>
          <a:xfrm>
            <a:off x="4267080" y="289548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Oval 14"/>
          <p:cNvSpPr/>
          <p:nvPr/>
        </p:nvSpPr>
        <p:spPr>
          <a:xfrm>
            <a:off x="4267080" y="34290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Oval 15"/>
          <p:cNvSpPr/>
          <p:nvPr/>
        </p:nvSpPr>
        <p:spPr>
          <a:xfrm>
            <a:off x="4267080" y="39621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Oval 16"/>
          <p:cNvSpPr/>
          <p:nvPr/>
        </p:nvSpPr>
        <p:spPr>
          <a:xfrm>
            <a:off x="4267080" y="449568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Oval 17"/>
          <p:cNvSpPr/>
          <p:nvPr/>
        </p:nvSpPr>
        <p:spPr>
          <a:xfrm>
            <a:off x="4267080" y="50292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Oval 18"/>
          <p:cNvSpPr/>
          <p:nvPr/>
        </p:nvSpPr>
        <p:spPr>
          <a:xfrm>
            <a:off x="8001000" y="55623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Oval 19"/>
          <p:cNvSpPr/>
          <p:nvPr/>
        </p:nvSpPr>
        <p:spPr>
          <a:xfrm>
            <a:off x="7467480" y="55623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Oval 20"/>
          <p:cNvSpPr/>
          <p:nvPr/>
        </p:nvSpPr>
        <p:spPr>
          <a:xfrm>
            <a:off x="6933960" y="55623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Oval 21"/>
          <p:cNvSpPr/>
          <p:nvPr/>
        </p:nvSpPr>
        <p:spPr>
          <a:xfrm>
            <a:off x="6400800" y="55623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Oval 22"/>
          <p:cNvSpPr/>
          <p:nvPr/>
        </p:nvSpPr>
        <p:spPr>
          <a:xfrm>
            <a:off x="5867280" y="55623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Oval 23"/>
          <p:cNvSpPr/>
          <p:nvPr/>
        </p:nvSpPr>
        <p:spPr>
          <a:xfrm>
            <a:off x="5333760" y="55623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Oval 24"/>
          <p:cNvSpPr/>
          <p:nvPr/>
        </p:nvSpPr>
        <p:spPr>
          <a:xfrm>
            <a:off x="4800600" y="55623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Oval 25"/>
          <p:cNvSpPr/>
          <p:nvPr/>
        </p:nvSpPr>
        <p:spPr>
          <a:xfrm>
            <a:off x="8001000" y="18288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Oval 26"/>
          <p:cNvSpPr/>
          <p:nvPr/>
        </p:nvSpPr>
        <p:spPr>
          <a:xfrm>
            <a:off x="7467480" y="18288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Oval 27"/>
          <p:cNvSpPr/>
          <p:nvPr/>
        </p:nvSpPr>
        <p:spPr>
          <a:xfrm>
            <a:off x="6933960" y="18288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Oval 28"/>
          <p:cNvSpPr/>
          <p:nvPr/>
        </p:nvSpPr>
        <p:spPr>
          <a:xfrm>
            <a:off x="6400800" y="18288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Oval 29"/>
          <p:cNvSpPr/>
          <p:nvPr/>
        </p:nvSpPr>
        <p:spPr>
          <a:xfrm>
            <a:off x="5867280" y="18288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Oval 30"/>
          <p:cNvSpPr/>
          <p:nvPr/>
        </p:nvSpPr>
        <p:spPr>
          <a:xfrm>
            <a:off x="5333760" y="18288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Oval 31"/>
          <p:cNvSpPr/>
          <p:nvPr/>
        </p:nvSpPr>
        <p:spPr>
          <a:xfrm>
            <a:off x="4800600" y="18288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Rectangle 3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Hamming Distance for Error Correction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Box 34"/>
          <p:cNvSpPr/>
          <p:nvPr/>
        </p:nvSpPr>
        <p:spPr>
          <a:xfrm>
            <a:off x="304560" y="1523880"/>
            <a:ext cx="3810240" cy="45090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Red dots represent codewords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Yellow dots, noncodewords within distance 1 of codewords, represent correctable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Blue dot, within distance 2 of three different codewords represents a detectable error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Simultaneous single error correction and double error detection requires that there not be points within distance 2 of some codewords that are also within distance 1 of another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Oval 35"/>
          <p:cNvSpPr/>
          <p:nvPr/>
        </p:nvSpPr>
        <p:spPr>
          <a:xfrm>
            <a:off x="8001000" y="236196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Oval 36"/>
          <p:cNvSpPr/>
          <p:nvPr/>
        </p:nvSpPr>
        <p:spPr>
          <a:xfrm>
            <a:off x="7467480" y="236196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Oval 37"/>
          <p:cNvSpPr/>
          <p:nvPr/>
        </p:nvSpPr>
        <p:spPr>
          <a:xfrm>
            <a:off x="6933960" y="236196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Oval 38"/>
          <p:cNvSpPr/>
          <p:nvPr/>
        </p:nvSpPr>
        <p:spPr>
          <a:xfrm>
            <a:off x="6400800" y="23619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Oval 39"/>
          <p:cNvSpPr/>
          <p:nvPr/>
        </p:nvSpPr>
        <p:spPr>
          <a:xfrm>
            <a:off x="5867280" y="236196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Oval 40"/>
          <p:cNvSpPr/>
          <p:nvPr/>
        </p:nvSpPr>
        <p:spPr>
          <a:xfrm>
            <a:off x="5333760" y="236196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Oval 41"/>
          <p:cNvSpPr/>
          <p:nvPr/>
        </p:nvSpPr>
        <p:spPr>
          <a:xfrm>
            <a:off x="4800600" y="236196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Oval 42"/>
          <p:cNvSpPr/>
          <p:nvPr/>
        </p:nvSpPr>
        <p:spPr>
          <a:xfrm>
            <a:off x="8001000" y="289548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Oval 43"/>
          <p:cNvSpPr/>
          <p:nvPr/>
        </p:nvSpPr>
        <p:spPr>
          <a:xfrm>
            <a:off x="7467480" y="2895480"/>
            <a:ext cx="228600" cy="2286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Oval 44"/>
          <p:cNvSpPr/>
          <p:nvPr/>
        </p:nvSpPr>
        <p:spPr>
          <a:xfrm>
            <a:off x="6933960" y="289548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Oval 45"/>
          <p:cNvSpPr/>
          <p:nvPr/>
        </p:nvSpPr>
        <p:spPr>
          <a:xfrm>
            <a:off x="6400800" y="289548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Oval 46"/>
          <p:cNvSpPr/>
          <p:nvPr/>
        </p:nvSpPr>
        <p:spPr>
          <a:xfrm>
            <a:off x="5867280" y="289548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Oval 47"/>
          <p:cNvSpPr/>
          <p:nvPr/>
        </p:nvSpPr>
        <p:spPr>
          <a:xfrm>
            <a:off x="5333760" y="2895480"/>
            <a:ext cx="228600" cy="2286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Oval 48"/>
          <p:cNvSpPr/>
          <p:nvPr/>
        </p:nvSpPr>
        <p:spPr>
          <a:xfrm>
            <a:off x="4800600" y="289548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Oval 49"/>
          <p:cNvSpPr/>
          <p:nvPr/>
        </p:nvSpPr>
        <p:spPr>
          <a:xfrm>
            <a:off x="8001000" y="342900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Oval 50"/>
          <p:cNvSpPr/>
          <p:nvPr/>
        </p:nvSpPr>
        <p:spPr>
          <a:xfrm>
            <a:off x="7467480" y="342900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Oval 51"/>
          <p:cNvSpPr/>
          <p:nvPr/>
        </p:nvSpPr>
        <p:spPr>
          <a:xfrm>
            <a:off x="6933960" y="342900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Oval 52"/>
          <p:cNvSpPr/>
          <p:nvPr/>
        </p:nvSpPr>
        <p:spPr>
          <a:xfrm>
            <a:off x="6400800" y="3429000"/>
            <a:ext cx="228600" cy="228600"/>
          </a:xfrm>
          <a:prstGeom prst="ellipse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Oval 53"/>
          <p:cNvSpPr/>
          <p:nvPr/>
        </p:nvSpPr>
        <p:spPr>
          <a:xfrm>
            <a:off x="5867280" y="342900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Oval 54"/>
          <p:cNvSpPr/>
          <p:nvPr/>
        </p:nvSpPr>
        <p:spPr>
          <a:xfrm>
            <a:off x="5333760" y="342900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Oval 55"/>
          <p:cNvSpPr/>
          <p:nvPr/>
        </p:nvSpPr>
        <p:spPr>
          <a:xfrm>
            <a:off x="4800600" y="342900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Oval 56"/>
          <p:cNvSpPr/>
          <p:nvPr/>
        </p:nvSpPr>
        <p:spPr>
          <a:xfrm>
            <a:off x="8001000" y="39621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Oval 57"/>
          <p:cNvSpPr/>
          <p:nvPr/>
        </p:nvSpPr>
        <p:spPr>
          <a:xfrm>
            <a:off x="7467480" y="39621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Oval 58"/>
          <p:cNvSpPr/>
          <p:nvPr/>
        </p:nvSpPr>
        <p:spPr>
          <a:xfrm>
            <a:off x="6933960" y="396216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Oval 59"/>
          <p:cNvSpPr/>
          <p:nvPr/>
        </p:nvSpPr>
        <p:spPr>
          <a:xfrm>
            <a:off x="6400800" y="396216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Oval 60"/>
          <p:cNvSpPr/>
          <p:nvPr/>
        </p:nvSpPr>
        <p:spPr>
          <a:xfrm>
            <a:off x="5867280" y="396216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Oval 61"/>
          <p:cNvSpPr/>
          <p:nvPr/>
        </p:nvSpPr>
        <p:spPr>
          <a:xfrm>
            <a:off x="5333760" y="39621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Oval 62"/>
          <p:cNvSpPr/>
          <p:nvPr/>
        </p:nvSpPr>
        <p:spPr>
          <a:xfrm>
            <a:off x="4800600" y="396216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Oval 63"/>
          <p:cNvSpPr/>
          <p:nvPr/>
        </p:nvSpPr>
        <p:spPr>
          <a:xfrm>
            <a:off x="8001000" y="449568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Oval 64"/>
          <p:cNvSpPr/>
          <p:nvPr/>
        </p:nvSpPr>
        <p:spPr>
          <a:xfrm>
            <a:off x="7467480" y="449568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Oval 65"/>
          <p:cNvSpPr/>
          <p:nvPr/>
        </p:nvSpPr>
        <p:spPr>
          <a:xfrm>
            <a:off x="6933960" y="449568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Oval 66"/>
          <p:cNvSpPr/>
          <p:nvPr/>
        </p:nvSpPr>
        <p:spPr>
          <a:xfrm>
            <a:off x="6400800" y="4495680"/>
            <a:ext cx="228600" cy="22860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Oval 67"/>
          <p:cNvSpPr/>
          <p:nvPr/>
        </p:nvSpPr>
        <p:spPr>
          <a:xfrm>
            <a:off x="5867280" y="449568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Oval 68"/>
          <p:cNvSpPr/>
          <p:nvPr/>
        </p:nvSpPr>
        <p:spPr>
          <a:xfrm>
            <a:off x="5333760" y="449568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Oval 69"/>
          <p:cNvSpPr/>
          <p:nvPr/>
        </p:nvSpPr>
        <p:spPr>
          <a:xfrm>
            <a:off x="4800600" y="449568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Oval 70"/>
          <p:cNvSpPr/>
          <p:nvPr/>
        </p:nvSpPr>
        <p:spPr>
          <a:xfrm>
            <a:off x="8001000" y="50292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Oval 71"/>
          <p:cNvSpPr/>
          <p:nvPr/>
        </p:nvSpPr>
        <p:spPr>
          <a:xfrm>
            <a:off x="7467480" y="50292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Oval 72"/>
          <p:cNvSpPr/>
          <p:nvPr/>
        </p:nvSpPr>
        <p:spPr>
          <a:xfrm>
            <a:off x="6933960" y="502920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Oval 73"/>
          <p:cNvSpPr/>
          <p:nvPr/>
        </p:nvSpPr>
        <p:spPr>
          <a:xfrm>
            <a:off x="6400800" y="502920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Oval 74"/>
          <p:cNvSpPr/>
          <p:nvPr/>
        </p:nvSpPr>
        <p:spPr>
          <a:xfrm>
            <a:off x="5867280" y="5029200"/>
            <a:ext cx="228600" cy="2286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Oval 75"/>
          <p:cNvSpPr/>
          <p:nvPr/>
        </p:nvSpPr>
        <p:spPr>
          <a:xfrm>
            <a:off x="5333760" y="50292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Oval 76"/>
          <p:cNvSpPr/>
          <p:nvPr/>
        </p:nvSpPr>
        <p:spPr>
          <a:xfrm>
            <a:off x="4800600" y="5029200"/>
            <a:ext cx="228600" cy="2286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23" name="Group 77"/>
          <p:cNvGrpSpPr/>
          <p:nvPr/>
        </p:nvGrpSpPr>
        <p:grpSpPr>
          <a:xfrm>
            <a:off x="4876560" y="2438280"/>
            <a:ext cx="3276720" cy="2743200"/>
            <a:chOff x="4876560" y="2438280"/>
            <a:chExt cx="3276720" cy="2743200"/>
          </a:xfrm>
        </p:grpSpPr>
        <p:sp>
          <p:nvSpPr>
            <p:cNvPr id="524" name="AutoShape 78"/>
            <p:cNvSpPr/>
            <p:nvPr/>
          </p:nvSpPr>
          <p:spPr>
            <a:xfrm>
              <a:off x="7010280" y="2438280"/>
              <a:ext cx="1143000" cy="1143000"/>
            </a:xfrm>
            <a:prstGeom prst="roundRect">
              <a:avLst>
                <a:gd name="adj" fmla="val 16667"/>
              </a:avLst>
            </a:prstGeom>
            <a:noFill/>
            <a:ln w="18720">
              <a:solidFill>
                <a:srgbClr val="984C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5" name="AutoShape 79"/>
            <p:cNvSpPr/>
            <p:nvPr/>
          </p:nvSpPr>
          <p:spPr>
            <a:xfrm>
              <a:off x="5943600" y="4038480"/>
              <a:ext cx="1143000" cy="1143000"/>
            </a:xfrm>
            <a:prstGeom prst="roundRect">
              <a:avLst>
                <a:gd name="adj" fmla="val 16667"/>
              </a:avLst>
            </a:prstGeom>
            <a:noFill/>
            <a:ln w="18720">
              <a:solidFill>
                <a:srgbClr val="984C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6" name="AutoShape 80"/>
            <p:cNvSpPr/>
            <p:nvPr/>
          </p:nvSpPr>
          <p:spPr>
            <a:xfrm>
              <a:off x="4876560" y="2438280"/>
              <a:ext cx="1143000" cy="1143000"/>
            </a:xfrm>
            <a:prstGeom prst="roundRect">
              <a:avLst>
                <a:gd name="adj" fmla="val 16667"/>
              </a:avLst>
            </a:prstGeom>
            <a:noFill/>
            <a:ln w="18720">
              <a:solidFill>
                <a:srgbClr val="984C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27" name="Group 81"/>
          <p:cNvGrpSpPr/>
          <p:nvPr/>
        </p:nvGrpSpPr>
        <p:grpSpPr>
          <a:xfrm>
            <a:off x="4343400" y="1904760"/>
            <a:ext cx="4343400" cy="3809880"/>
            <a:chOff x="4343400" y="1904760"/>
            <a:chExt cx="4343400" cy="3809880"/>
          </a:xfrm>
        </p:grpSpPr>
        <p:sp>
          <p:nvSpPr>
            <p:cNvPr id="528" name="AutoShape 82"/>
            <p:cNvSpPr/>
            <p:nvPr/>
          </p:nvSpPr>
          <p:spPr>
            <a:xfrm>
              <a:off x="6476760" y="1904760"/>
              <a:ext cx="2210040" cy="2209680"/>
            </a:xfrm>
            <a:prstGeom prst="roundRect">
              <a:avLst>
                <a:gd name="adj" fmla="val 9769"/>
              </a:avLst>
            </a:prstGeom>
            <a:noFill/>
            <a:ln w="18720">
              <a:solidFill>
                <a:srgbClr val="E488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9" name="AutoShape 83"/>
            <p:cNvSpPr/>
            <p:nvPr/>
          </p:nvSpPr>
          <p:spPr>
            <a:xfrm>
              <a:off x="4343400" y="1904760"/>
              <a:ext cx="2209680" cy="2209680"/>
            </a:xfrm>
            <a:prstGeom prst="roundRect">
              <a:avLst>
                <a:gd name="adj" fmla="val 9769"/>
              </a:avLst>
            </a:prstGeom>
            <a:noFill/>
            <a:ln w="18720">
              <a:solidFill>
                <a:srgbClr val="E488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0" name="AutoShape 84"/>
            <p:cNvSpPr/>
            <p:nvPr/>
          </p:nvSpPr>
          <p:spPr>
            <a:xfrm>
              <a:off x="5410080" y="3504960"/>
              <a:ext cx="2209680" cy="2209680"/>
            </a:xfrm>
            <a:prstGeom prst="roundRect">
              <a:avLst>
                <a:gd name="adj" fmla="val 9769"/>
              </a:avLst>
            </a:prstGeom>
            <a:noFill/>
            <a:ln w="18720">
              <a:solidFill>
                <a:srgbClr val="E488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31" name="Text Box 85"/>
          <p:cNvSpPr/>
          <p:nvPr/>
        </p:nvSpPr>
        <p:spPr>
          <a:xfrm>
            <a:off x="304560" y="990360"/>
            <a:ext cx="8458200" cy="398520"/>
          </a:xfrm>
          <a:prstGeom prst="rect">
            <a:avLst/>
          </a:prstGeom>
          <a:solidFill>
            <a:srgbClr val="CCFF66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The following visualization, though not completely accurate, is still useful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8546D95E-E97C-47E0-9888-A356B7AA853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14.2  Hamming Codes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Box 4"/>
          <p:cNvSpPr/>
          <p:nvPr/>
        </p:nvSpPr>
        <p:spPr>
          <a:xfrm>
            <a:off x="6095880" y="1218960"/>
            <a:ext cx="2743200" cy="440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Text Box 5"/>
          <p:cNvSpPr/>
          <p:nvPr/>
        </p:nvSpPr>
        <p:spPr>
          <a:xfrm>
            <a:off x="6172200" y="914400"/>
            <a:ext cx="259056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Data bits       Parity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39" name="Group 6"/>
          <p:cNvGrpSpPr/>
          <p:nvPr/>
        </p:nvGrpSpPr>
        <p:grpSpPr>
          <a:xfrm>
            <a:off x="6248160" y="1676160"/>
            <a:ext cx="1524240" cy="304560"/>
            <a:chOff x="6248160" y="1676160"/>
            <a:chExt cx="1524240" cy="304560"/>
          </a:xfrm>
        </p:grpSpPr>
        <p:sp>
          <p:nvSpPr>
            <p:cNvPr id="540" name="Line 7"/>
            <p:cNvSpPr/>
            <p:nvPr/>
          </p:nvSpPr>
          <p:spPr>
            <a:xfrm>
              <a:off x="6248160" y="16761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1" name="Line 8"/>
            <p:cNvSpPr/>
            <p:nvPr/>
          </p:nvSpPr>
          <p:spPr>
            <a:xfrm>
              <a:off x="6248160" y="1980720"/>
              <a:ext cx="15242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2" name="Line 9"/>
            <p:cNvSpPr/>
            <p:nvPr/>
          </p:nvSpPr>
          <p:spPr>
            <a:xfrm>
              <a:off x="7772400" y="16761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3" name="Line 10"/>
            <p:cNvSpPr/>
            <p:nvPr/>
          </p:nvSpPr>
          <p:spPr>
            <a:xfrm>
              <a:off x="6629400" y="16761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4" name="Line 11"/>
            <p:cNvSpPr/>
            <p:nvPr/>
          </p:nvSpPr>
          <p:spPr>
            <a:xfrm>
              <a:off x="6933960" y="16761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45" name="Group 12"/>
          <p:cNvGrpSpPr/>
          <p:nvPr/>
        </p:nvGrpSpPr>
        <p:grpSpPr>
          <a:xfrm>
            <a:off x="6324480" y="1676160"/>
            <a:ext cx="1828800" cy="457200"/>
            <a:chOff x="6324480" y="1676160"/>
            <a:chExt cx="1828800" cy="457200"/>
          </a:xfrm>
        </p:grpSpPr>
        <p:sp>
          <p:nvSpPr>
            <p:cNvPr id="546" name="Line 13"/>
            <p:cNvSpPr/>
            <p:nvPr/>
          </p:nvSpPr>
          <p:spPr>
            <a:xfrm>
              <a:off x="632448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7" name="Line 14"/>
            <p:cNvSpPr/>
            <p:nvPr/>
          </p:nvSpPr>
          <p:spPr>
            <a:xfrm>
              <a:off x="6324480" y="2133360"/>
              <a:ext cx="1828800" cy="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8" name="Line 15"/>
            <p:cNvSpPr/>
            <p:nvPr/>
          </p:nvSpPr>
          <p:spPr>
            <a:xfrm>
              <a:off x="815328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9" name="Line 16"/>
            <p:cNvSpPr/>
            <p:nvPr/>
          </p:nvSpPr>
          <p:spPr>
            <a:xfrm>
              <a:off x="701028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0" name="Line 17"/>
            <p:cNvSpPr/>
            <p:nvPr/>
          </p:nvSpPr>
          <p:spPr>
            <a:xfrm>
              <a:off x="739116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51" name="Group 18"/>
          <p:cNvGrpSpPr/>
          <p:nvPr/>
        </p:nvGrpSpPr>
        <p:grpSpPr>
          <a:xfrm>
            <a:off x="6705360" y="1676160"/>
            <a:ext cx="1828800" cy="609480"/>
            <a:chOff x="6705360" y="1676160"/>
            <a:chExt cx="1828800" cy="609480"/>
          </a:xfrm>
        </p:grpSpPr>
        <p:sp>
          <p:nvSpPr>
            <p:cNvPr id="552" name="Line 19"/>
            <p:cNvSpPr/>
            <p:nvPr/>
          </p:nvSpPr>
          <p:spPr>
            <a:xfrm>
              <a:off x="6705360" y="16761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3" name="Line 20"/>
            <p:cNvSpPr/>
            <p:nvPr/>
          </p:nvSpPr>
          <p:spPr>
            <a:xfrm>
              <a:off x="6705360" y="2285640"/>
              <a:ext cx="1828800" cy="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4" name="Line 21"/>
            <p:cNvSpPr/>
            <p:nvPr/>
          </p:nvSpPr>
          <p:spPr>
            <a:xfrm>
              <a:off x="8534160" y="16761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5" name="Line 22"/>
            <p:cNvSpPr/>
            <p:nvPr/>
          </p:nvSpPr>
          <p:spPr>
            <a:xfrm>
              <a:off x="7086600" y="16761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6" name="Line 23"/>
            <p:cNvSpPr/>
            <p:nvPr/>
          </p:nvSpPr>
          <p:spPr>
            <a:xfrm>
              <a:off x="7467480" y="16761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57" name="Text Box 24"/>
          <p:cNvSpPr/>
          <p:nvPr/>
        </p:nvSpPr>
        <p:spPr>
          <a:xfrm>
            <a:off x="533160" y="990360"/>
            <a:ext cx="487692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Example: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Uses multiple parity bits, each applied to a different subset of data bits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Text Box 25"/>
          <p:cNvSpPr/>
          <p:nvPr/>
        </p:nvSpPr>
        <p:spPr>
          <a:xfrm>
            <a:off x="533160" y="1828800"/>
            <a:ext cx="541044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Encoding: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3 XOR networks to form parity bits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Text Box 26"/>
          <p:cNvSpPr/>
          <p:nvPr/>
        </p:nvSpPr>
        <p:spPr>
          <a:xfrm>
            <a:off x="533160" y="2361960"/>
            <a:ext cx="541044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Checking: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3 XOR networks to verify parities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Text Box 27"/>
          <p:cNvSpPr/>
          <p:nvPr/>
        </p:nvSpPr>
        <p:spPr>
          <a:xfrm>
            <a:off x="533160" y="2895480"/>
            <a:ext cx="541044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Decoding: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Trivial (separable code)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Text Box 28"/>
          <p:cNvSpPr/>
          <p:nvPr/>
        </p:nvSpPr>
        <p:spPr>
          <a:xfrm>
            <a:off x="533160" y="3429000"/>
            <a:ext cx="601992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Redundancy: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3 check bits for 4 data bits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Unimpressive, but gets better with more data bits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(7, 4); (15, 11); (31, 26); (63, 57); (127, 120)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Text Box 29"/>
          <p:cNvSpPr/>
          <p:nvPr/>
        </p:nvSpPr>
        <p:spPr>
          <a:xfrm>
            <a:off x="533160" y="4572000"/>
            <a:ext cx="5410440" cy="15591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Capability: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Corrects any single-bit error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63" name=""/>
          <p:cNvGraphicFramePr/>
          <p:nvPr/>
        </p:nvGraphicFramePr>
        <p:xfrm>
          <a:off x="6324480" y="2514600"/>
          <a:ext cx="2209680" cy="3551040"/>
        </p:xfrm>
        <a:graphic>
          <a:graphicData uri="http://schemas.openxmlformats.org/drawingml/2006/table">
            <a:tbl>
              <a:tblPr/>
              <a:tblGrid>
                <a:gridCol w="1104840"/>
                <a:gridCol w="1104840"/>
              </a:tblGrid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s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 </a:t>
                      </a: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s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 </a:t>
                      </a: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s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Error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0  0  0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0  0  1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0  1  0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0  1  1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1  0  0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1  0  1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1  1  0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1  1  1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4" name="Text Box 62"/>
          <p:cNvSpPr/>
          <p:nvPr/>
        </p:nvSpPr>
        <p:spPr>
          <a:xfrm>
            <a:off x="3886200" y="5181480"/>
            <a:ext cx="1828800" cy="744840"/>
          </a:xfrm>
          <a:prstGeom prst="rect">
            <a:avLst/>
          </a:prstGeom>
          <a:solidFill>
            <a:srgbClr val="FFFF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Syndrome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5C5CCC2E-CAD8-41AE-827F-A1C4F2FED6B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304200" y="228240"/>
            <a:ext cx="84582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Matrix Formulation of Hamming SEC Code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Box 4"/>
          <p:cNvSpPr/>
          <p:nvPr/>
        </p:nvSpPr>
        <p:spPr>
          <a:xfrm>
            <a:off x="6095880" y="1218960"/>
            <a:ext cx="2743200" cy="440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Text Box 5"/>
          <p:cNvSpPr/>
          <p:nvPr/>
        </p:nvSpPr>
        <p:spPr>
          <a:xfrm>
            <a:off x="6172200" y="914400"/>
            <a:ext cx="259056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Data bits       Parity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72" name="Group 6"/>
          <p:cNvGrpSpPr/>
          <p:nvPr/>
        </p:nvGrpSpPr>
        <p:grpSpPr>
          <a:xfrm>
            <a:off x="6248160" y="1676160"/>
            <a:ext cx="1524240" cy="304560"/>
            <a:chOff x="6248160" y="1676160"/>
            <a:chExt cx="1524240" cy="304560"/>
          </a:xfrm>
        </p:grpSpPr>
        <p:sp>
          <p:nvSpPr>
            <p:cNvPr id="573" name="Line 7"/>
            <p:cNvSpPr/>
            <p:nvPr/>
          </p:nvSpPr>
          <p:spPr>
            <a:xfrm>
              <a:off x="6248160" y="16761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4" name="Line 8"/>
            <p:cNvSpPr/>
            <p:nvPr/>
          </p:nvSpPr>
          <p:spPr>
            <a:xfrm>
              <a:off x="6248160" y="1980720"/>
              <a:ext cx="15242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5" name="Line 9"/>
            <p:cNvSpPr/>
            <p:nvPr/>
          </p:nvSpPr>
          <p:spPr>
            <a:xfrm>
              <a:off x="7772400" y="16761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6" name="Line 10"/>
            <p:cNvSpPr/>
            <p:nvPr/>
          </p:nvSpPr>
          <p:spPr>
            <a:xfrm>
              <a:off x="6629400" y="16761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7" name="Line 11"/>
            <p:cNvSpPr/>
            <p:nvPr/>
          </p:nvSpPr>
          <p:spPr>
            <a:xfrm>
              <a:off x="6933960" y="16761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78" name="Group 12"/>
          <p:cNvGrpSpPr/>
          <p:nvPr/>
        </p:nvGrpSpPr>
        <p:grpSpPr>
          <a:xfrm>
            <a:off x="6324480" y="1676160"/>
            <a:ext cx="1828800" cy="457200"/>
            <a:chOff x="6324480" y="1676160"/>
            <a:chExt cx="1828800" cy="457200"/>
          </a:xfrm>
        </p:grpSpPr>
        <p:sp>
          <p:nvSpPr>
            <p:cNvPr id="579" name="Line 13"/>
            <p:cNvSpPr/>
            <p:nvPr/>
          </p:nvSpPr>
          <p:spPr>
            <a:xfrm>
              <a:off x="632448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0" name="Line 14"/>
            <p:cNvSpPr/>
            <p:nvPr/>
          </p:nvSpPr>
          <p:spPr>
            <a:xfrm>
              <a:off x="6324480" y="2133360"/>
              <a:ext cx="1828800" cy="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1" name="Line 15"/>
            <p:cNvSpPr/>
            <p:nvPr/>
          </p:nvSpPr>
          <p:spPr>
            <a:xfrm>
              <a:off x="815328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2" name="Line 16"/>
            <p:cNvSpPr/>
            <p:nvPr/>
          </p:nvSpPr>
          <p:spPr>
            <a:xfrm>
              <a:off x="701028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3" name="Line 17"/>
            <p:cNvSpPr/>
            <p:nvPr/>
          </p:nvSpPr>
          <p:spPr>
            <a:xfrm>
              <a:off x="739116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84" name="Group 18"/>
          <p:cNvGrpSpPr/>
          <p:nvPr/>
        </p:nvGrpSpPr>
        <p:grpSpPr>
          <a:xfrm>
            <a:off x="6705360" y="1676160"/>
            <a:ext cx="1828800" cy="609480"/>
            <a:chOff x="6705360" y="1676160"/>
            <a:chExt cx="1828800" cy="609480"/>
          </a:xfrm>
        </p:grpSpPr>
        <p:sp>
          <p:nvSpPr>
            <p:cNvPr id="585" name="Line 19"/>
            <p:cNvSpPr/>
            <p:nvPr/>
          </p:nvSpPr>
          <p:spPr>
            <a:xfrm>
              <a:off x="6705360" y="16761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6" name="Line 20"/>
            <p:cNvSpPr/>
            <p:nvPr/>
          </p:nvSpPr>
          <p:spPr>
            <a:xfrm>
              <a:off x="6705360" y="2285640"/>
              <a:ext cx="1828800" cy="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7" name="Line 21"/>
            <p:cNvSpPr/>
            <p:nvPr/>
          </p:nvSpPr>
          <p:spPr>
            <a:xfrm>
              <a:off x="8534160" y="16761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8" name="Line 22"/>
            <p:cNvSpPr/>
            <p:nvPr/>
          </p:nvSpPr>
          <p:spPr>
            <a:xfrm>
              <a:off x="7086600" y="16761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9" name="Line 23"/>
            <p:cNvSpPr/>
            <p:nvPr/>
          </p:nvSpPr>
          <p:spPr>
            <a:xfrm>
              <a:off x="7467480" y="16761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90" name="Text Box 24"/>
          <p:cNvSpPr/>
          <p:nvPr/>
        </p:nvSpPr>
        <p:spPr>
          <a:xfrm>
            <a:off x="533160" y="1447560"/>
            <a:ext cx="2514600" cy="1700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1   1   1   0   1   0   0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1   0   1   1   0   1   0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0   1   1   1   0   0   1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91" name=""/>
          <p:cNvGraphicFramePr/>
          <p:nvPr/>
        </p:nvGraphicFramePr>
        <p:xfrm>
          <a:off x="6324480" y="2514600"/>
          <a:ext cx="2209680" cy="3551040"/>
        </p:xfrm>
        <a:graphic>
          <a:graphicData uri="http://schemas.openxmlformats.org/drawingml/2006/table">
            <a:tbl>
              <a:tblPr/>
              <a:tblGrid>
                <a:gridCol w="1104840"/>
                <a:gridCol w="1104840"/>
              </a:tblGrid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s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 </a:t>
                      </a: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s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 </a:t>
                      </a: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s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Error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0  0  0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0  0  1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0  1  0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0  1  1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1  0  0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1  0  1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1  1  0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1  1  1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92" name="Text Box 57"/>
          <p:cNvSpPr/>
          <p:nvPr/>
        </p:nvSpPr>
        <p:spPr>
          <a:xfrm>
            <a:off x="609480" y="3581280"/>
            <a:ext cx="220968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Parity check matrix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Text Box 58"/>
          <p:cNvSpPr/>
          <p:nvPr/>
        </p:nvSpPr>
        <p:spPr>
          <a:xfrm>
            <a:off x="3809880" y="1295280"/>
            <a:ext cx="533520" cy="2864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Text Box 59"/>
          <p:cNvSpPr/>
          <p:nvPr/>
        </p:nvSpPr>
        <p:spPr>
          <a:xfrm>
            <a:off x="4952880" y="1828800"/>
            <a:ext cx="533520" cy="1479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AutoShape 60"/>
          <p:cNvSpPr/>
          <p:nvPr/>
        </p:nvSpPr>
        <p:spPr>
          <a:xfrm>
            <a:off x="533160" y="1981080"/>
            <a:ext cx="76320" cy="914400"/>
          </a:xfrm>
          <a:custGeom>
            <a:avLst/>
            <a:gdLst>
              <a:gd name="textAreaLeft" fmla="*/ 22320 w 76320"/>
              <a:gd name="textAreaRight" fmla="*/ 76320 w 76320"/>
              <a:gd name="textAreaTop" fmla="*/ 37800 h 914400"/>
              <a:gd name="textAreaBottom" fmla="*/ 876600 h 9144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AutoShape 61"/>
          <p:cNvSpPr/>
          <p:nvPr/>
        </p:nvSpPr>
        <p:spPr>
          <a:xfrm flipH="1">
            <a:off x="2895480" y="1981080"/>
            <a:ext cx="76320" cy="914400"/>
          </a:xfrm>
          <a:custGeom>
            <a:avLst/>
            <a:gdLst>
              <a:gd name="textAreaLeft" fmla="*/ 22320 w 76320"/>
              <a:gd name="textAreaRight" fmla="*/ 76320 w 76320"/>
              <a:gd name="textAreaTop" fmla="*/ 37800 h 914400"/>
              <a:gd name="textAreaBottom" fmla="*/ 876600 h 9144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AutoShape 62"/>
          <p:cNvSpPr/>
          <p:nvPr/>
        </p:nvSpPr>
        <p:spPr>
          <a:xfrm>
            <a:off x="4952880" y="1981080"/>
            <a:ext cx="76320" cy="838080"/>
          </a:xfrm>
          <a:custGeom>
            <a:avLst/>
            <a:gdLst>
              <a:gd name="textAreaLeft" fmla="*/ 22320 w 76320"/>
              <a:gd name="textAreaRight" fmla="*/ 76320 w 76320"/>
              <a:gd name="textAreaTop" fmla="*/ 34920 h 838080"/>
              <a:gd name="textAreaBottom" fmla="*/ 803160 h 8380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AutoShape 63"/>
          <p:cNvSpPr/>
          <p:nvPr/>
        </p:nvSpPr>
        <p:spPr>
          <a:xfrm flipH="1">
            <a:off x="5257080" y="1981080"/>
            <a:ext cx="75960" cy="838080"/>
          </a:xfrm>
          <a:custGeom>
            <a:avLst/>
            <a:gdLst>
              <a:gd name="textAreaLeft" fmla="*/ 21960 w 75960"/>
              <a:gd name="textAreaRight" fmla="*/ 75960 w 75960"/>
              <a:gd name="textAreaTop" fmla="*/ 34920 h 838080"/>
              <a:gd name="textAreaBottom" fmla="*/ 803160 h 8380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AutoShape 64"/>
          <p:cNvSpPr/>
          <p:nvPr/>
        </p:nvSpPr>
        <p:spPr>
          <a:xfrm>
            <a:off x="3809880" y="1371600"/>
            <a:ext cx="76320" cy="2133360"/>
          </a:xfrm>
          <a:custGeom>
            <a:avLst/>
            <a:gdLst>
              <a:gd name="textAreaLeft" fmla="*/ 22320 w 76320"/>
              <a:gd name="textAreaRight" fmla="*/ 76320 w 76320"/>
              <a:gd name="textAreaTop" fmla="*/ 88560 h 2133360"/>
              <a:gd name="textAreaBottom" fmla="*/ 2044800 h 21333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AutoShape 65"/>
          <p:cNvSpPr/>
          <p:nvPr/>
        </p:nvSpPr>
        <p:spPr>
          <a:xfrm flipH="1">
            <a:off x="4114080" y="1371600"/>
            <a:ext cx="75960" cy="2133360"/>
          </a:xfrm>
          <a:custGeom>
            <a:avLst/>
            <a:gdLst>
              <a:gd name="textAreaLeft" fmla="*/ 21960 w 75960"/>
              <a:gd name="textAreaRight" fmla="*/ 75960 w 75960"/>
              <a:gd name="textAreaTop" fmla="*/ 88560 h 2133360"/>
              <a:gd name="textAreaBottom" fmla="*/ 2044800 h 21333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Text Box 66"/>
          <p:cNvSpPr/>
          <p:nvPr/>
        </p:nvSpPr>
        <p:spPr>
          <a:xfrm>
            <a:off x="3200400" y="2209680"/>
            <a:ext cx="380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Text Box 67"/>
          <p:cNvSpPr/>
          <p:nvPr/>
        </p:nvSpPr>
        <p:spPr>
          <a:xfrm>
            <a:off x="4343400" y="2209680"/>
            <a:ext cx="380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=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Text Box 68"/>
          <p:cNvSpPr/>
          <p:nvPr/>
        </p:nvSpPr>
        <p:spPr>
          <a:xfrm>
            <a:off x="533160" y="1143000"/>
            <a:ext cx="259092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Data bits       Parity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Text Box 69"/>
          <p:cNvSpPr/>
          <p:nvPr/>
        </p:nvSpPr>
        <p:spPr>
          <a:xfrm>
            <a:off x="4572000" y="3581280"/>
            <a:ext cx="129528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Syndrome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Text Box 70"/>
          <p:cNvSpPr/>
          <p:nvPr/>
        </p:nvSpPr>
        <p:spPr>
          <a:xfrm>
            <a:off x="3352680" y="3581280"/>
            <a:ext cx="1295280" cy="58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Received word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06" name="Group 71"/>
          <p:cNvGrpSpPr/>
          <p:nvPr/>
        </p:nvGrpSpPr>
        <p:grpSpPr>
          <a:xfrm>
            <a:off x="1295280" y="4419360"/>
            <a:ext cx="5181480" cy="744840"/>
            <a:chOff x="1295280" y="4419360"/>
            <a:chExt cx="5181480" cy="744840"/>
          </a:xfrm>
        </p:grpSpPr>
        <p:sp>
          <p:nvSpPr>
            <p:cNvPr id="607" name="Text Box 72"/>
            <p:cNvSpPr/>
            <p:nvPr/>
          </p:nvSpPr>
          <p:spPr>
            <a:xfrm>
              <a:off x="1295280" y="4419360"/>
              <a:ext cx="4038480" cy="74484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Syndrome matches the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p</a:t>
              </a:r>
              <a:r>
                <a:rPr lang="en-US" sz="20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2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 column in the parity check matrix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8" name="Line 73"/>
            <p:cNvSpPr/>
            <p:nvPr/>
          </p:nvSpPr>
          <p:spPr>
            <a:xfrm flipH="1">
              <a:off x="5257800" y="4647960"/>
              <a:ext cx="12189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609" name="Text Box 74"/>
          <p:cNvSpPr/>
          <p:nvPr/>
        </p:nvSpPr>
        <p:spPr>
          <a:xfrm>
            <a:off x="457200" y="5333760"/>
            <a:ext cx="43434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Matrix-vector multiplication is done with AND/XOR, instead of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/+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C692B337-79B8-4BA3-B118-8C931562BD6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151920" y="228240"/>
            <a:ext cx="88390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Matrix Rearrangement for Simpler Correction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Box 4"/>
          <p:cNvSpPr/>
          <p:nvPr/>
        </p:nvSpPr>
        <p:spPr>
          <a:xfrm>
            <a:off x="6095880" y="1218960"/>
            <a:ext cx="2743200" cy="440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Text Box 5"/>
          <p:cNvSpPr/>
          <p:nvPr/>
        </p:nvSpPr>
        <p:spPr>
          <a:xfrm>
            <a:off x="6172200" y="914400"/>
            <a:ext cx="259056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Data and parity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17" name="Group 6"/>
          <p:cNvGrpSpPr/>
          <p:nvPr/>
        </p:nvGrpSpPr>
        <p:grpSpPr>
          <a:xfrm>
            <a:off x="7391160" y="1676160"/>
            <a:ext cx="1067040" cy="304920"/>
            <a:chOff x="7391160" y="1676160"/>
            <a:chExt cx="1067040" cy="304920"/>
          </a:xfrm>
        </p:grpSpPr>
        <p:sp>
          <p:nvSpPr>
            <p:cNvPr id="618" name="Line 7"/>
            <p:cNvSpPr/>
            <p:nvPr/>
          </p:nvSpPr>
          <p:spPr>
            <a:xfrm>
              <a:off x="7391160" y="1676160"/>
              <a:ext cx="0" cy="30492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9" name="Line 8"/>
            <p:cNvSpPr/>
            <p:nvPr/>
          </p:nvSpPr>
          <p:spPr>
            <a:xfrm>
              <a:off x="7391160" y="1981080"/>
              <a:ext cx="10670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0" name="Line 9"/>
            <p:cNvSpPr/>
            <p:nvPr/>
          </p:nvSpPr>
          <p:spPr>
            <a:xfrm>
              <a:off x="8458200" y="1676160"/>
              <a:ext cx="0" cy="30492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1" name="Line 10"/>
            <p:cNvSpPr/>
            <p:nvPr/>
          </p:nvSpPr>
          <p:spPr>
            <a:xfrm>
              <a:off x="7772400" y="1676160"/>
              <a:ext cx="0" cy="304920"/>
            </a:xfrm>
            <a:prstGeom prst="line">
              <a:avLst/>
            </a:prstGeom>
            <a:ln w="9360">
              <a:solidFill>
                <a:srgbClr val="0033CC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2" name="Line 11"/>
            <p:cNvSpPr/>
            <p:nvPr/>
          </p:nvSpPr>
          <p:spPr>
            <a:xfrm>
              <a:off x="8229600" y="1676160"/>
              <a:ext cx="0" cy="304920"/>
            </a:xfrm>
            <a:prstGeom prst="line">
              <a:avLst/>
            </a:prstGeom>
            <a:ln w="9360">
              <a:solidFill>
                <a:srgbClr val="0033CC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23" name="Group 12"/>
          <p:cNvGrpSpPr/>
          <p:nvPr/>
        </p:nvGrpSpPr>
        <p:grpSpPr>
          <a:xfrm>
            <a:off x="6629400" y="1676160"/>
            <a:ext cx="1904760" cy="457200"/>
            <a:chOff x="6629400" y="1676160"/>
            <a:chExt cx="1904760" cy="457200"/>
          </a:xfrm>
        </p:grpSpPr>
        <p:sp>
          <p:nvSpPr>
            <p:cNvPr id="624" name="Line 13"/>
            <p:cNvSpPr/>
            <p:nvPr/>
          </p:nvSpPr>
          <p:spPr>
            <a:xfrm>
              <a:off x="662940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5" name="Line 14"/>
            <p:cNvSpPr/>
            <p:nvPr/>
          </p:nvSpPr>
          <p:spPr>
            <a:xfrm>
              <a:off x="6629400" y="2133360"/>
              <a:ext cx="1904760" cy="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6" name="Line 15"/>
            <p:cNvSpPr/>
            <p:nvPr/>
          </p:nvSpPr>
          <p:spPr>
            <a:xfrm>
              <a:off x="853416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7" name="Line 16"/>
            <p:cNvSpPr/>
            <p:nvPr/>
          </p:nvSpPr>
          <p:spPr>
            <a:xfrm>
              <a:off x="708660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8" name="Line 17"/>
            <p:cNvSpPr/>
            <p:nvPr/>
          </p:nvSpPr>
          <p:spPr>
            <a:xfrm>
              <a:off x="8153280" y="16761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29" name="Group 18"/>
          <p:cNvGrpSpPr/>
          <p:nvPr/>
        </p:nvGrpSpPr>
        <p:grpSpPr>
          <a:xfrm>
            <a:off x="6248160" y="1676160"/>
            <a:ext cx="2362320" cy="609840"/>
            <a:chOff x="6248160" y="1676160"/>
            <a:chExt cx="2362320" cy="609840"/>
          </a:xfrm>
        </p:grpSpPr>
        <p:sp>
          <p:nvSpPr>
            <p:cNvPr id="630" name="Line 19"/>
            <p:cNvSpPr/>
            <p:nvPr/>
          </p:nvSpPr>
          <p:spPr>
            <a:xfrm>
              <a:off x="6248160" y="1676160"/>
              <a:ext cx="0" cy="60984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1" name="Line 20"/>
            <p:cNvSpPr/>
            <p:nvPr/>
          </p:nvSpPr>
          <p:spPr>
            <a:xfrm>
              <a:off x="6248160" y="2286000"/>
              <a:ext cx="2362320" cy="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2" name="Line 21"/>
            <p:cNvSpPr/>
            <p:nvPr/>
          </p:nvSpPr>
          <p:spPr>
            <a:xfrm>
              <a:off x="8610480" y="1676160"/>
              <a:ext cx="0" cy="60984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3" name="Line 22"/>
            <p:cNvSpPr/>
            <p:nvPr/>
          </p:nvSpPr>
          <p:spPr>
            <a:xfrm>
              <a:off x="7010280" y="1676160"/>
              <a:ext cx="0" cy="609840"/>
            </a:xfrm>
            <a:prstGeom prst="line">
              <a:avLst/>
            </a:prstGeom>
            <a:ln w="9360">
              <a:solidFill>
                <a:srgbClr val="00CC99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4" name="Line 23"/>
            <p:cNvSpPr/>
            <p:nvPr/>
          </p:nvSpPr>
          <p:spPr>
            <a:xfrm>
              <a:off x="7848360" y="1676160"/>
              <a:ext cx="0" cy="609840"/>
            </a:xfrm>
            <a:prstGeom prst="line">
              <a:avLst/>
            </a:prstGeom>
            <a:ln w="9360">
              <a:solidFill>
                <a:srgbClr val="00CC99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635" name="Text Box 24"/>
          <p:cNvSpPr/>
          <p:nvPr/>
        </p:nvSpPr>
        <p:spPr>
          <a:xfrm>
            <a:off x="533160" y="1447560"/>
            <a:ext cx="2514600" cy="1700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</a:t>
            </a:r>
            <a:r>
              <a:rPr lang="en-US" sz="2000" b="0" i="1" u="none" strike="noStrike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0   0   0   1   1   1   1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0   1   1   0   0   1   1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1   0   1   0   1   0   1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36" name=""/>
          <p:cNvGraphicFramePr/>
          <p:nvPr/>
        </p:nvGraphicFramePr>
        <p:xfrm>
          <a:off x="6324480" y="2514600"/>
          <a:ext cx="2209680" cy="3551040"/>
        </p:xfrm>
        <a:graphic>
          <a:graphicData uri="http://schemas.openxmlformats.org/drawingml/2006/table">
            <a:tbl>
              <a:tblPr/>
              <a:tblGrid>
                <a:gridCol w="1104840"/>
                <a:gridCol w="1104840"/>
              </a:tblGrid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s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 </a:t>
                      </a: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s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 </a:t>
                      </a: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s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Error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0  0  0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0  0  1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0  1  0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0  1  1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1  0  0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1  0  1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1  1  0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8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1  1  1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</a:t>
                      </a:r>
                      <a:r>
                        <a:rPr lang="en-US" sz="20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37" name="Text Box 57"/>
          <p:cNvSpPr/>
          <p:nvPr/>
        </p:nvSpPr>
        <p:spPr>
          <a:xfrm>
            <a:off x="3733560" y="1295280"/>
            <a:ext cx="533520" cy="2864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Text Box 58"/>
          <p:cNvSpPr/>
          <p:nvPr/>
        </p:nvSpPr>
        <p:spPr>
          <a:xfrm>
            <a:off x="4876560" y="1828800"/>
            <a:ext cx="533520" cy="1479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AutoShape 59"/>
          <p:cNvSpPr/>
          <p:nvPr/>
        </p:nvSpPr>
        <p:spPr>
          <a:xfrm>
            <a:off x="533160" y="1981080"/>
            <a:ext cx="76320" cy="914400"/>
          </a:xfrm>
          <a:custGeom>
            <a:avLst/>
            <a:gdLst>
              <a:gd name="textAreaLeft" fmla="*/ 22320 w 76320"/>
              <a:gd name="textAreaRight" fmla="*/ 76320 w 76320"/>
              <a:gd name="textAreaTop" fmla="*/ 37800 h 914400"/>
              <a:gd name="textAreaBottom" fmla="*/ 876600 h 9144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AutoShape 60"/>
          <p:cNvSpPr/>
          <p:nvPr/>
        </p:nvSpPr>
        <p:spPr>
          <a:xfrm flipH="1">
            <a:off x="2895480" y="1981080"/>
            <a:ext cx="76320" cy="914400"/>
          </a:xfrm>
          <a:custGeom>
            <a:avLst/>
            <a:gdLst>
              <a:gd name="textAreaLeft" fmla="*/ 22320 w 76320"/>
              <a:gd name="textAreaRight" fmla="*/ 76320 w 76320"/>
              <a:gd name="textAreaTop" fmla="*/ 37800 h 914400"/>
              <a:gd name="textAreaBottom" fmla="*/ 876600 h 9144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AutoShape 61"/>
          <p:cNvSpPr/>
          <p:nvPr/>
        </p:nvSpPr>
        <p:spPr>
          <a:xfrm>
            <a:off x="4876560" y="1981080"/>
            <a:ext cx="76320" cy="838080"/>
          </a:xfrm>
          <a:custGeom>
            <a:avLst/>
            <a:gdLst>
              <a:gd name="textAreaLeft" fmla="*/ 22320 w 76320"/>
              <a:gd name="textAreaRight" fmla="*/ 76320 w 76320"/>
              <a:gd name="textAreaTop" fmla="*/ 34920 h 838080"/>
              <a:gd name="textAreaBottom" fmla="*/ 803160 h 8380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AutoShape 62"/>
          <p:cNvSpPr/>
          <p:nvPr/>
        </p:nvSpPr>
        <p:spPr>
          <a:xfrm flipH="1">
            <a:off x="5181480" y="1981080"/>
            <a:ext cx="76320" cy="838080"/>
          </a:xfrm>
          <a:custGeom>
            <a:avLst/>
            <a:gdLst>
              <a:gd name="textAreaLeft" fmla="*/ 22320 w 76320"/>
              <a:gd name="textAreaRight" fmla="*/ 76320 w 76320"/>
              <a:gd name="textAreaTop" fmla="*/ 34920 h 838080"/>
              <a:gd name="textAreaBottom" fmla="*/ 803160 h 8380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AutoShape 63"/>
          <p:cNvSpPr/>
          <p:nvPr/>
        </p:nvSpPr>
        <p:spPr>
          <a:xfrm>
            <a:off x="3733560" y="1371600"/>
            <a:ext cx="76320" cy="2133360"/>
          </a:xfrm>
          <a:custGeom>
            <a:avLst/>
            <a:gdLst>
              <a:gd name="textAreaLeft" fmla="*/ 22320 w 76320"/>
              <a:gd name="textAreaRight" fmla="*/ 76320 w 76320"/>
              <a:gd name="textAreaTop" fmla="*/ 88560 h 2133360"/>
              <a:gd name="textAreaBottom" fmla="*/ 2044800 h 21333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AutoShape 64"/>
          <p:cNvSpPr/>
          <p:nvPr/>
        </p:nvSpPr>
        <p:spPr>
          <a:xfrm flipH="1">
            <a:off x="4038480" y="1371600"/>
            <a:ext cx="76320" cy="2133360"/>
          </a:xfrm>
          <a:custGeom>
            <a:avLst/>
            <a:gdLst>
              <a:gd name="textAreaLeft" fmla="*/ 22320 w 76320"/>
              <a:gd name="textAreaRight" fmla="*/ 76320 w 76320"/>
              <a:gd name="textAreaTop" fmla="*/ 88560 h 2133360"/>
              <a:gd name="textAreaBottom" fmla="*/ 2044800 h 21333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Text Box 65"/>
          <p:cNvSpPr/>
          <p:nvPr/>
        </p:nvSpPr>
        <p:spPr>
          <a:xfrm>
            <a:off x="3124080" y="2209680"/>
            <a:ext cx="380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Text Box 66"/>
          <p:cNvSpPr/>
          <p:nvPr/>
        </p:nvSpPr>
        <p:spPr>
          <a:xfrm>
            <a:off x="4267080" y="2209680"/>
            <a:ext cx="380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=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Text Box 67"/>
          <p:cNvSpPr/>
          <p:nvPr/>
        </p:nvSpPr>
        <p:spPr>
          <a:xfrm>
            <a:off x="533160" y="1143000"/>
            <a:ext cx="259092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Data and parity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48" name="Group 68"/>
          <p:cNvGrpSpPr/>
          <p:nvPr/>
        </p:nvGrpSpPr>
        <p:grpSpPr>
          <a:xfrm>
            <a:off x="3581280" y="4647960"/>
            <a:ext cx="2895480" cy="1312920"/>
            <a:chOff x="3581280" y="4647960"/>
            <a:chExt cx="2895480" cy="1312920"/>
          </a:xfrm>
        </p:grpSpPr>
        <p:sp>
          <p:nvSpPr>
            <p:cNvPr id="649" name="Text Box 69"/>
            <p:cNvSpPr/>
            <p:nvPr/>
          </p:nvSpPr>
          <p:spPr>
            <a:xfrm>
              <a:off x="3581280" y="5257800"/>
              <a:ext cx="2743200" cy="703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Syndrome indicates error in position 4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0" name="Line 70"/>
            <p:cNvSpPr/>
            <p:nvPr/>
          </p:nvSpPr>
          <p:spPr>
            <a:xfrm flipH="1">
              <a:off x="5715000" y="4647960"/>
              <a:ext cx="761760" cy="68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651" name="Text Box 71"/>
          <p:cNvSpPr/>
          <p:nvPr/>
        </p:nvSpPr>
        <p:spPr>
          <a:xfrm>
            <a:off x="533160" y="2895480"/>
            <a:ext cx="2667240" cy="642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1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2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3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4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5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6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      Position number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52" name="Group 72"/>
          <p:cNvGrpSpPr/>
          <p:nvPr/>
        </p:nvGrpSpPr>
        <p:grpSpPr>
          <a:xfrm>
            <a:off x="609480" y="3733560"/>
            <a:ext cx="3124080" cy="2410200"/>
            <a:chOff x="609480" y="3733560"/>
            <a:chExt cx="3124080" cy="2410200"/>
          </a:xfrm>
        </p:grpSpPr>
        <p:grpSp>
          <p:nvGrpSpPr>
            <p:cNvPr id="653" name="Group 73"/>
            <p:cNvGrpSpPr/>
            <p:nvPr/>
          </p:nvGrpSpPr>
          <p:grpSpPr>
            <a:xfrm>
              <a:off x="609480" y="4190760"/>
              <a:ext cx="2057400" cy="820800"/>
              <a:chOff x="609480" y="4190760"/>
              <a:chExt cx="2057400" cy="820800"/>
            </a:xfrm>
          </p:grpSpPr>
          <p:sp>
            <p:nvSpPr>
              <p:cNvPr id="654" name="AutoShape 74"/>
              <p:cNvSpPr/>
              <p:nvPr/>
            </p:nvSpPr>
            <p:spPr>
              <a:xfrm flipV="1">
                <a:off x="1142640" y="4266720"/>
                <a:ext cx="1524240" cy="457200"/>
              </a:xfrm>
              <a:custGeom>
                <a:avLst/>
                <a:gdLst>
                  <a:gd name="textAreaLeft" fmla="*/ 315720 w 1524240"/>
                  <a:gd name="textAreaRight" fmla="*/ 1208520 w 1524240"/>
                  <a:gd name="textAreaTop" fmla="*/ 95040 h 457200"/>
                  <a:gd name="textAreaBottom" fmla="*/ 362160 h 457200"/>
                  <a:gd name="GluePoint1X" fmla="*/ 0 w 21600"/>
                  <a:gd name="GluePoint1Y" fmla="*/ 0 h 21600"/>
                  <a:gd name="GluePoint2X" fmla="*/ 0 w 21600"/>
                  <a:gd name="GluePoint2Y" fmla="*/ 0 h 21600"/>
                  <a:gd name="GluePoint3X" fmla="*/ 0 w 21600"/>
                  <a:gd name="GluePoint3Y" fmla="*/ 0 h 21600"/>
                  <a:gd name="GluePoint4X" fmla="*/ 0 w 21600"/>
                  <a:gd name="GluePoint4Y" fmla="*/ 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lnTo>
                      <a:pt x="5336" y="21600"/>
                    </a:lnTo>
                    <a:lnTo>
                      <a:pt x="16264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 rot="10800000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5" name="Line 75"/>
              <p:cNvSpPr/>
              <p:nvPr/>
            </p:nvSpPr>
            <p:spPr>
              <a:xfrm>
                <a:off x="914040" y="4343040"/>
                <a:ext cx="5335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6" name="Line 76"/>
              <p:cNvSpPr/>
              <p:nvPr/>
            </p:nvSpPr>
            <p:spPr>
              <a:xfrm>
                <a:off x="914040" y="4495320"/>
                <a:ext cx="4111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7" name="Line 77"/>
              <p:cNvSpPr/>
              <p:nvPr/>
            </p:nvSpPr>
            <p:spPr>
              <a:xfrm>
                <a:off x="914040" y="4647960"/>
                <a:ext cx="2746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8" name="Text Box 78"/>
              <p:cNvSpPr/>
              <p:nvPr/>
            </p:nvSpPr>
            <p:spPr>
              <a:xfrm>
                <a:off x="609480" y="4190760"/>
                <a:ext cx="533160" cy="82080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>
                  <a:lnSpc>
                    <a:spcPct val="75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Times New Roman"/>
                  </a:rPr>
                  <a:t>s</a:t>
                </a:r>
                <a:r>
                  <a:rPr lang="en-US" sz="1400" b="0" u="none" strike="noStrike" baseline="-25000">
                    <a:solidFill>
                      <a:srgbClr val="000000"/>
                    </a:solidFill>
                    <a:effectLst/>
                    <a:uFillTx/>
                    <a:latin typeface="Arial"/>
                    <a:ea typeface="Times New Roman"/>
                  </a:rPr>
                  <a:t>2 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>
                  <a:lnSpc>
                    <a:spcPct val="75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Times New Roman"/>
                  </a:rPr>
                  <a:t>s</a:t>
                </a:r>
                <a:r>
                  <a:rPr lang="en-US" sz="1400" b="0" u="none" strike="noStrike" baseline="-25000">
                    <a:solidFill>
                      <a:srgbClr val="000000"/>
                    </a:solidFill>
                    <a:effectLst/>
                    <a:uFillTx/>
                    <a:latin typeface="Arial"/>
                    <a:ea typeface="Times New Roman"/>
                  </a:rPr>
                  <a:t>1  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>
                  <a:lnSpc>
                    <a:spcPct val="75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400" b="0" i="1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Times New Roman"/>
                  </a:rPr>
                  <a:t>s</a:t>
                </a:r>
                <a:r>
                  <a:rPr lang="en-US" sz="1400" b="0" u="none" strike="noStrike" baseline="-25000">
                    <a:solidFill>
                      <a:srgbClr val="000000"/>
                    </a:solidFill>
                    <a:effectLst/>
                    <a:uFillTx/>
                    <a:latin typeface="Arial"/>
                    <a:ea typeface="Times New Roman"/>
                  </a:rPr>
                  <a:t>0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>
                  <a:lnSpc>
                    <a:spcPct val="75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9" name="Text Box 79"/>
              <p:cNvSpPr/>
              <p:nvPr/>
            </p:nvSpPr>
            <p:spPr>
              <a:xfrm>
                <a:off x="1295280" y="4343040"/>
                <a:ext cx="1218960" cy="33768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Times New Roman"/>
                  </a:rPr>
                  <a:t>Decoder</a:t>
                </a:r>
                <a:endParaRPr lang="en-US" sz="16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660" name="Line 80"/>
            <p:cNvSpPr/>
            <p:nvPr/>
          </p:nvSpPr>
          <p:spPr>
            <a:xfrm>
              <a:off x="1295280" y="4724280"/>
              <a:ext cx="0" cy="304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1" name="Line 81"/>
            <p:cNvSpPr/>
            <p:nvPr/>
          </p:nvSpPr>
          <p:spPr>
            <a:xfrm>
              <a:off x="2438280" y="4724280"/>
              <a:ext cx="0" cy="457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2" name="Line 82"/>
            <p:cNvSpPr/>
            <p:nvPr/>
          </p:nvSpPr>
          <p:spPr>
            <a:xfrm flipV="1">
              <a:off x="2361960" y="4876560"/>
              <a:ext cx="15264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3" name="Text Box 83"/>
            <p:cNvSpPr/>
            <p:nvPr/>
          </p:nvSpPr>
          <p:spPr>
            <a:xfrm>
              <a:off x="1218960" y="4724280"/>
              <a:ext cx="38124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0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4" name="Text Box 84"/>
            <p:cNvSpPr/>
            <p:nvPr/>
          </p:nvSpPr>
          <p:spPr>
            <a:xfrm>
              <a:off x="1828800" y="4724280"/>
              <a:ext cx="6858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1-7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5" name="Line 85"/>
            <p:cNvSpPr/>
            <p:nvPr/>
          </p:nvSpPr>
          <p:spPr>
            <a:xfrm>
              <a:off x="2743200" y="4038480"/>
              <a:ext cx="0" cy="1143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666" name="Group 86"/>
            <p:cNvGrpSpPr/>
            <p:nvPr/>
          </p:nvGrpSpPr>
          <p:grpSpPr>
            <a:xfrm>
              <a:off x="2352960" y="5095800"/>
              <a:ext cx="503280" cy="628200"/>
              <a:chOff x="2352960" y="5095800"/>
              <a:chExt cx="503280" cy="628200"/>
            </a:xfrm>
          </p:grpSpPr>
          <p:sp>
            <p:nvSpPr>
              <p:cNvPr id="667" name="Freeform 87"/>
              <p:cNvSpPr/>
              <p:nvPr/>
            </p:nvSpPr>
            <p:spPr>
              <a:xfrm rot="5263800">
                <a:off x="2550960" y="4996800"/>
                <a:ext cx="88920" cy="457200"/>
              </a:xfrm>
              <a:custGeom>
                <a:avLst/>
                <a:gdLst>
                  <a:gd name="GluePoint1X" fmla="*/ 0 w 56"/>
                  <a:gd name="GluePoint1Y" fmla="*/ 0 h 288"/>
                  <a:gd name="GluePoint2X" fmla="*/ 48 w 56"/>
                  <a:gd name="GluePoint2Y" fmla="*/ 96 h 288"/>
                  <a:gd name="GluePoint3X" fmla="*/ 48 w 56"/>
                  <a:gd name="GluePoint3Y" fmla="*/ 192 h 288"/>
                  <a:gd name="GluePoint4X" fmla="*/ 0 w 56"/>
                  <a:gd name="GluePoint4Y" fmla="*/ 288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56" h="288">
                    <a:moveTo>
                      <a:pt x="0" y="0"/>
                    </a:moveTo>
                    <a:cubicBezTo>
                      <a:pt x="20" y="32"/>
                      <a:pt x="40" y="64"/>
                      <a:pt x="48" y="96"/>
                    </a:cubicBezTo>
                    <a:cubicBezTo>
                      <a:pt x="56" y="128"/>
                      <a:pt x="56" y="160"/>
                      <a:pt x="48" y="192"/>
                    </a:cubicBezTo>
                    <a:cubicBezTo>
                      <a:pt x="40" y="224"/>
                      <a:pt x="8" y="272"/>
                      <a:pt x="0" y="288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8" name="Freeform 88"/>
              <p:cNvSpPr/>
              <p:nvPr/>
            </p:nvSpPr>
            <p:spPr>
              <a:xfrm rot="5263800">
                <a:off x="2458080" y="5322240"/>
                <a:ext cx="533520" cy="241200"/>
              </a:xfrm>
              <a:custGeom>
                <a:avLst/>
                <a:gdLst>
                  <a:gd name="GluePoint1X" fmla="*/ 0 w 336"/>
                  <a:gd name="GluePoint1Y" fmla="*/ 8 h 152"/>
                  <a:gd name="GluePoint2X" fmla="*/ 96 w 336"/>
                  <a:gd name="GluePoint2Y" fmla="*/ 8 h 152"/>
                  <a:gd name="GluePoint3X" fmla="*/ 240 w 336"/>
                  <a:gd name="GluePoint3Y" fmla="*/ 56 h 152"/>
                  <a:gd name="GluePoint4X" fmla="*/ 336 w 336"/>
                  <a:gd name="GluePoint4Y" fmla="*/ 152 h 1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36" h="152">
                    <a:moveTo>
                      <a:pt x="0" y="8"/>
                    </a:moveTo>
                    <a:cubicBezTo>
                      <a:pt x="28" y="4"/>
                      <a:pt x="56" y="0"/>
                      <a:pt x="96" y="8"/>
                    </a:cubicBezTo>
                    <a:cubicBezTo>
                      <a:pt x="136" y="16"/>
                      <a:pt x="200" y="32"/>
                      <a:pt x="240" y="56"/>
                    </a:cubicBezTo>
                    <a:cubicBezTo>
                      <a:pt x="280" y="80"/>
                      <a:pt x="320" y="136"/>
                      <a:pt x="336" y="152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9" name="Freeform 89"/>
              <p:cNvSpPr/>
              <p:nvPr/>
            </p:nvSpPr>
            <p:spPr>
              <a:xfrm flipV="1" rot="5263200">
                <a:off x="2217240" y="5331600"/>
                <a:ext cx="533520" cy="241200"/>
              </a:xfrm>
              <a:custGeom>
                <a:avLst/>
                <a:gdLst>
                  <a:gd name="GluePoint1X" fmla="*/ 0 w 336"/>
                  <a:gd name="GluePoint1Y" fmla="*/ 8 h 152"/>
                  <a:gd name="GluePoint2X" fmla="*/ 96 w 336"/>
                  <a:gd name="GluePoint2Y" fmla="*/ 8 h 152"/>
                  <a:gd name="GluePoint3X" fmla="*/ 240 w 336"/>
                  <a:gd name="GluePoint3Y" fmla="*/ 56 h 152"/>
                  <a:gd name="GluePoint4X" fmla="*/ 336 w 336"/>
                  <a:gd name="GluePoint4Y" fmla="*/ 152 h 1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36" h="152">
                    <a:moveTo>
                      <a:pt x="0" y="8"/>
                    </a:moveTo>
                    <a:cubicBezTo>
                      <a:pt x="28" y="4"/>
                      <a:pt x="56" y="0"/>
                      <a:pt x="96" y="8"/>
                    </a:cubicBezTo>
                    <a:cubicBezTo>
                      <a:pt x="136" y="16"/>
                      <a:pt x="200" y="32"/>
                      <a:pt x="240" y="56"/>
                    </a:cubicBezTo>
                    <a:cubicBezTo>
                      <a:pt x="280" y="80"/>
                      <a:pt x="320" y="136"/>
                      <a:pt x="336" y="152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0" name="Freeform 90"/>
              <p:cNvSpPr/>
              <p:nvPr/>
            </p:nvSpPr>
            <p:spPr>
              <a:xfrm rot="5263800">
                <a:off x="2561040" y="4920480"/>
                <a:ext cx="88560" cy="457200"/>
              </a:xfrm>
              <a:custGeom>
                <a:avLst/>
                <a:gdLst>
                  <a:gd name="GluePoint1X" fmla="*/ 0 w 56"/>
                  <a:gd name="GluePoint1Y" fmla="*/ 0 h 288"/>
                  <a:gd name="GluePoint2X" fmla="*/ 48 w 56"/>
                  <a:gd name="GluePoint2Y" fmla="*/ 96 h 288"/>
                  <a:gd name="GluePoint3X" fmla="*/ 48 w 56"/>
                  <a:gd name="GluePoint3Y" fmla="*/ 192 h 288"/>
                  <a:gd name="GluePoint4X" fmla="*/ 0 w 56"/>
                  <a:gd name="GluePoint4Y" fmla="*/ 288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56" h="288">
                    <a:moveTo>
                      <a:pt x="0" y="0"/>
                    </a:moveTo>
                    <a:cubicBezTo>
                      <a:pt x="20" y="32"/>
                      <a:pt x="40" y="64"/>
                      <a:pt x="48" y="96"/>
                    </a:cubicBezTo>
                    <a:cubicBezTo>
                      <a:pt x="56" y="128"/>
                      <a:pt x="56" y="160"/>
                      <a:pt x="48" y="192"/>
                    </a:cubicBezTo>
                    <a:cubicBezTo>
                      <a:pt x="40" y="224"/>
                      <a:pt x="8" y="272"/>
                      <a:pt x="0" y="288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671" name="Line 91"/>
            <p:cNvSpPr/>
            <p:nvPr/>
          </p:nvSpPr>
          <p:spPr>
            <a:xfrm>
              <a:off x="2622240" y="5715000"/>
              <a:ext cx="0" cy="393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2" name="Text Box 92"/>
            <p:cNvSpPr/>
            <p:nvPr/>
          </p:nvSpPr>
          <p:spPr>
            <a:xfrm>
              <a:off x="1371600" y="3733560"/>
              <a:ext cx="236196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Data and parity bits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3" name="Text Box 93"/>
            <p:cNvSpPr/>
            <p:nvPr/>
          </p:nvSpPr>
          <p:spPr>
            <a:xfrm>
              <a:off x="1218960" y="5562360"/>
              <a:ext cx="1295640" cy="58140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Corrected version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4" name="Line 94"/>
            <p:cNvSpPr/>
            <p:nvPr/>
          </p:nvSpPr>
          <p:spPr>
            <a:xfrm flipV="1">
              <a:off x="2666880" y="4876560"/>
              <a:ext cx="15228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5" name="Text Box 95"/>
            <p:cNvSpPr/>
            <p:nvPr/>
          </p:nvSpPr>
          <p:spPr>
            <a:xfrm>
              <a:off x="2666880" y="4724280"/>
              <a:ext cx="6858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1-7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6" name="Line 96"/>
            <p:cNvSpPr/>
            <p:nvPr/>
          </p:nvSpPr>
          <p:spPr>
            <a:xfrm flipV="1">
              <a:off x="2558880" y="5867280"/>
              <a:ext cx="15228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7" name="Text Box 97"/>
            <p:cNvSpPr/>
            <p:nvPr/>
          </p:nvSpPr>
          <p:spPr>
            <a:xfrm>
              <a:off x="2590560" y="5715000"/>
              <a:ext cx="6858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1-7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78" name="Group 98"/>
          <p:cNvGrpSpPr/>
          <p:nvPr/>
        </p:nvGrpSpPr>
        <p:grpSpPr>
          <a:xfrm>
            <a:off x="3047760" y="3047760"/>
            <a:ext cx="2743200" cy="1846080"/>
            <a:chOff x="3047760" y="3047760"/>
            <a:chExt cx="2743200" cy="1846080"/>
          </a:xfrm>
        </p:grpSpPr>
        <p:sp>
          <p:nvSpPr>
            <p:cNvPr id="679" name="Line 99"/>
            <p:cNvSpPr/>
            <p:nvPr/>
          </p:nvSpPr>
          <p:spPr>
            <a:xfrm>
              <a:off x="3047760" y="3047760"/>
              <a:ext cx="990720" cy="914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0" name="Text Box 100"/>
            <p:cNvSpPr/>
            <p:nvPr/>
          </p:nvSpPr>
          <p:spPr>
            <a:xfrm>
              <a:off x="3581280" y="3886200"/>
              <a:ext cx="2209680" cy="100764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Matrix columns are binary rep’s of column indices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7B83500D-0033-4BA1-B19C-380367F84CA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304200" y="228240"/>
            <a:ext cx="84582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Hamming Generator Matrix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Box 4"/>
          <p:cNvSpPr/>
          <p:nvPr/>
        </p:nvSpPr>
        <p:spPr>
          <a:xfrm>
            <a:off x="5638680" y="1447560"/>
            <a:ext cx="2743200" cy="440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Text Box 5"/>
          <p:cNvSpPr/>
          <p:nvPr/>
        </p:nvSpPr>
        <p:spPr>
          <a:xfrm>
            <a:off x="5715000" y="1143000"/>
            <a:ext cx="259056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Data bits       Parity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88" name="Group 6"/>
          <p:cNvGrpSpPr/>
          <p:nvPr/>
        </p:nvGrpSpPr>
        <p:grpSpPr>
          <a:xfrm>
            <a:off x="5790960" y="1904760"/>
            <a:ext cx="1524240" cy="304560"/>
            <a:chOff x="5790960" y="1904760"/>
            <a:chExt cx="1524240" cy="304560"/>
          </a:xfrm>
        </p:grpSpPr>
        <p:sp>
          <p:nvSpPr>
            <p:cNvPr id="689" name="Line 7"/>
            <p:cNvSpPr/>
            <p:nvPr/>
          </p:nvSpPr>
          <p:spPr>
            <a:xfrm>
              <a:off x="5790960" y="19047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0" name="Line 8"/>
            <p:cNvSpPr/>
            <p:nvPr/>
          </p:nvSpPr>
          <p:spPr>
            <a:xfrm>
              <a:off x="5790960" y="2209320"/>
              <a:ext cx="1524240" cy="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1" name="Line 9"/>
            <p:cNvSpPr/>
            <p:nvPr/>
          </p:nvSpPr>
          <p:spPr>
            <a:xfrm>
              <a:off x="7315200" y="19047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2" name="Line 10"/>
            <p:cNvSpPr/>
            <p:nvPr/>
          </p:nvSpPr>
          <p:spPr>
            <a:xfrm>
              <a:off x="6172200" y="19047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3" name="Line 11"/>
            <p:cNvSpPr/>
            <p:nvPr/>
          </p:nvSpPr>
          <p:spPr>
            <a:xfrm>
              <a:off x="6476760" y="1904760"/>
              <a:ext cx="0" cy="304560"/>
            </a:xfrm>
            <a:prstGeom prst="line">
              <a:avLst/>
            </a:prstGeom>
            <a:ln w="9360">
              <a:solidFill>
                <a:srgbClr val="0033CC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94" name="Group 12"/>
          <p:cNvGrpSpPr/>
          <p:nvPr/>
        </p:nvGrpSpPr>
        <p:grpSpPr>
          <a:xfrm>
            <a:off x="5867280" y="1904760"/>
            <a:ext cx="1828800" cy="457200"/>
            <a:chOff x="5867280" y="1904760"/>
            <a:chExt cx="1828800" cy="457200"/>
          </a:xfrm>
        </p:grpSpPr>
        <p:sp>
          <p:nvSpPr>
            <p:cNvPr id="695" name="Line 13"/>
            <p:cNvSpPr/>
            <p:nvPr/>
          </p:nvSpPr>
          <p:spPr>
            <a:xfrm>
              <a:off x="5867280" y="19047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6" name="Line 14"/>
            <p:cNvSpPr/>
            <p:nvPr/>
          </p:nvSpPr>
          <p:spPr>
            <a:xfrm>
              <a:off x="5867280" y="2361960"/>
              <a:ext cx="1828800" cy="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7" name="Line 15"/>
            <p:cNvSpPr/>
            <p:nvPr/>
          </p:nvSpPr>
          <p:spPr>
            <a:xfrm>
              <a:off x="7696080" y="19047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8" name="Line 16"/>
            <p:cNvSpPr/>
            <p:nvPr/>
          </p:nvSpPr>
          <p:spPr>
            <a:xfrm>
              <a:off x="6553080" y="19047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9" name="Line 17"/>
            <p:cNvSpPr/>
            <p:nvPr/>
          </p:nvSpPr>
          <p:spPr>
            <a:xfrm>
              <a:off x="6933960" y="1904760"/>
              <a:ext cx="0" cy="457200"/>
            </a:xfrm>
            <a:prstGeom prst="line">
              <a:avLst/>
            </a:prstGeom>
            <a:ln w="9360">
              <a:solidFill>
                <a:srgbClr val="FF3300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00" name="Group 18"/>
          <p:cNvGrpSpPr/>
          <p:nvPr/>
        </p:nvGrpSpPr>
        <p:grpSpPr>
          <a:xfrm>
            <a:off x="6248160" y="1904760"/>
            <a:ext cx="1828800" cy="609480"/>
            <a:chOff x="6248160" y="1904760"/>
            <a:chExt cx="1828800" cy="609480"/>
          </a:xfrm>
        </p:grpSpPr>
        <p:sp>
          <p:nvSpPr>
            <p:cNvPr id="701" name="Line 19"/>
            <p:cNvSpPr/>
            <p:nvPr/>
          </p:nvSpPr>
          <p:spPr>
            <a:xfrm>
              <a:off x="6248160" y="19047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2" name="Line 20"/>
            <p:cNvSpPr/>
            <p:nvPr/>
          </p:nvSpPr>
          <p:spPr>
            <a:xfrm>
              <a:off x="6248160" y="2514240"/>
              <a:ext cx="1828800" cy="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3" name="Line 21"/>
            <p:cNvSpPr/>
            <p:nvPr/>
          </p:nvSpPr>
          <p:spPr>
            <a:xfrm>
              <a:off x="8076960" y="19047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4" name="Line 22"/>
            <p:cNvSpPr/>
            <p:nvPr/>
          </p:nvSpPr>
          <p:spPr>
            <a:xfrm>
              <a:off x="6629400" y="19047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5" name="Line 23"/>
            <p:cNvSpPr/>
            <p:nvPr/>
          </p:nvSpPr>
          <p:spPr>
            <a:xfrm>
              <a:off x="7010280" y="1904760"/>
              <a:ext cx="0" cy="609480"/>
            </a:xfrm>
            <a:prstGeom prst="line">
              <a:avLst/>
            </a:prstGeom>
            <a:ln w="9360">
              <a:solidFill>
                <a:srgbClr val="00CC99"/>
              </a:solidFill>
              <a:miter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706" name="Text Box 24"/>
          <p:cNvSpPr/>
          <p:nvPr/>
        </p:nvSpPr>
        <p:spPr>
          <a:xfrm>
            <a:off x="685800" y="1371600"/>
            <a:ext cx="1447560" cy="291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1   0   0   0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0   1   0   0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0   0   1   0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0   0   0   1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1   1   1   0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1   0   1   1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0   1   1   1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Text Box 25"/>
          <p:cNvSpPr/>
          <p:nvPr/>
        </p:nvSpPr>
        <p:spPr>
          <a:xfrm>
            <a:off x="380880" y="4190760"/>
            <a:ext cx="198108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Generator matrix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Text Box 26"/>
          <p:cNvSpPr/>
          <p:nvPr/>
        </p:nvSpPr>
        <p:spPr>
          <a:xfrm>
            <a:off x="2819160" y="2209680"/>
            <a:ext cx="533520" cy="1479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AutoShape 27"/>
          <p:cNvSpPr/>
          <p:nvPr/>
        </p:nvSpPr>
        <p:spPr>
          <a:xfrm>
            <a:off x="685800" y="1904760"/>
            <a:ext cx="75960" cy="2057400"/>
          </a:xfrm>
          <a:custGeom>
            <a:avLst/>
            <a:gdLst>
              <a:gd name="textAreaLeft" fmla="*/ 22320 w 75960"/>
              <a:gd name="textAreaRight" fmla="*/ 76320 w 75960"/>
              <a:gd name="textAreaTop" fmla="*/ 85680 h 2057400"/>
              <a:gd name="textAreaBottom" fmla="*/ 1971720 h 20574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AutoShape 28"/>
          <p:cNvSpPr/>
          <p:nvPr/>
        </p:nvSpPr>
        <p:spPr>
          <a:xfrm flipH="1">
            <a:off x="1981080" y="1904760"/>
            <a:ext cx="76320" cy="2133720"/>
          </a:xfrm>
          <a:custGeom>
            <a:avLst/>
            <a:gdLst>
              <a:gd name="textAreaLeft" fmla="*/ 22320 w 76320"/>
              <a:gd name="textAreaRight" fmla="*/ 76320 w 76320"/>
              <a:gd name="textAreaTop" fmla="*/ 88920 h 2133720"/>
              <a:gd name="textAreaBottom" fmla="*/ 2045160 h 21337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AutoShape 29"/>
          <p:cNvSpPr/>
          <p:nvPr/>
        </p:nvSpPr>
        <p:spPr>
          <a:xfrm>
            <a:off x="2819160" y="2286000"/>
            <a:ext cx="76320" cy="1218960"/>
          </a:xfrm>
          <a:custGeom>
            <a:avLst/>
            <a:gdLst>
              <a:gd name="textAreaLeft" fmla="*/ 22320 w 76320"/>
              <a:gd name="textAreaRight" fmla="*/ 76320 w 76320"/>
              <a:gd name="textAreaTop" fmla="*/ 50760 h 1218960"/>
              <a:gd name="textAreaBottom" fmla="*/ 1168200 h 12189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AutoShape 30"/>
          <p:cNvSpPr/>
          <p:nvPr/>
        </p:nvSpPr>
        <p:spPr>
          <a:xfrm flipH="1">
            <a:off x="3124080" y="2286000"/>
            <a:ext cx="76320" cy="1218960"/>
          </a:xfrm>
          <a:custGeom>
            <a:avLst/>
            <a:gdLst>
              <a:gd name="textAreaLeft" fmla="*/ 22320 w 76320"/>
              <a:gd name="textAreaRight" fmla="*/ 76320 w 76320"/>
              <a:gd name="textAreaTop" fmla="*/ 50760 h 1218960"/>
              <a:gd name="textAreaBottom" fmla="*/ 1168200 h 12189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Text Box 31"/>
          <p:cNvSpPr/>
          <p:nvPr/>
        </p:nvSpPr>
        <p:spPr>
          <a:xfrm>
            <a:off x="2209680" y="2666880"/>
            <a:ext cx="380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Text Box 32"/>
          <p:cNvSpPr/>
          <p:nvPr/>
        </p:nvSpPr>
        <p:spPr>
          <a:xfrm>
            <a:off x="3352680" y="2666880"/>
            <a:ext cx="380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=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Text Box 33"/>
          <p:cNvSpPr/>
          <p:nvPr/>
        </p:nvSpPr>
        <p:spPr>
          <a:xfrm>
            <a:off x="3504960" y="4190760"/>
            <a:ext cx="129564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Codeword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Text Box 34"/>
          <p:cNvSpPr/>
          <p:nvPr/>
        </p:nvSpPr>
        <p:spPr>
          <a:xfrm>
            <a:off x="2361960" y="4190760"/>
            <a:ext cx="129564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Data word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Text Box 35"/>
          <p:cNvSpPr/>
          <p:nvPr/>
        </p:nvSpPr>
        <p:spPr>
          <a:xfrm>
            <a:off x="3886200" y="1828800"/>
            <a:ext cx="533160" cy="2864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AutoShape 36"/>
          <p:cNvSpPr/>
          <p:nvPr/>
        </p:nvSpPr>
        <p:spPr>
          <a:xfrm>
            <a:off x="3886200" y="1904760"/>
            <a:ext cx="75960" cy="2133720"/>
          </a:xfrm>
          <a:custGeom>
            <a:avLst/>
            <a:gdLst>
              <a:gd name="textAreaLeft" fmla="*/ 22320 w 75960"/>
              <a:gd name="textAreaRight" fmla="*/ 76320 w 75960"/>
              <a:gd name="textAreaTop" fmla="*/ 88920 h 2133720"/>
              <a:gd name="textAreaBottom" fmla="*/ 2045160 h 21337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AutoShape 37"/>
          <p:cNvSpPr/>
          <p:nvPr/>
        </p:nvSpPr>
        <p:spPr>
          <a:xfrm flipH="1">
            <a:off x="4190760" y="1904760"/>
            <a:ext cx="76320" cy="2133720"/>
          </a:xfrm>
          <a:custGeom>
            <a:avLst/>
            <a:gdLst>
              <a:gd name="textAreaLeft" fmla="*/ 22320 w 76320"/>
              <a:gd name="textAreaRight" fmla="*/ 76320 w 76320"/>
              <a:gd name="textAreaTop" fmla="*/ 88920 h 2133720"/>
              <a:gd name="textAreaBottom" fmla="*/ 2045160 h 21337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Line 38"/>
          <p:cNvSpPr/>
          <p:nvPr/>
        </p:nvSpPr>
        <p:spPr>
          <a:xfrm>
            <a:off x="761760" y="3124080"/>
            <a:ext cx="121932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Text Box 39"/>
          <p:cNvSpPr/>
          <p:nvPr/>
        </p:nvSpPr>
        <p:spPr>
          <a:xfrm>
            <a:off x="457200" y="5181480"/>
            <a:ext cx="52578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Recall that matrix-vector multiplication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is done with AND/XOR, instead of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/+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Text Box 40"/>
          <p:cNvSpPr/>
          <p:nvPr/>
        </p:nvSpPr>
        <p:spPr>
          <a:xfrm>
            <a:off x="685800" y="1066680"/>
            <a:ext cx="259056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Data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Text Box 10"/>
          <p:cNvSpPr/>
          <p:nvPr/>
        </p:nvSpPr>
        <p:spPr>
          <a:xfrm>
            <a:off x="6635520" y="3958920"/>
            <a:ext cx="2352960" cy="1191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Richard W. Hamming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(Bell Labs,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Naval Postgraduate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School)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4" name="Picture 45" descr="101. You and Your Career: Hamming's crash-course on career success"/>
          <p:cNvPicPr/>
          <p:nvPr/>
        </p:nvPicPr>
        <p:blipFill>
          <a:blip r:embed="rId1"/>
          <a:srcRect l="11139" t="8863" r="55500" b="36024"/>
          <a:stretch/>
        </p:blipFill>
        <p:spPr>
          <a:xfrm>
            <a:off x="5229000" y="3344760"/>
            <a:ext cx="1428840" cy="17319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2E9DE15E-0E88-4508-809C-DB3BE73169A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151920" y="228240"/>
            <a:ext cx="88390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Generalization to Wider Hamming SEC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Box 4"/>
          <p:cNvSpPr/>
          <p:nvPr/>
        </p:nvSpPr>
        <p:spPr>
          <a:xfrm>
            <a:off x="533160" y="1295280"/>
            <a:ext cx="2667240" cy="20048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</a:t>
            </a:r>
            <a:r>
              <a:rPr lang="en-US" sz="2000" b="0" i="1" u="none" strike="noStrike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.   .  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0   0   0   . . .  1   1   1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. . .   :    :    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0   1   1   . . .  0   1   1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1   0   1   . . .  1   0   1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Text Box 5"/>
          <p:cNvSpPr/>
          <p:nvPr/>
        </p:nvSpPr>
        <p:spPr>
          <a:xfrm>
            <a:off x="3733560" y="1295280"/>
            <a:ext cx="533520" cy="27810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.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.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Text Box 6"/>
          <p:cNvSpPr/>
          <p:nvPr/>
        </p:nvSpPr>
        <p:spPr>
          <a:xfrm>
            <a:off x="4800600" y="1828800"/>
            <a:ext cx="609480" cy="17838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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AutoShape 7"/>
          <p:cNvSpPr/>
          <p:nvPr/>
        </p:nvSpPr>
        <p:spPr>
          <a:xfrm>
            <a:off x="533160" y="1828800"/>
            <a:ext cx="76320" cy="1218960"/>
          </a:xfrm>
          <a:custGeom>
            <a:avLst/>
            <a:gdLst>
              <a:gd name="textAreaLeft" fmla="*/ 22320 w 76320"/>
              <a:gd name="textAreaRight" fmla="*/ 76320 w 76320"/>
              <a:gd name="textAreaTop" fmla="*/ 50760 h 1218960"/>
              <a:gd name="textAreaBottom" fmla="*/ 1168200 h 12189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AutoShape 8"/>
          <p:cNvSpPr/>
          <p:nvPr/>
        </p:nvSpPr>
        <p:spPr>
          <a:xfrm flipH="1">
            <a:off x="3047760" y="1904760"/>
            <a:ext cx="76320" cy="1143000"/>
          </a:xfrm>
          <a:custGeom>
            <a:avLst/>
            <a:gdLst>
              <a:gd name="textAreaLeft" fmla="*/ 22320 w 76320"/>
              <a:gd name="textAreaRight" fmla="*/ 76320 w 76320"/>
              <a:gd name="textAreaTop" fmla="*/ 47520 h 1143000"/>
              <a:gd name="textAreaBottom" fmla="*/ 1095480 h 11430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AutoShape 9"/>
          <p:cNvSpPr/>
          <p:nvPr/>
        </p:nvSpPr>
        <p:spPr>
          <a:xfrm>
            <a:off x="4800600" y="1981080"/>
            <a:ext cx="75960" cy="1066680"/>
          </a:xfrm>
          <a:custGeom>
            <a:avLst/>
            <a:gdLst>
              <a:gd name="textAreaLeft" fmla="*/ 22320 w 75960"/>
              <a:gd name="textAreaRight" fmla="*/ 76320 w 75960"/>
              <a:gd name="textAreaTop" fmla="*/ 44280 h 1066680"/>
              <a:gd name="textAreaBottom" fmla="*/ 1022400 h 10666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AutoShape 10"/>
          <p:cNvSpPr/>
          <p:nvPr/>
        </p:nvSpPr>
        <p:spPr>
          <a:xfrm flipH="1">
            <a:off x="5257080" y="1981080"/>
            <a:ext cx="75960" cy="1066680"/>
          </a:xfrm>
          <a:custGeom>
            <a:avLst/>
            <a:gdLst>
              <a:gd name="textAreaLeft" fmla="*/ 21960 w 75960"/>
              <a:gd name="textAreaRight" fmla="*/ 75960 w 75960"/>
              <a:gd name="textAreaTop" fmla="*/ 44280 h 1066680"/>
              <a:gd name="textAreaBottom" fmla="*/ 1022400 h 10666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AutoShape 11"/>
          <p:cNvSpPr/>
          <p:nvPr/>
        </p:nvSpPr>
        <p:spPr>
          <a:xfrm>
            <a:off x="3733560" y="1371600"/>
            <a:ext cx="76320" cy="2133360"/>
          </a:xfrm>
          <a:custGeom>
            <a:avLst/>
            <a:gdLst>
              <a:gd name="textAreaLeft" fmla="*/ 22320 w 76320"/>
              <a:gd name="textAreaRight" fmla="*/ 76320 w 76320"/>
              <a:gd name="textAreaTop" fmla="*/ 88560 h 2133360"/>
              <a:gd name="textAreaBottom" fmla="*/ 2044800 h 21333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AutoShape 12"/>
          <p:cNvSpPr/>
          <p:nvPr/>
        </p:nvSpPr>
        <p:spPr>
          <a:xfrm flipH="1">
            <a:off x="4038480" y="1371600"/>
            <a:ext cx="76320" cy="2133360"/>
          </a:xfrm>
          <a:custGeom>
            <a:avLst/>
            <a:gdLst>
              <a:gd name="textAreaLeft" fmla="*/ 22320 w 76320"/>
              <a:gd name="textAreaRight" fmla="*/ 76320 w 76320"/>
              <a:gd name="textAreaTop" fmla="*/ 88560 h 2133360"/>
              <a:gd name="textAreaBottom" fmla="*/ 2044800 h 21333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Text Box 13"/>
          <p:cNvSpPr/>
          <p:nvPr/>
        </p:nvSpPr>
        <p:spPr>
          <a:xfrm>
            <a:off x="3200400" y="2209680"/>
            <a:ext cx="380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Text Box 14"/>
          <p:cNvSpPr/>
          <p:nvPr/>
        </p:nvSpPr>
        <p:spPr>
          <a:xfrm>
            <a:off x="4267080" y="2209680"/>
            <a:ext cx="380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=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Text Box 15"/>
          <p:cNvSpPr/>
          <p:nvPr/>
        </p:nvSpPr>
        <p:spPr>
          <a:xfrm>
            <a:off x="533160" y="990360"/>
            <a:ext cx="266724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Data and parity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Text Box 16"/>
          <p:cNvSpPr/>
          <p:nvPr/>
        </p:nvSpPr>
        <p:spPr>
          <a:xfrm>
            <a:off x="533160" y="2971800"/>
            <a:ext cx="3048120" cy="642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1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2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3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                  2</a:t>
            </a:r>
            <a:r>
              <a:rPr lang="en-US" sz="1600" b="1" i="1" u="none" strike="noStrike" baseline="30000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–1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         Position number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43" name="Group 17"/>
          <p:cNvGrpSpPr/>
          <p:nvPr/>
        </p:nvGrpSpPr>
        <p:grpSpPr>
          <a:xfrm>
            <a:off x="533160" y="3733560"/>
            <a:ext cx="3200400" cy="2410200"/>
            <a:chOff x="533160" y="3733560"/>
            <a:chExt cx="3200400" cy="2410200"/>
          </a:xfrm>
        </p:grpSpPr>
        <p:sp>
          <p:nvSpPr>
            <p:cNvPr id="744" name="AutoShape 18"/>
            <p:cNvSpPr/>
            <p:nvPr/>
          </p:nvSpPr>
          <p:spPr>
            <a:xfrm flipV="1">
              <a:off x="1143000" y="4190760"/>
              <a:ext cx="1523880" cy="533520"/>
            </a:xfrm>
            <a:custGeom>
              <a:avLst/>
              <a:gdLst>
                <a:gd name="textAreaLeft" fmla="*/ 315720 w 1523880"/>
                <a:gd name="textAreaRight" fmla="*/ 1208160 w 1523880"/>
                <a:gd name="textAreaTop" fmla="*/ 110880 h 533520"/>
                <a:gd name="textAreaBottom" fmla="*/ 422640 h 5335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5336" y="21600"/>
                  </a:lnTo>
                  <a:lnTo>
                    <a:pt x="16264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 rot="10800000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5" name="Line 19"/>
            <p:cNvSpPr/>
            <p:nvPr/>
          </p:nvSpPr>
          <p:spPr>
            <a:xfrm>
              <a:off x="914400" y="4267080"/>
              <a:ext cx="5331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6" name="Line 20"/>
            <p:cNvSpPr/>
            <p:nvPr/>
          </p:nvSpPr>
          <p:spPr>
            <a:xfrm>
              <a:off x="914400" y="4495680"/>
              <a:ext cx="411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7" name="Line 21"/>
            <p:cNvSpPr/>
            <p:nvPr/>
          </p:nvSpPr>
          <p:spPr>
            <a:xfrm>
              <a:off x="914400" y="4647960"/>
              <a:ext cx="2743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8" name="Text Box 22"/>
            <p:cNvSpPr/>
            <p:nvPr/>
          </p:nvSpPr>
          <p:spPr>
            <a:xfrm>
              <a:off x="533160" y="4076640"/>
              <a:ext cx="533520" cy="1054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r>
                <a:rPr lang="en-US" sz="1400" b="0" u="none" strike="noStrike" baseline="-25000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</a:t>
              </a:r>
              <a:r>
                <a:rPr lang="en-US" sz="14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0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 :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s</a:t>
              </a:r>
              <a:r>
                <a:rPr lang="en-US" sz="14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 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s</a:t>
              </a:r>
              <a:r>
                <a:rPr lang="en-US" sz="14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9" name="Text Box 23"/>
            <p:cNvSpPr/>
            <p:nvPr/>
          </p:nvSpPr>
          <p:spPr>
            <a:xfrm>
              <a:off x="1295280" y="4343400"/>
              <a:ext cx="121932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Decoder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0" name="Line 24"/>
            <p:cNvSpPr/>
            <p:nvPr/>
          </p:nvSpPr>
          <p:spPr>
            <a:xfrm>
              <a:off x="1295280" y="4724280"/>
              <a:ext cx="0" cy="304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1" name="Line 25"/>
            <p:cNvSpPr/>
            <p:nvPr/>
          </p:nvSpPr>
          <p:spPr>
            <a:xfrm>
              <a:off x="2438280" y="4724280"/>
              <a:ext cx="0" cy="457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2" name="Line 26"/>
            <p:cNvSpPr/>
            <p:nvPr/>
          </p:nvSpPr>
          <p:spPr>
            <a:xfrm flipV="1">
              <a:off x="2361960" y="4876560"/>
              <a:ext cx="15264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3" name="Text Box 27"/>
            <p:cNvSpPr/>
            <p:nvPr/>
          </p:nvSpPr>
          <p:spPr>
            <a:xfrm>
              <a:off x="1828800" y="4724280"/>
              <a:ext cx="6858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2</a:t>
              </a:r>
              <a:r>
                <a:rPr lang="en-US" sz="1600" b="0" i="1" u="none" strike="noStrike" baseline="30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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4" name="Line 28"/>
            <p:cNvSpPr/>
            <p:nvPr/>
          </p:nvSpPr>
          <p:spPr>
            <a:xfrm>
              <a:off x="2743200" y="4038480"/>
              <a:ext cx="0" cy="1143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755" name="Group 29"/>
            <p:cNvGrpSpPr/>
            <p:nvPr/>
          </p:nvGrpSpPr>
          <p:grpSpPr>
            <a:xfrm>
              <a:off x="2352960" y="5095800"/>
              <a:ext cx="503280" cy="628200"/>
              <a:chOff x="2352960" y="5095800"/>
              <a:chExt cx="503280" cy="628200"/>
            </a:xfrm>
          </p:grpSpPr>
          <p:sp>
            <p:nvSpPr>
              <p:cNvPr id="756" name="Freeform 30"/>
              <p:cNvSpPr/>
              <p:nvPr/>
            </p:nvSpPr>
            <p:spPr>
              <a:xfrm rot="5263800">
                <a:off x="2550960" y="4996800"/>
                <a:ext cx="88920" cy="457200"/>
              </a:xfrm>
              <a:custGeom>
                <a:avLst/>
                <a:gdLst>
                  <a:gd name="GluePoint1X" fmla="*/ 0 w 56"/>
                  <a:gd name="GluePoint1Y" fmla="*/ 0 h 288"/>
                  <a:gd name="GluePoint2X" fmla="*/ 48 w 56"/>
                  <a:gd name="GluePoint2Y" fmla="*/ 96 h 288"/>
                  <a:gd name="GluePoint3X" fmla="*/ 48 w 56"/>
                  <a:gd name="GluePoint3Y" fmla="*/ 192 h 288"/>
                  <a:gd name="GluePoint4X" fmla="*/ 0 w 56"/>
                  <a:gd name="GluePoint4Y" fmla="*/ 288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56" h="288">
                    <a:moveTo>
                      <a:pt x="0" y="0"/>
                    </a:moveTo>
                    <a:cubicBezTo>
                      <a:pt x="20" y="32"/>
                      <a:pt x="40" y="64"/>
                      <a:pt x="48" y="96"/>
                    </a:cubicBezTo>
                    <a:cubicBezTo>
                      <a:pt x="56" y="128"/>
                      <a:pt x="56" y="160"/>
                      <a:pt x="48" y="192"/>
                    </a:cubicBezTo>
                    <a:cubicBezTo>
                      <a:pt x="40" y="224"/>
                      <a:pt x="8" y="272"/>
                      <a:pt x="0" y="288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7" name="Freeform 31"/>
              <p:cNvSpPr/>
              <p:nvPr/>
            </p:nvSpPr>
            <p:spPr>
              <a:xfrm rot="5263800">
                <a:off x="2458080" y="5322240"/>
                <a:ext cx="533520" cy="241200"/>
              </a:xfrm>
              <a:custGeom>
                <a:avLst/>
                <a:gdLst>
                  <a:gd name="GluePoint1X" fmla="*/ 0 w 336"/>
                  <a:gd name="GluePoint1Y" fmla="*/ 8 h 152"/>
                  <a:gd name="GluePoint2X" fmla="*/ 96 w 336"/>
                  <a:gd name="GluePoint2Y" fmla="*/ 8 h 152"/>
                  <a:gd name="GluePoint3X" fmla="*/ 240 w 336"/>
                  <a:gd name="GluePoint3Y" fmla="*/ 56 h 152"/>
                  <a:gd name="GluePoint4X" fmla="*/ 336 w 336"/>
                  <a:gd name="GluePoint4Y" fmla="*/ 152 h 1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36" h="152">
                    <a:moveTo>
                      <a:pt x="0" y="8"/>
                    </a:moveTo>
                    <a:cubicBezTo>
                      <a:pt x="28" y="4"/>
                      <a:pt x="56" y="0"/>
                      <a:pt x="96" y="8"/>
                    </a:cubicBezTo>
                    <a:cubicBezTo>
                      <a:pt x="136" y="16"/>
                      <a:pt x="200" y="32"/>
                      <a:pt x="240" y="56"/>
                    </a:cubicBezTo>
                    <a:cubicBezTo>
                      <a:pt x="280" y="80"/>
                      <a:pt x="320" y="136"/>
                      <a:pt x="336" y="152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8" name="Freeform 32"/>
              <p:cNvSpPr/>
              <p:nvPr/>
            </p:nvSpPr>
            <p:spPr>
              <a:xfrm flipV="1" rot="5263200">
                <a:off x="2217240" y="5331600"/>
                <a:ext cx="533520" cy="241200"/>
              </a:xfrm>
              <a:custGeom>
                <a:avLst/>
                <a:gdLst>
                  <a:gd name="GluePoint1X" fmla="*/ 0 w 336"/>
                  <a:gd name="GluePoint1Y" fmla="*/ 8 h 152"/>
                  <a:gd name="GluePoint2X" fmla="*/ 96 w 336"/>
                  <a:gd name="GluePoint2Y" fmla="*/ 8 h 152"/>
                  <a:gd name="GluePoint3X" fmla="*/ 240 w 336"/>
                  <a:gd name="GluePoint3Y" fmla="*/ 56 h 152"/>
                  <a:gd name="GluePoint4X" fmla="*/ 336 w 336"/>
                  <a:gd name="GluePoint4Y" fmla="*/ 152 h 1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36" h="152">
                    <a:moveTo>
                      <a:pt x="0" y="8"/>
                    </a:moveTo>
                    <a:cubicBezTo>
                      <a:pt x="28" y="4"/>
                      <a:pt x="56" y="0"/>
                      <a:pt x="96" y="8"/>
                    </a:cubicBezTo>
                    <a:cubicBezTo>
                      <a:pt x="136" y="16"/>
                      <a:pt x="200" y="32"/>
                      <a:pt x="240" y="56"/>
                    </a:cubicBezTo>
                    <a:cubicBezTo>
                      <a:pt x="280" y="80"/>
                      <a:pt x="320" y="136"/>
                      <a:pt x="336" y="152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9" name="Freeform 33"/>
              <p:cNvSpPr/>
              <p:nvPr/>
            </p:nvSpPr>
            <p:spPr>
              <a:xfrm rot="5263800">
                <a:off x="2561040" y="4920480"/>
                <a:ext cx="88560" cy="457200"/>
              </a:xfrm>
              <a:custGeom>
                <a:avLst/>
                <a:gdLst>
                  <a:gd name="GluePoint1X" fmla="*/ 0 w 56"/>
                  <a:gd name="GluePoint1Y" fmla="*/ 0 h 288"/>
                  <a:gd name="GluePoint2X" fmla="*/ 48 w 56"/>
                  <a:gd name="GluePoint2Y" fmla="*/ 96 h 288"/>
                  <a:gd name="GluePoint3X" fmla="*/ 48 w 56"/>
                  <a:gd name="GluePoint3Y" fmla="*/ 192 h 288"/>
                  <a:gd name="GluePoint4X" fmla="*/ 0 w 56"/>
                  <a:gd name="GluePoint4Y" fmla="*/ 288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56" h="288">
                    <a:moveTo>
                      <a:pt x="0" y="0"/>
                    </a:moveTo>
                    <a:cubicBezTo>
                      <a:pt x="20" y="32"/>
                      <a:pt x="40" y="64"/>
                      <a:pt x="48" y="96"/>
                    </a:cubicBezTo>
                    <a:cubicBezTo>
                      <a:pt x="56" y="128"/>
                      <a:pt x="56" y="160"/>
                      <a:pt x="48" y="192"/>
                    </a:cubicBezTo>
                    <a:cubicBezTo>
                      <a:pt x="40" y="224"/>
                      <a:pt x="8" y="272"/>
                      <a:pt x="0" y="288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760" name="Line 34"/>
            <p:cNvSpPr/>
            <p:nvPr/>
          </p:nvSpPr>
          <p:spPr>
            <a:xfrm>
              <a:off x="2622240" y="5715000"/>
              <a:ext cx="0" cy="393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1" name="Text Box 35"/>
            <p:cNvSpPr/>
            <p:nvPr/>
          </p:nvSpPr>
          <p:spPr>
            <a:xfrm>
              <a:off x="1371600" y="3733560"/>
              <a:ext cx="236196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Data and parity bits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2" name="Text Box 36"/>
            <p:cNvSpPr/>
            <p:nvPr/>
          </p:nvSpPr>
          <p:spPr>
            <a:xfrm>
              <a:off x="1218960" y="5562360"/>
              <a:ext cx="1295640" cy="58140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Corrected version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3" name="Line 37"/>
            <p:cNvSpPr/>
            <p:nvPr/>
          </p:nvSpPr>
          <p:spPr>
            <a:xfrm flipV="1">
              <a:off x="2666880" y="4876560"/>
              <a:ext cx="15228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4" name="Text Box 38"/>
            <p:cNvSpPr/>
            <p:nvPr/>
          </p:nvSpPr>
          <p:spPr>
            <a:xfrm>
              <a:off x="2666880" y="4724280"/>
              <a:ext cx="6858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2</a:t>
              </a:r>
              <a:r>
                <a:rPr lang="en-US" sz="1600" b="0" i="1" u="none" strike="noStrike" baseline="30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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5" name="Line 39"/>
            <p:cNvSpPr/>
            <p:nvPr/>
          </p:nvSpPr>
          <p:spPr>
            <a:xfrm flipV="1">
              <a:off x="2558880" y="5867280"/>
              <a:ext cx="15228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6" name="Text Box 40"/>
            <p:cNvSpPr/>
            <p:nvPr/>
          </p:nvSpPr>
          <p:spPr>
            <a:xfrm>
              <a:off x="2590560" y="5715000"/>
              <a:ext cx="6858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2</a:t>
              </a:r>
              <a:r>
                <a:rPr lang="en-US" sz="1600" b="0" i="1" u="none" strike="noStrike" baseline="30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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aphicFrame>
        <p:nvGraphicFramePr>
          <p:cNvPr id="767" name=""/>
          <p:cNvGraphicFramePr/>
          <p:nvPr/>
        </p:nvGraphicFramePr>
        <p:xfrm>
          <a:off x="6324480" y="2361960"/>
          <a:ext cx="2133720" cy="3657600"/>
        </p:xfrm>
        <a:graphic>
          <a:graphicData uri="http://schemas.openxmlformats.org/drawingml/2006/table">
            <a:tbl>
              <a:tblPr/>
              <a:tblGrid>
                <a:gridCol w="1066680"/>
                <a:gridCol w="1067040"/>
              </a:tblGrid>
              <a:tr h="407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 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=</a:t>
                      </a: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n 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–</a:t>
                      </a: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r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9384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824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57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120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824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247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502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1013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68" name="Text Box 73"/>
          <p:cNvSpPr/>
          <p:nvPr/>
        </p:nvSpPr>
        <p:spPr>
          <a:xfrm>
            <a:off x="6095880" y="1143000"/>
            <a:ext cx="259092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Condition for general Hamming SEC code: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69" name="Group 74"/>
          <p:cNvGrpSpPr/>
          <p:nvPr/>
        </p:nvGrpSpPr>
        <p:grpSpPr>
          <a:xfrm>
            <a:off x="3200400" y="3352680"/>
            <a:ext cx="2743200" cy="1998360"/>
            <a:chOff x="3200400" y="3352680"/>
            <a:chExt cx="2743200" cy="1998360"/>
          </a:xfrm>
        </p:grpSpPr>
        <p:sp>
          <p:nvSpPr>
            <p:cNvPr id="770" name="Line 75"/>
            <p:cNvSpPr/>
            <p:nvPr/>
          </p:nvSpPr>
          <p:spPr>
            <a:xfrm>
              <a:off x="3200400" y="3352680"/>
              <a:ext cx="990360" cy="914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71" name="Text Box 76"/>
            <p:cNvSpPr/>
            <p:nvPr/>
          </p:nvSpPr>
          <p:spPr>
            <a:xfrm>
              <a:off x="3733560" y="4343400"/>
              <a:ext cx="2210040" cy="100764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Matrix columns are binary rep’s of column indices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BE66BE1F-7E81-4BD3-9383-1A684876E1E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75" name="Group 2"/>
          <p:cNvGrpSpPr/>
          <p:nvPr/>
        </p:nvGrpSpPr>
        <p:grpSpPr>
          <a:xfrm>
            <a:off x="533160" y="1828800"/>
            <a:ext cx="3048120" cy="1616760"/>
            <a:chOff x="533160" y="1828800"/>
            <a:chExt cx="3048120" cy="1616760"/>
          </a:xfrm>
        </p:grpSpPr>
        <p:sp>
          <p:nvSpPr>
            <p:cNvPr id="776" name="Rectangle 3"/>
            <p:cNvSpPr/>
            <p:nvPr/>
          </p:nvSpPr>
          <p:spPr>
            <a:xfrm>
              <a:off x="609480" y="1904760"/>
              <a:ext cx="2743200" cy="228600"/>
            </a:xfrm>
            <a:prstGeom prst="rect">
              <a:avLst/>
            </a:prstGeom>
            <a:solidFill>
              <a:srgbClr val="FFFF00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77" name="Rectangle 4"/>
            <p:cNvSpPr/>
            <p:nvPr/>
          </p:nvSpPr>
          <p:spPr>
            <a:xfrm>
              <a:off x="3200400" y="1904760"/>
              <a:ext cx="228600" cy="1447920"/>
            </a:xfrm>
            <a:prstGeom prst="rect">
              <a:avLst/>
            </a:prstGeom>
            <a:solidFill>
              <a:srgbClr val="FFFF00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78" name="Text Box 5"/>
            <p:cNvSpPr/>
            <p:nvPr/>
          </p:nvSpPr>
          <p:spPr>
            <a:xfrm>
              <a:off x="533160" y="1828800"/>
              <a:ext cx="3048120" cy="161676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Times New Roman"/>
                </a:rPr>
                <a:t>1   1   1   . . .  1   1   1   1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Times New Roman"/>
                </a:rPr>
                <a:t>                                     0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Times New Roman"/>
                </a:rPr>
                <a:t>                                      :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Times New Roman"/>
                </a:rPr>
                <a:t>                                     0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Times New Roman"/>
                </a:rPr>
                <a:t>                                     0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79" name="Group 6"/>
          <p:cNvGrpSpPr/>
          <p:nvPr/>
        </p:nvGrpSpPr>
        <p:grpSpPr>
          <a:xfrm>
            <a:off x="3809880" y="3581280"/>
            <a:ext cx="533160" cy="440280"/>
            <a:chOff x="3809880" y="3581280"/>
            <a:chExt cx="533160" cy="440280"/>
          </a:xfrm>
        </p:grpSpPr>
        <p:sp>
          <p:nvSpPr>
            <p:cNvPr id="780" name="Rectangle 7"/>
            <p:cNvSpPr/>
            <p:nvPr/>
          </p:nvSpPr>
          <p:spPr>
            <a:xfrm>
              <a:off x="3809880" y="3733560"/>
              <a:ext cx="380880" cy="228600"/>
            </a:xfrm>
            <a:prstGeom prst="rect">
              <a:avLst/>
            </a:prstGeom>
            <a:solidFill>
              <a:srgbClr val="FFFF00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81" name="Text Box 8"/>
            <p:cNvSpPr/>
            <p:nvPr/>
          </p:nvSpPr>
          <p:spPr>
            <a:xfrm>
              <a:off x="3809880" y="3581280"/>
              <a:ext cx="533160" cy="440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i="1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Times New Roman"/>
                </a:rPr>
                <a:t>p</a:t>
              </a:r>
              <a:r>
                <a:rPr lang="en-US" sz="2000" b="1" i="1" u="none" strike="noStrike" baseline="-25000">
                  <a:solidFill>
                    <a:srgbClr val="FF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82" name="Group 9"/>
          <p:cNvGrpSpPr/>
          <p:nvPr/>
        </p:nvGrpSpPr>
        <p:grpSpPr>
          <a:xfrm>
            <a:off x="4647960" y="1904760"/>
            <a:ext cx="533520" cy="440280"/>
            <a:chOff x="4647960" y="1904760"/>
            <a:chExt cx="533520" cy="440280"/>
          </a:xfrm>
        </p:grpSpPr>
        <p:sp>
          <p:nvSpPr>
            <p:cNvPr id="783" name="Rectangle 10"/>
            <p:cNvSpPr/>
            <p:nvPr/>
          </p:nvSpPr>
          <p:spPr>
            <a:xfrm>
              <a:off x="4724280" y="2057400"/>
              <a:ext cx="380880" cy="228600"/>
            </a:xfrm>
            <a:prstGeom prst="rect">
              <a:avLst/>
            </a:prstGeom>
            <a:solidFill>
              <a:srgbClr val="FFFF00"/>
            </a:solidFill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84" name="Text Box 11"/>
            <p:cNvSpPr/>
            <p:nvPr/>
          </p:nvSpPr>
          <p:spPr>
            <a:xfrm>
              <a:off x="4647960" y="1904760"/>
              <a:ext cx="533520" cy="440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i="1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Times New Roman"/>
                </a:rPr>
                <a:t>s</a:t>
              </a:r>
              <a:r>
                <a:rPr lang="en-US" sz="2000" b="1" i="1" u="none" strike="noStrike" baseline="-25000">
                  <a:solidFill>
                    <a:srgbClr val="FF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785" name="Rectangle 1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PlaceHolder 1"/>
          <p:cNvSpPr>
            <a:spLocks noGrp="1"/>
          </p:cNvSpPr>
          <p:nvPr>
            <p:ph type="title"/>
          </p:nvPr>
        </p:nvSpPr>
        <p:spPr>
          <a:xfrm>
            <a:off x="151920" y="228240"/>
            <a:ext cx="88390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Hamming SEC/DED Code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Box 14"/>
          <p:cNvSpPr/>
          <p:nvPr/>
        </p:nvSpPr>
        <p:spPr>
          <a:xfrm>
            <a:off x="533160" y="1447560"/>
            <a:ext cx="2667240" cy="23511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CC99"/>
                </a:solidFill>
                <a:effectLst/>
                <a:uFillTx/>
                <a:latin typeface="Arial"/>
                <a:ea typeface="Times New Roman"/>
              </a:rPr>
              <a:t>0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FF33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</a:t>
            </a:r>
            <a:r>
              <a:rPr lang="en-US" sz="2000" b="0" i="1" u="none" strike="noStrike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3333CC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.   .  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0   0   0   . . .  1   1   1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. . .   :    :    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0   1   1   . . .  0   1   1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1   0   1   . . .  1   0   1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Text Box 15"/>
          <p:cNvSpPr/>
          <p:nvPr/>
        </p:nvSpPr>
        <p:spPr>
          <a:xfrm>
            <a:off x="3809880" y="1447560"/>
            <a:ext cx="533520" cy="27810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.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.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Text Box 16"/>
          <p:cNvSpPr/>
          <p:nvPr/>
        </p:nvSpPr>
        <p:spPr>
          <a:xfrm>
            <a:off x="4647960" y="2209680"/>
            <a:ext cx="609840" cy="17838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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: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AutoShape 17"/>
          <p:cNvSpPr/>
          <p:nvPr/>
        </p:nvSpPr>
        <p:spPr>
          <a:xfrm>
            <a:off x="533160" y="1904760"/>
            <a:ext cx="76320" cy="1524240"/>
          </a:xfrm>
          <a:custGeom>
            <a:avLst/>
            <a:gdLst>
              <a:gd name="textAreaLeft" fmla="*/ 22320 w 76320"/>
              <a:gd name="textAreaRight" fmla="*/ 76320 w 76320"/>
              <a:gd name="textAreaTop" fmla="*/ 63360 h 1524240"/>
              <a:gd name="textAreaBottom" fmla="*/ 1460880 h 152424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AutoShape 18"/>
          <p:cNvSpPr/>
          <p:nvPr/>
        </p:nvSpPr>
        <p:spPr>
          <a:xfrm flipH="1">
            <a:off x="3352680" y="1904760"/>
            <a:ext cx="76320" cy="1524240"/>
          </a:xfrm>
          <a:custGeom>
            <a:avLst/>
            <a:gdLst>
              <a:gd name="textAreaLeft" fmla="*/ 22320 w 76320"/>
              <a:gd name="textAreaRight" fmla="*/ 76320 w 76320"/>
              <a:gd name="textAreaTop" fmla="*/ 63360 h 1524240"/>
              <a:gd name="textAreaBottom" fmla="*/ 1460880 h 152424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AutoShape 19"/>
          <p:cNvSpPr/>
          <p:nvPr/>
        </p:nvSpPr>
        <p:spPr>
          <a:xfrm>
            <a:off x="4647960" y="2057400"/>
            <a:ext cx="76320" cy="1371600"/>
          </a:xfrm>
          <a:custGeom>
            <a:avLst/>
            <a:gdLst>
              <a:gd name="textAreaLeft" fmla="*/ 22320 w 76320"/>
              <a:gd name="textAreaRight" fmla="*/ 76320 w 76320"/>
              <a:gd name="textAreaTop" fmla="*/ 56880 h 1371600"/>
              <a:gd name="textAreaBottom" fmla="*/ 1314720 h 13716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AutoShape 20"/>
          <p:cNvSpPr/>
          <p:nvPr/>
        </p:nvSpPr>
        <p:spPr>
          <a:xfrm flipH="1">
            <a:off x="5105160" y="2057400"/>
            <a:ext cx="76320" cy="1371600"/>
          </a:xfrm>
          <a:custGeom>
            <a:avLst/>
            <a:gdLst>
              <a:gd name="textAreaLeft" fmla="*/ 22320 w 76320"/>
              <a:gd name="textAreaRight" fmla="*/ 76320 w 76320"/>
              <a:gd name="textAreaTop" fmla="*/ 56880 h 1371600"/>
              <a:gd name="textAreaBottom" fmla="*/ 1314720 h 13716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AutoShape 21"/>
          <p:cNvSpPr/>
          <p:nvPr/>
        </p:nvSpPr>
        <p:spPr>
          <a:xfrm>
            <a:off x="3809880" y="1523880"/>
            <a:ext cx="76320" cy="2438280"/>
          </a:xfrm>
          <a:custGeom>
            <a:avLst/>
            <a:gdLst>
              <a:gd name="textAreaLeft" fmla="*/ 22320 w 76320"/>
              <a:gd name="textAreaRight" fmla="*/ 76320 w 76320"/>
              <a:gd name="textAreaTop" fmla="*/ 101520 h 2438280"/>
              <a:gd name="textAreaBottom" fmla="*/ 2336760 h 24382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AutoShape 22"/>
          <p:cNvSpPr/>
          <p:nvPr/>
        </p:nvSpPr>
        <p:spPr>
          <a:xfrm flipH="1">
            <a:off x="4114080" y="1523880"/>
            <a:ext cx="75960" cy="2438280"/>
          </a:xfrm>
          <a:custGeom>
            <a:avLst/>
            <a:gdLst>
              <a:gd name="textAreaLeft" fmla="*/ 21960 w 75960"/>
              <a:gd name="textAreaRight" fmla="*/ 75960 w 75960"/>
              <a:gd name="textAreaTop" fmla="*/ 101520 h 2438280"/>
              <a:gd name="textAreaBottom" fmla="*/ 2336760 h 24382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Text Box 23"/>
          <p:cNvSpPr/>
          <p:nvPr/>
        </p:nvSpPr>
        <p:spPr>
          <a:xfrm>
            <a:off x="3429000" y="2438280"/>
            <a:ext cx="380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Text Box 24"/>
          <p:cNvSpPr/>
          <p:nvPr/>
        </p:nvSpPr>
        <p:spPr>
          <a:xfrm>
            <a:off x="4190760" y="2514600"/>
            <a:ext cx="38124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=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Text Box 25"/>
          <p:cNvSpPr/>
          <p:nvPr/>
        </p:nvSpPr>
        <p:spPr>
          <a:xfrm>
            <a:off x="685800" y="1066680"/>
            <a:ext cx="266688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Data and parity bits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Text Box 26"/>
          <p:cNvSpPr/>
          <p:nvPr/>
        </p:nvSpPr>
        <p:spPr>
          <a:xfrm>
            <a:off x="533160" y="3352680"/>
            <a:ext cx="3048120" cy="6422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1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2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3   </a:t>
            </a:r>
            <a:r>
              <a:rPr lang="en-US" sz="20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                  2</a:t>
            </a:r>
            <a:r>
              <a:rPr lang="en-US" sz="1600" b="1" i="1" u="none" strike="noStrike" baseline="30000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–1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9900"/>
                </a:solidFill>
                <a:effectLst/>
                <a:uFillTx/>
                <a:latin typeface="Arial"/>
                <a:ea typeface="Times New Roman"/>
              </a:rPr>
              <a:t>          Position number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Text Box 27"/>
          <p:cNvSpPr/>
          <p:nvPr/>
        </p:nvSpPr>
        <p:spPr>
          <a:xfrm>
            <a:off x="6095880" y="1143000"/>
            <a:ext cx="2590920" cy="1312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Add an extra row of all 1s and a column with only one 1 to the parity check matrix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Text Box 28"/>
          <p:cNvSpPr/>
          <p:nvPr/>
        </p:nvSpPr>
        <p:spPr>
          <a:xfrm>
            <a:off x="838080" y="4190760"/>
            <a:ext cx="220968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Parity check matrix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Text Box 29"/>
          <p:cNvSpPr/>
          <p:nvPr/>
        </p:nvSpPr>
        <p:spPr>
          <a:xfrm>
            <a:off x="4267080" y="4190760"/>
            <a:ext cx="129528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Syndrome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Text Box 30"/>
          <p:cNvSpPr/>
          <p:nvPr/>
        </p:nvSpPr>
        <p:spPr>
          <a:xfrm>
            <a:off x="3276360" y="4038480"/>
            <a:ext cx="1295640" cy="58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Received word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04" name="Group 31"/>
          <p:cNvGrpSpPr/>
          <p:nvPr/>
        </p:nvGrpSpPr>
        <p:grpSpPr>
          <a:xfrm>
            <a:off x="5638680" y="3200400"/>
            <a:ext cx="2971800" cy="2714760"/>
            <a:chOff x="5638680" y="3200400"/>
            <a:chExt cx="2971800" cy="2714760"/>
          </a:xfrm>
        </p:grpSpPr>
        <p:sp>
          <p:nvSpPr>
            <p:cNvPr id="805" name="AutoShape 32"/>
            <p:cNvSpPr/>
            <p:nvPr/>
          </p:nvSpPr>
          <p:spPr>
            <a:xfrm flipV="1">
              <a:off x="6248160" y="3962160"/>
              <a:ext cx="1524240" cy="533520"/>
            </a:xfrm>
            <a:custGeom>
              <a:avLst/>
              <a:gdLst>
                <a:gd name="textAreaLeft" fmla="*/ 315720 w 1524240"/>
                <a:gd name="textAreaRight" fmla="*/ 1208520 w 1524240"/>
                <a:gd name="textAreaTop" fmla="*/ 110880 h 533520"/>
                <a:gd name="textAreaBottom" fmla="*/ 422640 h 5335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5336" y="21600"/>
                  </a:lnTo>
                  <a:lnTo>
                    <a:pt x="16264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 rot="10800000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06" name="Line 33"/>
            <p:cNvSpPr/>
            <p:nvPr/>
          </p:nvSpPr>
          <p:spPr>
            <a:xfrm>
              <a:off x="6019560" y="4038480"/>
              <a:ext cx="533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07" name="Line 34"/>
            <p:cNvSpPr/>
            <p:nvPr/>
          </p:nvSpPr>
          <p:spPr>
            <a:xfrm>
              <a:off x="6019560" y="4267080"/>
              <a:ext cx="411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08" name="Line 35"/>
            <p:cNvSpPr/>
            <p:nvPr/>
          </p:nvSpPr>
          <p:spPr>
            <a:xfrm>
              <a:off x="6019560" y="4419360"/>
              <a:ext cx="2746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09" name="Text Box 36"/>
            <p:cNvSpPr/>
            <p:nvPr/>
          </p:nvSpPr>
          <p:spPr>
            <a:xfrm>
              <a:off x="5638680" y="3848040"/>
              <a:ext cx="533520" cy="1054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r>
                <a:rPr lang="en-US" sz="1400" b="0" u="none" strike="noStrike" baseline="-25000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</a:t>
              </a:r>
              <a:r>
                <a:rPr lang="en-US" sz="14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0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 :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s</a:t>
              </a:r>
              <a:r>
                <a:rPr lang="en-US" sz="14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 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s</a:t>
              </a:r>
              <a:r>
                <a:rPr lang="en-US" sz="14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0" name="Text Box 37"/>
            <p:cNvSpPr/>
            <p:nvPr/>
          </p:nvSpPr>
          <p:spPr>
            <a:xfrm>
              <a:off x="6400800" y="4114800"/>
              <a:ext cx="121896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Decoder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1" name="Line 38"/>
            <p:cNvSpPr/>
            <p:nvPr/>
          </p:nvSpPr>
          <p:spPr>
            <a:xfrm>
              <a:off x="6400800" y="4495680"/>
              <a:ext cx="0" cy="304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2" name="Line 39"/>
            <p:cNvSpPr/>
            <p:nvPr/>
          </p:nvSpPr>
          <p:spPr>
            <a:xfrm>
              <a:off x="7543800" y="4495680"/>
              <a:ext cx="0" cy="457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3" name="Line 40"/>
            <p:cNvSpPr/>
            <p:nvPr/>
          </p:nvSpPr>
          <p:spPr>
            <a:xfrm flipV="1">
              <a:off x="7467480" y="4647960"/>
              <a:ext cx="15228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4" name="Text Box 41"/>
            <p:cNvSpPr/>
            <p:nvPr/>
          </p:nvSpPr>
          <p:spPr>
            <a:xfrm>
              <a:off x="6933960" y="4495680"/>
              <a:ext cx="6858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2</a:t>
              </a:r>
              <a:r>
                <a:rPr lang="en-US" sz="1600" b="0" i="1" u="none" strike="noStrike" baseline="30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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5" name="Line 42"/>
            <p:cNvSpPr/>
            <p:nvPr/>
          </p:nvSpPr>
          <p:spPr>
            <a:xfrm>
              <a:off x="7848360" y="3809880"/>
              <a:ext cx="0" cy="1143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816" name="Group 43"/>
            <p:cNvGrpSpPr/>
            <p:nvPr/>
          </p:nvGrpSpPr>
          <p:grpSpPr>
            <a:xfrm>
              <a:off x="7458480" y="4867200"/>
              <a:ext cx="503280" cy="628200"/>
              <a:chOff x="7458480" y="4867200"/>
              <a:chExt cx="503280" cy="628200"/>
            </a:xfrm>
          </p:grpSpPr>
          <p:sp>
            <p:nvSpPr>
              <p:cNvPr id="817" name="Freeform 44"/>
              <p:cNvSpPr/>
              <p:nvPr/>
            </p:nvSpPr>
            <p:spPr>
              <a:xfrm rot="5263800">
                <a:off x="7656480" y="4768200"/>
                <a:ext cx="88920" cy="457200"/>
              </a:xfrm>
              <a:custGeom>
                <a:avLst/>
                <a:gdLst>
                  <a:gd name="GluePoint1X" fmla="*/ 0 w 56"/>
                  <a:gd name="GluePoint1Y" fmla="*/ 0 h 288"/>
                  <a:gd name="GluePoint2X" fmla="*/ 48 w 56"/>
                  <a:gd name="GluePoint2Y" fmla="*/ 96 h 288"/>
                  <a:gd name="GluePoint3X" fmla="*/ 48 w 56"/>
                  <a:gd name="GluePoint3Y" fmla="*/ 192 h 288"/>
                  <a:gd name="GluePoint4X" fmla="*/ 0 w 56"/>
                  <a:gd name="GluePoint4Y" fmla="*/ 288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56" h="288">
                    <a:moveTo>
                      <a:pt x="0" y="0"/>
                    </a:moveTo>
                    <a:cubicBezTo>
                      <a:pt x="20" y="32"/>
                      <a:pt x="40" y="64"/>
                      <a:pt x="48" y="96"/>
                    </a:cubicBezTo>
                    <a:cubicBezTo>
                      <a:pt x="56" y="128"/>
                      <a:pt x="56" y="160"/>
                      <a:pt x="48" y="192"/>
                    </a:cubicBezTo>
                    <a:cubicBezTo>
                      <a:pt x="40" y="224"/>
                      <a:pt x="8" y="272"/>
                      <a:pt x="0" y="288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8" name="Freeform 45"/>
              <p:cNvSpPr/>
              <p:nvPr/>
            </p:nvSpPr>
            <p:spPr>
              <a:xfrm rot="5263800">
                <a:off x="7563600" y="5093640"/>
                <a:ext cx="533520" cy="241200"/>
              </a:xfrm>
              <a:custGeom>
                <a:avLst/>
                <a:gdLst>
                  <a:gd name="GluePoint1X" fmla="*/ 0 w 336"/>
                  <a:gd name="GluePoint1Y" fmla="*/ 8 h 152"/>
                  <a:gd name="GluePoint2X" fmla="*/ 96 w 336"/>
                  <a:gd name="GluePoint2Y" fmla="*/ 8 h 152"/>
                  <a:gd name="GluePoint3X" fmla="*/ 240 w 336"/>
                  <a:gd name="GluePoint3Y" fmla="*/ 56 h 152"/>
                  <a:gd name="GluePoint4X" fmla="*/ 336 w 336"/>
                  <a:gd name="GluePoint4Y" fmla="*/ 152 h 1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36" h="152">
                    <a:moveTo>
                      <a:pt x="0" y="8"/>
                    </a:moveTo>
                    <a:cubicBezTo>
                      <a:pt x="28" y="4"/>
                      <a:pt x="56" y="0"/>
                      <a:pt x="96" y="8"/>
                    </a:cubicBezTo>
                    <a:cubicBezTo>
                      <a:pt x="136" y="16"/>
                      <a:pt x="200" y="32"/>
                      <a:pt x="240" y="56"/>
                    </a:cubicBezTo>
                    <a:cubicBezTo>
                      <a:pt x="280" y="80"/>
                      <a:pt x="320" y="136"/>
                      <a:pt x="336" y="152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9" name="Freeform 46"/>
              <p:cNvSpPr/>
              <p:nvPr/>
            </p:nvSpPr>
            <p:spPr>
              <a:xfrm flipV="1" rot="5263200">
                <a:off x="7322760" y="5103000"/>
                <a:ext cx="533520" cy="241200"/>
              </a:xfrm>
              <a:custGeom>
                <a:avLst/>
                <a:gdLst>
                  <a:gd name="GluePoint1X" fmla="*/ 0 w 336"/>
                  <a:gd name="GluePoint1Y" fmla="*/ 8 h 152"/>
                  <a:gd name="GluePoint2X" fmla="*/ 96 w 336"/>
                  <a:gd name="GluePoint2Y" fmla="*/ 8 h 152"/>
                  <a:gd name="GluePoint3X" fmla="*/ 240 w 336"/>
                  <a:gd name="GluePoint3Y" fmla="*/ 56 h 152"/>
                  <a:gd name="GluePoint4X" fmla="*/ 336 w 336"/>
                  <a:gd name="GluePoint4Y" fmla="*/ 152 h 1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336" h="152">
                    <a:moveTo>
                      <a:pt x="0" y="8"/>
                    </a:moveTo>
                    <a:cubicBezTo>
                      <a:pt x="28" y="4"/>
                      <a:pt x="56" y="0"/>
                      <a:pt x="96" y="8"/>
                    </a:cubicBezTo>
                    <a:cubicBezTo>
                      <a:pt x="136" y="16"/>
                      <a:pt x="200" y="32"/>
                      <a:pt x="240" y="56"/>
                    </a:cubicBezTo>
                    <a:cubicBezTo>
                      <a:pt x="280" y="80"/>
                      <a:pt x="320" y="136"/>
                      <a:pt x="336" y="152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0" name="Freeform 47"/>
              <p:cNvSpPr/>
              <p:nvPr/>
            </p:nvSpPr>
            <p:spPr>
              <a:xfrm rot="5263800">
                <a:off x="7666560" y="4691880"/>
                <a:ext cx="88560" cy="457200"/>
              </a:xfrm>
              <a:custGeom>
                <a:avLst/>
                <a:gdLst>
                  <a:gd name="GluePoint1X" fmla="*/ 0 w 56"/>
                  <a:gd name="GluePoint1Y" fmla="*/ 0 h 288"/>
                  <a:gd name="GluePoint2X" fmla="*/ 48 w 56"/>
                  <a:gd name="GluePoint2Y" fmla="*/ 96 h 288"/>
                  <a:gd name="GluePoint3X" fmla="*/ 48 w 56"/>
                  <a:gd name="GluePoint3Y" fmla="*/ 192 h 288"/>
                  <a:gd name="GluePoint4X" fmla="*/ 0 w 56"/>
                  <a:gd name="GluePoint4Y" fmla="*/ 288 h 28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l" t="t" r="r" b="b"/>
                <a:pathLst>
                  <a:path w="56" h="288">
                    <a:moveTo>
                      <a:pt x="0" y="0"/>
                    </a:moveTo>
                    <a:cubicBezTo>
                      <a:pt x="20" y="32"/>
                      <a:pt x="40" y="64"/>
                      <a:pt x="48" y="96"/>
                    </a:cubicBezTo>
                    <a:cubicBezTo>
                      <a:pt x="56" y="128"/>
                      <a:pt x="56" y="160"/>
                      <a:pt x="48" y="192"/>
                    </a:cubicBezTo>
                    <a:cubicBezTo>
                      <a:pt x="40" y="224"/>
                      <a:pt x="8" y="272"/>
                      <a:pt x="0" y="288"/>
                    </a:cubicBezTo>
                  </a:path>
                </a:pathLst>
              </a:custGeom>
              <a:solidFill>
                <a:srgbClr val="FFFFFF"/>
              </a:solidFill>
              <a:ln w="936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821" name="Line 48"/>
            <p:cNvSpPr/>
            <p:nvPr/>
          </p:nvSpPr>
          <p:spPr>
            <a:xfrm>
              <a:off x="7727760" y="5486400"/>
              <a:ext cx="0" cy="393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2" name="Text Box 49"/>
            <p:cNvSpPr/>
            <p:nvPr/>
          </p:nvSpPr>
          <p:spPr>
            <a:xfrm>
              <a:off x="7315200" y="3200400"/>
              <a:ext cx="1295280" cy="58140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Data and 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parity bits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3" name="Text Box 50"/>
            <p:cNvSpPr/>
            <p:nvPr/>
          </p:nvSpPr>
          <p:spPr>
            <a:xfrm>
              <a:off x="6324480" y="5333760"/>
              <a:ext cx="1295280" cy="58140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Corrected version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4" name="Line 51"/>
            <p:cNvSpPr/>
            <p:nvPr/>
          </p:nvSpPr>
          <p:spPr>
            <a:xfrm flipV="1">
              <a:off x="7772400" y="4647960"/>
              <a:ext cx="15228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5" name="Text Box 52"/>
            <p:cNvSpPr/>
            <p:nvPr/>
          </p:nvSpPr>
          <p:spPr>
            <a:xfrm>
              <a:off x="7772400" y="4495680"/>
              <a:ext cx="6858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2</a:t>
              </a:r>
              <a:r>
                <a:rPr lang="en-US" sz="1600" b="0" i="1" u="none" strike="noStrike" baseline="30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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6" name="Line 53"/>
            <p:cNvSpPr/>
            <p:nvPr/>
          </p:nvSpPr>
          <p:spPr>
            <a:xfrm flipV="1">
              <a:off x="7664400" y="5638680"/>
              <a:ext cx="152280" cy="7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9520" rIns="90000" bIns="2952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7" name="Text Box 54"/>
            <p:cNvSpPr/>
            <p:nvPr/>
          </p:nvSpPr>
          <p:spPr>
            <a:xfrm>
              <a:off x="7696080" y="5486400"/>
              <a:ext cx="685800" cy="3376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2</a:t>
              </a:r>
              <a:r>
                <a:rPr lang="en-US" sz="1600" b="0" i="1" u="none" strike="noStrike" baseline="30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</a:t>
              </a: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8" name="Line 55"/>
            <p:cNvSpPr/>
            <p:nvPr/>
          </p:nvSpPr>
          <p:spPr>
            <a:xfrm>
              <a:off x="7010280" y="3504960"/>
              <a:ext cx="0" cy="457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9" name="Text Box 56"/>
            <p:cNvSpPr/>
            <p:nvPr/>
          </p:nvSpPr>
          <p:spPr>
            <a:xfrm>
              <a:off x="6781680" y="3276360"/>
              <a:ext cx="457200" cy="27576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75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  <a:ea typeface="Times New Roman"/>
                </a:rPr>
                <a:t>r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830" name="Text Box 57"/>
          <p:cNvSpPr/>
          <p:nvPr/>
        </p:nvSpPr>
        <p:spPr>
          <a:xfrm>
            <a:off x="5410080" y="4572000"/>
            <a:ext cx="1676520" cy="58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q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Not single error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Text Box 58"/>
          <p:cNvSpPr/>
          <p:nvPr/>
        </p:nvSpPr>
        <p:spPr>
          <a:xfrm>
            <a:off x="457200" y="5181480"/>
            <a:ext cx="5790960" cy="7448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Easy to verify that the appropriate “correction”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is made for all 4 combinations of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,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q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values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BB7F1109-7076-46C6-AD8A-36CA22AADA0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14.3  Linear Codes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Box 6"/>
          <p:cNvSpPr/>
          <p:nvPr/>
        </p:nvSpPr>
        <p:spPr>
          <a:xfrm>
            <a:off x="457200" y="914400"/>
            <a:ext cx="815328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Hamming codes are examples of linear codes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Linear codes may be defined in many other ways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38" name="Group 36"/>
          <p:cNvGrpSpPr/>
          <p:nvPr/>
        </p:nvGrpSpPr>
        <p:grpSpPr>
          <a:xfrm>
            <a:off x="1143000" y="1828800"/>
            <a:ext cx="6705360" cy="1921680"/>
            <a:chOff x="1143000" y="1828800"/>
            <a:chExt cx="6705360" cy="1921680"/>
          </a:xfrm>
        </p:grpSpPr>
        <p:sp>
          <p:nvSpPr>
            <p:cNvPr id="839" name="Text Box 27"/>
            <p:cNvSpPr/>
            <p:nvPr/>
          </p:nvSpPr>
          <p:spPr>
            <a:xfrm>
              <a:off x="3657600" y="1828800"/>
              <a:ext cx="1600200" cy="39852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u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 = 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G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 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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0" name="Text Box 28"/>
            <p:cNvSpPr/>
            <p:nvPr/>
          </p:nvSpPr>
          <p:spPr>
            <a:xfrm>
              <a:off x="1143000" y="2438280"/>
              <a:ext cx="1904760" cy="39852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n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-bit codeword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1" name="Text Box 29"/>
            <p:cNvSpPr/>
            <p:nvPr/>
          </p:nvSpPr>
          <p:spPr>
            <a:xfrm>
              <a:off x="2666880" y="2742840"/>
              <a:ext cx="1371600" cy="100764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n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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k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generator matrix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2" name="Text Box 30"/>
            <p:cNvSpPr/>
            <p:nvPr/>
          </p:nvSpPr>
          <p:spPr>
            <a:xfrm>
              <a:off x="5715000" y="2285640"/>
              <a:ext cx="2133360" cy="703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k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-bit data word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(Column vector)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3" name="Text Box 31"/>
            <p:cNvSpPr/>
            <p:nvPr/>
          </p:nvSpPr>
          <p:spPr>
            <a:xfrm>
              <a:off x="4114800" y="2895480"/>
              <a:ext cx="1904760" cy="703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Multiplication, with XOR/AND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4" name="Line 32"/>
            <p:cNvSpPr/>
            <p:nvPr/>
          </p:nvSpPr>
          <p:spPr>
            <a:xfrm flipV="1">
              <a:off x="2971800" y="2209320"/>
              <a:ext cx="761760" cy="304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5" name="Line 33"/>
            <p:cNvSpPr/>
            <p:nvPr/>
          </p:nvSpPr>
          <p:spPr>
            <a:xfrm flipV="1">
              <a:off x="3657600" y="2209680"/>
              <a:ext cx="761760" cy="532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6" name="Line 34"/>
            <p:cNvSpPr/>
            <p:nvPr/>
          </p:nvSpPr>
          <p:spPr>
            <a:xfrm>
              <a:off x="4724280" y="2209680"/>
              <a:ext cx="0" cy="6854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7" name="Line 35"/>
            <p:cNvSpPr/>
            <p:nvPr/>
          </p:nvSpPr>
          <p:spPr>
            <a:xfrm>
              <a:off x="5105160" y="2209680"/>
              <a:ext cx="762120" cy="2282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848" name="Text Box 38"/>
          <p:cNvSpPr/>
          <p:nvPr/>
        </p:nvSpPr>
        <p:spPr>
          <a:xfrm>
            <a:off x="3733560" y="4114800"/>
            <a:ext cx="160020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=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Text Box 39"/>
          <p:cNvSpPr/>
          <p:nvPr/>
        </p:nvSpPr>
        <p:spPr>
          <a:xfrm>
            <a:off x="761760" y="4647960"/>
            <a:ext cx="236232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–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)-bit syndrome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Text Box 40"/>
          <p:cNvSpPr/>
          <p:nvPr/>
        </p:nvSpPr>
        <p:spPr>
          <a:xfrm>
            <a:off x="2438280" y="5029200"/>
            <a:ext cx="167652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–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parity check matrix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Text Box 41"/>
          <p:cNvSpPr/>
          <p:nvPr/>
        </p:nvSpPr>
        <p:spPr>
          <a:xfrm>
            <a:off x="5943600" y="4572000"/>
            <a:ext cx="22860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-bit suspect word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(Column vector)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Text Box 42"/>
          <p:cNvSpPr/>
          <p:nvPr/>
        </p:nvSpPr>
        <p:spPr>
          <a:xfrm>
            <a:off x="4190760" y="5181480"/>
            <a:ext cx="190512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Multiplication, with XOR/AND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Line 43"/>
          <p:cNvSpPr/>
          <p:nvPr/>
        </p:nvSpPr>
        <p:spPr>
          <a:xfrm flipV="1">
            <a:off x="3047760" y="4495320"/>
            <a:ext cx="762120" cy="3049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Line 44"/>
          <p:cNvSpPr/>
          <p:nvPr/>
        </p:nvSpPr>
        <p:spPr>
          <a:xfrm flipV="1">
            <a:off x="3733560" y="4495680"/>
            <a:ext cx="762120" cy="533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Line 45"/>
          <p:cNvSpPr/>
          <p:nvPr/>
        </p:nvSpPr>
        <p:spPr>
          <a:xfrm>
            <a:off x="4800600" y="4495680"/>
            <a:ext cx="0" cy="6858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Line 46"/>
          <p:cNvSpPr/>
          <p:nvPr/>
        </p:nvSpPr>
        <p:spPr>
          <a:xfrm>
            <a:off x="5181480" y="4495680"/>
            <a:ext cx="762120" cy="2286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Slide Number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A7CDBE35-58B7-4E3E-B2F2-74A178AB67B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Text 0"/>
          <p:cNvSpPr/>
          <p:nvPr/>
        </p:nvSpPr>
        <p:spPr>
          <a:xfrm>
            <a:off x="428400" y="544320"/>
            <a:ext cx="7864560" cy="4208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Aptos Display"/>
                <a:ea typeface="Aptos Display"/>
              </a:rPr>
              <a:t>A Simple Two-Checksum Protection Code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Text 2"/>
          <p:cNvSpPr/>
          <p:nvPr/>
        </p:nvSpPr>
        <p:spPr>
          <a:xfrm>
            <a:off x="158400" y="1430280"/>
            <a:ext cx="914400" cy="274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17365D"/>
                </a:solidFill>
                <a:effectLst/>
                <a:uFillTx/>
                <a:latin typeface="Arial"/>
              </a:rPr>
              <a:t>Encode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Text 3"/>
          <p:cNvSpPr/>
          <p:nvPr/>
        </p:nvSpPr>
        <p:spPr>
          <a:xfrm>
            <a:off x="981000" y="1430280"/>
            <a:ext cx="503280" cy="228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5B6573"/>
                </a:solidFill>
                <a:effectLst/>
                <a:uFillTx/>
                <a:latin typeface="Arial"/>
              </a:rPr>
              <a:t>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Text 4"/>
          <p:cNvSpPr/>
          <p:nvPr/>
        </p:nvSpPr>
        <p:spPr>
          <a:xfrm>
            <a:off x="1493640" y="1366560"/>
            <a:ext cx="1874880" cy="31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[ 3   2   4   5 ]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Shape 5"/>
          <p:cNvSpPr/>
          <p:nvPr/>
        </p:nvSpPr>
        <p:spPr>
          <a:xfrm>
            <a:off x="3449520" y="1541160"/>
            <a:ext cx="503280" cy="0"/>
          </a:xfrm>
          <a:prstGeom prst="line">
            <a:avLst/>
          </a:prstGeom>
          <a:ln w="18720">
            <a:solidFill>
              <a:srgbClr val="A8B0B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Text 6"/>
          <p:cNvSpPr/>
          <p:nvPr/>
        </p:nvSpPr>
        <p:spPr>
          <a:xfrm>
            <a:off x="4071600" y="1366560"/>
            <a:ext cx="2011680" cy="31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C₀ = Σxᵢ = 14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Text 7"/>
          <p:cNvSpPr/>
          <p:nvPr/>
        </p:nvSpPr>
        <p:spPr>
          <a:xfrm>
            <a:off x="6860880" y="1366560"/>
            <a:ext cx="2332080" cy="31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C₁ = Σ i·xᵢ = 39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Text 8"/>
          <p:cNvSpPr/>
          <p:nvPr/>
        </p:nvSpPr>
        <p:spPr>
          <a:xfrm>
            <a:off x="981000" y="1850760"/>
            <a:ext cx="4938480" cy="31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1" u="none" strike="noStrike">
                <a:solidFill>
                  <a:srgbClr val="2F5597"/>
                </a:solidFill>
                <a:effectLst/>
                <a:uFillTx/>
                <a:latin typeface="Cambria Math"/>
                <a:ea typeface="Cambria Math"/>
              </a:rPr>
              <a:t>Stored:  [ 3   2   4   5  |  14   39 ]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Shape 9"/>
          <p:cNvSpPr/>
          <p:nvPr/>
        </p:nvSpPr>
        <p:spPr>
          <a:xfrm>
            <a:off x="185400" y="2307960"/>
            <a:ext cx="8780760" cy="0"/>
          </a:xfrm>
          <a:prstGeom prst="line">
            <a:avLst/>
          </a:prstGeom>
          <a:ln w="12600">
            <a:solidFill>
              <a:srgbClr val="E5E8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Text 10"/>
          <p:cNvSpPr/>
          <p:nvPr/>
        </p:nvSpPr>
        <p:spPr>
          <a:xfrm>
            <a:off x="158400" y="2582640"/>
            <a:ext cx="1143000" cy="274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17365D"/>
                </a:solidFill>
                <a:effectLst/>
                <a:uFillTx/>
                <a:latin typeface="Arial"/>
              </a:rPr>
              <a:t>One error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Text 11"/>
          <p:cNvSpPr/>
          <p:nvPr/>
        </p:nvSpPr>
        <p:spPr>
          <a:xfrm>
            <a:off x="1311120" y="2582640"/>
            <a:ext cx="685800" cy="228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5B6573"/>
                </a:solidFill>
                <a:effectLst/>
                <a:uFillTx/>
                <a:latin typeface="Arial"/>
              </a:rPr>
              <a:t>Received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Text 12"/>
          <p:cNvSpPr/>
          <p:nvPr/>
        </p:nvSpPr>
        <p:spPr>
          <a:xfrm>
            <a:off x="2014200" y="2509560"/>
            <a:ext cx="933480" cy="31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[ 3   2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Text 13"/>
          <p:cNvSpPr/>
          <p:nvPr/>
        </p:nvSpPr>
        <p:spPr>
          <a:xfrm>
            <a:off x="2892240" y="2509560"/>
            <a:ext cx="165240" cy="31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C00000"/>
                </a:solidFill>
                <a:effectLst/>
                <a:uFillTx/>
                <a:latin typeface="Cambria Math"/>
                <a:ea typeface="Cambria Math"/>
              </a:rPr>
              <a:t>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Text 14"/>
          <p:cNvSpPr/>
          <p:nvPr/>
        </p:nvSpPr>
        <p:spPr>
          <a:xfrm>
            <a:off x="3020760" y="2509560"/>
            <a:ext cx="730440" cy="31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   5 ]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Text 15"/>
          <p:cNvSpPr/>
          <p:nvPr/>
        </p:nvSpPr>
        <p:spPr>
          <a:xfrm>
            <a:off x="3916080" y="2546280"/>
            <a:ext cx="1646280" cy="2379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i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(third term: 4 → 7)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Text 16"/>
          <p:cNvSpPr/>
          <p:nvPr/>
        </p:nvSpPr>
        <p:spPr>
          <a:xfrm>
            <a:off x="5854680" y="2509560"/>
            <a:ext cx="1143000" cy="31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C₀′ = 17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Text 17"/>
          <p:cNvSpPr/>
          <p:nvPr/>
        </p:nvSpPr>
        <p:spPr>
          <a:xfrm>
            <a:off x="7500600" y="2509560"/>
            <a:ext cx="1143000" cy="31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C₁′ = 48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Shape 18"/>
          <p:cNvSpPr/>
          <p:nvPr/>
        </p:nvSpPr>
        <p:spPr>
          <a:xfrm>
            <a:off x="0" y="3178080"/>
            <a:ext cx="9144000" cy="1143000"/>
          </a:xfrm>
          <a:prstGeom prst="rect">
            <a:avLst/>
          </a:prstGeom>
          <a:solidFill>
            <a:srgbClr val="F4F6F8"/>
          </a:solidFill>
          <a:ln w="12600">
            <a:solidFill>
              <a:srgbClr val="D9DEE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Text 19"/>
          <p:cNvSpPr/>
          <p:nvPr/>
        </p:nvSpPr>
        <p:spPr>
          <a:xfrm>
            <a:off x="233280" y="3369960"/>
            <a:ext cx="1050840" cy="255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17365D"/>
                </a:solidFill>
                <a:effectLst/>
                <a:uFillTx/>
                <a:latin typeface="Arial"/>
              </a:rPr>
              <a:t>Syndrome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Text 20"/>
          <p:cNvSpPr/>
          <p:nvPr/>
        </p:nvSpPr>
        <p:spPr>
          <a:xfrm>
            <a:off x="1485720" y="3295440"/>
            <a:ext cx="2149560" cy="3110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Δ₀ = C₀′ − C₀ = 3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Text 21"/>
          <p:cNvSpPr/>
          <p:nvPr/>
        </p:nvSpPr>
        <p:spPr>
          <a:xfrm>
            <a:off x="4136760" y="3295440"/>
            <a:ext cx="2149560" cy="3110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Δ₁ = C₁′ − C₁ = 9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Shape 22"/>
          <p:cNvSpPr/>
          <p:nvPr/>
        </p:nvSpPr>
        <p:spPr>
          <a:xfrm>
            <a:off x="6634080" y="3460680"/>
            <a:ext cx="503280" cy="0"/>
          </a:xfrm>
          <a:prstGeom prst="line">
            <a:avLst/>
          </a:prstGeom>
          <a:ln w="18720">
            <a:solidFill>
              <a:srgbClr val="A8B0B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Text 23"/>
          <p:cNvSpPr/>
          <p:nvPr/>
        </p:nvSpPr>
        <p:spPr>
          <a:xfrm>
            <a:off x="7273800" y="3241440"/>
            <a:ext cx="1692360" cy="328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2F5597"/>
                </a:solidFill>
                <a:effectLst/>
                <a:uFillTx/>
                <a:latin typeface="Cambria Math"/>
                <a:ea typeface="Cambria Math"/>
              </a:rPr>
              <a:t>j = Δ₁ / Δ₀ =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Text 24"/>
          <p:cNvSpPr/>
          <p:nvPr/>
        </p:nvSpPr>
        <p:spPr>
          <a:xfrm>
            <a:off x="7292880" y="3625560"/>
            <a:ext cx="1371600" cy="201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5B6573"/>
                </a:solidFill>
                <a:effectLst/>
                <a:uFillTx/>
                <a:latin typeface="Arial"/>
              </a:rPr>
              <a:t>error location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Text 25"/>
          <p:cNvSpPr/>
          <p:nvPr/>
        </p:nvSpPr>
        <p:spPr>
          <a:xfrm>
            <a:off x="1485720" y="3781080"/>
            <a:ext cx="5075280" cy="3114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548235"/>
                </a:solidFill>
                <a:effectLst/>
                <a:uFillTx/>
                <a:latin typeface="Cambria Math"/>
                <a:ea typeface="Cambria Math"/>
              </a:rPr>
              <a:t>δ = Δ₀ = 3   ⇒   7 − 3 =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Text 26"/>
          <p:cNvSpPr/>
          <p:nvPr/>
        </p:nvSpPr>
        <p:spPr>
          <a:xfrm>
            <a:off x="1485720" y="4046400"/>
            <a:ext cx="2103480" cy="201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5B6573"/>
                </a:solidFill>
                <a:effectLst/>
                <a:uFillTx/>
                <a:latin typeface="Arial"/>
              </a:rPr>
              <a:t>error magnitude + correction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Shape 27"/>
          <p:cNvSpPr/>
          <p:nvPr/>
        </p:nvSpPr>
        <p:spPr>
          <a:xfrm>
            <a:off x="209520" y="4686120"/>
            <a:ext cx="10744200" cy="0"/>
          </a:xfrm>
          <a:prstGeom prst="line">
            <a:avLst/>
          </a:prstGeom>
          <a:ln w="12600">
            <a:solidFill>
              <a:srgbClr val="E5E8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Text 28"/>
          <p:cNvSpPr/>
          <p:nvPr/>
        </p:nvSpPr>
        <p:spPr>
          <a:xfrm>
            <a:off x="182520" y="4960800"/>
            <a:ext cx="1646280" cy="274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17365D"/>
                </a:solidFill>
                <a:effectLst/>
                <a:uFillTx/>
                <a:latin typeface="Arial"/>
              </a:rPr>
              <a:t>Generalization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Text 29"/>
          <p:cNvSpPr/>
          <p:nvPr/>
        </p:nvSpPr>
        <p:spPr>
          <a:xfrm>
            <a:off x="1974600" y="4933800"/>
            <a:ext cx="2971800" cy="3096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For a single error  xⱼ → xⱼ + 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Text 30"/>
          <p:cNvSpPr/>
          <p:nvPr/>
        </p:nvSpPr>
        <p:spPr>
          <a:xfrm>
            <a:off x="2857320" y="5335560"/>
            <a:ext cx="1050840" cy="3110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Δ₀ = 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Text 31"/>
          <p:cNvSpPr/>
          <p:nvPr/>
        </p:nvSpPr>
        <p:spPr>
          <a:xfrm>
            <a:off x="4136760" y="5335560"/>
            <a:ext cx="1235160" cy="3110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Cambria Math"/>
                <a:ea typeface="Cambria Math"/>
              </a:rPr>
              <a:t>Δ₁ = j·δ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Text 32"/>
          <p:cNvSpPr/>
          <p:nvPr/>
        </p:nvSpPr>
        <p:spPr>
          <a:xfrm>
            <a:off x="5600520" y="5298840"/>
            <a:ext cx="411120" cy="328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5B6573"/>
                </a:solidFill>
                <a:effectLst/>
                <a:uFillTx/>
                <a:latin typeface="Arial"/>
              </a:rPr>
              <a:t>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Text 33"/>
          <p:cNvSpPr/>
          <p:nvPr/>
        </p:nvSpPr>
        <p:spPr>
          <a:xfrm>
            <a:off x="6076800" y="5335560"/>
            <a:ext cx="1415880" cy="3110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2F5597"/>
                </a:solidFill>
                <a:effectLst/>
                <a:uFillTx/>
                <a:latin typeface="Cambria Math"/>
                <a:ea typeface="Cambria Math"/>
              </a:rPr>
              <a:t>j = Δ₁ / Δ₀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Text 34"/>
          <p:cNvSpPr/>
          <p:nvPr/>
        </p:nvSpPr>
        <p:spPr>
          <a:xfrm>
            <a:off x="7565760" y="5335560"/>
            <a:ext cx="1189080" cy="3110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1" u="none" strike="noStrike">
                <a:solidFill>
                  <a:srgbClr val="548235"/>
                </a:solidFill>
                <a:effectLst/>
                <a:uFillTx/>
                <a:latin typeface="Cambria Math"/>
                <a:ea typeface="Cambria Math"/>
              </a:rPr>
              <a:t>and   δ = Δ₀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Text 35"/>
          <p:cNvSpPr/>
          <p:nvPr/>
        </p:nvSpPr>
        <p:spPr>
          <a:xfrm>
            <a:off x="182520" y="5902200"/>
            <a:ext cx="7435800" cy="7509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check values are sufficient to locate and correct one arbitrary symbol error.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2ED95358-FA33-4F2E-A850-760F0B5DBDD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PlaceHolder 1"/>
          <p:cNvSpPr>
            <a:spLocks noGrp="1"/>
          </p:cNvSpPr>
          <p:nvPr>
            <p:ph type="title"/>
          </p:nvPr>
        </p:nvSpPr>
        <p:spPr>
          <a:xfrm>
            <a:off x="304200" y="228240"/>
            <a:ext cx="853452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14.4  Reed-Solomon and BCH Codes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Box 4"/>
          <p:cNvSpPr/>
          <p:nvPr/>
        </p:nvSpPr>
        <p:spPr>
          <a:xfrm>
            <a:off x="380880" y="1066680"/>
            <a:ext cx="81532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BCH codes: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Named in honor of Bose, Chaudhuri, Hocquenghem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Text Box 5"/>
          <p:cNvSpPr/>
          <p:nvPr/>
        </p:nvSpPr>
        <p:spPr>
          <a:xfrm>
            <a:off x="380880" y="1752480"/>
            <a:ext cx="8381880" cy="17384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Reed-Solomon codes: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Special case of BCH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Example: A popular variant is RS(255, 223) with 8-bit symbols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223 bytes of data, 32 check bytes, redundancy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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14%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Can correct errors in up to 16 bytes anywhere in the 255-byte codeword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Used in CD players, digital audio tape, digital television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FD9525C3-D768-4420-B64B-0F822D64094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Reed-Solomon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Box 4"/>
          <p:cNvSpPr/>
          <p:nvPr/>
        </p:nvSpPr>
        <p:spPr>
          <a:xfrm>
            <a:off x="304560" y="990360"/>
            <a:ext cx="861084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data symbols, require 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symbols, each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bits wide, to correct up to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symbol errors; hence, RS(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has distance 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number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of data symbols must satisfy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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1 – 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grows with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Text Box 5"/>
          <p:cNvSpPr/>
          <p:nvPr/>
        </p:nvSpPr>
        <p:spPr>
          <a:xfrm>
            <a:off x="380880" y="3581280"/>
            <a:ext cx="8381880" cy="17384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Generator polynomial: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=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is a primitive root mod 7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integers from 1 to 6 are powers of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mod 7 3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3; 3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2; 3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6; 3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4; 3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5; 3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Pick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3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=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3)(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3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3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3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                     =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3)(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2)(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6)(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– 4)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+ 6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+ 3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07" name="Group 6"/>
          <p:cNvGrpSpPr/>
          <p:nvPr/>
        </p:nvGrpSpPr>
        <p:grpSpPr>
          <a:xfrm>
            <a:off x="838080" y="2209680"/>
            <a:ext cx="7391520" cy="380880"/>
            <a:chOff x="838080" y="2209680"/>
            <a:chExt cx="7391520" cy="380880"/>
          </a:xfrm>
        </p:grpSpPr>
        <p:sp>
          <p:nvSpPr>
            <p:cNvPr id="908" name="Rectangle 7"/>
            <p:cNvSpPr/>
            <p:nvPr/>
          </p:nvSpPr>
          <p:spPr>
            <a:xfrm>
              <a:off x="838080" y="2209680"/>
              <a:ext cx="5486400" cy="3808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k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data symbols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9" name="Rectangle 8"/>
            <p:cNvSpPr/>
            <p:nvPr/>
          </p:nvSpPr>
          <p:spPr>
            <a:xfrm>
              <a:off x="6248160" y="2209680"/>
              <a:ext cx="1981440" cy="3808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2t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check symbols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910" name="Text Box 9"/>
          <p:cNvSpPr/>
          <p:nvPr/>
        </p:nvSpPr>
        <p:spPr>
          <a:xfrm>
            <a:off x="380880" y="2819160"/>
            <a:ext cx="84582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Example: RS(6, 2) code, with 2 data and 2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4 check symbols (7-valued)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up to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2 symbol errors correctable; hence, RS(6, 2) has distance 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Text Box 10"/>
          <p:cNvSpPr/>
          <p:nvPr/>
        </p:nvSpPr>
        <p:spPr>
          <a:xfrm>
            <a:off x="380880" y="5410080"/>
            <a:ext cx="838188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As usual, the codeword is the product of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and the info polynomial;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convertible to matrix-by-vector multiply by deriving a generator matrix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Date Placeholder 4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Footer Placeholder 5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Slide Number Placeholder 6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5112E9FC-3130-40AF-A2B7-7ADE602C6A0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685800" y="3042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Elements of Galois Field GF(2</a:t>
            </a:r>
            <a:r>
              <a:rPr lang="en-US" sz="32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Box 4"/>
          <p:cNvSpPr/>
          <p:nvPr/>
        </p:nvSpPr>
        <p:spPr>
          <a:xfrm>
            <a:off x="533160" y="1066680"/>
            <a:ext cx="8153640" cy="1159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 primitive element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of GF(2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is one that generates all nonzero elements of the field by its powers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Here are three different representation of the elements of GF(2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17" name=""/>
          <p:cNvGraphicFramePr/>
          <p:nvPr/>
        </p:nvGraphicFramePr>
        <p:xfrm>
          <a:off x="2438280" y="2514600"/>
          <a:ext cx="4267080" cy="3336840"/>
        </p:xfrm>
        <a:graphic>
          <a:graphicData uri="http://schemas.openxmlformats.org/drawingml/2006/table">
            <a:tbl>
              <a:tblPr/>
              <a:tblGrid>
                <a:gridCol w="1371600"/>
                <a:gridCol w="1409760"/>
                <a:gridCol w="1485720"/>
              </a:tblGrid>
              <a:tr h="365760">
                <a:tc>
                  <a:txBody>
                    <a:bodyPr lIns="90000" tIns="45360" rIns="90000" bIns="453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Power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360" marB="4536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360" rIns="90000" bIns="453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Polynomial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360" marB="45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360" rIns="90000" bIns="453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Vector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360" marB="4536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971080">
                <a:tc>
                  <a:txBody>
                    <a:bodyPr lIns="90000" tIns="45360" rIns="90000" bIns="453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--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360" marB="4536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5360" rIns="90000" bIns="453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+ 1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+ 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+ 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+ 1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</a:t>
                      </a:r>
                      <a:r>
                        <a:rPr lang="en-US" sz="2000" b="0" u="none" strike="noStrike" baseline="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+ 1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360" marB="45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5360" rIns="90000" bIns="4536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110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360" marB="4536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" name="Picture 8"/>
          <p:cNvPicPr/>
          <p:nvPr/>
        </p:nvPicPr>
        <p:blipFill>
          <a:blip r:embed="rId1"/>
          <a:stretch/>
        </p:blipFill>
        <p:spPr>
          <a:xfrm>
            <a:off x="152280" y="3022560"/>
            <a:ext cx="4524480" cy="291456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919" name="Slide Number Placeholder 4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5E590CC0-ABC9-46F6-91A1-C04EA452CE8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20" name="Picture 6"/>
          <p:cNvPicPr/>
          <p:nvPr/>
        </p:nvPicPr>
        <p:blipFill>
          <a:blip r:embed="rId2"/>
          <a:stretch/>
        </p:blipFill>
        <p:spPr>
          <a:xfrm>
            <a:off x="4314600" y="2971800"/>
            <a:ext cx="4476960" cy="28954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921" name="TextBox 10"/>
          <p:cNvSpPr/>
          <p:nvPr/>
        </p:nvSpPr>
        <p:spPr>
          <a:xfrm>
            <a:off x="457200" y="2509560"/>
            <a:ext cx="4572000" cy="459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Multiplication table for GF(2</a:t>
            </a:r>
            <a:r>
              <a:rPr lang="en-US" sz="2400" b="0" u="none" strike="noStrike" baseline="30000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)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TextBox 12"/>
          <p:cNvSpPr/>
          <p:nvPr/>
        </p:nvSpPr>
        <p:spPr>
          <a:xfrm>
            <a:off x="4876560" y="2509560"/>
            <a:ext cx="4572000" cy="459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Addition table for GF(2</a:t>
            </a:r>
            <a:r>
              <a:rPr lang="en-US" sz="2400" b="0" u="none" strike="noStrike" baseline="30000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)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23" name="Picture 14"/>
          <p:cNvPicPr/>
          <p:nvPr/>
        </p:nvPicPr>
        <p:blipFill>
          <a:blip r:embed="rId3"/>
          <a:stretch/>
        </p:blipFill>
        <p:spPr>
          <a:xfrm>
            <a:off x="5733720" y="1069920"/>
            <a:ext cx="1638360" cy="108576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924" name="Picture 16"/>
          <p:cNvPicPr/>
          <p:nvPr/>
        </p:nvPicPr>
        <p:blipFill>
          <a:blip r:embed="rId4"/>
          <a:stretch/>
        </p:blipFill>
        <p:spPr>
          <a:xfrm>
            <a:off x="1371600" y="1012680"/>
            <a:ext cx="1828800" cy="120024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925" name="TextBox 18"/>
          <p:cNvPicPr/>
          <p:nvPr/>
        </p:nvPicPr>
        <p:blipFill>
          <a:blip r:embed="rId5"/>
          <a:stretch/>
        </p:blipFill>
        <p:spPr>
          <a:xfrm>
            <a:off x="4906800" y="529920"/>
            <a:ext cx="3017880" cy="64620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926" name="TextBox 19"/>
          <p:cNvPicPr/>
          <p:nvPr/>
        </p:nvPicPr>
        <p:blipFill>
          <a:blip r:embed="rId6"/>
          <a:stretch/>
        </p:blipFill>
        <p:spPr>
          <a:xfrm>
            <a:off x="628560" y="553680"/>
            <a:ext cx="3840120" cy="64620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927" name="Picture 21"/>
          <p:cNvPicPr/>
          <p:nvPr/>
        </p:nvPicPr>
        <p:blipFill>
          <a:blip r:embed="rId7"/>
          <a:stretch/>
        </p:blipFill>
        <p:spPr>
          <a:xfrm>
            <a:off x="-4101840" y="576000"/>
            <a:ext cx="3263760" cy="23432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1D08911D-3591-4C12-9F92-0FF325BDE5B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BCH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 Box 4"/>
          <p:cNvSpPr/>
          <p:nvPr/>
        </p:nvSpPr>
        <p:spPr>
          <a:xfrm>
            <a:off x="457200" y="1828800"/>
            <a:ext cx="8381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BCH(15, 7) code: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Capable of correcting any two errors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Text Box 5"/>
          <p:cNvSpPr/>
          <p:nvPr/>
        </p:nvSpPr>
        <p:spPr>
          <a:xfrm>
            <a:off x="457200" y="990360"/>
            <a:ext cx="830556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Correct the deficiency of Reed-Solomon code; have a fixed alphabet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 usually choose the alphabet {0, 1}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Text Box 6"/>
          <p:cNvSpPr/>
          <p:nvPr/>
        </p:nvSpPr>
        <p:spPr>
          <a:xfrm>
            <a:off x="457200" y="2209680"/>
            <a:ext cx="83818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Generator polynomial: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 = 1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36" name="Group 7"/>
          <p:cNvGrpSpPr/>
          <p:nvPr/>
        </p:nvGrpSpPr>
        <p:grpSpPr>
          <a:xfrm>
            <a:off x="457200" y="2743200"/>
            <a:ext cx="8076960" cy="3387960"/>
            <a:chOff x="457200" y="2743200"/>
            <a:chExt cx="8076960" cy="3387960"/>
          </a:xfrm>
        </p:grpSpPr>
        <p:sp>
          <p:nvSpPr>
            <p:cNvPr id="937" name="Text Box 8"/>
            <p:cNvSpPr/>
            <p:nvPr/>
          </p:nvSpPr>
          <p:spPr>
            <a:xfrm>
              <a:off x="457200" y="4190760"/>
              <a:ext cx="3657600" cy="368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[0 1 1 0 0 1 0 1 1 0 0 0 0 1 0] </a:t>
              </a: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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8" name="Text Box 9"/>
            <p:cNvSpPr/>
            <p:nvPr/>
          </p:nvSpPr>
          <p:spPr>
            <a:xfrm>
              <a:off x="3809880" y="2743200"/>
              <a:ext cx="1295280" cy="338796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1000 1000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0100 0001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0010 0011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0001 0101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1100 1111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0110 1000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0011 0001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1101 0011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1010 0101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0101 1111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1110 1000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0111 0001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1111 0011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1011 0101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1001 1111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9" name="Text Box 10"/>
            <p:cNvSpPr/>
            <p:nvPr/>
          </p:nvSpPr>
          <p:spPr>
            <a:xfrm>
              <a:off x="5181480" y="4190760"/>
              <a:ext cx="3352680" cy="368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= [x x x x x x x x]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0" name="Text Box 11"/>
            <p:cNvSpPr/>
            <p:nvPr/>
          </p:nvSpPr>
          <p:spPr>
            <a:xfrm>
              <a:off x="838080" y="4572000"/>
              <a:ext cx="2209680" cy="368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Received word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1" name="Text Box 12"/>
            <p:cNvSpPr/>
            <p:nvPr/>
          </p:nvSpPr>
          <p:spPr>
            <a:xfrm>
              <a:off x="1600200" y="5638680"/>
              <a:ext cx="2209680" cy="368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Parity check matrix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2" name="Text Box 13"/>
            <p:cNvSpPr/>
            <p:nvPr/>
          </p:nvSpPr>
          <p:spPr>
            <a:xfrm>
              <a:off x="5333760" y="4572000"/>
              <a:ext cx="1828800" cy="368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Syndrome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3" name="AutoShape 14"/>
            <p:cNvSpPr/>
            <p:nvPr/>
          </p:nvSpPr>
          <p:spPr>
            <a:xfrm>
              <a:off x="3819240" y="2743200"/>
              <a:ext cx="1233720" cy="3352680"/>
            </a:xfrm>
            <a:prstGeom prst="bracketPair">
              <a:avLst>
                <a:gd name="adj" fmla="val 17129"/>
              </a:avLst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944" name="Text Box 15"/>
          <p:cNvSpPr/>
          <p:nvPr/>
        </p:nvSpPr>
        <p:spPr>
          <a:xfrm>
            <a:off x="5867280" y="2743200"/>
            <a:ext cx="2819520" cy="1312200"/>
          </a:xfrm>
          <a:prstGeom prst="rect">
            <a:avLst/>
          </a:prstGeom>
          <a:solidFill>
            <a:srgbClr val="FFFF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BCH(511, 493) used as DEC code in a video coding standard for videophones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Text Box 16"/>
          <p:cNvSpPr/>
          <p:nvPr/>
        </p:nvSpPr>
        <p:spPr>
          <a:xfrm>
            <a:off x="5867280" y="5257800"/>
            <a:ext cx="2819520" cy="703080"/>
          </a:xfrm>
          <a:prstGeom prst="rect">
            <a:avLst/>
          </a:prstGeom>
          <a:solidFill>
            <a:srgbClr val="FFFF00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BCH(40, 32) used as SEC/DED code in ATM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D875B80F-23C8-42CD-B88D-7F32C290E36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PlaceHolder 1"/>
          <p:cNvSpPr>
            <a:spLocks noGrp="1"/>
          </p:cNvSpPr>
          <p:nvPr>
            <p:ph type="title"/>
          </p:nvPr>
        </p:nvSpPr>
        <p:spPr>
          <a:xfrm>
            <a:off x="380880" y="152280"/>
            <a:ext cx="830592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14.5  Arithmetic Error-Correcting Codes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Box 3"/>
          <p:cNvSpPr/>
          <p:nvPr/>
        </p:nvSpPr>
        <p:spPr>
          <a:xfrm>
            <a:off x="304560" y="1066680"/>
            <a:ext cx="5867640" cy="53337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5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––––––––––––––––––––––––––––––––––––––––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Positive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Syndrome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Negative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Syndrome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error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Narrow"/>
                <a:ea typeface="Times New Roman"/>
              </a:rPr>
              <a:t>mod 7  mod 15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error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 Narrow"/>
                <a:ea typeface="Times New Roman"/>
              </a:rPr>
              <a:t>mod 7  mod 15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5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––––––––––––––––––––––––––––––––––––––––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–16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–32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–64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128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–128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256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–256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512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–512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1024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–1024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2048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–2048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5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––––––––––––––––––––––––––––––––––––––––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4096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–4096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8192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–8192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5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16,384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–16,384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8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32,768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–32,768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6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50000"/>
              </a:lnSpc>
              <a:tabLst>
                <a:tab pos="0" algn="l"/>
                <a:tab pos="914400" algn="dec"/>
                <a:tab pos="1600200" algn="dec"/>
                <a:tab pos="2286000" algn="dec"/>
                <a:tab pos="3835440" algn="dec"/>
                <a:tab pos="4572000" algn="dec"/>
                <a:tab pos="5321160" algn="dec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––––––––––––––––––––––––––––––––––––––––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Text Box 4"/>
          <p:cNvSpPr/>
          <p:nvPr/>
        </p:nvSpPr>
        <p:spPr>
          <a:xfrm>
            <a:off x="6248160" y="1218960"/>
            <a:ext cx="2438640" cy="1312200"/>
          </a:xfrm>
          <a:prstGeom prst="rect">
            <a:avLst/>
          </a:prstGeom>
          <a:solidFill>
            <a:srgbClr val="CCFF99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Error syndromes for weight-1 arithmetic errors in the (7, 15) biresidue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Text Box 5"/>
          <p:cNvSpPr/>
          <p:nvPr/>
        </p:nvSpPr>
        <p:spPr>
          <a:xfrm>
            <a:off x="6324480" y="3429000"/>
            <a:ext cx="2301840" cy="25304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Because all the syndromes in this table are different, any weight-1 arithmetic error is correctable by the (mod 7, mod 15) biresidue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Date Placeholder 4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Footer Placeholder 5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Slide Number Placeholder 6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98D4F81B-2869-4349-ABBC-DCB230BE8F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PlaceHolder 1"/>
          <p:cNvSpPr>
            <a:spLocks noGrp="1"/>
          </p:cNvSpPr>
          <p:nvPr>
            <p:ph type="title"/>
          </p:nvPr>
        </p:nvSpPr>
        <p:spPr>
          <a:xfrm>
            <a:off x="685800" y="3042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Properties of Biresidue Codes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 Box 4"/>
          <p:cNvSpPr/>
          <p:nvPr/>
        </p:nvSpPr>
        <p:spPr>
          <a:xfrm>
            <a:off x="533160" y="1066680"/>
            <a:ext cx="8153640" cy="1190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Biresidue code with relatively prime low-cost check moduli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 and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= 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– 1 supports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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bits of data for weight-1 error correction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Representational redundancy =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+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)/(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) = 1/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+ 1/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58" name=""/>
          <p:cNvGraphicFramePr/>
          <p:nvPr/>
        </p:nvGraphicFramePr>
        <p:xfrm>
          <a:off x="6172200" y="2590560"/>
          <a:ext cx="2133360" cy="3292560"/>
        </p:xfrm>
        <a:graphic>
          <a:graphicData uri="http://schemas.openxmlformats.org/drawingml/2006/table">
            <a:tbl>
              <a:tblPr/>
              <a:tblGrid>
                <a:gridCol w="1066680"/>
                <a:gridCol w="1066680"/>
              </a:tblGrid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 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57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120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247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502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1013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5720" marB="4572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59" name="Text Box 37"/>
          <p:cNvSpPr/>
          <p:nvPr/>
        </p:nvSpPr>
        <p:spPr>
          <a:xfrm>
            <a:off x="761760" y="5486400"/>
            <a:ext cx="472464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Compare with Hamming SEC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60" name=""/>
          <p:cNvGraphicFramePr/>
          <p:nvPr/>
        </p:nvGraphicFramePr>
        <p:xfrm>
          <a:off x="838080" y="2895480"/>
          <a:ext cx="4800600" cy="2286000"/>
        </p:xfrm>
        <a:graphic>
          <a:graphicData uri="http://schemas.openxmlformats.org/drawingml/2006/table">
            <a:tbl>
              <a:tblPr/>
              <a:tblGrid>
                <a:gridCol w="1200240"/>
                <a:gridCol w="1199880"/>
                <a:gridCol w="1200240"/>
                <a:gridCol w="1200240"/>
              </a:tblGrid>
              <a:tr h="380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n=k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+</a:t>
                      </a: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+</a:t>
                      </a: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k=ab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124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124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271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 marT="46800" marB="468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61" name="Line 75"/>
          <p:cNvSpPr/>
          <p:nvPr/>
        </p:nvSpPr>
        <p:spPr>
          <a:xfrm>
            <a:off x="4876560" y="5715000"/>
            <a:ext cx="1219320" cy="0"/>
          </a:xfrm>
          <a:prstGeom prst="line">
            <a:avLst/>
          </a:prstGeom>
          <a:ln w="378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111ECBC5-03D3-4403-9AA6-D13BB99E8C8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380880" y="228240"/>
            <a:ext cx="830592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Arithmetic on Biresidue-Coded Operands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Box 3"/>
          <p:cNvSpPr/>
          <p:nvPr/>
        </p:nvSpPr>
        <p:spPr>
          <a:xfrm>
            <a:off x="533160" y="990360"/>
            <a:ext cx="8077320" cy="1159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Similar to residue-checked arithmetic for addition and multiplication, except that two residues are involved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Divide/square-root: remains difficult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Rectangle 4"/>
          <p:cNvSpPr/>
          <p:nvPr/>
        </p:nvSpPr>
        <p:spPr>
          <a:xfrm>
            <a:off x="0" y="233352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Text Box 5"/>
          <p:cNvSpPr/>
          <p:nvPr/>
        </p:nvSpPr>
        <p:spPr>
          <a:xfrm>
            <a:off x="5486400" y="5105160"/>
            <a:ext cx="3047760" cy="703080"/>
          </a:xfrm>
          <a:prstGeom prst="rect">
            <a:avLst/>
          </a:prstGeom>
          <a:solidFill>
            <a:srgbClr val="CCFF99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Arithmetic processor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with biresidue checking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Oval 6"/>
          <p:cNvSpPr/>
          <p:nvPr/>
        </p:nvSpPr>
        <p:spPr>
          <a:xfrm>
            <a:off x="3962160" y="4800600"/>
            <a:ext cx="1143000" cy="457200"/>
          </a:xfrm>
          <a:prstGeom prst="ellipse">
            <a:avLst/>
          </a:prstGeom>
          <a:noFill/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Rectangle 7"/>
          <p:cNvSpPr/>
          <p:nvPr/>
        </p:nvSpPr>
        <p:spPr>
          <a:xfrm>
            <a:off x="2590560" y="4190760"/>
            <a:ext cx="914400" cy="762120"/>
          </a:xfrm>
          <a:prstGeom prst="rect">
            <a:avLst/>
          </a:prstGeom>
          <a:noFill/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71" name="Object 8"/>
          <p:cNvGraphicFramePr/>
          <p:nvPr/>
        </p:nvGraphicFramePr>
        <p:xfrm>
          <a:off x="533160" y="2590560"/>
          <a:ext cx="5943600" cy="30718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972" name="Object 8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33160" y="2590560"/>
                    <a:ext cx="5943600" cy="3071880"/>
                  </a:xfrm>
                  <a:prstGeom prst="rect">
                    <a:avLst/>
                  </a:prstGeom>
                  <a:noFill/>
                  <a:ln w="38160">
                    <a:noFill/>
                  </a:ln>
                </p:spPr>
              </p:pic>
            </p:oleObj>
          </a:graphicData>
        </a:graphic>
      </p:graphicFrame>
      <p:sp>
        <p:nvSpPr>
          <p:cNvPr id="973" name="Line 9"/>
          <p:cNvSpPr/>
          <p:nvPr/>
        </p:nvSpPr>
        <p:spPr>
          <a:xfrm>
            <a:off x="5333760" y="3733560"/>
            <a:ext cx="45720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Line 10"/>
          <p:cNvSpPr/>
          <p:nvPr/>
        </p:nvSpPr>
        <p:spPr>
          <a:xfrm>
            <a:off x="5333760" y="3733560"/>
            <a:ext cx="0" cy="83844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Line 11"/>
          <p:cNvSpPr/>
          <p:nvPr/>
        </p:nvSpPr>
        <p:spPr>
          <a:xfrm>
            <a:off x="3504960" y="4572000"/>
            <a:ext cx="182880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Text Box 12"/>
          <p:cNvSpPr/>
          <p:nvPr/>
        </p:nvSpPr>
        <p:spPr>
          <a:xfrm>
            <a:off x="5867280" y="3632040"/>
            <a:ext cx="60948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D(z)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Line 13"/>
          <p:cNvSpPr/>
          <p:nvPr/>
        </p:nvSpPr>
        <p:spPr>
          <a:xfrm>
            <a:off x="990360" y="3200400"/>
            <a:ext cx="83844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Line 14"/>
          <p:cNvSpPr/>
          <p:nvPr/>
        </p:nvSpPr>
        <p:spPr>
          <a:xfrm>
            <a:off x="1828800" y="3276360"/>
            <a:ext cx="0" cy="106704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Line 15"/>
          <p:cNvSpPr/>
          <p:nvPr/>
        </p:nvSpPr>
        <p:spPr>
          <a:xfrm>
            <a:off x="1828800" y="4343400"/>
            <a:ext cx="76176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Text Box 16"/>
          <p:cNvSpPr/>
          <p:nvPr/>
        </p:nvSpPr>
        <p:spPr>
          <a:xfrm>
            <a:off x="457200" y="3047760"/>
            <a:ext cx="6858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D(x)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Line 17"/>
          <p:cNvSpPr/>
          <p:nvPr/>
        </p:nvSpPr>
        <p:spPr>
          <a:xfrm>
            <a:off x="1066680" y="3962160"/>
            <a:ext cx="60948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Line 18"/>
          <p:cNvSpPr/>
          <p:nvPr/>
        </p:nvSpPr>
        <p:spPr>
          <a:xfrm>
            <a:off x="1676160" y="3962160"/>
            <a:ext cx="0" cy="76212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Line 19"/>
          <p:cNvSpPr/>
          <p:nvPr/>
        </p:nvSpPr>
        <p:spPr>
          <a:xfrm>
            <a:off x="1676160" y="4724280"/>
            <a:ext cx="91440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Text Box 20"/>
          <p:cNvSpPr/>
          <p:nvPr/>
        </p:nvSpPr>
        <p:spPr>
          <a:xfrm>
            <a:off x="457200" y="3886200"/>
            <a:ext cx="68580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D(y)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Rectangle 21"/>
          <p:cNvSpPr/>
          <p:nvPr/>
        </p:nvSpPr>
        <p:spPr>
          <a:xfrm>
            <a:off x="4419360" y="3886200"/>
            <a:ext cx="533520" cy="457200"/>
          </a:xfrm>
          <a:prstGeom prst="rect">
            <a:avLst/>
          </a:prstGeom>
          <a:noFill/>
          <a:ln w="93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Line 22"/>
          <p:cNvSpPr/>
          <p:nvPr/>
        </p:nvSpPr>
        <p:spPr>
          <a:xfrm>
            <a:off x="4724280" y="3352680"/>
            <a:ext cx="0" cy="53352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Line 23"/>
          <p:cNvSpPr/>
          <p:nvPr/>
        </p:nvSpPr>
        <p:spPr>
          <a:xfrm>
            <a:off x="4724280" y="4343400"/>
            <a:ext cx="0" cy="45720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Line 24"/>
          <p:cNvSpPr/>
          <p:nvPr/>
        </p:nvSpPr>
        <p:spPr>
          <a:xfrm>
            <a:off x="4267080" y="4572000"/>
            <a:ext cx="0" cy="22860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Line 25"/>
          <p:cNvSpPr/>
          <p:nvPr/>
        </p:nvSpPr>
        <p:spPr>
          <a:xfrm>
            <a:off x="4572000" y="5257800"/>
            <a:ext cx="0" cy="30456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Text Box 26"/>
          <p:cNvSpPr/>
          <p:nvPr/>
        </p:nvSpPr>
        <p:spPr>
          <a:xfrm>
            <a:off x="3047760" y="4386240"/>
            <a:ext cx="609840" cy="368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Text Box 27"/>
          <p:cNvSpPr/>
          <p:nvPr/>
        </p:nvSpPr>
        <p:spPr>
          <a:xfrm>
            <a:off x="4572000" y="4038480"/>
            <a:ext cx="609480" cy="337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Text Box 28"/>
          <p:cNvSpPr/>
          <p:nvPr/>
        </p:nvSpPr>
        <p:spPr>
          <a:xfrm>
            <a:off x="3938400" y="5246640"/>
            <a:ext cx="609480" cy="368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Date Placeholder 3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Slide Number Placeholder 5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C08BB652-F932-4942-B2DE-9C57D2F479F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PlaceHolder 1"/>
          <p:cNvSpPr>
            <a:spLocks noGrp="1"/>
          </p:cNvSpPr>
          <p:nvPr>
            <p:ph type="title"/>
          </p:nvPr>
        </p:nvSpPr>
        <p:spPr>
          <a:xfrm>
            <a:off x="304200" y="228600"/>
            <a:ext cx="85345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14.6  Other Error-Correcting Codes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Text Box 6"/>
          <p:cNvSpPr/>
          <p:nvPr/>
        </p:nvSpPr>
        <p:spPr>
          <a:xfrm>
            <a:off x="380880" y="1295280"/>
            <a:ext cx="838188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Reed-Muller codes: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Have a recursive construction, with smaller codes used to build larger ones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99" name="Group 7"/>
          <p:cNvGrpSpPr/>
          <p:nvPr/>
        </p:nvGrpSpPr>
        <p:grpSpPr>
          <a:xfrm>
            <a:off x="380880" y="2209680"/>
            <a:ext cx="8534160" cy="1038960"/>
            <a:chOff x="380880" y="2209680"/>
            <a:chExt cx="8534160" cy="1038960"/>
          </a:xfrm>
        </p:grpSpPr>
        <p:sp>
          <p:nvSpPr>
            <p:cNvPr id="1000" name="Text Box 8"/>
            <p:cNvSpPr/>
            <p:nvPr/>
          </p:nvSpPr>
          <p:spPr>
            <a:xfrm>
              <a:off x="380880" y="2514600"/>
              <a:ext cx="4800600" cy="703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Turbo codes: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Highly efficient separable codes, with iterative (soft) decoding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1001" name="Group 9"/>
            <p:cNvGrpSpPr/>
            <p:nvPr/>
          </p:nvGrpSpPr>
          <p:grpSpPr>
            <a:xfrm>
              <a:off x="4876560" y="2209680"/>
              <a:ext cx="4038480" cy="1038960"/>
              <a:chOff x="4876560" y="2209680"/>
              <a:chExt cx="4038480" cy="1038960"/>
            </a:xfrm>
          </p:grpSpPr>
          <p:sp>
            <p:nvSpPr>
              <p:cNvPr id="1002" name="Rectangle 10"/>
              <p:cNvSpPr/>
              <p:nvPr/>
            </p:nvSpPr>
            <p:spPr>
              <a:xfrm>
                <a:off x="5790960" y="2590560"/>
                <a:ext cx="838080" cy="228600"/>
              </a:xfrm>
              <a:prstGeom prst="rect">
                <a:avLst/>
              </a:prstGeom>
              <a:solidFill>
                <a:srgbClr val="FFFF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3" name="Line 11"/>
              <p:cNvSpPr/>
              <p:nvPr/>
            </p:nvSpPr>
            <p:spPr>
              <a:xfrm>
                <a:off x="5333760" y="2361960"/>
                <a:ext cx="28195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4" name="Rectangle 12"/>
              <p:cNvSpPr/>
              <p:nvPr/>
            </p:nvSpPr>
            <p:spPr>
              <a:xfrm>
                <a:off x="7010280" y="2971800"/>
                <a:ext cx="838080" cy="228600"/>
              </a:xfrm>
              <a:prstGeom prst="rect">
                <a:avLst/>
              </a:prstGeom>
              <a:solidFill>
                <a:srgbClr val="FFFF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5" name="Line 13"/>
              <p:cNvSpPr/>
              <p:nvPr/>
            </p:nvSpPr>
            <p:spPr>
              <a:xfrm>
                <a:off x="7848360" y="3078000"/>
                <a:ext cx="3049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6" name="Line 14"/>
              <p:cNvSpPr/>
              <p:nvPr/>
            </p:nvSpPr>
            <p:spPr>
              <a:xfrm>
                <a:off x="5562360" y="2695320"/>
                <a:ext cx="2286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7" name="Text Box 15"/>
              <p:cNvSpPr/>
              <p:nvPr/>
            </p:nvSpPr>
            <p:spPr>
              <a:xfrm>
                <a:off x="5714640" y="2590560"/>
                <a:ext cx="990720" cy="27684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2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rPr>
                  <a:t>Encoder 1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8" name="Text Box 16"/>
              <p:cNvSpPr/>
              <p:nvPr/>
            </p:nvSpPr>
            <p:spPr>
              <a:xfrm>
                <a:off x="7010280" y="2971800"/>
                <a:ext cx="914400" cy="27684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2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rPr>
                  <a:t>Encoder 2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9" name="Line 17"/>
              <p:cNvSpPr/>
              <p:nvPr/>
            </p:nvSpPr>
            <p:spPr>
              <a:xfrm>
                <a:off x="6629040" y="2695320"/>
                <a:ext cx="152424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0" name="Line 18"/>
              <p:cNvSpPr/>
              <p:nvPr/>
            </p:nvSpPr>
            <p:spPr>
              <a:xfrm>
                <a:off x="5562360" y="2361960"/>
                <a:ext cx="0" cy="7128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1" name="Line 19"/>
              <p:cNvSpPr/>
              <p:nvPr/>
            </p:nvSpPr>
            <p:spPr>
              <a:xfrm>
                <a:off x="6629040" y="3078000"/>
                <a:ext cx="38124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2" name="Rectangle 20"/>
              <p:cNvSpPr/>
              <p:nvPr/>
            </p:nvSpPr>
            <p:spPr>
              <a:xfrm>
                <a:off x="5790960" y="2971800"/>
                <a:ext cx="838080" cy="228600"/>
              </a:xfrm>
              <a:prstGeom prst="rect">
                <a:avLst/>
              </a:prstGeom>
              <a:solidFill>
                <a:srgbClr val="FF66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3" name="Text Box 21"/>
              <p:cNvSpPr/>
              <p:nvPr/>
            </p:nvSpPr>
            <p:spPr>
              <a:xfrm>
                <a:off x="5714640" y="2971800"/>
                <a:ext cx="990720" cy="27684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2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rPr>
                  <a:t>Interleaver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4" name="Line 22"/>
              <p:cNvSpPr/>
              <p:nvPr/>
            </p:nvSpPr>
            <p:spPr>
              <a:xfrm>
                <a:off x="5562360" y="3078000"/>
                <a:ext cx="2286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5" name="Text Box 23"/>
              <p:cNvSpPr/>
              <p:nvPr/>
            </p:nvSpPr>
            <p:spPr>
              <a:xfrm>
                <a:off x="4876560" y="2209680"/>
                <a:ext cx="533520" cy="27684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2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rPr>
                  <a:t>Data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6" name="Text Box 24"/>
              <p:cNvSpPr/>
              <p:nvPr/>
            </p:nvSpPr>
            <p:spPr>
              <a:xfrm>
                <a:off x="8305560" y="2590560"/>
                <a:ext cx="609480" cy="27684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2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  <a:ea typeface="Arial"/>
                  </a:rPr>
                  <a:t>Code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7" name="AutoShape 25"/>
              <p:cNvSpPr/>
              <p:nvPr/>
            </p:nvSpPr>
            <p:spPr>
              <a:xfrm>
                <a:off x="8229240" y="2361960"/>
                <a:ext cx="152640" cy="762120"/>
              </a:xfrm>
              <a:custGeom>
                <a:avLst/>
                <a:gdLst>
                  <a:gd name="textAreaLeft" fmla="*/ 0 w 152640"/>
                  <a:gd name="textAreaRight" fmla="*/ 55080 w 152640"/>
                  <a:gd name="textAreaTop" fmla="*/ 19800 h 762120"/>
                  <a:gd name="textAreaBottom" fmla="*/ 742320 h 762120"/>
                  <a:gd name="GluePoint1X" fmla="*/ 0 w 21600"/>
                  <a:gd name="GluePoint1Y" fmla="*/ 0 h 21600"/>
                  <a:gd name="GluePoint2X" fmla="*/ 0 w 21600"/>
                  <a:gd name="GluePoint2Y" fmla="*/ 21600 h 21600"/>
                  <a:gd name="GluePoint3X" fmla="*/ 21600 w 21600"/>
                  <a:gd name="GluePoint3Y" fmla="*/ 10800 h 216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cubicBezTo>
                      <a:pt x="5400" y="0"/>
                      <a:pt x="10800" y="900"/>
                      <a:pt x="10800" y="1800"/>
                    </a:cubicBezTo>
                    <a:lnTo>
                      <a:pt x="10800" y="9000"/>
                    </a:lnTo>
                    <a:cubicBezTo>
                      <a:pt x="10800" y="9900"/>
                      <a:pt x="16200" y="10800"/>
                      <a:pt x="21600" y="10800"/>
                    </a:cubicBezTo>
                    <a:cubicBezTo>
                      <a:pt x="16200" y="10800"/>
                      <a:pt x="10800" y="11700"/>
                      <a:pt x="10800" y="12600"/>
                    </a:cubicBezTo>
                    <a:lnTo>
                      <a:pt x="10800" y="19800"/>
                    </a:lnTo>
                    <a:cubicBezTo>
                      <a:pt x="10800" y="20700"/>
                      <a:pt x="5400" y="21600"/>
                      <a:pt x="0" y="21600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1018" name="Text Box 26"/>
          <p:cNvSpPr/>
          <p:nvPr/>
        </p:nvSpPr>
        <p:spPr>
          <a:xfrm>
            <a:off x="380880" y="3733560"/>
            <a:ext cx="838188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Low-density parity check (LDPC) codes: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Each parity check is defined on a small set of bits, so error checking is fast; correction is more difficult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Text Box 27"/>
          <p:cNvSpPr/>
          <p:nvPr/>
        </p:nvSpPr>
        <p:spPr>
          <a:xfrm>
            <a:off x="380880" y="4876560"/>
            <a:ext cx="838188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Information dispersal: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Encoding data into n pieces, such that any k of the pieces are adequate for reconstructing the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Date Placeholder 4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Nov.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Footer Placeholder 5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Slide Number Placeholder 6"/>
          <p:cNvSpPr/>
          <p:nvPr/>
        </p:nvSpPr>
        <p:spPr>
          <a:xfrm>
            <a:off x="6553080" y="6248160"/>
            <a:ext cx="190512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fld id="{31057F97-9CF8-47FE-B4A1-09BA7464D4D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Rectangle 2"/>
          <p:cNvSpPr/>
          <p:nvPr/>
        </p:nvSpPr>
        <p:spPr>
          <a:xfrm>
            <a:off x="0" y="6159240"/>
            <a:ext cx="9144000" cy="4597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PlaceHolder 1"/>
          <p:cNvSpPr>
            <a:spLocks noGrp="1"/>
          </p:cNvSpPr>
          <p:nvPr>
            <p:ph type="title"/>
          </p:nvPr>
        </p:nvSpPr>
        <p:spPr>
          <a:xfrm>
            <a:off x="685800" y="228240"/>
            <a:ext cx="777240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Higher-Level Error Coding Methods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Box 4"/>
          <p:cNvSpPr/>
          <p:nvPr/>
        </p:nvSpPr>
        <p:spPr>
          <a:xfrm>
            <a:off x="685800" y="1143000"/>
            <a:ext cx="761976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We have applied coding to data at the bit-string or word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Text Box 5"/>
          <p:cNvSpPr/>
          <p:nvPr/>
        </p:nvSpPr>
        <p:spPr>
          <a:xfrm>
            <a:off x="685800" y="1981080"/>
            <a:ext cx="7619760" cy="14641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It is also possible to apply coding at higher levels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Data structure level – Robust data structures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  Application level – Algorithm-based error tolerance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Footer Placeholder 4"/>
          <p:cNvSpPr/>
          <p:nvPr/>
        </p:nvSpPr>
        <p:spPr>
          <a:xfrm>
            <a:off x="2209680" y="6248160"/>
            <a:ext cx="4572000" cy="45720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IV – Errors: Informational Distortions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PlaceHolder 1"/>
          <p:cNvSpPr>
            <a:spLocks noGrp="1"/>
          </p:cNvSpPr>
          <p:nvPr>
            <p:ph type="title"/>
          </p:nvPr>
        </p:nvSpPr>
        <p:spPr>
          <a:xfrm>
            <a:off x="304200" y="228240"/>
            <a:ext cx="8534520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Preview of Algorithm-Based Error Tolerance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Rectangle 3"/>
          <p:cNvSpPr/>
          <p:nvPr/>
        </p:nvSpPr>
        <p:spPr>
          <a:xfrm>
            <a:off x="0" y="191448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Rectangle 4"/>
          <p:cNvSpPr/>
          <p:nvPr/>
        </p:nvSpPr>
        <p:spPr>
          <a:xfrm>
            <a:off x="0" y="222876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6440" rIns="90000" bIns="-46440" anchor="ctr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31" name="Group 5"/>
          <p:cNvGrpSpPr/>
          <p:nvPr/>
        </p:nvGrpSpPr>
        <p:grpSpPr>
          <a:xfrm>
            <a:off x="5794200" y="2361960"/>
            <a:ext cx="3044880" cy="1768320"/>
            <a:chOff x="5794200" y="2361960"/>
            <a:chExt cx="3044880" cy="1768320"/>
          </a:xfrm>
        </p:grpSpPr>
        <p:grpSp>
          <p:nvGrpSpPr>
            <p:cNvPr id="1032" name="Group 6"/>
            <p:cNvGrpSpPr/>
            <p:nvPr/>
          </p:nvGrpSpPr>
          <p:grpSpPr>
            <a:xfrm>
              <a:off x="6400800" y="2361960"/>
              <a:ext cx="2377800" cy="1768320"/>
              <a:chOff x="6400800" y="2361960"/>
              <a:chExt cx="2377800" cy="1768320"/>
            </a:xfrm>
          </p:grpSpPr>
          <p:sp>
            <p:nvSpPr>
              <p:cNvPr id="1033" name="Text Box 7"/>
              <p:cNvSpPr/>
              <p:nvPr/>
            </p:nvSpPr>
            <p:spPr>
              <a:xfrm>
                <a:off x="6400800" y="23619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4" name="Text Box 8"/>
              <p:cNvSpPr/>
              <p:nvPr/>
            </p:nvSpPr>
            <p:spPr>
              <a:xfrm>
                <a:off x="7010280" y="23619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5" name="Text Box 9"/>
              <p:cNvSpPr/>
              <p:nvPr/>
            </p:nvSpPr>
            <p:spPr>
              <a:xfrm>
                <a:off x="7619760" y="23619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6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6" name="Text Box 10"/>
              <p:cNvSpPr/>
              <p:nvPr/>
            </p:nvSpPr>
            <p:spPr>
              <a:xfrm>
                <a:off x="8229600" y="23619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7" name="Text Box 11"/>
              <p:cNvSpPr/>
              <p:nvPr/>
            </p:nvSpPr>
            <p:spPr>
              <a:xfrm>
                <a:off x="6400800" y="28191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8" name="Text Box 12"/>
              <p:cNvSpPr/>
              <p:nvPr/>
            </p:nvSpPr>
            <p:spPr>
              <a:xfrm>
                <a:off x="7010280" y="28191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9" name="Text Box 13"/>
              <p:cNvSpPr/>
              <p:nvPr/>
            </p:nvSpPr>
            <p:spPr>
              <a:xfrm>
                <a:off x="7619760" y="28191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0" name="Text Box 14"/>
              <p:cNvSpPr/>
              <p:nvPr/>
            </p:nvSpPr>
            <p:spPr>
              <a:xfrm>
                <a:off x="8229600" y="28191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1" name="Text Box 15"/>
              <p:cNvSpPr/>
              <p:nvPr/>
            </p:nvSpPr>
            <p:spPr>
              <a:xfrm>
                <a:off x="6400800" y="32763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2" name="Text Box 16"/>
              <p:cNvSpPr/>
              <p:nvPr/>
            </p:nvSpPr>
            <p:spPr>
              <a:xfrm>
                <a:off x="7010280" y="32763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3" name="Text Box 17"/>
              <p:cNvSpPr/>
              <p:nvPr/>
            </p:nvSpPr>
            <p:spPr>
              <a:xfrm>
                <a:off x="7619760" y="32763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7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4" name="Text Box 18"/>
              <p:cNvSpPr/>
              <p:nvPr/>
            </p:nvSpPr>
            <p:spPr>
              <a:xfrm>
                <a:off x="8229600" y="32763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5" name="Text Box 19"/>
              <p:cNvSpPr/>
              <p:nvPr/>
            </p:nvSpPr>
            <p:spPr>
              <a:xfrm>
                <a:off x="6400800" y="37335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6" name="Text Box 20"/>
              <p:cNvSpPr/>
              <p:nvPr/>
            </p:nvSpPr>
            <p:spPr>
              <a:xfrm>
                <a:off x="7010280" y="3733560"/>
                <a:ext cx="54936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7" name="Text Box 21"/>
              <p:cNvSpPr/>
              <p:nvPr/>
            </p:nvSpPr>
            <p:spPr>
              <a:xfrm>
                <a:off x="7619760" y="3733560"/>
                <a:ext cx="54936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8" name="Text Box 22"/>
              <p:cNvSpPr/>
              <p:nvPr/>
            </p:nvSpPr>
            <p:spPr>
              <a:xfrm>
                <a:off x="8229600" y="37335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049" name="AutoShape 23"/>
            <p:cNvSpPr/>
            <p:nvPr/>
          </p:nvSpPr>
          <p:spPr>
            <a:xfrm>
              <a:off x="6553080" y="2437920"/>
              <a:ext cx="76320" cy="1143000"/>
            </a:xfrm>
            <a:custGeom>
              <a:avLst/>
              <a:gdLst>
                <a:gd name="textAreaLeft" fmla="*/ 22320 w 76320"/>
                <a:gd name="textAreaRight" fmla="*/ 76320 w 76320"/>
                <a:gd name="textAreaTop" fmla="*/ 47520 h 1143000"/>
                <a:gd name="textAreaBottom" fmla="*/ 1095480 h 1143000"/>
                <a:gd name="GluePoint1X" fmla="*/ 21600 w 21600"/>
                <a:gd name="GluePoint1Y" fmla="*/ 0 h 21600"/>
                <a:gd name="GluePoint2X" fmla="*/ 0 w 21600"/>
                <a:gd name="GluePoint2Y" fmla="*/ 10800 h 21600"/>
                <a:gd name="GluePoint3X" fmla="*/ 21600 w 21600"/>
                <a:gd name="GluePoint3Y" fmla="*/ 216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cubicBezTo>
                    <a:pt x="10800" y="0"/>
                    <a:pt x="0" y="900"/>
                    <a:pt x="0" y="1800"/>
                  </a:cubicBezTo>
                  <a:lnTo>
                    <a:pt x="0" y="19800"/>
                  </a:lnTo>
                  <a:cubicBezTo>
                    <a:pt x="0" y="20700"/>
                    <a:pt x="10800" y="21600"/>
                    <a:pt x="21600" y="21600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50" name="AutoShape 24"/>
            <p:cNvSpPr/>
            <p:nvPr/>
          </p:nvSpPr>
          <p:spPr>
            <a:xfrm>
              <a:off x="8762760" y="2437920"/>
              <a:ext cx="76320" cy="1143000"/>
            </a:xfrm>
            <a:custGeom>
              <a:avLst/>
              <a:gdLst>
                <a:gd name="textAreaLeft" fmla="*/ 0 w 76320"/>
                <a:gd name="textAreaRight" fmla="*/ 53640 w 76320"/>
                <a:gd name="textAreaTop" fmla="*/ 47520 h 1143000"/>
                <a:gd name="textAreaBottom" fmla="*/ 1095480 h 114300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10800" y="0"/>
                    <a:pt x="21600" y="900"/>
                    <a:pt x="21600" y="1800"/>
                  </a:cubicBezTo>
                  <a:lnTo>
                    <a:pt x="21600" y="19800"/>
                  </a:lnTo>
                  <a:cubicBezTo>
                    <a:pt x="21600" y="20700"/>
                    <a:pt x="108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51" name="Text Box 25"/>
            <p:cNvSpPr/>
            <p:nvPr/>
          </p:nvSpPr>
          <p:spPr>
            <a:xfrm>
              <a:off x="5794200" y="2819160"/>
              <a:ext cx="759960" cy="440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M</a:t>
              </a:r>
              <a:r>
                <a:rPr lang="en-US" sz="8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US" sz="20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</a:rPr>
                <a:t>r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=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052" name="Group 26"/>
          <p:cNvGrpSpPr/>
          <p:nvPr/>
        </p:nvGrpSpPr>
        <p:grpSpPr>
          <a:xfrm>
            <a:off x="5793480" y="4190760"/>
            <a:ext cx="3045600" cy="1770120"/>
            <a:chOff x="5793480" y="4190760"/>
            <a:chExt cx="3045600" cy="1770120"/>
          </a:xfrm>
        </p:grpSpPr>
        <p:grpSp>
          <p:nvGrpSpPr>
            <p:cNvPr id="1053" name="Group 27"/>
            <p:cNvGrpSpPr/>
            <p:nvPr/>
          </p:nvGrpSpPr>
          <p:grpSpPr>
            <a:xfrm>
              <a:off x="6400800" y="4190760"/>
              <a:ext cx="2377800" cy="1770120"/>
              <a:chOff x="6400800" y="4190760"/>
              <a:chExt cx="2377800" cy="1770120"/>
            </a:xfrm>
          </p:grpSpPr>
          <p:sp>
            <p:nvSpPr>
              <p:cNvPr id="1054" name="Text Box 28"/>
              <p:cNvSpPr/>
              <p:nvPr/>
            </p:nvSpPr>
            <p:spPr>
              <a:xfrm>
                <a:off x="6400800" y="41907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5" name="Text Box 29"/>
              <p:cNvSpPr/>
              <p:nvPr/>
            </p:nvSpPr>
            <p:spPr>
              <a:xfrm>
                <a:off x="7010280" y="41907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6" name="Text Box 30"/>
              <p:cNvSpPr/>
              <p:nvPr/>
            </p:nvSpPr>
            <p:spPr>
              <a:xfrm>
                <a:off x="7619760" y="41907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6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7" name="Text Box 31"/>
              <p:cNvSpPr/>
              <p:nvPr/>
            </p:nvSpPr>
            <p:spPr>
              <a:xfrm>
                <a:off x="8229600" y="41907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8" name="Text Box 32"/>
              <p:cNvSpPr/>
              <p:nvPr/>
            </p:nvSpPr>
            <p:spPr>
              <a:xfrm>
                <a:off x="6400800" y="46479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9" name="Text Box 33"/>
              <p:cNvSpPr/>
              <p:nvPr/>
            </p:nvSpPr>
            <p:spPr>
              <a:xfrm>
                <a:off x="7010280" y="46479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0" name="Text Box 34"/>
              <p:cNvSpPr/>
              <p:nvPr/>
            </p:nvSpPr>
            <p:spPr>
              <a:xfrm>
                <a:off x="7619760" y="46479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1" name="Text Box 35"/>
              <p:cNvSpPr/>
              <p:nvPr/>
            </p:nvSpPr>
            <p:spPr>
              <a:xfrm>
                <a:off x="8229600" y="46479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2" name="Text Box 36"/>
              <p:cNvSpPr/>
              <p:nvPr/>
            </p:nvSpPr>
            <p:spPr>
              <a:xfrm>
                <a:off x="6400800" y="51051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3" name="Text Box 37"/>
              <p:cNvSpPr/>
              <p:nvPr/>
            </p:nvSpPr>
            <p:spPr>
              <a:xfrm>
                <a:off x="7010280" y="51051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4" name="Text Box 38"/>
              <p:cNvSpPr/>
              <p:nvPr/>
            </p:nvSpPr>
            <p:spPr>
              <a:xfrm>
                <a:off x="7619760" y="51051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7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5" name="Text Box 39"/>
              <p:cNvSpPr/>
              <p:nvPr/>
            </p:nvSpPr>
            <p:spPr>
              <a:xfrm>
                <a:off x="8229600" y="51051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6" name="Text Box 40"/>
              <p:cNvSpPr/>
              <p:nvPr/>
            </p:nvSpPr>
            <p:spPr>
              <a:xfrm>
                <a:off x="6400800" y="55623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7" name="Text Box 41"/>
              <p:cNvSpPr/>
              <p:nvPr/>
            </p:nvSpPr>
            <p:spPr>
              <a:xfrm>
                <a:off x="7010280" y="55623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6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8" name="Text Box 42"/>
              <p:cNvSpPr/>
              <p:nvPr/>
            </p:nvSpPr>
            <p:spPr>
              <a:xfrm>
                <a:off x="7619760" y="55623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9" name="Text Box 43"/>
              <p:cNvSpPr/>
              <p:nvPr/>
            </p:nvSpPr>
            <p:spPr>
              <a:xfrm>
                <a:off x="8229600" y="55623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070" name="AutoShape 44"/>
            <p:cNvSpPr/>
            <p:nvPr/>
          </p:nvSpPr>
          <p:spPr>
            <a:xfrm>
              <a:off x="6553080" y="4266720"/>
              <a:ext cx="76320" cy="1676520"/>
            </a:xfrm>
            <a:custGeom>
              <a:avLst/>
              <a:gdLst>
                <a:gd name="textAreaLeft" fmla="*/ 22320 w 76320"/>
                <a:gd name="textAreaRight" fmla="*/ 76320 w 76320"/>
                <a:gd name="textAreaTop" fmla="*/ 69840 h 1676520"/>
                <a:gd name="textAreaBottom" fmla="*/ 1606680 h 1676520"/>
                <a:gd name="GluePoint1X" fmla="*/ 21600 w 21600"/>
                <a:gd name="GluePoint1Y" fmla="*/ 0 h 21600"/>
                <a:gd name="GluePoint2X" fmla="*/ 0 w 21600"/>
                <a:gd name="GluePoint2Y" fmla="*/ 10800 h 21600"/>
                <a:gd name="GluePoint3X" fmla="*/ 21600 w 21600"/>
                <a:gd name="GluePoint3Y" fmla="*/ 216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cubicBezTo>
                    <a:pt x="10800" y="0"/>
                    <a:pt x="0" y="900"/>
                    <a:pt x="0" y="1800"/>
                  </a:cubicBezTo>
                  <a:lnTo>
                    <a:pt x="0" y="19800"/>
                  </a:lnTo>
                  <a:cubicBezTo>
                    <a:pt x="0" y="20700"/>
                    <a:pt x="10800" y="21600"/>
                    <a:pt x="21600" y="21600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1" name="AutoShape 45"/>
            <p:cNvSpPr/>
            <p:nvPr/>
          </p:nvSpPr>
          <p:spPr>
            <a:xfrm>
              <a:off x="8762760" y="4266720"/>
              <a:ext cx="76320" cy="1676520"/>
            </a:xfrm>
            <a:custGeom>
              <a:avLst/>
              <a:gdLst>
                <a:gd name="textAreaLeft" fmla="*/ 0 w 76320"/>
                <a:gd name="textAreaRight" fmla="*/ 53640 w 76320"/>
                <a:gd name="textAreaTop" fmla="*/ 69840 h 1676520"/>
                <a:gd name="textAreaBottom" fmla="*/ 1606680 h 167652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10800" y="0"/>
                    <a:pt x="21600" y="900"/>
                    <a:pt x="21600" y="1800"/>
                  </a:cubicBezTo>
                  <a:lnTo>
                    <a:pt x="21600" y="19800"/>
                  </a:lnTo>
                  <a:cubicBezTo>
                    <a:pt x="21600" y="20700"/>
                    <a:pt x="108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2" name="Text Box 46"/>
            <p:cNvSpPr/>
            <p:nvPr/>
          </p:nvSpPr>
          <p:spPr>
            <a:xfrm>
              <a:off x="5793480" y="4873320"/>
              <a:ext cx="752040" cy="440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M</a:t>
              </a:r>
              <a:r>
                <a:rPr lang="en-US" sz="8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US" sz="20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</a:rPr>
                <a:t>f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=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073" name="Group 47"/>
          <p:cNvGrpSpPr/>
          <p:nvPr/>
        </p:nvGrpSpPr>
        <p:grpSpPr>
          <a:xfrm>
            <a:off x="2666880" y="2361960"/>
            <a:ext cx="2987280" cy="1768320"/>
            <a:chOff x="2666880" y="2361960"/>
            <a:chExt cx="2987280" cy="1768320"/>
          </a:xfrm>
        </p:grpSpPr>
        <p:grpSp>
          <p:nvGrpSpPr>
            <p:cNvPr id="1074" name="Group 48"/>
            <p:cNvGrpSpPr/>
            <p:nvPr/>
          </p:nvGrpSpPr>
          <p:grpSpPr>
            <a:xfrm>
              <a:off x="3276360" y="2361960"/>
              <a:ext cx="2377800" cy="1768320"/>
              <a:chOff x="3276360" y="2361960"/>
              <a:chExt cx="2377800" cy="1768320"/>
            </a:xfrm>
          </p:grpSpPr>
          <p:sp>
            <p:nvSpPr>
              <p:cNvPr id="1075" name="Text Box 49"/>
              <p:cNvSpPr/>
              <p:nvPr/>
            </p:nvSpPr>
            <p:spPr>
              <a:xfrm>
                <a:off x="3276360" y="23619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76" name="Text Box 50"/>
              <p:cNvSpPr/>
              <p:nvPr/>
            </p:nvSpPr>
            <p:spPr>
              <a:xfrm>
                <a:off x="3885840" y="23619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77" name="Text Box 51"/>
              <p:cNvSpPr/>
              <p:nvPr/>
            </p:nvSpPr>
            <p:spPr>
              <a:xfrm>
                <a:off x="4495320" y="23619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6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78" name="Text Box 52"/>
              <p:cNvSpPr/>
              <p:nvPr/>
            </p:nvSpPr>
            <p:spPr>
              <a:xfrm>
                <a:off x="5105160" y="23619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79" name="Text Box 53"/>
              <p:cNvSpPr/>
              <p:nvPr/>
            </p:nvSpPr>
            <p:spPr>
              <a:xfrm>
                <a:off x="3276360" y="28191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0" name="Text Box 54"/>
              <p:cNvSpPr/>
              <p:nvPr/>
            </p:nvSpPr>
            <p:spPr>
              <a:xfrm>
                <a:off x="3885840" y="28191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1" name="Text Box 55"/>
              <p:cNvSpPr/>
              <p:nvPr/>
            </p:nvSpPr>
            <p:spPr>
              <a:xfrm>
                <a:off x="4495320" y="28191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2" name="Text Box 56"/>
              <p:cNvSpPr/>
              <p:nvPr/>
            </p:nvSpPr>
            <p:spPr>
              <a:xfrm>
                <a:off x="5105160" y="28191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3" name="Text Box 57"/>
              <p:cNvSpPr/>
              <p:nvPr/>
            </p:nvSpPr>
            <p:spPr>
              <a:xfrm>
                <a:off x="3276360" y="32763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4" name="Text Box 58"/>
              <p:cNvSpPr/>
              <p:nvPr/>
            </p:nvSpPr>
            <p:spPr>
              <a:xfrm>
                <a:off x="3885840" y="32763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5" name="Text Box 59"/>
              <p:cNvSpPr/>
              <p:nvPr/>
            </p:nvSpPr>
            <p:spPr>
              <a:xfrm>
                <a:off x="4495320" y="32763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7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6" name="Text Box 60"/>
              <p:cNvSpPr/>
              <p:nvPr/>
            </p:nvSpPr>
            <p:spPr>
              <a:xfrm>
                <a:off x="5105160" y="32763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7" name="Text Box 61"/>
              <p:cNvSpPr/>
              <p:nvPr/>
            </p:nvSpPr>
            <p:spPr>
              <a:xfrm>
                <a:off x="3276360" y="37335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8" name="Text Box 62"/>
              <p:cNvSpPr/>
              <p:nvPr/>
            </p:nvSpPr>
            <p:spPr>
              <a:xfrm>
                <a:off x="3885840" y="3733560"/>
                <a:ext cx="54936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9" name="Text Box 63"/>
              <p:cNvSpPr/>
              <p:nvPr/>
            </p:nvSpPr>
            <p:spPr>
              <a:xfrm>
                <a:off x="4495320" y="3733560"/>
                <a:ext cx="54936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90" name="Text Box 64"/>
              <p:cNvSpPr/>
              <p:nvPr/>
            </p:nvSpPr>
            <p:spPr>
              <a:xfrm>
                <a:off x="5105160" y="37335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091" name="AutoShape 65"/>
            <p:cNvSpPr/>
            <p:nvPr/>
          </p:nvSpPr>
          <p:spPr>
            <a:xfrm>
              <a:off x="3428640" y="2437920"/>
              <a:ext cx="76320" cy="1143000"/>
            </a:xfrm>
            <a:custGeom>
              <a:avLst/>
              <a:gdLst>
                <a:gd name="textAreaLeft" fmla="*/ 22320 w 76320"/>
                <a:gd name="textAreaRight" fmla="*/ 76320 w 76320"/>
                <a:gd name="textAreaTop" fmla="*/ 47520 h 1143000"/>
                <a:gd name="textAreaBottom" fmla="*/ 1095480 h 1143000"/>
                <a:gd name="GluePoint1X" fmla="*/ 21600 w 21600"/>
                <a:gd name="GluePoint1Y" fmla="*/ 0 h 21600"/>
                <a:gd name="GluePoint2X" fmla="*/ 0 w 21600"/>
                <a:gd name="GluePoint2Y" fmla="*/ 10800 h 21600"/>
                <a:gd name="GluePoint3X" fmla="*/ 21600 w 21600"/>
                <a:gd name="GluePoint3Y" fmla="*/ 216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cubicBezTo>
                    <a:pt x="10800" y="0"/>
                    <a:pt x="0" y="900"/>
                    <a:pt x="0" y="1800"/>
                  </a:cubicBezTo>
                  <a:lnTo>
                    <a:pt x="0" y="19800"/>
                  </a:lnTo>
                  <a:cubicBezTo>
                    <a:pt x="0" y="20700"/>
                    <a:pt x="10800" y="21600"/>
                    <a:pt x="21600" y="21600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2" name="AutoShape 66"/>
            <p:cNvSpPr/>
            <p:nvPr/>
          </p:nvSpPr>
          <p:spPr>
            <a:xfrm>
              <a:off x="5028840" y="2437920"/>
              <a:ext cx="76320" cy="1143000"/>
            </a:xfrm>
            <a:custGeom>
              <a:avLst/>
              <a:gdLst>
                <a:gd name="textAreaLeft" fmla="*/ 0 w 76320"/>
                <a:gd name="textAreaRight" fmla="*/ 53640 w 76320"/>
                <a:gd name="textAreaTop" fmla="*/ 47520 h 1143000"/>
                <a:gd name="textAreaBottom" fmla="*/ 1095480 h 114300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10800" y="0"/>
                    <a:pt x="21600" y="900"/>
                    <a:pt x="21600" y="1800"/>
                  </a:cubicBezTo>
                  <a:lnTo>
                    <a:pt x="21600" y="19800"/>
                  </a:lnTo>
                  <a:cubicBezTo>
                    <a:pt x="21600" y="20700"/>
                    <a:pt x="108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3" name="Text Box 67"/>
            <p:cNvSpPr/>
            <p:nvPr/>
          </p:nvSpPr>
          <p:spPr>
            <a:xfrm>
              <a:off x="2666880" y="2819160"/>
              <a:ext cx="711360" cy="39852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M</a:t>
              </a:r>
              <a:r>
                <a:rPr lang="en-US" sz="8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=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094" name="Group 68"/>
          <p:cNvGrpSpPr/>
          <p:nvPr/>
        </p:nvGrpSpPr>
        <p:grpSpPr>
          <a:xfrm>
            <a:off x="2671200" y="4190760"/>
            <a:ext cx="2982960" cy="1770120"/>
            <a:chOff x="2671200" y="4190760"/>
            <a:chExt cx="2982960" cy="1770120"/>
          </a:xfrm>
        </p:grpSpPr>
        <p:grpSp>
          <p:nvGrpSpPr>
            <p:cNvPr id="1095" name="Group 69"/>
            <p:cNvGrpSpPr/>
            <p:nvPr/>
          </p:nvGrpSpPr>
          <p:grpSpPr>
            <a:xfrm>
              <a:off x="3276360" y="4190760"/>
              <a:ext cx="2377800" cy="1770120"/>
              <a:chOff x="3276360" y="4190760"/>
              <a:chExt cx="2377800" cy="1770120"/>
            </a:xfrm>
          </p:grpSpPr>
          <p:sp>
            <p:nvSpPr>
              <p:cNvPr id="1096" name="Text Box 70"/>
              <p:cNvSpPr/>
              <p:nvPr/>
            </p:nvSpPr>
            <p:spPr>
              <a:xfrm>
                <a:off x="3276360" y="41907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97" name="Text Box 71"/>
              <p:cNvSpPr/>
              <p:nvPr/>
            </p:nvSpPr>
            <p:spPr>
              <a:xfrm>
                <a:off x="3885840" y="41907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98" name="Text Box 72"/>
              <p:cNvSpPr/>
              <p:nvPr/>
            </p:nvSpPr>
            <p:spPr>
              <a:xfrm>
                <a:off x="4495320" y="41907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6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99" name="Text Box 73"/>
              <p:cNvSpPr/>
              <p:nvPr/>
            </p:nvSpPr>
            <p:spPr>
              <a:xfrm>
                <a:off x="5105160" y="41907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0" name="Text Box 74"/>
              <p:cNvSpPr/>
              <p:nvPr/>
            </p:nvSpPr>
            <p:spPr>
              <a:xfrm>
                <a:off x="3276360" y="46479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1" name="Text Box 75"/>
              <p:cNvSpPr/>
              <p:nvPr/>
            </p:nvSpPr>
            <p:spPr>
              <a:xfrm>
                <a:off x="3885840" y="46479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2" name="Text Box 76"/>
              <p:cNvSpPr/>
              <p:nvPr/>
            </p:nvSpPr>
            <p:spPr>
              <a:xfrm>
                <a:off x="4495320" y="46479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4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3" name="Text Box 77"/>
              <p:cNvSpPr/>
              <p:nvPr/>
            </p:nvSpPr>
            <p:spPr>
              <a:xfrm>
                <a:off x="5105160" y="46479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4" name="Text Box 78"/>
              <p:cNvSpPr/>
              <p:nvPr/>
            </p:nvSpPr>
            <p:spPr>
              <a:xfrm>
                <a:off x="3276360" y="51051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5" name="Text Box 79"/>
              <p:cNvSpPr/>
              <p:nvPr/>
            </p:nvSpPr>
            <p:spPr>
              <a:xfrm>
                <a:off x="3885840" y="51051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6" name="Text Box 80"/>
              <p:cNvSpPr/>
              <p:nvPr/>
            </p:nvSpPr>
            <p:spPr>
              <a:xfrm>
                <a:off x="4495320" y="51051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7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7" name="Text Box 81"/>
              <p:cNvSpPr/>
              <p:nvPr/>
            </p:nvSpPr>
            <p:spPr>
              <a:xfrm>
                <a:off x="5105160" y="51051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8" name="Text Box 82"/>
              <p:cNvSpPr/>
              <p:nvPr/>
            </p:nvSpPr>
            <p:spPr>
              <a:xfrm>
                <a:off x="3276360" y="5562360"/>
                <a:ext cx="54900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9" name="Text Box 83"/>
              <p:cNvSpPr/>
              <p:nvPr/>
            </p:nvSpPr>
            <p:spPr>
              <a:xfrm>
                <a:off x="3885840" y="55623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6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10" name="Text Box 84"/>
              <p:cNvSpPr/>
              <p:nvPr/>
            </p:nvSpPr>
            <p:spPr>
              <a:xfrm>
                <a:off x="4495320" y="5562360"/>
                <a:ext cx="549360" cy="3985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11" name="Text Box 85"/>
              <p:cNvSpPr/>
              <p:nvPr/>
            </p:nvSpPr>
            <p:spPr>
              <a:xfrm>
                <a:off x="5105160" y="5562360"/>
                <a:ext cx="549000" cy="396720"/>
              </a:xfrm>
              <a:prstGeom prst="rect">
                <a:avLst/>
              </a:prstGeom>
              <a:noFill/>
              <a:ln w="3816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112" name="AutoShape 86"/>
            <p:cNvSpPr/>
            <p:nvPr/>
          </p:nvSpPr>
          <p:spPr>
            <a:xfrm>
              <a:off x="3428640" y="4267080"/>
              <a:ext cx="76320" cy="1676160"/>
            </a:xfrm>
            <a:custGeom>
              <a:avLst/>
              <a:gdLst>
                <a:gd name="textAreaLeft" fmla="*/ 22320 w 76320"/>
                <a:gd name="textAreaRight" fmla="*/ 76320 w 76320"/>
                <a:gd name="textAreaTop" fmla="*/ 69840 h 1676160"/>
                <a:gd name="textAreaBottom" fmla="*/ 1606320 h 1676160"/>
                <a:gd name="GluePoint1X" fmla="*/ 21600 w 21600"/>
                <a:gd name="GluePoint1Y" fmla="*/ 0 h 21600"/>
                <a:gd name="GluePoint2X" fmla="*/ 0 w 21600"/>
                <a:gd name="GluePoint2Y" fmla="*/ 10800 h 21600"/>
                <a:gd name="GluePoint3X" fmla="*/ 21600 w 21600"/>
                <a:gd name="GluePoint3Y" fmla="*/ 216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cubicBezTo>
                    <a:pt x="10800" y="0"/>
                    <a:pt x="0" y="900"/>
                    <a:pt x="0" y="1800"/>
                  </a:cubicBezTo>
                  <a:lnTo>
                    <a:pt x="0" y="19800"/>
                  </a:lnTo>
                  <a:cubicBezTo>
                    <a:pt x="0" y="20700"/>
                    <a:pt x="10800" y="21600"/>
                    <a:pt x="21600" y="21600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3" name="AutoShape 87"/>
            <p:cNvSpPr/>
            <p:nvPr/>
          </p:nvSpPr>
          <p:spPr>
            <a:xfrm>
              <a:off x="5028840" y="4267080"/>
              <a:ext cx="76320" cy="1676160"/>
            </a:xfrm>
            <a:custGeom>
              <a:avLst/>
              <a:gdLst>
                <a:gd name="textAreaLeft" fmla="*/ 0 w 76320"/>
                <a:gd name="textAreaRight" fmla="*/ 53640 w 76320"/>
                <a:gd name="textAreaTop" fmla="*/ 69840 h 1676160"/>
                <a:gd name="textAreaBottom" fmla="*/ 1606320 h 167616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10800" y="0"/>
                    <a:pt x="21600" y="900"/>
                    <a:pt x="21600" y="1800"/>
                  </a:cubicBezTo>
                  <a:lnTo>
                    <a:pt x="21600" y="19800"/>
                  </a:lnTo>
                  <a:cubicBezTo>
                    <a:pt x="21600" y="20700"/>
                    <a:pt x="108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4" name="Text Box 88"/>
            <p:cNvSpPr/>
            <p:nvPr/>
          </p:nvSpPr>
          <p:spPr>
            <a:xfrm>
              <a:off x="2671200" y="4873320"/>
              <a:ext cx="784440" cy="4402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M</a:t>
              </a:r>
              <a:r>
                <a:rPr lang="en-US" sz="8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</a:t>
              </a:r>
              <a:r>
                <a:rPr lang="en-US" sz="2000" b="0" u="none" strike="noStrike" baseline="-25000">
                  <a:solidFill>
                    <a:srgbClr val="000000"/>
                  </a:solidFill>
                  <a:effectLst/>
                  <a:uFillTx/>
                  <a:latin typeface="Arial"/>
                </a:rPr>
                <a:t>c</a:t>
              </a: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=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115" name="Text Box 89"/>
          <p:cNvSpPr/>
          <p:nvPr/>
        </p:nvSpPr>
        <p:spPr>
          <a:xfrm>
            <a:off x="2666520" y="1981080"/>
            <a:ext cx="115632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Matrix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Text Box 90"/>
          <p:cNvSpPr/>
          <p:nvPr/>
        </p:nvSpPr>
        <p:spPr>
          <a:xfrm>
            <a:off x="5789880" y="1981080"/>
            <a:ext cx="266976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Row checksum matrix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Text Box 91"/>
          <p:cNvSpPr/>
          <p:nvPr/>
        </p:nvSpPr>
        <p:spPr>
          <a:xfrm>
            <a:off x="2665080" y="3809880"/>
            <a:ext cx="303768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Column checksum matrix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Text Box 92"/>
          <p:cNvSpPr/>
          <p:nvPr/>
        </p:nvSpPr>
        <p:spPr>
          <a:xfrm>
            <a:off x="5789880" y="3809880"/>
            <a:ext cx="2570760" cy="39852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Full checksum matrix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Text Box 93"/>
          <p:cNvSpPr/>
          <p:nvPr/>
        </p:nvSpPr>
        <p:spPr>
          <a:xfrm>
            <a:off x="304560" y="990360"/>
            <a:ext cx="8458200" cy="7030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 coding applied to data structures, rather than at the level of atomic data elements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Text Box 94"/>
          <p:cNvSpPr/>
          <p:nvPr/>
        </p:nvSpPr>
        <p:spPr>
          <a:xfrm>
            <a:off x="304560" y="1904760"/>
            <a:ext cx="2133720" cy="100764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Example: mod-8 checksums used for matrices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Text Box 95"/>
          <p:cNvSpPr/>
          <p:nvPr/>
        </p:nvSpPr>
        <p:spPr>
          <a:xfrm>
            <a:off x="304560" y="3124080"/>
            <a:ext cx="2133720" cy="744840"/>
          </a:xfrm>
          <a:prstGeom prst="rect">
            <a:avLst/>
          </a:prstGeom>
          <a:solidFill>
            <a:srgbClr val="FFCC66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then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Text Box 96"/>
          <p:cNvSpPr/>
          <p:nvPr/>
        </p:nvSpPr>
        <p:spPr>
          <a:xfrm>
            <a:off x="304560" y="3962160"/>
            <a:ext cx="2362320" cy="13539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25000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any single error is correctable and any 3 errors are detectable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23" name="Group 97"/>
          <p:cNvGrpSpPr/>
          <p:nvPr/>
        </p:nvGrpSpPr>
        <p:grpSpPr>
          <a:xfrm>
            <a:off x="304560" y="4190760"/>
            <a:ext cx="7848720" cy="1922400"/>
            <a:chOff x="304560" y="4190760"/>
            <a:chExt cx="7848720" cy="1922400"/>
          </a:xfrm>
        </p:grpSpPr>
        <p:sp>
          <p:nvSpPr>
            <p:cNvPr id="1124" name="Rectangle 98"/>
            <p:cNvSpPr/>
            <p:nvPr/>
          </p:nvSpPr>
          <p:spPr>
            <a:xfrm>
              <a:off x="7238880" y="4190760"/>
              <a:ext cx="914400" cy="83844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5" name="Text Box 99"/>
            <p:cNvSpPr/>
            <p:nvPr/>
          </p:nvSpPr>
          <p:spPr>
            <a:xfrm>
              <a:off x="304560" y="5410080"/>
              <a:ext cx="2210040" cy="703080"/>
            </a:xfrm>
            <a:prstGeom prst="rect">
              <a:avLst/>
            </a:prstGeom>
            <a:noFill/>
            <a:ln w="381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Four errors may go undetected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2558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2003-03-02T02:14:00Z</dcterms:created>
  <dc:creator>Behrooz Parhami</dc:creator>
  <dc:description/>
  <dc:language>en-US</dc:language>
  <cp:lastModifiedBy>Xin Xin</cp:lastModifiedBy>
  <cp:lastPrinted>2021-09-29T00:46:54Z</cp:lastPrinted>
  <dcterms:modified xsi:type="dcterms:W3CDTF">2026-09-11T11:58:49Z</dcterms:modified>
  <cp:revision>477</cp:revision>
  <dc:subject/>
  <dc:title>Fault Tolerance, Lecture 01</dc:title>
</cp:coreProperties>
</file>